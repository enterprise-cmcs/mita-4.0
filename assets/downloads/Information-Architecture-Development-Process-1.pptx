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D_20710E11.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24_F0A93F3F.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37_CE64D634.xml" ContentType="application/vnd.ms-powerpoint.comments+xml"/>
  <Override PartName="/ppt/notesSlides/notesSlide9.xml" ContentType="application/vnd.openxmlformats-officedocument.presentationml.notesSlide+xml"/>
  <Override PartName="/ppt/comments/modernComment_18B_6674875A.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3B_B30B4178.xml" ContentType="application/vnd.ms-powerpoint.comments+xml"/>
  <Override PartName="/ppt/comments/modernComment_188_6F30EC98.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3E_43ED803A.xml" ContentType="application/vnd.ms-powerpoint.comments+xml"/>
  <Override PartName="/ppt/comments/modernComment_13F_63A0FB1C.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56_64E9577D.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1"/>
  </p:sldMasterIdLst>
  <p:notesMasterIdLst>
    <p:notesMasterId r:id="rId90"/>
  </p:notesMasterIdLst>
  <p:sldIdLst>
    <p:sldId id="302" r:id="rId2"/>
    <p:sldId id="303" r:id="rId3"/>
    <p:sldId id="361" r:id="rId4"/>
    <p:sldId id="362" r:id="rId5"/>
    <p:sldId id="301" r:id="rId6"/>
    <p:sldId id="385" r:id="rId7"/>
    <p:sldId id="300" r:id="rId8"/>
    <p:sldId id="305" r:id="rId9"/>
    <p:sldId id="269" r:id="rId10"/>
    <p:sldId id="359" r:id="rId11"/>
    <p:sldId id="256" r:id="rId12"/>
    <p:sldId id="356" r:id="rId13"/>
    <p:sldId id="358" r:id="rId14"/>
    <p:sldId id="355" r:id="rId15"/>
    <p:sldId id="360" r:id="rId16"/>
    <p:sldId id="339" r:id="rId17"/>
    <p:sldId id="338" r:id="rId18"/>
    <p:sldId id="363" r:id="rId19"/>
    <p:sldId id="364" r:id="rId20"/>
    <p:sldId id="292" r:id="rId21"/>
    <p:sldId id="293" r:id="rId22"/>
    <p:sldId id="386" r:id="rId23"/>
    <p:sldId id="387" r:id="rId24"/>
    <p:sldId id="370" r:id="rId25"/>
    <p:sldId id="381" r:id="rId26"/>
    <p:sldId id="271" r:id="rId27"/>
    <p:sldId id="365" r:id="rId28"/>
    <p:sldId id="366" r:id="rId29"/>
    <p:sldId id="290" r:id="rId30"/>
    <p:sldId id="291" r:id="rId31"/>
    <p:sldId id="397" r:id="rId32"/>
    <p:sldId id="388" r:id="rId33"/>
    <p:sldId id="393" r:id="rId34"/>
    <p:sldId id="396" r:id="rId35"/>
    <p:sldId id="382" r:id="rId36"/>
    <p:sldId id="294" r:id="rId37"/>
    <p:sldId id="367" r:id="rId38"/>
    <p:sldId id="368" r:id="rId39"/>
    <p:sldId id="310" r:id="rId40"/>
    <p:sldId id="311" r:id="rId41"/>
    <p:sldId id="389" r:id="rId42"/>
    <p:sldId id="395" r:id="rId43"/>
    <p:sldId id="390" r:id="rId44"/>
    <p:sldId id="383" r:id="rId45"/>
    <p:sldId id="312" r:id="rId46"/>
    <p:sldId id="313" r:id="rId47"/>
    <p:sldId id="384" r:id="rId48"/>
    <p:sldId id="379" r:id="rId49"/>
    <p:sldId id="378" r:id="rId50"/>
    <p:sldId id="315" r:id="rId51"/>
    <p:sldId id="316" r:id="rId52"/>
    <p:sldId id="391" r:id="rId53"/>
    <p:sldId id="392" r:id="rId54"/>
    <p:sldId id="334" r:id="rId55"/>
    <p:sldId id="380" r:id="rId56"/>
    <p:sldId id="340" r:id="rId57"/>
    <p:sldId id="341" r:id="rId58"/>
    <p:sldId id="318" r:id="rId59"/>
    <p:sldId id="319" r:id="rId60"/>
    <p:sldId id="353" r:id="rId61"/>
    <p:sldId id="354" r:id="rId62"/>
    <p:sldId id="345" r:id="rId63"/>
    <p:sldId id="346" r:id="rId64"/>
    <p:sldId id="347" r:id="rId65"/>
    <p:sldId id="348" r:id="rId66"/>
    <p:sldId id="332" r:id="rId67"/>
    <p:sldId id="317" r:id="rId68"/>
    <p:sldId id="333" r:id="rId69"/>
    <p:sldId id="281" r:id="rId70"/>
    <p:sldId id="274" r:id="rId71"/>
    <p:sldId id="278" r:id="rId72"/>
    <p:sldId id="272" r:id="rId73"/>
    <p:sldId id="273" r:id="rId74"/>
    <p:sldId id="279" r:id="rId75"/>
    <p:sldId id="280" r:id="rId76"/>
    <p:sldId id="283" r:id="rId77"/>
    <p:sldId id="284" r:id="rId78"/>
    <p:sldId id="282" r:id="rId79"/>
    <p:sldId id="275" r:id="rId80"/>
    <p:sldId id="286" r:id="rId81"/>
    <p:sldId id="285" r:id="rId82"/>
    <p:sldId id="287" r:id="rId83"/>
    <p:sldId id="289" r:id="rId84"/>
    <p:sldId id="342" r:id="rId85"/>
    <p:sldId id="343" r:id="rId86"/>
    <p:sldId id="344" r:id="rId87"/>
    <p:sldId id="357" r:id="rId88"/>
    <p:sldId id="394"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01D798-4394-2E49-B23C-34954E1EF745}">
          <p14:sldIdLst>
            <p14:sldId id="302"/>
            <p14:sldId id="303"/>
            <p14:sldId id="361"/>
            <p14:sldId id="362"/>
            <p14:sldId id="301"/>
            <p14:sldId id="385"/>
            <p14:sldId id="300"/>
            <p14:sldId id="305"/>
            <p14:sldId id="269"/>
            <p14:sldId id="359"/>
            <p14:sldId id="256"/>
            <p14:sldId id="356"/>
            <p14:sldId id="358"/>
            <p14:sldId id="355"/>
            <p14:sldId id="360"/>
            <p14:sldId id="339"/>
            <p14:sldId id="338"/>
            <p14:sldId id="363"/>
            <p14:sldId id="364"/>
            <p14:sldId id="292"/>
            <p14:sldId id="293"/>
            <p14:sldId id="386"/>
            <p14:sldId id="387"/>
            <p14:sldId id="370"/>
            <p14:sldId id="381"/>
            <p14:sldId id="271"/>
            <p14:sldId id="365"/>
            <p14:sldId id="366"/>
            <p14:sldId id="290"/>
            <p14:sldId id="291"/>
            <p14:sldId id="397"/>
            <p14:sldId id="388"/>
            <p14:sldId id="393"/>
            <p14:sldId id="396"/>
            <p14:sldId id="382"/>
            <p14:sldId id="294"/>
            <p14:sldId id="367"/>
            <p14:sldId id="368"/>
            <p14:sldId id="310"/>
            <p14:sldId id="311"/>
            <p14:sldId id="389"/>
            <p14:sldId id="395"/>
            <p14:sldId id="390"/>
            <p14:sldId id="383"/>
            <p14:sldId id="312"/>
            <p14:sldId id="313"/>
            <p14:sldId id="384"/>
            <p14:sldId id="379"/>
            <p14:sldId id="378"/>
            <p14:sldId id="315"/>
            <p14:sldId id="316"/>
            <p14:sldId id="391"/>
            <p14:sldId id="392"/>
            <p14:sldId id="334"/>
            <p14:sldId id="380"/>
            <p14:sldId id="340"/>
            <p14:sldId id="341"/>
            <p14:sldId id="318"/>
            <p14:sldId id="319"/>
            <p14:sldId id="353"/>
            <p14:sldId id="354"/>
            <p14:sldId id="345"/>
            <p14:sldId id="346"/>
            <p14:sldId id="347"/>
            <p14:sldId id="348"/>
            <p14:sldId id="332"/>
            <p14:sldId id="317"/>
            <p14:sldId id="333"/>
            <p14:sldId id="281"/>
            <p14:sldId id="274"/>
            <p14:sldId id="278"/>
            <p14:sldId id="272"/>
            <p14:sldId id="273"/>
            <p14:sldId id="279"/>
            <p14:sldId id="280"/>
            <p14:sldId id="283"/>
            <p14:sldId id="284"/>
            <p14:sldId id="282"/>
            <p14:sldId id="275"/>
            <p14:sldId id="286"/>
            <p14:sldId id="285"/>
            <p14:sldId id="287"/>
            <p14:sldId id="289"/>
          </p14:sldIdLst>
        </p14:section>
        <p14:section name="Update" id="{50868D7D-9506-9641-835B-AD6DA76BA94D}">
          <p14:sldIdLst>
            <p14:sldId id="342"/>
            <p14:sldId id="343"/>
            <p14:sldId id="344"/>
            <p14:sldId id="357"/>
            <p14:sldId id="39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B9073F-72A2-0F5E-BB29-E72BDA558ABE}" name="Carter, Dwayne@HCAI" initials="CD" userId="S::Dwayne.Carter@hcai.ca.gov::c79fe0b4-40ba-47f7-bd10-85328c63d034" providerId="AD"/>
  <p188:author id="{2028F353-66B6-AA9E-8086-9C7BCDBF31F8}" name="Jeff Strand" initials="JS" userId="gfsxnwEK3caHjCoqaD64d7x3RmcM3dlZky8daM9EnTY=" providerId="None"/>
  <p188:author id="{9F59275C-C22D-215C-F6DD-680C635E450C}" name="Shelley Lucas" initials="SL" userId="bITSmLikKoIrxV9aKYMuSneqB8SNxxwUvZKSK7Y7JkA=" providerId="None"/>
  <p188:author id="{65450887-0CDF-F71C-8B9F-BF754EB5BABA}" name="Chris Hopkins" initials="CH" userId="Wm4+JxdYB1WSzeOzhimG4Hq2SQQE9wsBCDA7LNSTtog=" providerId="None"/>
  <p188:author id="{716F5AAE-8C78-5D35-18E3-31903633D713}" name="Andrew Nunes" initials="AN" userId="QmNonyFgG3rJD2qijsGAFYUSux/Y8tND9GZY/+xsUbY=" providerId="None"/>
  <p188:author id="{0231C8B3-9BD7-74C2-B8A2-8022AD20505D}" name="Shelley Lucas" initials="SL" userId="S::SHELLEYLUCAS@MITRE.ORG::6d604fee-b8ec-472f-9038-6c6bfa578a18" providerId="AD"/>
  <p188:author id="{369349F1-F47B-0CA4-53E6-550F7CA94B57}" name="Shawn McFadden" initials="SM" userId="nFT7s3pKzEjhvPSeWibiGcArfUP6Bg3J7qUTYif0x74="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3E727F-DF8F-4367-8773-17CBCB9AE2C9}" v="36" dt="2026-01-23T15:35:33.169"/>
    <p1510:client id="{40BCF2E3-91E6-4870-9DE6-429655B2AC5F}" v="14" dt="2026-01-22T14:13:01.921"/>
    <p1510:client id="{BC691003-C0E0-44A7-BB06-30A6FD62605C}" v="190" dt="2026-01-22T16:33:04.0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185"/>
    <p:restoredTop sz="91382"/>
  </p:normalViewPr>
  <p:slideViewPr>
    <p:cSldViewPr snapToGrid="0">
      <p:cViewPr>
        <p:scale>
          <a:sx n="112" d="100"/>
          <a:sy n="112" d="100"/>
        </p:scale>
        <p:origin x="14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8/10/relationships/authors" Targe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Nunes" userId="QmNonyFgG3rJD2qijsGAFYUSux/Y8tND9GZY/+xsUbY=" providerId="None" clId="Web-{207F10B1-5EFE-4003-ABEC-F2DAD3589BC7}"/>
    <pc:docChg chg="mod addSld modSld modSection">
      <pc:chgData name="Andrew Nunes" userId="QmNonyFgG3rJD2qijsGAFYUSux/Y8tND9GZY/+xsUbY=" providerId="None" clId="Web-{207F10B1-5EFE-4003-ABEC-F2DAD3589BC7}" dt="2026-01-12T17:00:10.137" v="781" actId="20577"/>
      <pc:docMkLst>
        <pc:docMk/>
      </pc:docMkLst>
      <pc:sldChg chg="mod modShow">
        <pc:chgData name="Andrew Nunes" userId="QmNonyFgG3rJD2qijsGAFYUSux/Y8tND9GZY/+xsUbY=" providerId="None" clId="Web-{207F10B1-5EFE-4003-ABEC-F2DAD3589BC7}" dt="2026-01-12T16:22:19.250" v="4"/>
        <pc:sldMkLst>
          <pc:docMk/>
          <pc:sldMk cId="427928056" sldId="370"/>
        </pc:sldMkLst>
      </pc:sldChg>
      <pc:sldChg chg="modSp">
        <pc:chgData name="Andrew Nunes" userId="QmNonyFgG3rJD2qijsGAFYUSux/Y8tND9GZY/+xsUbY=" providerId="None" clId="Web-{207F10B1-5EFE-4003-ABEC-F2DAD3589BC7}" dt="2026-01-12T16:22:11.984" v="3" actId="20577"/>
        <pc:sldMkLst>
          <pc:docMk/>
          <pc:sldMk cId="1387802433" sldId="387"/>
        </pc:sldMkLst>
        <pc:spChg chg="mod">
          <ac:chgData name="Andrew Nunes" userId="QmNonyFgG3rJD2qijsGAFYUSux/Y8tND9GZY/+xsUbY=" providerId="None" clId="Web-{207F10B1-5EFE-4003-ABEC-F2DAD3589BC7}" dt="2026-01-12T16:22:11.984" v="3" actId="20577"/>
          <ac:spMkLst>
            <pc:docMk/>
            <pc:sldMk cId="1387802433" sldId="387"/>
            <ac:spMk id="3" creationId="{82E7C4C6-45C9-3472-350D-1F8B34684E51}"/>
          </ac:spMkLst>
        </pc:spChg>
      </pc:sldChg>
      <pc:sldChg chg="modSp">
        <pc:chgData name="Andrew Nunes" userId="QmNonyFgG3rJD2qijsGAFYUSux/Y8tND9GZY/+xsUbY=" providerId="None" clId="Web-{207F10B1-5EFE-4003-ABEC-F2DAD3589BC7}" dt="2026-01-12T16:57:18.714" v="731" actId="20577"/>
        <pc:sldMkLst>
          <pc:docMk/>
          <pc:sldMk cId="1337234653" sldId="393"/>
        </pc:sldMkLst>
        <pc:spChg chg="mod">
          <ac:chgData name="Andrew Nunes" userId="QmNonyFgG3rJD2qijsGAFYUSux/Y8tND9GZY/+xsUbY=" providerId="None" clId="Web-{207F10B1-5EFE-4003-ABEC-F2DAD3589BC7}" dt="2026-01-12T16:57:18.714" v="731" actId="20577"/>
          <ac:spMkLst>
            <pc:docMk/>
            <pc:sldMk cId="1337234653" sldId="393"/>
            <ac:spMk id="3" creationId="{614AB5C5-ADFE-0985-1AFA-C1A7964EC569}"/>
          </ac:spMkLst>
        </pc:spChg>
      </pc:sldChg>
      <pc:sldChg chg="modSp add replId modCm">
        <pc:chgData name="Andrew Nunes" userId="QmNonyFgG3rJD2qijsGAFYUSux/Y8tND9GZY/+xsUbY=" providerId="None" clId="Web-{207F10B1-5EFE-4003-ABEC-F2DAD3589BC7}" dt="2026-01-12T17:00:10.137" v="781" actId="20577"/>
        <pc:sldMkLst>
          <pc:docMk/>
          <pc:sldMk cId="1718912858" sldId="395"/>
        </pc:sldMkLst>
        <pc:spChg chg="mod">
          <ac:chgData name="Andrew Nunes" userId="QmNonyFgG3rJD2qijsGAFYUSux/Y8tND9GZY/+xsUbY=" providerId="None" clId="Web-{207F10B1-5EFE-4003-ABEC-F2DAD3589BC7}" dt="2026-01-12T17:00:10.137" v="781" actId="20577"/>
          <ac:spMkLst>
            <pc:docMk/>
            <pc:sldMk cId="1718912858" sldId="395"/>
            <ac:spMk id="3" creationId="{8011492A-2E0E-ABFD-895D-9708434DD6C6}"/>
          </ac:spMkLst>
        </pc:spChg>
        <pc:extLst>
          <p:ext xmlns:p="http://schemas.openxmlformats.org/presentationml/2006/main" uri="{D6D511B9-2390-475A-947B-AFAB55BFBCF1}">
            <pc226:cmChg xmlns:pc226="http://schemas.microsoft.com/office/powerpoint/2022/06/main/command" chg="mod">
              <pc226:chgData name="Andrew Nunes" userId="QmNonyFgG3rJD2qijsGAFYUSux/Y8tND9GZY/+xsUbY=" providerId="None" clId="Web-{207F10B1-5EFE-4003-ABEC-F2DAD3589BC7}" dt="2026-01-12T17:00:10.137" v="781" actId="20577"/>
              <pc2:cmMkLst xmlns:pc2="http://schemas.microsoft.com/office/powerpoint/2019/9/main/command">
                <pc:docMk/>
                <pc:sldMk cId="1718912858" sldId="395"/>
                <pc2:cmMk id="{6736CDF3-0840-46C0-AB3D-F5577BBE19DC}"/>
              </pc2:cmMkLst>
            </pc226:cmChg>
          </p:ext>
        </pc:extLst>
      </pc:sldChg>
    </pc:docChg>
  </pc:docChgLst>
  <pc:docChgLst>
    <pc:chgData name="Chris Hopkins" userId="Wm4+JxdYB1WSzeOzhimG4Hq2SQQE9wsBCDA7LNSTtog=" providerId="None" clId="Web-{A8F1321B-CDF9-4C0C-A068-AEB02DE95B01}"/>
    <pc:docChg chg="delSld sldOrd modSection">
      <pc:chgData name="Chris Hopkins" userId="Wm4+JxdYB1WSzeOzhimG4Hq2SQQE9wsBCDA7LNSTtog=" providerId="None" clId="Web-{A8F1321B-CDF9-4C0C-A068-AEB02DE95B01}" dt="2026-01-14T18:57:46.712" v="1"/>
      <pc:docMkLst>
        <pc:docMk/>
      </pc:docMkLst>
      <pc:sldChg chg="ord">
        <pc:chgData name="Chris Hopkins" userId="Wm4+JxdYB1WSzeOzhimG4Hq2SQQE9wsBCDA7LNSTtog=" providerId="None" clId="Web-{A8F1321B-CDF9-4C0C-A068-AEB02DE95B01}" dt="2026-01-14T16:24:24.680" v="0"/>
        <pc:sldMkLst>
          <pc:docMk/>
          <pc:sldMk cId="1013563192" sldId="360"/>
        </pc:sldMkLst>
      </pc:sldChg>
    </pc:docChg>
  </pc:docChgLst>
  <pc:docChgLst>
    <pc:chgData name="Andrew Nunes" userId="QmNonyFgG3rJD2qijsGAFYUSux/Y8tND9GZY/+xsUbY=" providerId="None" clId="Web-{BC691003-C0E0-44A7-BB06-30A6FD62605C}"/>
    <pc:docChg chg="modSld">
      <pc:chgData name="Andrew Nunes" userId="QmNonyFgG3rJD2qijsGAFYUSux/Y8tND9GZY/+xsUbY=" providerId="None" clId="Web-{BC691003-C0E0-44A7-BB06-30A6FD62605C}" dt="2026-01-22T16:33:03.687" v="193" actId="20577"/>
      <pc:docMkLst>
        <pc:docMk/>
      </pc:docMkLst>
      <pc:sldChg chg="modSp">
        <pc:chgData name="Andrew Nunes" userId="QmNonyFgG3rJD2qijsGAFYUSux/Y8tND9GZY/+xsUbY=" providerId="None" clId="Web-{BC691003-C0E0-44A7-BB06-30A6FD62605C}" dt="2026-01-22T16:33:03.687" v="193" actId="20577"/>
        <pc:sldMkLst>
          <pc:docMk/>
          <pc:sldMk cId="1865477272" sldId="392"/>
        </pc:sldMkLst>
        <pc:spChg chg="mod">
          <ac:chgData name="Andrew Nunes" userId="QmNonyFgG3rJD2qijsGAFYUSux/Y8tND9GZY/+xsUbY=" providerId="None" clId="Web-{BC691003-C0E0-44A7-BB06-30A6FD62605C}" dt="2026-01-22T16:33:03.687" v="193" actId="20577"/>
          <ac:spMkLst>
            <pc:docMk/>
            <pc:sldMk cId="1865477272" sldId="392"/>
            <ac:spMk id="3" creationId="{8825840E-6F30-B1BA-3199-2179A13019A3}"/>
          </ac:spMkLst>
        </pc:spChg>
      </pc:sldChg>
    </pc:docChg>
  </pc:docChgLst>
  <pc:docChgLst>
    <pc:chgData name="Sean Mahoney" userId="20364943631_tp_box_2" providerId="OAuth2" clId="{BED30032-E4D5-47A3-9D56-ECBCEBC159BD}"/>
    <pc:docChg chg="undo redo custSel addSld modSld sldOrd modSection">
      <pc:chgData name="Sean Mahoney" userId="20364943631_tp_box_2" providerId="OAuth2" clId="{BED30032-E4D5-47A3-9D56-ECBCEBC159BD}" dt="2026-01-20T16:29:15.054" v="439"/>
      <pc:docMkLst>
        <pc:docMk/>
      </pc:docMkLst>
      <pc:sldChg chg="modSp">
        <pc:chgData name="Sean Mahoney" userId="20364943631_tp_box_2" providerId="OAuth2" clId="{BED30032-E4D5-47A3-9D56-ECBCEBC159BD}" dt="2026-01-20T16:29:15.054" v="439"/>
        <pc:sldMkLst>
          <pc:docMk/>
          <pc:sldMk cId="4037623615" sldId="292"/>
        </pc:sldMkLst>
        <pc:spChg chg="mod">
          <ac:chgData name="Sean Mahoney" userId="20364943631_tp_box_2" providerId="OAuth2" clId="{BED30032-E4D5-47A3-9D56-ECBCEBC159BD}" dt="2026-01-20T16:29:15.054" v="439"/>
          <ac:spMkLst>
            <pc:docMk/>
            <pc:sldMk cId="4037623615" sldId="292"/>
            <ac:spMk id="3" creationId="{212BE6BA-DBEB-6E72-CC4C-D38565EDEE15}"/>
          </ac:spMkLst>
        </pc:spChg>
      </pc:sldChg>
      <pc:sldChg chg="modSp mod">
        <pc:chgData name="Sean Mahoney" userId="20364943631_tp_box_2" providerId="OAuth2" clId="{BED30032-E4D5-47A3-9D56-ECBCEBC159BD}" dt="2026-01-20T16:26:41.768" v="438" actId="20577"/>
        <pc:sldMkLst>
          <pc:docMk/>
          <pc:sldMk cId="196440168" sldId="338"/>
        </pc:sldMkLst>
        <pc:spChg chg="mod">
          <ac:chgData name="Sean Mahoney" userId="20364943631_tp_box_2" providerId="OAuth2" clId="{BED30032-E4D5-47A3-9D56-ECBCEBC159BD}" dt="2026-01-20T16:26:41.768" v="438" actId="20577"/>
          <ac:spMkLst>
            <pc:docMk/>
            <pc:sldMk cId="196440168" sldId="338"/>
            <ac:spMk id="2" creationId="{50FE9C8E-5632-C41F-B4E4-C77419DA4777}"/>
          </ac:spMkLst>
        </pc:spChg>
      </pc:sldChg>
      <pc:sldChg chg="addSp delSp modSp mod">
        <pc:chgData name="Sean Mahoney" userId="20364943631_tp_box_2" providerId="OAuth2" clId="{BED30032-E4D5-47A3-9D56-ECBCEBC159BD}" dt="2026-01-08T21:13:31.991" v="401"/>
        <pc:sldMkLst>
          <pc:docMk/>
          <pc:sldMk cId="1693013885" sldId="342"/>
        </pc:sldMkLst>
        <pc:spChg chg="mod">
          <ac:chgData name="Sean Mahoney" userId="20364943631_tp_box_2" providerId="OAuth2" clId="{BED30032-E4D5-47A3-9D56-ECBCEBC159BD}" dt="2026-01-08T15:25:16.831" v="32" actId="6549"/>
          <ac:spMkLst>
            <pc:docMk/>
            <pc:sldMk cId="1693013885" sldId="342"/>
            <ac:spMk id="3" creationId="{DD034988-292C-07BB-9315-E57D2F3802DD}"/>
          </ac:spMkLst>
        </pc:spChg>
        <pc:spChg chg="mod">
          <ac:chgData name="Sean Mahoney" userId="20364943631_tp_box_2" providerId="OAuth2" clId="{BED30032-E4D5-47A3-9D56-ECBCEBC159BD}" dt="2026-01-08T21:10:20.570" v="378" actId="1076"/>
          <ac:spMkLst>
            <pc:docMk/>
            <pc:sldMk cId="1693013885" sldId="342"/>
            <ac:spMk id="4" creationId="{8DA0D00C-A41F-6174-14E9-699749CD2388}"/>
          </ac:spMkLst>
        </pc:spChg>
        <pc:spChg chg="mod">
          <ac:chgData name="Sean Mahoney" userId="20364943631_tp_box_2" providerId="OAuth2" clId="{BED30032-E4D5-47A3-9D56-ECBCEBC159BD}" dt="2026-01-08T21:10:27.357" v="379" actId="1076"/>
          <ac:spMkLst>
            <pc:docMk/>
            <pc:sldMk cId="1693013885" sldId="342"/>
            <ac:spMk id="5" creationId="{D702697F-AEF5-6D6B-F30A-A61097D80408}"/>
          </ac:spMkLst>
        </pc:spChg>
        <pc:spChg chg="mod">
          <ac:chgData name="Sean Mahoney" userId="20364943631_tp_box_2" providerId="OAuth2" clId="{BED30032-E4D5-47A3-9D56-ECBCEBC159BD}" dt="2026-01-08T21:10:40.900" v="380" actId="1076"/>
          <ac:spMkLst>
            <pc:docMk/>
            <pc:sldMk cId="1693013885" sldId="342"/>
            <ac:spMk id="6" creationId="{41DBAC4D-B3E5-40E5-5863-AEB334BA1AB0}"/>
          </ac:spMkLst>
        </pc:spChg>
        <pc:spChg chg="mod">
          <ac:chgData name="Sean Mahoney" userId="20364943631_tp_box_2" providerId="OAuth2" clId="{BED30032-E4D5-47A3-9D56-ECBCEBC159BD}" dt="2026-01-08T15:29:33.798" v="159" actId="6549"/>
          <ac:spMkLst>
            <pc:docMk/>
            <pc:sldMk cId="1693013885" sldId="342"/>
            <ac:spMk id="8" creationId="{F86D811C-04EE-0426-C88F-3389E609F486}"/>
          </ac:spMkLst>
        </pc:spChg>
        <pc:spChg chg="mod">
          <ac:chgData name="Sean Mahoney" userId="20364943631_tp_box_2" providerId="OAuth2" clId="{BED30032-E4D5-47A3-9D56-ECBCEBC159BD}" dt="2026-01-08T21:11:06.920" v="387" actId="1076"/>
          <ac:spMkLst>
            <pc:docMk/>
            <pc:sldMk cId="1693013885" sldId="342"/>
            <ac:spMk id="12" creationId="{13964238-A5BB-3D4C-286C-D86490F9AF05}"/>
          </ac:spMkLst>
        </pc:spChg>
        <pc:spChg chg="mod">
          <ac:chgData name="Sean Mahoney" userId="20364943631_tp_box_2" providerId="OAuth2" clId="{BED30032-E4D5-47A3-9D56-ECBCEBC159BD}" dt="2026-01-08T21:11:14.890" v="389" actId="1037"/>
          <ac:spMkLst>
            <pc:docMk/>
            <pc:sldMk cId="1693013885" sldId="342"/>
            <ac:spMk id="13" creationId="{FA2ECE16-822A-9F1B-5A26-6D7AA491F24F}"/>
          </ac:spMkLst>
        </pc:spChg>
        <pc:spChg chg="add mod">
          <ac:chgData name="Sean Mahoney" userId="20364943631_tp_box_2" providerId="OAuth2" clId="{BED30032-E4D5-47A3-9D56-ECBCEBC159BD}" dt="2026-01-08T21:11:29.480" v="394" actId="1037"/>
          <ac:spMkLst>
            <pc:docMk/>
            <pc:sldMk cId="1693013885" sldId="342"/>
            <ac:spMk id="16" creationId="{9D90E772-D0B0-0D75-DF96-6419DA29581B}"/>
          </ac:spMkLst>
        </pc:spChg>
        <pc:spChg chg="mod">
          <ac:chgData name="Sean Mahoney" userId="20364943631_tp_box_2" providerId="OAuth2" clId="{BED30032-E4D5-47A3-9D56-ECBCEBC159BD}" dt="2026-01-08T21:11:40.301" v="395" actId="14100"/>
          <ac:spMkLst>
            <pc:docMk/>
            <pc:sldMk cId="1693013885" sldId="342"/>
            <ac:spMk id="18" creationId="{8BF41B5F-E8AE-F7A4-646D-838FB6559E91}"/>
          </ac:spMkLst>
        </pc:spChg>
        <pc:spChg chg="add mod">
          <ac:chgData name="Sean Mahoney" userId="20364943631_tp_box_2" providerId="OAuth2" clId="{BED30032-E4D5-47A3-9D56-ECBCEBC159BD}" dt="2026-01-08T21:11:29.480" v="394" actId="1037"/>
          <ac:spMkLst>
            <pc:docMk/>
            <pc:sldMk cId="1693013885" sldId="342"/>
            <ac:spMk id="23" creationId="{F13AB715-DB8A-C3E1-F7DC-7C18002BE0DE}"/>
          </ac:spMkLst>
        </pc:spChg>
        <pc:spChg chg="mod">
          <ac:chgData name="Sean Mahoney" userId="20364943631_tp_box_2" providerId="OAuth2" clId="{BED30032-E4D5-47A3-9D56-ECBCEBC159BD}" dt="2026-01-08T21:11:06.920" v="387" actId="1076"/>
          <ac:spMkLst>
            <pc:docMk/>
            <pc:sldMk cId="1693013885" sldId="342"/>
            <ac:spMk id="66" creationId="{791A6AA2-8B65-60A9-FC7A-CB262DB314B6}"/>
          </ac:spMkLst>
        </pc:spChg>
        <pc:spChg chg="mod">
          <ac:chgData name="Sean Mahoney" userId="20364943631_tp_box_2" providerId="OAuth2" clId="{BED30032-E4D5-47A3-9D56-ECBCEBC159BD}" dt="2026-01-08T21:11:14.890" v="389" actId="1037"/>
          <ac:spMkLst>
            <pc:docMk/>
            <pc:sldMk cId="1693013885" sldId="342"/>
            <ac:spMk id="67" creationId="{114DD0C8-93B2-77C7-3471-A43CB90033FE}"/>
          </ac:spMkLst>
        </pc:spChg>
        <pc:spChg chg="mod">
          <ac:chgData name="Sean Mahoney" userId="20364943631_tp_box_2" providerId="OAuth2" clId="{BED30032-E4D5-47A3-9D56-ECBCEBC159BD}" dt="2026-01-08T15:29:23.250" v="157" actId="313"/>
          <ac:spMkLst>
            <pc:docMk/>
            <pc:sldMk cId="1693013885" sldId="342"/>
            <ac:spMk id="69" creationId="{D62AD0B3-0FBB-C916-F41D-4C1921312EB3}"/>
          </ac:spMkLst>
        </pc:spChg>
        <pc:spChg chg="mod">
          <ac:chgData name="Sean Mahoney" userId="20364943631_tp_box_2" providerId="OAuth2" clId="{BED30032-E4D5-47A3-9D56-ECBCEBC159BD}" dt="2026-01-08T15:29:15.768" v="154" actId="313"/>
          <ac:spMkLst>
            <pc:docMk/>
            <pc:sldMk cId="1693013885" sldId="342"/>
            <ac:spMk id="70" creationId="{BF563E2F-CC0A-0BB3-5432-798CC6B890DA}"/>
          </ac:spMkLst>
        </pc:spChg>
        <pc:spChg chg="mod">
          <ac:chgData name="Sean Mahoney" userId="20364943631_tp_box_2" providerId="OAuth2" clId="{BED30032-E4D5-47A3-9D56-ECBCEBC159BD}" dt="2026-01-08T15:29:18.286" v="155" actId="313"/>
          <ac:spMkLst>
            <pc:docMk/>
            <pc:sldMk cId="1693013885" sldId="342"/>
            <ac:spMk id="71" creationId="{9808CD6E-FE04-A4C4-EEBA-CBA9A829060D}"/>
          </ac:spMkLst>
        </pc:spChg>
        <pc:spChg chg="mod">
          <ac:chgData name="Sean Mahoney" userId="20364943631_tp_box_2" providerId="OAuth2" clId="{BED30032-E4D5-47A3-9D56-ECBCEBC159BD}" dt="2026-01-08T15:29:20.472" v="156" actId="313"/>
          <ac:spMkLst>
            <pc:docMk/>
            <pc:sldMk cId="1693013885" sldId="342"/>
            <ac:spMk id="72" creationId="{DBA81FB6-A194-264D-8643-4C6649A0053D}"/>
          </ac:spMkLst>
        </pc:spChg>
        <pc:spChg chg="add mod">
          <ac:chgData name="Sean Mahoney" userId="20364943631_tp_box_2" providerId="OAuth2" clId="{BED30032-E4D5-47A3-9D56-ECBCEBC159BD}" dt="2026-01-08T21:12:01.722" v="396" actId="1076"/>
          <ac:spMkLst>
            <pc:docMk/>
            <pc:sldMk cId="1693013885" sldId="342"/>
            <ac:spMk id="77" creationId="{44A2E6C2-D290-0FAE-C623-CADE0EF36702}"/>
          </ac:spMkLst>
        </pc:spChg>
        <pc:spChg chg="add mod">
          <ac:chgData name="Sean Mahoney" userId="20364943631_tp_box_2" providerId="OAuth2" clId="{BED30032-E4D5-47A3-9D56-ECBCEBC159BD}" dt="2026-01-08T21:12:16.774" v="397" actId="1076"/>
          <ac:spMkLst>
            <pc:docMk/>
            <pc:sldMk cId="1693013885" sldId="342"/>
            <ac:spMk id="78" creationId="{E00193B3-7108-ECF6-EDA7-F8E1BE4B607E}"/>
          </ac:spMkLst>
        </pc:spChg>
        <pc:spChg chg="add mod">
          <ac:chgData name="Sean Mahoney" userId="20364943631_tp_box_2" providerId="OAuth2" clId="{BED30032-E4D5-47A3-9D56-ECBCEBC159BD}" dt="2026-01-08T21:12:20.195" v="400" actId="1037"/>
          <ac:spMkLst>
            <pc:docMk/>
            <pc:sldMk cId="1693013885" sldId="342"/>
            <ac:spMk id="79" creationId="{8DE2A9DB-C52A-4ACF-C3E1-D62978E79CF6}"/>
          </ac:spMkLst>
        </pc:spChg>
        <pc:spChg chg="add mod">
          <ac:chgData name="Sean Mahoney" userId="20364943631_tp_box_2" providerId="OAuth2" clId="{BED30032-E4D5-47A3-9D56-ECBCEBC159BD}" dt="2026-01-08T21:12:01.722" v="396" actId="1076"/>
          <ac:spMkLst>
            <pc:docMk/>
            <pc:sldMk cId="1693013885" sldId="342"/>
            <ac:spMk id="80" creationId="{210C9B1B-EFE6-1849-4BEF-A014DF873FE4}"/>
          </ac:spMkLst>
        </pc:spChg>
        <pc:spChg chg="add mod">
          <ac:chgData name="Sean Mahoney" userId="20364943631_tp_box_2" providerId="OAuth2" clId="{BED30032-E4D5-47A3-9D56-ECBCEBC159BD}" dt="2026-01-08T21:13:31.991" v="401"/>
          <ac:spMkLst>
            <pc:docMk/>
            <pc:sldMk cId="1693013885" sldId="342"/>
            <ac:spMk id="88" creationId="{EFC06495-2DC3-1659-F7E6-F9C8CA8CF8C0}"/>
          </ac:spMkLst>
        </pc:spChg>
        <pc:spChg chg="add mod">
          <ac:chgData name="Sean Mahoney" userId="20364943631_tp_box_2" providerId="OAuth2" clId="{BED30032-E4D5-47A3-9D56-ECBCEBC159BD}" dt="2026-01-08T21:13:31.991" v="401"/>
          <ac:spMkLst>
            <pc:docMk/>
            <pc:sldMk cId="1693013885" sldId="342"/>
            <ac:spMk id="89" creationId="{B393C779-9BBB-97ED-ED7F-3400E7F5FBC5}"/>
          </ac:spMkLst>
        </pc:spChg>
        <pc:spChg chg="add mod">
          <ac:chgData name="Sean Mahoney" userId="20364943631_tp_box_2" providerId="OAuth2" clId="{BED30032-E4D5-47A3-9D56-ECBCEBC159BD}" dt="2026-01-08T21:13:31.991" v="401"/>
          <ac:spMkLst>
            <pc:docMk/>
            <pc:sldMk cId="1693013885" sldId="342"/>
            <ac:spMk id="91" creationId="{A5930A37-5F52-6BBD-5CA1-D499E52988B8}"/>
          </ac:spMkLst>
        </pc:spChg>
        <pc:spChg chg="add mod">
          <ac:chgData name="Sean Mahoney" userId="20364943631_tp_box_2" providerId="OAuth2" clId="{BED30032-E4D5-47A3-9D56-ECBCEBC159BD}" dt="2026-01-08T21:13:31.991" v="401"/>
          <ac:spMkLst>
            <pc:docMk/>
            <pc:sldMk cId="1693013885" sldId="342"/>
            <ac:spMk id="92" creationId="{23935293-077A-3E98-7A68-5402E0457BE5}"/>
          </ac:spMkLst>
        </pc:spChg>
        <pc:cxnChg chg="add mod">
          <ac:chgData name="Sean Mahoney" userId="20364943631_tp_box_2" providerId="OAuth2" clId="{BED30032-E4D5-47A3-9D56-ECBCEBC159BD}" dt="2026-01-08T21:11:23.413" v="390" actId="1076"/>
          <ac:cxnSpMkLst>
            <pc:docMk/>
            <pc:sldMk cId="1693013885" sldId="342"/>
            <ac:cxnSpMk id="14" creationId="{71928D8C-2D93-2342-1C86-513EF7783F97}"/>
          </ac:cxnSpMkLst>
        </pc:cxnChg>
        <pc:cxnChg chg="mod">
          <ac:chgData name="Sean Mahoney" userId="20364943631_tp_box_2" providerId="OAuth2" clId="{BED30032-E4D5-47A3-9D56-ECBCEBC159BD}" dt="2026-01-08T21:10:20.570" v="378" actId="1076"/>
          <ac:cxnSpMkLst>
            <pc:docMk/>
            <pc:sldMk cId="1693013885" sldId="342"/>
            <ac:cxnSpMk id="17" creationId="{016107B5-4837-2336-6A11-A61068FE6274}"/>
          </ac:cxnSpMkLst>
        </pc:cxnChg>
        <pc:cxnChg chg="mod">
          <ac:chgData name="Sean Mahoney" userId="20364943631_tp_box_2" providerId="OAuth2" clId="{BED30032-E4D5-47A3-9D56-ECBCEBC159BD}" dt="2026-01-08T21:10:27.357" v="379" actId="1076"/>
          <ac:cxnSpMkLst>
            <pc:docMk/>
            <pc:sldMk cId="1693013885" sldId="342"/>
            <ac:cxnSpMk id="20" creationId="{B9C37D26-D1D0-941D-EEFE-225F2FD0F2C1}"/>
          </ac:cxnSpMkLst>
        </pc:cxnChg>
        <pc:cxnChg chg="mod">
          <ac:chgData name="Sean Mahoney" userId="20364943631_tp_box_2" providerId="OAuth2" clId="{BED30032-E4D5-47A3-9D56-ECBCEBC159BD}" dt="2026-01-08T21:10:40.900" v="380" actId="1076"/>
          <ac:cxnSpMkLst>
            <pc:docMk/>
            <pc:sldMk cId="1693013885" sldId="342"/>
            <ac:cxnSpMk id="22" creationId="{2E783455-0979-651F-ABF0-BDC3CA0BD41F}"/>
          </ac:cxnSpMkLst>
        </pc:cxnChg>
        <pc:cxnChg chg="mod">
          <ac:chgData name="Sean Mahoney" userId="20364943631_tp_box_2" providerId="OAuth2" clId="{BED30032-E4D5-47A3-9D56-ECBCEBC159BD}" dt="2026-01-08T21:11:06.920" v="387" actId="1076"/>
          <ac:cxnSpMkLst>
            <pc:docMk/>
            <pc:sldMk cId="1693013885" sldId="342"/>
            <ac:cxnSpMk id="26" creationId="{2FF31024-38B6-264F-011A-087B4DB055BB}"/>
          </ac:cxnSpMkLst>
        </pc:cxnChg>
        <pc:cxnChg chg="mod">
          <ac:chgData name="Sean Mahoney" userId="20364943631_tp_box_2" providerId="OAuth2" clId="{BED30032-E4D5-47A3-9D56-ECBCEBC159BD}" dt="2026-01-08T21:11:14.890" v="389" actId="1037"/>
          <ac:cxnSpMkLst>
            <pc:docMk/>
            <pc:sldMk cId="1693013885" sldId="342"/>
            <ac:cxnSpMk id="28" creationId="{76B2F4C7-5EDA-1BA8-568C-9066DC052EA4}"/>
          </ac:cxnSpMkLst>
        </pc:cxnChg>
        <pc:cxnChg chg="mod">
          <ac:chgData name="Sean Mahoney" userId="20364943631_tp_box_2" providerId="OAuth2" clId="{BED30032-E4D5-47A3-9D56-ECBCEBC159BD}" dt="2026-01-08T15:43:49.742" v="272" actId="478"/>
          <ac:cxnSpMkLst>
            <pc:docMk/>
            <pc:sldMk cId="1693013885" sldId="342"/>
            <ac:cxnSpMk id="59" creationId="{B51C3E7F-CFD7-F187-9374-207C3895B013}"/>
          </ac:cxnSpMkLst>
        </pc:cxnChg>
        <pc:cxnChg chg="add mod">
          <ac:chgData name="Sean Mahoney" userId="20364943631_tp_box_2" providerId="OAuth2" clId="{BED30032-E4D5-47A3-9D56-ECBCEBC159BD}" dt="2026-01-08T21:13:31.991" v="401"/>
          <ac:cxnSpMkLst>
            <pc:docMk/>
            <pc:sldMk cId="1693013885" sldId="342"/>
            <ac:cxnSpMk id="90" creationId="{8841BED3-97B6-8F4F-0EC0-6513ED831A5E}"/>
          </ac:cxnSpMkLst>
        </pc:cxnChg>
      </pc:sldChg>
      <pc:sldChg chg="add ord">
        <pc:chgData name="Sean Mahoney" userId="20364943631_tp_box_2" providerId="OAuth2" clId="{BED30032-E4D5-47A3-9D56-ECBCEBC159BD}" dt="2026-01-08T15:24:44.499" v="2"/>
        <pc:sldMkLst>
          <pc:docMk/>
          <pc:sldMk cId="1160198745" sldId="394"/>
        </pc:sldMkLst>
      </pc:sldChg>
    </pc:docChg>
  </pc:docChgLst>
  <pc:docChgLst>
    <pc:chgData name="Chris Hopkins" userId="Wm4+JxdYB1WSzeOzhimG4Hq2SQQE9wsBCDA7LNSTtog=" providerId="None" clId="Web-{D2442CF8-D6A6-40B5-81E8-12A31A6F1573}"/>
    <pc:docChg chg="addSld delSld modSld sldOrd modSection">
      <pc:chgData name="Chris Hopkins" userId="Wm4+JxdYB1WSzeOzhimG4Hq2SQQE9wsBCDA7LNSTtog=" providerId="None" clId="Web-{D2442CF8-D6A6-40B5-81E8-12A31A6F1573}" dt="2026-01-14T15:04:38.622" v="315" actId="20577"/>
      <pc:docMkLst>
        <pc:docMk/>
      </pc:docMkLst>
    </pc:docChg>
  </pc:docChgLst>
  <pc:docChgLst>
    <pc:chgData name="Shawn McFadden" userId="nFT7s3pKzEjhvPSeWibiGcArfUP6Bg3J7qUTYif0x74=" providerId="None" clId="Web-{2EBD147B-0D03-4F9B-A302-F242DC94A3AB}"/>
    <pc:docChg chg="mod modSld">
      <pc:chgData name="Shawn McFadden" userId="nFT7s3pKzEjhvPSeWibiGcArfUP6Bg3J7qUTYif0x74=" providerId="None" clId="Web-{2EBD147B-0D03-4F9B-A302-F242DC94A3AB}" dt="2026-01-12T17:10:40.346" v="99" actId="20577"/>
      <pc:docMkLst>
        <pc:docMk/>
      </pc:docMkLst>
      <pc:sldChg chg="modSp modCm">
        <pc:chgData name="Shawn McFadden" userId="nFT7s3pKzEjhvPSeWibiGcArfUP6Bg3J7qUTYif0x74=" providerId="None" clId="Web-{2EBD147B-0D03-4F9B-A302-F242DC94A3AB}" dt="2026-01-12T17:10:40.346" v="99" actId="20577"/>
        <pc:sldMkLst>
          <pc:docMk/>
          <pc:sldMk cId="1718912858" sldId="395"/>
        </pc:sldMkLst>
        <pc:spChg chg="mod">
          <ac:chgData name="Shawn McFadden" userId="nFT7s3pKzEjhvPSeWibiGcArfUP6Bg3J7qUTYif0x74=" providerId="None" clId="Web-{2EBD147B-0D03-4F9B-A302-F242DC94A3AB}" dt="2026-01-12T17:10:40.346" v="99" actId="20577"/>
          <ac:spMkLst>
            <pc:docMk/>
            <pc:sldMk cId="1718912858" sldId="395"/>
            <ac:spMk id="3" creationId="{8011492A-2E0E-ABFD-895D-9708434DD6C6}"/>
          </ac:spMkLst>
        </pc:spChg>
        <pc:extLst>
          <p:ext xmlns:p="http://schemas.openxmlformats.org/presentationml/2006/main" uri="{D6D511B9-2390-475A-947B-AFAB55BFBCF1}">
            <pc226:cmChg xmlns:pc226="http://schemas.microsoft.com/office/powerpoint/2022/06/main/command" chg="mod">
              <pc226:chgData name="Shawn McFadden" userId="nFT7s3pKzEjhvPSeWibiGcArfUP6Bg3J7qUTYif0x74=" providerId="None" clId="Web-{2EBD147B-0D03-4F9B-A302-F242DC94A3AB}" dt="2026-01-12T17:08:42.847" v="98" actId="20577"/>
              <pc2:cmMkLst xmlns:pc2="http://schemas.microsoft.com/office/powerpoint/2019/9/main/command">
                <pc:docMk/>
                <pc:sldMk cId="1718912858" sldId="395"/>
                <pc2:cmMk id="{6736CDF3-0840-46C0-AB3D-F5577BBE19DC}"/>
              </pc2:cmMkLst>
            </pc226:cmChg>
          </p:ext>
        </pc:extLst>
      </pc:sldChg>
    </pc:docChg>
  </pc:docChgLst>
  <pc:docChgLst>
    <pc:chgData name="Chris Hopkins" userId="Wm4+JxdYB1WSzeOzhimG4Hq2SQQE9wsBCDA7LNSTtog=" providerId="None" clId="Web-{40BCF2E3-91E6-4870-9DE6-429655B2AC5F}"/>
    <pc:docChg chg="modSld">
      <pc:chgData name="Chris Hopkins" userId="Wm4+JxdYB1WSzeOzhimG4Hq2SQQE9wsBCDA7LNSTtog=" providerId="None" clId="Web-{40BCF2E3-91E6-4870-9DE6-429655B2AC5F}" dt="2026-01-21T19:25:10.811" v="11" actId="20577"/>
      <pc:docMkLst>
        <pc:docMk/>
      </pc:docMkLst>
      <pc:sldChg chg="modSp">
        <pc:chgData name="Chris Hopkins" userId="Wm4+JxdYB1WSzeOzhimG4Hq2SQQE9wsBCDA7LNSTtog=" providerId="None" clId="Web-{40BCF2E3-91E6-4870-9DE6-429655B2AC5F}" dt="2026-01-21T19:25:10.811" v="11" actId="20577"/>
        <pc:sldMkLst>
          <pc:docMk/>
          <pc:sldMk cId="3718322455" sldId="313"/>
        </pc:sldMkLst>
        <pc:spChg chg="mod">
          <ac:chgData name="Chris Hopkins" userId="Wm4+JxdYB1WSzeOzhimG4Hq2SQQE9wsBCDA7LNSTtog=" providerId="None" clId="Web-{40BCF2E3-91E6-4870-9DE6-429655B2AC5F}" dt="2026-01-21T19:25:10.811" v="11" actId="20577"/>
          <ac:spMkLst>
            <pc:docMk/>
            <pc:sldMk cId="3718322455" sldId="313"/>
            <ac:spMk id="3" creationId="{B351BEF3-9F0E-0D52-3FB3-8580ADE558B8}"/>
          </ac:spMkLst>
        </pc:spChg>
      </pc:sldChg>
    </pc:docChg>
  </pc:docChgLst>
  <pc:docChgLst>
    <pc:chgData name="Chris Hopkins" userId="Wm4+JxdYB1WSzeOzhimG4Hq2SQQE9wsBCDA7LNSTtog=" providerId="None" clId="Web-{91B2266C-674D-4B18-97A8-78A6502B2707}"/>
    <pc:docChg chg="modSld">
      <pc:chgData name="Chris Hopkins" userId="Wm4+JxdYB1WSzeOzhimG4Hq2SQQE9wsBCDA7LNSTtog=" providerId="None" clId="Web-{91B2266C-674D-4B18-97A8-78A6502B2707}" dt="2026-01-15T20:10:13.125" v="34" actId="20577"/>
      <pc:docMkLst>
        <pc:docMk/>
      </pc:docMkLst>
      <pc:sldChg chg="modSp">
        <pc:chgData name="Chris Hopkins" userId="Wm4+JxdYB1WSzeOzhimG4Hq2SQQE9wsBCDA7LNSTtog=" providerId="None" clId="Web-{91B2266C-674D-4B18-97A8-78A6502B2707}" dt="2026-01-15T20:10:13.125" v="34" actId="20577"/>
        <pc:sldMkLst>
          <pc:docMk/>
          <pc:sldMk cId="4061050329" sldId="378"/>
        </pc:sldMkLst>
        <pc:spChg chg="mod">
          <ac:chgData name="Chris Hopkins" userId="Wm4+JxdYB1WSzeOzhimG4Hq2SQQE9wsBCDA7LNSTtog=" providerId="None" clId="Web-{91B2266C-674D-4B18-97A8-78A6502B2707}" dt="2026-01-15T20:10:13.125" v="34" actId="20577"/>
          <ac:spMkLst>
            <pc:docMk/>
            <pc:sldMk cId="4061050329" sldId="378"/>
            <ac:spMk id="3" creationId="{F3750745-7E95-19DA-067A-B805DA12E2BC}"/>
          </ac:spMkLst>
        </pc:spChg>
      </pc:sldChg>
    </pc:docChg>
  </pc:docChgLst>
  <pc:docChgLst>
    <pc:chgData name="Chris Hopkins" userId="Wm4+JxdYB1WSzeOzhimG4Hq2SQQE9wsBCDA7LNSTtog=" providerId="None" clId="Web-{AF055221-FBC2-4A03-905C-70B80477A187}"/>
    <pc:docChg chg="modSld">
      <pc:chgData name="Chris Hopkins" userId="Wm4+JxdYB1WSzeOzhimG4Hq2SQQE9wsBCDA7LNSTtog=" providerId="None" clId="Web-{AF055221-FBC2-4A03-905C-70B80477A187}" dt="2026-01-15T16:49:16.717" v="441" actId="20577"/>
      <pc:docMkLst>
        <pc:docMk/>
      </pc:docMkLst>
      <pc:sldChg chg="modSp">
        <pc:chgData name="Chris Hopkins" userId="Wm4+JxdYB1WSzeOzhimG4Hq2SQQE9wsBCDA7LNSTtog=" providerId="None" clId="Web-{AF055221-FBC2-4A03-905C-70B80477A187}" dt="2026-01-15T16:40:49.570" v="199" actId="20577"/>
        <pc:sldMkLst>
          <pc:docMk/>
          <pc:sldMk cId="3718322455" sldId="313"/>
        </pc:sldMkLst>
        <pc:spChg chg="mod">
          <ac:chgData name="Chris Hopkins" userId="Wm4+JxdYB1WSzeOzhimG4Hq2SQQE9wsBCDA7LNSTtog=" providerId="None" clId="Web-{AF055221-FBC2-4A03-905C-70B80477A187}" dt="2026-01-15T16:40:49.570" v="199" actId="20577"/>
          <ac:spMkLst>
            <pc:docMk/>
            <pc:sldMk cId="3718322455" sldId="313"/>
            <ac:spMk id="3" creationId="{B351BEF3-9F0E-0D52-3FB3-8580ADE558B8}"/>
          </ac:spMkLst>
        </pc:spChg>
      </pc:sldChg>
      <pc:sldChg chg="mod modShow">
        <pc:chgData name="Chris Hopkins" userId="Wm4+JxdYB1WSzeOzhimG4Hq2SQQE9wsBCDA7LNSTtog=" providerId="None" clId="Web-{AF055221-FBC2-4A03-905C-70B80477A187}" dt="2026-01-15T16:09:39.213" v="0"/>
        <pc:sldMkLst>
          <pc:docMk/>
          <pc:sldMk cId="628736129" sldId="390"/>
        </pc:sldMkLst>
      </pc:sldChg>
      <pc:sldChg chg="modSp">
        <pc:chgData name="Chris Hopkins" userId="Wm4+JxdYB1WSzeOzhimG4Hq2SQQE9wsBCDA7LNSTtog=" providerId="None" clId="Web-{AF055221-FBC2-4A03-905C-70B80477A187}" dt="2026-01-15T16:49:16.717" v="441" actId="20577"/>
        <pc:sldMkLst>
          <pc:docMk/>
          <pc:sldMk cId="1865477272" sldId="392"/>
        </pc:sldMkLst>
        <pc:spChg chg="mod">
          <ac:chgData name="Chris Hopkins" userId="Wm4+JxdYB1WSzeOzhimG4Hq2SQQE9wsBCDA7LNSTtog=" providerId="None" clId="Web-{AF055221-FBC2-4A03-905C-70B80477A187}" dt="2026-01-15T16:49:16.717" v="441" actId="20577"/>
          <ac:spMkLst>
            <pc:docMk/>
            <pc:sldMk cId="1865477272" sldId="392"/>
            <ac:spMk id="3" creationId="{8825840E-6F30-B1BA-3199-2179A13019A3}"/>
          </ac:spMkLst>
        </pc:spChg>
      </pc:sldChg>
      <pc:sldChg chg="modSp modCm">
        <pc:chgData name="Chris Hopkins" userId="Wm4+JxdYB1WSzeOzhimG4Hq2SQQE9wsBCDA7LNSTtog=" providerId="None" clId="Web-{AF055221-FBC2-4A03-905C-70B80477A187}" dt="2026-01-15T16:27:12.747" v="127" actId="20577"/>
        <pc:sldMkLst>
          <pc:docMk/>
          <pc:sldMk cId="1718912858" sldId="395"/>
        </pc:sldMkLst>
        <pc:spChg chg="mod">
          <ac:chgData name="Chris Hopkins" userId="Wm4+JxdYB1WSzeOzhimG4Hq2SQQE9wsBCDA7LNSTtog=" providerId="None" clId="Web-{AF055221-FBC2-4A03-905C-70B80477A187}" dt="2026-01-15T16:27:12.747" v="127" actId="20577"/>
          <ac:spMkLst>
            <pc:docMk/>
            <pc:sldMk cId="1718912858" sldId="395"/>
            <ac:spMk id="3" creationId="{8011492A-2E0E-ABFD-895D-9708434DD6C6}"/>
          </ac:spMkLst>
        </pc:spChg>
        <pc:extLst>
          <p:ext xmlns:p="http://schemas.openxmlformats.org/presentationml/2006/main" uri="{D6D511B9-2390-475A-947B-AFAB55BFBCF1}">
            <pc226:cmChg xmlns:pc226="http://schemas.microsoft.com/office/powerpoint/2022/06/main/command" chg="mod">
              <pc226:chgData name="Chris Hopkins" userId="Wm4+JxdYB1WSzeOzhimG4Hq2SQQE9wsBCDA7LNSTtog=" providerId="None" clId="Web-{AF055221-FBC2-4A03-905C-70B80477A187}" dt="2026-01-15T16:27:12.732" v="126" actId="20577"/>
              <pc2:cmMkLst xmlns:pc2="http://schemas.microsoft.com/office/powerpoint/2019/9/main/command">
                <pc:docMk/>
                <pc:sldMk cId="1718912858" sldId="395"/>
                <pc2:cmMk id="{4011854E-0A61-4AD2-8CD2-0AD34F501B33}"/>
              </pc2:cmMkLst>
            </pc226:cmChg>
            <pc226:cmChg xmlns:pc226="http://schemas.microsoft.com/office/powerpoint/2022/06/main/command" chg="mod">
              <pc226:chgData name="Chris Hopkins" userId="Wm4+JxdYB1WSzeOzhimG4Hq2SQQE9wsBCDA7LNSTtog=" providerId="None" clId="Web-{AF055221-FBC2-4A03-905C-70B80477A187}" dt="2026-01-15T16:27:12.732" v="126" actId="20577"/>
              <pc2:cmMkLst xmlns:pc2="http://schemas.microsoft.com/office/powerpoint/2019/9/main/command">
                <pc:docMk/>
                <pc:sldMk cId="1718912858" sldId="395"/>
                <pc2:cmMk id="{019E7874-0799-4F2A-96B7-DCED97F2B41A}"/>
              </pc2:cmMkLst>
            </pc226:cmChg>
            <pc226:cmChg xmlns:pc226="http://schemas.microsoft.com/office/powerpoint/2022/06/main/command" chg="mod">
              <pc226:chgData name="Chris Hopkins" userId="Wm4+JxdYB1WSzeOzhimG4Hq2SQQE9wsBCDA7LNSTtog=" providerId="None" clId="Web-{AF055221-FBC2-4A03-905C-70B80477A187}" dt="2026-01-15T16:27:12.732" v="126" actId="20577"/>
              <pc2:cmMkLst xmlns:pc2="http://schemas.microsoft.com/office/powerpoint/2019/9/main/command">
                <pc:docMk/>
                <pc:sldMk cId="1718912858" sldId="395"/>
                <pc2:cmMk id="{C62954DB-21B1-4E71-95DC-66E14665F3C5}"/>
              </pc2:cmMkLst>
            </pc226:cmChg>
            <pc226:cmChg xmlns:pc226="http://schemas.microsoft.com/office/powerpoint/2022/06/main/command" chg="mod">
              <pc226:chgData name="Chris Hopkins" userId="Wm4+JxdYB1WSzeOzhimG4Hq2SQQE9wsBCDA7LNSTtog=" providerId="None" clId="Web-{AF055221-FBC2-4A03-905C-70B80477A187}" dt="2026-01-15T16:27:12.732" v="126" actId="20577"/>
              <pc2:cmMkLst xmlns:pc2="http://schemas.microsoft.com/office/powerpoint/2019/9/main/command">
                <pc:docMk/>
                <pc:sldMk cId="1718912858" sldId="395"/>
                <pc2:cmMk id="{D38710F0-8770-4C28-AAD4-F1224FC542A7}"/>
              </pc2:cmMkLst>
            </pc226:cmChg>
            <pc226:cmChg xmlns:pc226="http://schemas.microsoft.com/office/powerpoint/2022/06/main/command" chg="mod">
              <pc226:chgData name="Chris Hopkins" userId="Wm4+JxdYB1WSzeOzhimG4Hq2SQQE9wsBCDA7LNSTtog=" providerId="None" clId="Web-{AF055221-FBC2-4A03-905C-70B80477A187}" dt="2026-01-15T16:27:12.732" v="126" actId="20577"/>
              <pc2:cmMkLst xmlns:pc2="http://schemas.microsoft.com/office/powerpoint/2019/9/main/command">
                <pc:docMk/>
                <pc:sldMk cId="1718912858" sldId="395"/>
                <pc2:cmMk id="{6736CDF3-0840-46C0-AB3D-F5577BBE19DC}"/>
              </pc2:cmMkLst>
            </pc226:cmChg>
          </p:ext>
        </pc:extLst>
      </pc:sldChg>
    </pc:docChg>
  </pc:docChgLst>
  <pc:docChgLst>
    <pc:chgData name="Chris Hopkins" userId="Wm4+JxdYB1WSzeOzhimG4Hq2SQQE9wsBCDA7LNSTtog=" providerId="None" clId="Web-{323E727F-DF8F-4367-8773-17CBCB9AE2C9}"/>
    <pc:docChg chg="addSld modSld modSection">
      <pc:chgData name="Chris Hopkins" userId="Wm4+JxdYB1WSzeOzhimG4Hq2SQQE9wsBCDA7LNSTtog=" providerId="None" clId="Web-{323E727F-DF8F-4367-8773-17CBCB9AE2C9}" dt="2026-01-23T15:35:31.559" v="31" actId="20577"/>
      <pc:docMkLst>
        <pc:docMk/>
      </pc:docMkLst>
      <pc:sldChg chg="modSp">
        <pc:chgData name="Chris Hopkins" userId="Wm4+JxdYB1WSzeOzhimG4Hq2SQQE9wsBCDA7LNSTtog=" providerId="None" clId="Web-{323E727F-DF8F-4367-8773-17CBCB9AE2C9}" dt="2026-01-23T15:35:24.215" v="20" actId="20577"/>
        <pc:sldMkLst>
          <pc:docMk/>
          <pc:sldMk cId="3214209825" sldId="293"/>
        </pc:sldMkLst>
        <pc:spChg chg="mod">
          <ac:chgData name="Chris Hopkins" userId="Wm4+JxdYB1WSzeOzhimG4Hq2SQQE9wsBCDA7LNSTtog=" providerId="None" clId="Web-{323E727F-DF8F-4367-8773-17CBCB9AE2C9}" dt="2026-01-23T15:35:24.215" v="20" actId="20577"/>
          <ac:spMkLst>
            <pc:docMk/>
            <pc:sldMk cId="3214209825" sldId="293"/>
            <ac:spMk id="2" creationId="{65E63296-E809-5DF3-F2E4-F32C237A0180}"/>
          </ac:spMkLst>
        </pc:spChg>
      </pc:sldChg>
      <pc:sldChg chg="modSp">
        <pc:chgData name="Chris Hopkins" userId="Wm4+JxdYB1WSzeOzhimG4Hq2SQQE9wsBCDA7LNSTtog=" providerId="None" clId="Web-{323E727F-DF8F-4367-8773-17CBCB9AE2C9}" dt="2026-01-23T15:35:31.559" v="31" actId="20577"/>
        <pc:sldMkLst>
          <pc:docMk/>
          <pc:sldMk cId="2115673973" sldId="364"/>
        </pc:sldMkLst>
        <pc:spChg chg="mod">
          <ac:chgData name="Chris Hopkins" userId="Wm4+JxdYB1WSzeOzhimG4Hq2SQQE9wsBCDA7LNSTtog=" providerId="None" clId="Web-{323E727F-DF8F-4367-8773-17CBCB9AE2C9}" dt="2026-01-23T15:35:31.559" v="31" actId="20577"/>
          <ac:spMkLst>
            <pc:docMk/>
            <pc:sldMk cId="2115673973" sldId="364"/>
            <ac:spMk id="2" creationId="{3477BE63-EDA2-5175-B2F5-CAEE675991B4}"/>
          </ac:spMkLst>
        </pc:spChg>
      </pc:sldChg>
      <pc:sldChg chg="modSp">
        <pc:chgData name="Chris Hopkins" userId="Wm4+JxdYB1WSzeOzhimG4Hq2SQQE9wsBCDA7LNSTtog=" providerId="None" clId="Web-{323E727F-DF8F-4367-8773-17CBCB9AE2C9}" dt="2026-01-23T15:35:14.575" v="7" actId="20577"/>
        <pc:sldMkLst>
          <pc:docMk/>
          <pc:sldMk cId="1387802433" sldId="387"/>
        </pc:sldMkLst>
        <pc:spChg chg="mod">
          <ac:chgData name="Chris Hopkins" userId="Wm4+JxdYB1WSzeOzhimG4Hq2SQQE9wsBCDA7LNSTtog=" providerId="None" clId="Web-{323E727F-DF8F-4367-8773-17CBCB9AE2C9}" dt="2026-01-23T15:35:14.575" v="7" actId="20577"/>
          <ac:spMkLst>
            <pc:docMk/>
            <pc:sldMk cId="1387802433" sldId="387"/>
            <ac:spMk id="2" creationId="{884BDCF0-59BF-EC5B-8032-2A01545C20D7}"/>
          </ac:spMkLst>
        </pc:spChg>
      </pc:sldChg>
      <pc:sldChg chg="add">
        <pc:chgData name="Chris Hopkins" userId="Wm4+JxdYB1WSzeOzhimG4Hq2SQQE9wsBCDA7LNSTtog=" providerId="None" clId="Web-{323E727F-DF8F-4367-8773-17CBCB9AE2C9}" dt="2026-01-22T16:20:16.001" v="0"/>
        <pc:sldMkLst>
          <pc:docMk/>
          <pc:sldMk cId="956152068" sldId="396"/>
        </pc:sldMkLst>
      </pc:sldChg>
    </pc:docChg>
  </pc:docChgLst>
</pc:chgInfo>
</file>

<file path=ppt/comments/modernComment_10D_20710E11.xml><?xml version="1.0" encoding="utf-8"?>
<p188:cmLst xmlns:a="http://schemas.openxmlformats.org/drawingml/2006/main" xmlns:r="http://schemas.openxmlformats.org/officeDocument/2006/relationships" xmlns:p188="http://schemas.microsoft.com/office/powerpoint/2018/8/main">
  <p188:cm id="{58A13288-28D8-41FE-B91A-3F8458006A84}" authorId="{9F59275C-C22D-215C-F6DD-680C635E450C}" created="2025-11-14T19:11:35.790">
    <ac:txMkLst xmlns:ac="http://schemas.microsoft.com/office/drawing/2013/main/command">
      <pc:docMk xmlns:pc="http://schemas.microsoft.com/office/powerpoint/2013/main/command"/>
      <pc:sldMk xmlns:pc="http://schemas.microsoft.com/office/powerpoint/2013/main/command" cId="544280081" sldId="269"/>
      <ac:spMk id="10" creationId="{88025833-1E78-E060-9DCC-7E3C783E3F2A}"/>
      <ac:txMk cp="25" len="1">
        <ac:context len="41" hash="923996148"/>
      </ac:txMk>
    </ac:txMkLst>
    <p188:pos x="802105" y="465221"/>
    <p188:replyLst>
      <p188:reply id="{F55998FF-34A0-42CD-845D-CF4494967964}" authorId="{9F59275C-C22D-215C-F6DD-680C635E450C}" created="2025-11-14T20:56:40.924">
        <p188:txBody>
          <a:bodyPr/>
          <a:lstStyle/>
          <a:p>
            <a:r>
              <a:rPr lang="en-US"/>
              <a:t>Also, do we need to add an output on the 2nd step re: maturity assessment of identified capabilities if they are assessed during outcomes development?</a:t>
            </a:r>
          </a:p>
        </p188:txBody>
      </p188:reply>
      <p188:reply id="{15ADA173-0C06-1F4A-8C40-4328C0DDE955}" authorId="{0231C8B3-9BD7-74C2-B8A2-8022AD20505D}" created="2025-11-20T21:57:31.791">
        <p188:txBody>
          <a:bodyPr/>
          <a:lstStyle/>
          <a:p>
            <a:r>
              <a:rPr lang="en-US"/>
              <a:t>Use double-sided arrows between steps to indicate cyclical relationships?</a:t>
            </a:r>
          </a:p>
        </p188:txBody>
      </p188:reply>
    </p188:replyLst>
    <p188:txBody>
      <a:bodyPr/>
      <a:lstStyle/>
      <a:p>
        <a:r>
          <a:rPr lang="en-US"/>
          <a:t>In step 4, change label on input re: "Maturity criteria" to "maturity results" to avoid confusion since maturity assessment occurs in step 3.</a:t>
        </a:r>
      </a:p>
    </p188:txBody>
  </p188:cm>
  <p188:cm id="{098A6C90-3505-4F59-9AC4-A36458E3BB1D}" authorId="{65450887-0CDF-F71C-8B9F-BF754EB5BABA}" created="2025-11-26T16:47:52.382">
    <ac:txMkLst xmlns:ac="http://schemas.microsoft.com/office/drawing/2013/main/command">
      <pc:docMk xmlns:pc="http://schemas.microsoft.com/office/powerpoint/2013/main/command"/>
      <pc:sldMk xmlns:pc="http://schemas.microsoft.com/office/powerpoint/2013/main/command" cId="544280081" sldId="269"/>
      <ac:spMk id="7" creationId="{F2029EA7-86CC-3BD5-14AE-1DF916C8A31D}"/>
      <ac:txMk cp="0" len="24">
        <ac:context len="45" hash="1959738923"/>
      </ac:txMk>
    </ac:txMkLst>
    <p188:pos x="1004130" y="341831"/>
    <p188:txBody>
      <a:bodyPr/>
      <a:lstStyle/>
      <a:p>
        <a:r>
          <a:rPr lang="en-US"/>
          <a:t>State Strategic plan instead for goals?</a:t>
        </a:r>
      </a:p>
    </p188:txBody>
  </p188:cm>
</p188:cmLst>
</file>

<file path=ppt/comments/modernComment_13B_B30B4178.xml><?xml version="1.0" encoding="utf-8"?>
<p188:cmLst xmlns:a="http://schemas.openxmlformats.org/drawingml/2006/main" xmlns:r="http://schemas.openxmlformats.org/officeDocument/2006/relationships" xmlns:p188="http://schemas.microsoft.com/office/powerpoint/2018/8/main">
  <p188:cm id="{CBEF9EF8-4148-4C73-81DF-D36F46C6FB49}" authorId="{2028F353-66B6-AA9E-8086-9C7BCDBF31F8}" created="2025-11-04T18:54:18.481">
    <ac:txMkLst xmlns:ac="http://schemas.microsoft.com/office/drawing/2013/main/command">
      <pc:docMk xmlns:pc="http://schemas.microsoft.com/office/powerpoint/2013/main/command"/>
      <pc:sldMk xmlns:pc="http://schemas.microsoft.com/office/powerpoint/2013/main/command" cId="3003859320" sldId="315"/>
      <ac:spMk id="3" creationId="{EBB1E32F-BC92-A602-7FA0-B7371FBB47A6}"/>
      <ac:txMk cp="206" len="71">
        <ac:context len="324" hash="276088785"/>
      </ac:txMk>
    </ac:txMkLst>
    <p188:pos x="8151962" y="2372264"/>
    <p188:txBody>
      <a:bodyPr/>
      <a:lstStyle/>
      <a:p>
        <a:r>
          <a:rPr lang="en-US"/>
          <a:t>This is the same as 4B.  Shouldn't it be:
Concept of Operations established?</a:t>
        </a:r>
      </a:p>
    </p188:txBody>
  </p188:cm>
</p188:cmLst>
</file>

<file path=ppt/comments/modernComment_13E_43ED803A.xml><?xml version="1.0" encoding="utf-8"?>
<p188:cmLst xmlns:a="http://schemas.openxmlformats.org/drawingml/2006/main" xmlns:r="http://schemas.openxmlformats.org/officeDocument/2006/relationships" xmlns:p188="http://schemas.microsoft.com/office/powerpoint/2018/8/main">
  <p188:cm id="{7264D5C0-2A9E-594E-BD94-CBC61EEF9F29}" authorId="{2028F353-66B6-AA9E-8086-9C7BCDBF31F8}" status="resolved" created="2025-11-04T19:12:07.194" complete="100000">
    <ac:txMkLst xmlns:ac="http://schemas.microsoft.com/office/drawing/2013/main/command">
      <pc:docMk xmlns:pc="http://schemas.microsoft.com/office/powerpoint/2013/main/command"/>
      <pc:sldMk xmlns:pc="http://schemas.microsoft.com/office/powerpoint/2013/main/command" cId="1139638330" sldId="318"/>
      <ac:spMk id="3" creationId="{327CC2DA-4347-E102-FD27-014C768717F1}"/>
      <ac:txMk cp="106" len="81">
        <ac:context len="567" hash="473831147"/>
      </ac:txMk>
    </ac:txMkLst>
    <p188:pos x="4744528" y="1926566"/>
    <p188:txBody>
      <a:bodyPr/>
      <a:lstStyle/>
      <a:p>
        <a:r>
          <a:rPr lang="en-US"/>
          <a:t>I offer some suggestions for consideration</a:t>
        </a:r>
      </a:p>
    </p188:txBody>
  </p188:cm>
</p188:cmLst>
</file>

<file path=ppt/comments/modernComment_13F_63A0FB1C.xml><?xml version="1.0" encoding="utf-8"?>
<p188:cmLst xmlns:a="http://schemas.openxmlformats.org/drawingml/2006/main" xmlns:r="http://schemas.openxmlformats.org/officeDocument/2006/relationships" xmlns:p188="http://schemas.microsoft.com/office/powerpoint/2018/8/main">
  <p188:cm id="{BD2C599E-B482-5E40-A9A2-F0C4D441C1D2}" authorId="{2028F353-66B6-AA9E-8086-9C7BCDBF31F8}" status="resolved" created="2025-11-04T19:18:48.839" complete="100000">
    <pc:sldMkLst xmlns:pc="http://schemas.microsoft.com/office/powerpoint/2013/main/command">
      <pc:docMk/>
      <pc:sldMk cId="370297277" sldId="319"/>
    </pc:sldMkLst>
    <p188:txBody>
      <a:bodyPr/>
      <a:lstStyle/>
      <a:p>
        <a:r>
          <a:rPr lang="en-US"/>
          <a:t>Suggestions:
Define Objectives and Scope:
Clearly outline the goals and limitations of the enhancement project.
Prioritize features and functionalities based on business impact and feasibility.
Perform Risk Analysis:
Identify potential risks and challenges associated with the enhancement.
Develop mitigation strategies to address identified risks.
Develop a Strategic Plan:
Create a timeline with milestones for each phase of the enhancement.
Allocate resources, including budget and personnel, to each task.</a:t>
        </a:r>
      </a:p>
    </p188:txBody>
  </p188:cm>
  <p188:cm id="{084372B9-E65E-2E4D-BBB7-1ECE31292EE8}" authorId="{0231C8B3-9BD7-74C2-B8A2-8022AD20505D}" status="resolved" created="2025-11-24T20:41:08.949" complete="100000">
    <ac:txMkLst xmlns:ac="http://schemas.microsoft.com/office/drawing/2013/main/command">
      <pc:docMk xmlns:pc="http://schemas.microsoft.com/office/powerpoint/2013/main/command"/>
      <pc:sldMk xmlns:pc="http://schemas.microsoft.com/office/powerpoint/2013/main/command" cId="1671494428" sldId="319"/>
      <ac:spMk id="2" creationId="{1C943126-99E5-9263-D8B1-685E3DAC8711}"/>
      <ac:txMk cp="2" len="12">
        <ac:context len="15" hash="62909750"/>
      </ac:txMk>
    </ac:txMkLst>
    <p188:pos x="4149852" y="886968"/>
    <p188:txBody>
      <a:bodyPr/>
      <a:lstStyle/>
      <a:p>
        <a:r>
          <a:rPr lang="en-US"/>
          <a:t>Julie and I will develop activities once the RM sub-group decides on the template. </a:t>
        </a:r>
      </a:p>
    </p188:txBody>
  </p188:cm>
</p188:cmLst>
</file>

<file path=ppt/comments/modernComment_18B_6674875A.xml><?xml version="1.0" encoding="utf-8"?>
<p188:cmLst xmlns:a="http://schemas.openxmlformats.org/drawingml/2006/main" xmlns:r="http://schemas.openxmlformats.org/officeDocument/2006/relationships" xmlns:p188="http://schemas.microsoft.com/office/powerpoint/2018/8/main">
  <p188:cm id="{6736CDF3-0840-46C0-AB3D-F5577BBE19DC}" authorId="{65450887-0CDF-F71C-8B9F-BF754EB5BABA}" created="2025-12-18T16:56:16.059">
    <ac:txMkLst xmlns:ac="http://schemas.microsoft.com/office/drawing/2013/main/command">
      <pc:docMk xmlns:pc="http://schemas.microsoft.com/office/powerpoint/2013/main/command"/>
      <pc:sldMk xmlns:pc="http://schemas.microsoft.com/office/powerpoint/2013/main/command" cId="1718912858" sldId="395"/>
      <ac:spMk id="3" creationId="{8011492A-2E0E-ABFD-895D-9708434DD6C6}"/>
      <ac:txMk cp="644">
        <ac:context len="706" hash="2489232885"/>
      </ac:txMk>
    </ac:txMkLst>
    <p188:pos x="9352359" y="2053828"/>
    <p188:replyLst>
      <p188:reply id="{FDF35A14-3DCA-4E01-8E31-81684BD8B06F}" authorId="{716F5AAE-8C78-5D35-18E3-31903633D713}" created="2026-01-12T16:47:37.703">
        <p188:txBody>
          <a:bodyPr/>
          <a:lstStyle/>
          <a:p>
            <a:r>
              <a:rPr lang="en-US"/>
              <a:t>Discuss if we need to include 'identify potential changes for technical roles/responsibilities to support target TA maturity.'</a:t>
            </a:r>
          </a:p>
        </p188:txBody>
      </p188:reply>
    </p188:replyLst>
    <p188:txBody>
      <a:bodyPr/>
      <a:lstStyle/>
      <a:p>
        <a:r>
          <a:rPr lang="en-US"/>
          <a:t>restart here</a:t>
        </a:r>
      </a:p>
    </p188:txBody>
  </p188:cm>
  <p188:cm id="{25F7610F-7953-4867-8A78-C0855A5F9485}" authorId="{369349F1-F47B-0CA4-53E6-550F7CA94B57}" created="2026-01-12T17:04:05.834">
    <pc:sldMkLst xmlns:pc="http://schemas.microsoft.com/office/powerpoint/2013/main/command">
      <pc:docMk/>
      <pc:sldMk cId="1718912858" sldId="395"/>
    </pc:sldMkLst>
    <p188:txBody>
      <a:bodyPr/>
      <a:lstStyle/>
      <a:p>
        <a:r>
          <a:rPr lang="en-US"/>
          <a:t>Propose moving this, and the gathering of the application inventory, to Business Architecture. Some of this will need to remain in Technology Architecture such as identity management, monitoring, etc.</a:t>
        </a:r>
      </a:p>
    </p188:txBody>
  </p188:cm>
  <p188:cm id="{D38710F0-8770-4C28-AAD4-F1224FC542A7}" authorId="{369349F1-F47B-0CA4-53E6-550F7CA94B57}" created="2026-01-12T17:12:12.127">
    <ac:txMkLst xmlns:ac="http://schemas.microsoft.com/office/drawing/2013/main/command">
      <pc:docMk xmlns:pc="http://schemas.microsoft.com/office/powerpoint/2013/main/command"/>
      <pc:sldMk xmlns:pc="http://schemas.microsoft.com/office/powerpoint/2013/main/command" cId="1718912858" sldId="395"/>
      <ac:spMk id="3" creationId="{8011492A-2E0E-ABFD-895D-9708434DD6C6}"/>
      <ac:txMk cp="332">
        <ac:context len="706" hash="2489232885"/>
      </ac:txMk>
    </ac:txMkLst>
    <p188:pos x="2045368" y="2556710"/>
    <p188:txBody>
      <a:bodyPr/>
      <a:lstStyle/>
      <a:p>
        <a:r>
          <a:rPr lang="en-US"/>
          <a:t>Andrew, what do you think of moving this to after 8 or 9?</a:t>
        </a:r>
      </a:p>
    </p188:txBody>
  </p188:cm>
  <p188:cm id="{C62954DB-21B1-4E71-95DC-66E14665F3C5}" authorId="{369349F1-F47B-0CA4-53E6-550F7CA94B57}" created="2026-01-12T17:16:29.704">
    <ac:txMkLst xmlns:ac="http://schemas.microsoft.com/office/drawing/2013/main/command">
      <pc:docMk xmlns:pc="http://schemas.microsoft.com/office/powerpoint/2013/main/command"/>
      <pc:sldMk xmlns:pc="http://schemas.microsoft.com/office/powerpoint/2013/main/command" cId="1718912858" sldId="395"/>
      <ac:spMk id="3" creationId="{8011492A-2E0E-ABFD-895D-9708434DD6C6}"/>
      <ac:txMk cp="18" len="45">
        <ac:context len="706" hash="2489232885"/>
      </ac:txMk>
    </ac:txMkLst>
    <p188:pos x="6617368" y="491289"/>
    <p188:txBody>
      <a:bodyPr/>
      <a:lstStyle/>
      <a:p>
        <a:r>
          <a:rPr lang="en-US"/>
          <a:t>Andrew, we can leave this at the top.  The next step (34 C) will assess the gaps.</a:t>
        </a:r>
      </a:p>
    </p188:txBody>
  </p188:cm>
  <p188:cm id="{019E7874-0799-4F2A-96B7-DCED97F2B41A}" authorId="{65450887-0CDF-F71C-8B9F-BF754EB5BABA}" created="2026-01-15T16:15:37.421">
    <ac:txMkLst xmlns:ac="http://schemas.microsoft.com/office/drawing/2013/main/command">
      <pc:docMk xmlns:pc="http://schemas.microsoft.com/office/powerpoint/2013/main/command"/>
      <pc:sldMk xmlns:pc="http://schemas.microsoft.com/office/powerpoint/2013/main/command" cId="1718912858" sldId="395"/>
      <ac:spMk id="3" creationId="{8011492A-2E0E-ABFD-895D-9708434DD6C6}"/>
      <ac:txMk cp="331">
        <ac:context len="706" hash="2489232885"/>
      </ac:txMk>
    </ac:txMkLst>
    <p188:pos x="7883495" y="1994018"/>
    <p188:txBody>
      <a:bodyPr/>
      <a:lstStyle/>
      <a:p>
        <a:r>
          <a:rPr lang="en-US"/>
          <a:t>Should this be a BA step?</a:t>
        </a:r>
      </a:p>
    </p188:txBody>
  </p188:cm>
  <p188:cm id="{4011854E-0A61-4AD2-8CD2-0AD34F501B33}" authorId="{65450887-0CDF-F71C-8B9F-BF754EB5BABA}" created="2026-01-15T16:18:42.799">
    <ac:txMkLst xmlns:ac="http://schemas.microsoft.com/office/drawing/2013/main/command">
      <pc:docMk xmlns:pc="http://schemas.microsoft.com/office/powerpoint/2013/main/command"/>
      <pc:sldMk xmlns:pc="http://schemas.microsoft.com/office/powerpoint/2013/main/command" cId="1718912858" sldId="395"/>
      <ac:spMk id="3" creationId="{8011492A-2E0E-ABFD-895D-9708434DD6C6}"/>
      <ac:txMk cp="331">
        <ac:context len="706" hash="2489232885"/>
      </ac:txMk>
    </ac:txMkLst>
    <p188:pos x="5284149" y="2115084"/>
    <p188:txBody>
      <a:bodyPr/>
      <a:lstStyle/>
      <a:p>
        <a:r>
          <a:rPr lang="en-US"/>
          <a:t>IA step?</a:t>
        </a:r>
      </a:p>
    </p188:txBody>
  </p188:cm>
</p188:cmLst>
</file>

<file path=ppt/comments/modernComment_124_F0A93F3F.xml><?xml version="1.0" encoding="utf-8"?>
<p188:cmLst xmlns:a="http://schemas.openxmlformats.org/drawingml/2006/main" xmlns:r="http://schemas.openxmlformats.org/officeDocument/2006/relationships" xmlns:p188="http://schemas.microsoft.com/office/powerpoint/2018/8/main">
  <p188:cm id="{8CE07165-18F9-42A2-AC85-D862F028FB15}" authorId="{2028F353-66B6-AA9E-8086-9C7BCDBF31F8}" created="2025-11-04T18:36:54.820">
    <ac:txMkLst xmlns:ac="http://schemas.microsoft.com/office/drawing/2013/main/command">
      <pc:docMk xmlns:pc="http://schemas.microsoft.com/office/powerpoint/2013/main/command"/>
      <pc:sldMk xmlns:pc="http://schemas.microsoft.com/office/powerpoint/2013/main/command" cId="4037623615" sldId="292"/>
      <ac:spMk id="3" creationId="{212BE6BA-DBEB-6E72-CC4C-D38565EDEE15}"/>
      <ac:txMk cp="276">
        <ac:context len="395" hash="528828372"/>
      </ac:txMk>
    </ac:txMkLst>
    <p188:pos x="4816415" y="2616679"/>
    <p188:txBody>
      <a:bodyPr/>
      <a:lstStyle/>
      <a:p>
        <a:r>
          <a:rPr lang="en-US"/>
          <a:t>I am not sure what the difference between a View ( which is a trigger) and a Viewpoint ( which is an outcome) is.  The Trigger word should be: Goal</a:t>
        </a:r>
      </a:p>
    </p188:txBody>
  </p188:cm>
</p188:cmLst>
</file>

<file path=ppt/comments/modernComment_137_CE64D634.xml><?xml version="1.0" encoding="utf-8"?>
<p188:cmLst xmlns:a="http://schemas.openxmlformats.org/drawingml/2006/main" xmlns:r="http://schemas.openxmlformats.org/officeDocument/2006/relationships" xmlns:p188="http://schemas.microsoft.com/office/powerpoint/2018/8/main">
  <p188:cm id="{3CA3C75C-322B-4544-BA54-2F67E3F8CF01}" authorId="{4DB9073F-72A2-0F5E-BB29-E72BDA558ABE}" created="2025-10-03T16:01:00.585">
    <pc:sldMkLst xmlns:pc="http://schemas.microsoft.com/office/powerpoint/2013/main/command">
      <pc:docMk/>
      <pc:sldMk cId="2671186991" sldId="291"/>
    </pc:sldMkLst>
    <p188:txBody>
      <a:bodyPr/>
      <a:lstStyle/>
      <a:p>
        <a:r>
          <a:rPr lang="en-US"/>
          <a:t>Confirmed with Group</a:t>
        </a:r>
      </a:p>
    </p188:txBody>
  </p188:cm>
</p188:cmLst>
</file>

<file path=ppt/comments/modernComment_156_64E9577D.xml><?xml version="1.0" encoding="utf-8"?>
<p188:cmLst xmlns:a="http://schemas.openxmlformats.org/drawingml/2006/main" xmlns:r="http://schemas.openxmlformats.org/officeDocument/2006/relationships" xmlns:p188="http://schemas.microsoft.com/office/powerpoint/2018/8/main">
  <p188:cm id="{14B15872-9748-E644-A01E-3DF40AE767B3}" authorId="{9F59275C-C22D-215C-F6DD-680C635E450C}" created="2025-11-14T19:11:35.790">
    <ac:txMkLst xmlns:ac="http://schemas.microsoft.com/office/drawing/2013/main/command">
      <pc:docMk xmlns:pc="http://schemas.microsoft.com/office/powerpoint/2013/main/command"/>
      <pc:sldMk xmlns:pc="http://schemas.microsoft.com/office/powerpoint/2013/main/command" cId="1693013885" sldId="342"/>
      <ac:spMk id="10" creationId="{35EB4E80-1472-9FB1-DCD4-702126B29B94}"/>
      <ac:txMk cp="18" len="9">
        <ac:context len="42" hash="3607310581"/>
      </ac:txMk>
    </ac:txMkLst>
    <p188:pos x="802105" y="465221"/>
    <p188:replyLst>
      <p188:reply id="{F55998FF-34A0-42CD-845D-CF4494967964}" authorId="{9F59275C-C22D-215C-F6DD-680C635E450C}" created="2025-11-14T20:56:40.924">
        <p188:txBody>
          <a:bodyPr/>
          <a:lstStyle/>
          <a:p>
            <a:r>
              <a:rPr lang="en-US"/>
              <a:t>Alos, do we need to add an output on the 2nd step re: matyruty assessment of identified capcbilities if they are assessed during outcomes development?</a:t>
            </a:r>
          </a:p>
        </p188:txBody>
      </p188:reply>
    </p188:replyLst>
    <p188:txBody>
      <a:bodyPr/>
      <a:lstStyle/>
      <a:p>
        <a:r>
          <a:rPr lang="en-US"/>
          <a:t>In step 4, change label on input re: "Maturity criteria" to "maturity results" to avoid confusion since maturity assessment occurs in step 3.</a:t>
        </a:r>
      </a:p>
    </p188:txBody>
  </p188:cm>
</p188:cmLst>
</file>

<file path=ppt/comments/modernComment_188_6F30EC98.xml><?xml version="1.0" encoding="utf-8"?>
<p188:cmLst xmlns:a="http://schemas.openxmlformats.org/drawingml/2006/main" xmlns:r="http://schemas.openxmlformats.org/officeDocument/2006/relationships" xmlns:p188="http://schemas.microsoft.com/office/powerpoint/2018/8/main">
  <p188:cm id="{6336E53B-0EE0-4C52-BFFA-8ED6663C2018}" authorId="{65450887-0CDF-F71C-8B9F-BF754EB5BABA}" created="2026-01-15T16:50:36.155">
    <ac:txMkLst xmlns:ac="http://schemas.microsoft.com/office/drawing/2013/main/command">
      <pc:docMk xmlns:pc="http://schemas.microsoft.com/office/powerpoint/2013/main/command"/>
      <pc:sldMk xmlns:pc="http://schemas.microsoft.com/office/powerpoint/2013/main/command" cId="1865477272" sldId="392"/>
      <ac:spMk id="2" creationId="{3007501E-105A-80A9-7761-1FFFA96C8AC5}"/>
      <ac:txMk cp="0" len="15">
        <ac:context len="16" hash="2193300347"/>
      </ac:txMk>
    </ac:txMkLst>
    <p188:pos x="3788635" y="505626"/>
    <p188:txBody>
      <a:bodyPr/>
      <a:lstStyle/>
      <a:p>
        <a:r>
          <a:rPr lang="en-US"/>
          <a:t>while separate, the 3 architectures should integrate their gap analysis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8B464-2430-C740-B178-22A5449D3CA3}" type="datetimeFigureOut">
              <a:rPr lang="en-US" smtClean="0"/>
              <a:t>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2AFCCA-FE45-064F-A4CA-4E9DAD75C615}" type="slidenum">
              <a:rPr lang="en-US" smtClean="0"/>
              <a:t>‹#›</a:t>
            </a:fld>
            <a:endParaRPr lang="en-US"/>
          </a:p>
        </p:txBody>
      </p:sp>
    </p:spTree>
    <p:extLst>
      <p:ext uri="{BB962C8B-B14F-4D97-AF65-F5344CB8AC3E}">
        <p14:creationId xmlns:p14="http://schemas.microsoft.com/office/powerpoint/2010/main" val="322878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Focus: technology stack, system implementation, and infrastructure</a:t>
            </a:r>
          </a:p>
          <a:p>
            <a:r>
              <a:rPr lang="en-US"/>
              <a:t>Concerns: Databases, Servers, APIs, performance, security, hardware</a:t>
            </a:r>
          </a:p>
          <a:p>
            <a:endParaRPr lang="en-US"/>
          </a:p>
          <a:p>
            <a:r>
              <a:rPr lang="en-US"/>
              <a:t>1.) Identify Technology (hardware and/or software) needed by MITA business process</a:t>
            </a:r>
          </a:p>
          <a:p>
            <a:r>
              <a:rPr lang="en-US"/>
              <a:t>2.) Identify modules in need of architectural alignment</a:t>
            </a:r>
          </a:p>
          <a:p>
            <a:r>
              <a:rPr lang="en-US"/>
              <a:t>3.) </a:t>
            </a:r>
          </a:p>
        </p:txBody>
      </p:sp>
      <p:sp>
        <p:nvSpPr>
          <p:cNvPr id="4" name="Slide Number Placeholder 3"/>
          <p:cNvSpPr>
            <a:spLocks noGrp="1"/>
          </p:cNvSpPr>
          <p:nvPr>
            <p:ph type="sldNum" sz="quarter" idx="5"/>
          </p:nvPr>
        </p:nvSpPr>
        <p:spPr/>
        <p:txBody>
          <a:bodyPr/>
          <a:lstStyle/>
          <a:p>
            <a:fld id="{682AFCCA-FE45-064F-A4CA-4E9DAD75C615}" type="slidenum">
              <a:rPr lang="en-US" smtClean="0"/>
              <a:t>6</a:t>
            </a:fld>
            <a:endParaRPr lang="en-US"/>
          </a:p>
        </p:txBody>
      </p:sp>
    </p:spTree>
    <p:extLst>
      <p:ext uri="{BB962C8B-B14F-4D97-AF65-F5344CB8AC3E}">
        <p14:creationId xmlns:p14="http://schemas.microsoft.com/office/powerpoint/2010/main" val="1643007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490965-B5C9-A14F-870F-09ABD0D4B4A9}" type="slidenum">
              <a:rPr lang="en-US" smtClean="0"/>
              <a:t>9</a:t>
            </a:fld>
            <a:endParaRPr lang="en-US"/>
          </a:p>
        </p:txBody>
      </p:sp>
    </p:spTree>
    <p:extLst>
      <p:ext uri="{BB962C8B-B14F-4D97-AF65-F5344CB8AC3E}">
        <p14:creationId xmlns:p14="http://schemas.microsoft.com/office/powerpoint/2010/main" val="4149882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515C45-CEA6-1740-B8FB-D32983B47691}" type="slidenum">
              <a:rPr lang="en-US" smtClean="0"/>
              <a:t>11</a:t>
            </a:fld>
            <a:endParaRPr lang="en-US"/>
          </a:p>
        </p:txBody>
      </p:sp>
    </p:spTree>
    <p:extLst>
      <p:ext uri="{BB962C8B-B14F-4D97-AF65-F5344CB8AC3E}">
        <p14:creationId xmlns:p14="http://schemas.microsoft.com/office/powerpoint/2010/main" val="2780432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A3D17-061B-CE3E-528D-C0978C242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B1B47-1069-CF4C-4D55-E61AFCBA44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F4C4E-72CD-15FA-2DC4-9A4F54CCFC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E85DCB-A34A-37AF-35F6-B45556C6A07C}"/>
              </a:ext>
            </a:extLst>
          </p:cNvPr>
          <p:cNvSpPr>
            <a:spLocks noGrp="1"/>
          </p:cNvSpPr>
          <p:nvPr>
            <p:ph type="sldNum" sz="quarter" idx="5"/>
          </p:nvPr>
        </p:nvSpPr>
        <p:spPr/>
        <p:txBody>
          <a:bodyPr/>
          <a:lstStyle/>
          <a:p>
            <a:fld id="{EF515C45-CEA6-1740-B8FB-D32983B47691}" type="slidenum">
              <a:rPr lang="en-US" smtClean="0"/>
              <a:t>14</a:t>
            </a:fld>
            <a:endParaRPr lang="en-US"/>
          </a:p>
        </p:txBody>
      </p:sp>
    </p:spTree>
    <p:extLst>
      <p:ext uri="{BB962C8B-B14F-4D97-AF65-F5344CB8AC3E}">
        <p14:creationId xmlns:p14="http://schemas.microsoft.com/office/powerpoint/2010/main" val="4131226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08E85-0969-6BEB-6896-6A0073497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927D5-5D6C-9766-27B3-890F1897FA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CC934-0652-1048-E1BD-18BADB12A9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CA1952-7E08-83B1-F216-4248F9255465}"/>
              </a:ext>
            </a:extLst>
          </p:cNvPr>
          <p:cNvSpPr>
            <a:spLocks noGrp="1"/>
          </p:cNvSpPr>
          <p:nvPr>
            <p:ph type="sldNum" sz="quarter" idx="5"/>
          </p:nvPr>
        </p:nvSpPr>
        <p:spPr/>
        <p:txBody>
          <a:bodyPr/>
          <a:lstStyle/>
          <a:p>
            <a:fld id="{41490965-B5C9-A14F-870F-09ABD0D4B4A9}" type="slidenum">
              <a:rPr lang="en-US" smtClean="0"/>
              <a:t>17</a:t>
            </a:fld>
            <a:endParaRPr lang="en-US"/>
          </a:p>
        </p:txBody>
      </p:sp>
    </p:spTree>
    <p:extLst>
      <p:ext uri="{BB962C8B-B14F-4D97-AF65-F5344CB8AC3E}">
        <p14:creationId xmlns:p14="http://schemas.microsoft.com/office/powerpoint/2010/main" val="1083840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1476-9C93-ED7F-BFE1-05D1BC851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D70D7-EEEC-9331-7505-971979C60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B00B3-7236-B352-2FD1-60805D31D9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80E32D-F9AB-F2B3-6954-EB533311F129}"/>
              </a:ext>
            </a:extLst>
          </p:cNvPr>
          <p:cNvSpPr>
            <a:spLocks noGrp="1"/>
          </p:cNvSpPr>
          <p:nvPr>
            <p:ph type="sldNum" sz="quarter" idx="5"/>
          </p:nvPr>
        </p:nvSpPr>
        <p:spPr/>
        <p:txBody>
          <a:bodyPr/>
          <a:lstStyle/>
          <a:p>
            <a:fld id="{41490965-B5C9-A14F-870F-09ABD0D4B4A9}" type="slidenum">
              <a:rPr lang="en-US" smtClean="0"/>
              <a:t>25</a:t>
            </a:fld>
            <a:endParaRPr lang="en-US"/>
          </a:p>
        </p:txBody>
      </p:sp>
    </p:spTree>
    <p:extLst>
      <p:ext uri="{BB962C8B-B14F-4D97-AF65-F5344CB8AC3E}">
        <p14:creationId xmlns:p14="http://schemas.microsoft.com/office/powerpoint/2010/main" val="3856073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Non-functional requirements (NFRs)</a:t>
            </a:r>
            <a:r>
              <a:rPr lang="en-US"/>
              <a:t> describe </a:t>
            </a:r>
            <a:r>
              <a:rPr lang="en-US" i="1"/>
              <a:t>how</a:t>
            </a:r>
            <a:r>
              <a:rPr lang="en-US"/>
              <a:t> a system should perform rather than </a:t>
            </a:r>
            <a:r>
              <a:rPr lang="en-US" i="1"/>
              <a:t>what</a:t>
            </a:r>
            <a:r>
              <a:rPr lang="en-US"/>
              <a:t> it should do. They set quality standards and operational conditions such as speed, security, reliability, scalability, and usability. In short, they define the system’s performance and user experience, not its core features.</a:t>
            </a:r>
          </a:p>
        </p:txBody>
      </p:sp>
      <p:sp>
        <p:nvSpPr>
          <p:cNvPr id="4" name="Slide Number Placeholder 3"/>
          <p:cNvSpPr>
            <a:spLocks noGrp="1"/>
          </p:cNvSpPr>
          <p:nvPr>
            <p:ph type="sldNum" sz="quarter" idx="5"/>
          </p:nvPr>
        </p:nvSpPr>
        <p:spPr/>
        <p:txBody>
          <a:bodyPr/>
          <a:lstStyle/>
          <a:p>
            <a:fld id="{682AFCCA-FE45-064F-A4CA-4E9DAD75C615}" type="slidenum">
              <a:rPr lang="en-US" smtClean="0"/>
              <a:t>33</a:t>
            </a:fld>
            <a:endParaRPr lang="en-US"/>
          </a:p>
        </p:txBody>
      </p:sp>
    </p:spTree>
    <p:extLst>
      <p:ext uri="{BB962C8B-B14F-4D97-AF65-F5344CB8AC3E}">
        <p14:creationId xmlns:p14="http://schemas.microsoft.com/office/powerpoint/2010/main" val="2120975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F7121-362B-F531-E680-785BF9750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D7355-C5DC-F86C-14A8-8DF079A53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402A3-3CDD-D7D9-63A9-C3182ED0302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79CF75-31AD-D88C-9FF0-8338F1DAB0F9}"/>
              </a:ext>
            </a:extLst>
          </p:cNvPr>
          <p:cNvSpPr>
            <a:spLocks noGrp="1"/>
          </p:cNvSpPr>
          <p:nvPr>
            <p:ph type="sldNum" sz="quarter" idx="5"/>
          </p:nvPr>
        </p:nvSpPr>
        <p:spPr/>
        <p:txBody>
          <a:bodyPr/>
          <a:lstStyle/>
          <a:p>
            <a:fld id="{41490965-B5C9-A14F-870F-09ABD0D4B4A9}" type="slidenum">
              <a:rPr lang="en-US" smtClean="0"/>
              <a:t>35</a:t>
            </a:fld>
            <a:endParaRPr lang="en-US"/>
          </a:p>
        </p:txBody>
      </p:sp>
    </p:spTree>
    <p:extLst>
      <p:ext uri="{BB962C8B-B14F-4D97-AF65-F5344CB8AC3E}">
        <p14:creationId xmlns:p14="http://schemas.microsoft.com/office/powerpoint/2010/main" val="4229912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2AFCCA-FE45-064F-A4CA-4E9DAD75C615}" type="slidenum">
              <a:rPr lang="en-US" smtClean="0"/>
              <a:t>41</a:t>
            </a:fld>
            <a:endParaRPr lang="en-US"/>
          </a:p>
        </p:txBody>
      </p:sp>
    </p:spTree>
    <p:extLst>
      <p:ext uri="{BB962C8B-B14F-4D97-AF65-F5344CB8AC3E}">
        <p14:creationId xmlns:p14="http://schemas.microsoft.com/office/powerpoint/2010/main" val="60228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316F2-9F5A-1055-7A18-C0C49C881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4AB66-5278-F7BC-4C62-DA79F67F1E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25381-95A5-BDF1-9F67-43AEBB3BE2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932299-5F35-4A74-13E3-835C8C5DDDF4}"/>
              </a:ext>
            </a:extLst>
          </p:cNvPr>
          <p:cNvSpPr>
            <a:spLocks noGrp="1"/>
          </p:cNvSpPr>
          <p:nvPr>
            <p:ph type="sldNum" sz="quarter" idx="5"/>
          </p:nvPr>
        </p:nvSpPr>
        <p:spPr/>
        <p:txBody>
          <a:bodyPr/>
          <a:lstStyle/>
          <a:p>
            <a:fld id="{41490965-B5C9-A14F-870F-09ABD0D4B4A9}" type="slidenum">
              <a:rPr lang="en-US" smtClean="0"/>
              <a:t>44</a:t>
            </a:fld>
            <a:endParaRPr lang="en-US"/>
          </a:p>
        </p:txBody>
      </p:sp>
    </p:spTree>
    <p:extLst>
      <p:ext uri="{BB962C8B-B14F-4D97-AF65-F5344CB8AC3E}">
        <p14:creationId xmlns:p14="http://schemas.microsoft.com/office/powerpoint/2010/main" val="1201883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3E050-1263-093F-98F1-23C7955F4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32F33-5616-3276-8AA8-3BC7ADA4B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36014-BBE6-8909-D439-7B5636BEE9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BFEB74-04F3-1197-C253-C7AFB6EC9B55}"/>
              </a:ext>
            </a:extLst>
          </p:cNvPr>
          <p:cNvSpPr>
            <a:spLocks noGrp="1"/>
          </p:cNvSpPr>
          <p:nvPr>
            <p:ph type="sldNum" sz="quarter" idx="5"/>
          </p:nvPr>
        </p:nvSpPr>
        <p:spPr/>
        <p:txBody>
          <a:bodyPr/>
          <a:lstStyle/>
          <a:p>
            <a:fld id="{41490965-B5C9-A14F-870F-09ABD0D4B4A9}" type="slidenum">
              <a:rPr lang="en-US" smtClean="0"/>
              <a:t>47</a:t>
            </a:fld>
            <a:endParaRPr lang="en-US"/>
          </a:p>
        </p:txBody>
      </p:sp>
    </p:spTree>
    <p:extLst>
      <p:ext uri="{BB962C8B-B14F-4D97-AF65-F5344CB8AC3E}">
        <p14:creationId xmlns:p14="http://schemas.microsoft.com/office/powerpoint/2010/main" val="2118955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11/14 Session: review full process, start SSA </a:t>
            </a:r>
          </a:p>
          <a:p>
            <a:r>
              <a:rPr lang="en-US">
                <a:latin typeface="Calibri"/>
                <a:ea typeface="Calibri"/>
                <a:cs typeface="Calibri"/>
              </a:rPr>
              <a:t>11/21 Session: finalize SSA, review </a:t>
            </a:r>
            <a:r>
              <a:rPr lang="en-US" err="1">
                <a:latin typeface="Calibri"/>
                <a:ea typeface="Calibri"/>
                <a:cs typeface="Calibri"/>
              </a:rPr>
              <a:t>AoA</a:t>
            </a:r>
            <a:r>
              <a:rPr lang="en-US">
                <a:latin typeface="Calibri"/>
                <a:ea typeface="Calibri"/>
                <a:cs typeface="Calibri"/>
              </a:rPr>
              <a:t> and Roadmap (may need to update after template topics are decided)</a:t>
            </a:r>
          </a:p>
        </p:txBody>
      </p:sp>
      <p:sp>
        <p:nvSpPr>
          <p:cNvPr id="4" name="Slide Number Placeholder 3"/>
          <p:cNvSpPr>
            <a:spLocks noGrp="1"/>
          </p:cNvSpPr>
          <p:nvPr>
            <p:ph type="sldNum" sz="quarter" idx="5"/>
          </p:nvPr>
        </p:nvSpPr>
        <p:spPr/>
        <p:txBody>
          <a:bodyPr/>
          <a:lstStyle/>
          <a:p>
            <a:fld id="{682AFCCA-FE45-064F-A4CA-4E9DAD75C615}" type="slidenum">
              <a:rPr lang="en-US" smtClean="0"/>
              <a:t>54</a:t>
            </a:fld>
            <a:endParaRPr lang="en-US"/>
          </a:p>
        </p:txBody>
      </p:sp>
    </p:spTree>
    <p:extLst>
      <p:ext uri="{BB962C8B-B14F-4D97-AF65-F5344CB8AC3E}">
        <p14:creationId xmlns:p14="http://schemas.microsoft.com/office/powerpoint/2010/main" val="2151997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2C8AE-F2C8-8CC4-0161-8342EF54A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A878E-B964-3BE9-811E-477E20838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6B58B-BCE6-DB33-1FDD-E73989B6A3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Activities for step 2: refer to maturity criteria for direction on what projects/activities are needed to address low maturity.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err="1"/>
              <a:t>AoA</a:t>
            </a:r>
            <a:r>
              <a:rPr lang="en-US" sz="1200"/>
              <a:t>- big lift (6-8 weeks if done right). Well beyond the minimum requirement and only needed if submitting APD. Remove from this process but show in APD sink hole? Required for IAPD but likely not PADP or OAPD* (*unless CMS asks for </a:t>
            </a:r>
            <a:r>
              <a:rPr lang="en-US" sz="1200" err="1"/>
              <a:t>AoA</a:t>
            </a:r>
            <a:r>
              <a:rPr lang="en-US" sz="1200"/>
              <a:t> in OAPD stage if a SMA is procuring a new vendor to take over operations of the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APD typically involves a technical solution – 80%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*Analysis of Alternatives and Roadmap not required for PAPD, are required for IAPD</a:t>
            </a:r>
          </a:p>
          <a:p>
            <a:pPr lvl="0"/>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Questions for survey to States: When State revisits SSA, do you just update for APD or do you do a full refresh- what is cadence of update? APD Driven?</a:t>
            </a:r>
          </a:p>
          <a:p>
            <a:pPr lvl="0"/>
            <a:endParaRPr lang="en-US" sz="1200"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22C91B7F-BED2-0C15-5073-26E1428924BB}"/>
              </a:ext>
            </a:extLst>
          </p:cNvPr>
          <p:cNvSpPr>
            <a:spLocks noGrp="1"/>
          </p:cNvSpPr>
          <p:nvPr>
            <p:ph type="sldNum" sz="quarter" idx="5"/>
          </p:nvPr>
        </p:nvSpPr>
        <p:spPr/>
        <p:txBody>
          <a:bodyPr/>
          <a:lstStyle/>
          <a:p>
            <a:fld id="{41490965-B5C9-A14F-870F-09ABD0D4B4A9}" type="slidenum">
              <a:rPr lang="en-US" smtClean="0"/>
              <a:t>55</a:t>
            </a:fld>
            <a:endParaRPr lang="en-US"/>
          </a:p>
        </p:txBody>
      </p:sp>
    </p:spTree>
    <p:extLst>
      <p:ext uri="{BB962C8B-B14F-4D97-AF65-F5344CB8AC3E}">
        <p14:creationId xmlns:p14="http://schemas.microsoft.com/office/powerpoint/2010/main" val="1298139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2AFCCA-FE45-064F-A4CA-4E9DAD75C615}" type="slidenum">
              <a:rPr lang="en-US" smtClean="0"/>
              <a:t>56</a:t>
            </a:fld>
            <a:endParaRPr lang="en-US"/>
          </a:p>
        </p:txBody>
      </p:sp>
    </p:spTree>
    <p:extLst>
      <p:ext uri="{BB962C8B-B14F-4D97-AF65-F5344CB8AC3E}">
        <p14:creationId xmlns:p14="http://schemas.microsoft.com/office/powerpoint/2010/main" val="92173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08216-AE96-6549-3386-751E06FAA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B2F15-8EF5-5C6E-9E07-92DF968A7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BCBCC-8EF4-A8CA-31C9-B9D549C611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9B6366-EF0F-6405-CFEB-289F5B38D3C6}"/>
              </a:ext>
            </a:extLst>
          </p:cNvPr>
          <p:cNvSpPr>
            <a:spLocks noGrp="1"/>
          </p:cNvSpPr>
          <p:nvPr>
            <p:ph type="sldNum" sz="quarter" idx="5"/>
          </p:nvPr>
        </p:nvSpPr>
        <p:spPr/>
        <p:txBody>
          <a:bodyPr/>
          <a:lstStyle/>
          <a:p>
            <a:fld id="{682AFCCA-FE45-064F-A4CA-4E9DAD75C615}" type="slidenum">
              <a:rPr lang="en-US" smtClean="0"/>
              <a:t>60</a:t>
            </a:fld>
            <a:endParaRPr lang="en-US"/>
          </a:p>
        </p:txBody>
      </p:sp>
    </p:spTree>
    <p:extLst>
      <p:ext uri="{BB962C8B-B14F-4D97-AF65-F5344CB8AC3E}">
        <p14:creationId xmlns:p14="http://schemas.microsoft.com/office/powerpoint/2010/main" val="3637515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01D4-E424-7558-3864-F4C224C83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BDC37-A789-9DFB-2A8E-2C0AAE356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49872-E457-CED6-FCAD-B60DE210D6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45ADE5-9A46-2921-A615-424D85AB7A69}"/>
              </a:ext>
            </a:extLst>
          </p:cNvPr>
          <p:cNvSpPr>
            <a:spLocks noGrp="1"/>
          </p:cNvSpPr>
          <p:nvPr>
            <p:ph type="sldNum" sz="quarter" idx="5"/>
          </p:nvPr>
        </p:nvSpPr>
        <p:spPr/>
        <p:txBody>
          <a:bodyPr/>
          <a:lstStyle/>
          <a:p>
            <a:fld id="{682AFCCA-FE45-064F-A4CA-4E9DAD75C615}" type="slidenum">
              <a:rPr lang="en-US" smtClean="0"/>
              <a:t>62</a:t>
            </a:fld>
            <a:endParaRPr lang="en-US"/>
          </a:p>
        </p:txBody>
      </p:sp>
    </p:spTree>
    <p:extLst>
      <p:ext uri="{BB962C8B-B14F-4D97-AF65-F5344CB8AC3E}">
        <p14:creationId xmlns:p14="http://schemas.microsoft.com/office/powerpoint/2010/main" val="4100697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08822-CBA2-C6FA-4924-715E50DFB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87904-2F2A-3B93-BEAE-6D4035AAC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E13BC-E514-84E8-6761-A06EA91920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11F676-3908-A6CD-D42B-EE0BA358DE20}"/>
              </a:ext>
            </a:extLst>
          </p:cNvPr>
          <p:cNvSpPr>
            <a:spLocks noGrp="1"/>
          </p:cNvSpPr>
          <p:nvPr>
            <p:ph type="sldNum" sz="quarter" idx="5"/>
          </p:nvPr>
        </p:nvSpPr>
        <p:spPr/>
        <p:txBody>
          <a:bodyPr/>
          <a:lstStyle/>
          <a:p>
            <a:fld id="{682AFCCA-FE45-064F-A4CA-4E9DAD75C615}" type="slidenum">
              <a:rPr lang="en-US" smtClean="0"/>
              <a:t>64</a:t>
            </a:fld>
            <a:endParaRPr lang="en-US"/>
          </a:p>
        </p:txBody>
      </p:sp>
    </p:spTree>
    <p:extLst>
      <p:ext uri="{BB962C8B-B14F-4D97-AF65-F5344CB8AC3E}">
        <p14:creationId xmlns:p14="http://schemas.microsoft.com/office/powerpoint/2010/main" val="2084319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7329E-B3F2-0E1E-0B08-87C3E88D9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3C3E8-83AA-DD5F-806F-0AB14F477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255D5-99B3-F822-04E1-81E75D7A56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B17429-FC75-D532-0CFF-E706F36525A8}"/>
              </a:ext>
            </a:extLst>
          </p:cNvPr>
          <p:cNvSpPr>
            <a:spLocks noGrp="1"/>
          </p:cNvSpPr>
          <p:nvPr>
            <p:ph type="sldNum" sz="quarter" idx="5"/>
          </p:nvPr>
        </p:nvSpPr>
        <p:spPr/>
        <p:txBody>
          <a:bodyPr/>
          <a:lstStyle/>
          <a:p>
            <a:fld id="{41490965-B5C9-A14F-870F-09ABD0D4B4A9}" type="slidenum">
              <a:rPr lang="en-US" smtClean="0"/>
              <a:t>84</a:t>
            </a:fld>
            <a:endParaRPr lang="en-US"/>
          </a:p>
        </p:txBody>
      </p:sp>
    </p:spTree>
    <p:extLst>
      <p:ext uri="{BB962C8B-B14F-4D97-AF65-F5344CB8AC3E}">
        <p14:creationId xmlns:p14="http://schemas.microsoft.com/office/powerpoint/2010/main" val="1857154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DDA00-529D-A4B6-DB18-B1626D98F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00A44-16A4-7D48-B3BB-4139D9F4A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37416-17B6-8C75-5A05-387D780CBA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720CE0-BB36-8892-9A55-6FE0744F205E}"/>
              </a:ext>
            </a:extLst>
          </p:cNvPr>
          <p:cNvSpPr>
            <a:spLocks noGrp="1"/>
          </p:cNvSpPr>
          <p:nvPr>
            <p:ph type="sldNum" sz="quarter" idx="5"/>
          </p:nvPr>
        </p:nvSpPr>
        <p:spPr/>
        <p:txBody>
          <a:bodyPr/>
          <a:lstStyle/>
          <a:p>
            <a:fld id="{41490965-B5C9-A14F-870F-09ABD0D4B4A9}" type="slidenum">
              <a:rPr lang="en-US" smtClean="0"/>
              <a:t>85</a:t>
            </a:fld>
            <a:endParaRPr lang="en-US"/>
          </a:p>
        </p:txBody>
      </p:sp>
    </p:spTree>
    <p:extLst>
      <p:ext uri="{BB962C8B-B14F-4D97-AF65-F5344CB8AC3E}">
        <p14:creationId xmlns:p14="http://schemas.microsoft.com/office/powerpoint/2010/main" val="19583740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FCFD2-C7D9-0ACF-7A6C-2F165451F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3C2ED-1094-345F-A8DA-D9030ABB0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1D6F6-BEB2-7A7A-3250-BEE6EF0596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E7CDC5-42A5-11D8-B560-30C77202100E}"/>
              </a:ext>
            </a:extLst>
          </p:cNvPr>
          <p:cNvSpPr>
            <a:spLocks noGrp="1"/>
          </p:cNvSpPr>
          <p:nvPr>
            <p:ph type="sldNum" sz="quarter" idx="5"/>
          </p:nvPr>
        </p:nvSpPr>
        <p:spPr/>
        <p:txBody>
          <a:bodyPr/>
          <a:lstStyle/>
          <a:p>
            <a:fld id="{41490965-B5C9-A14F-870F-09ABD0D4B4A9}" type="slidenum">
              <a:rPr lang="en-US" smtClean="0"/>
              <a:t>86</a:t>
            </a:fld>
            <a:endParaRPr lang="en-US"/>
          </a:p>
        </p:txBody>
      </p:sp>
    </p:spTree>
    <p:extLst>
      <p:ext uri="{BB962C8B-B14F-4D97-AF65-F5344CB8AC3E}">
        <p14:creationId xmlns:p14="http://schemas.microsoft.com/office/powerpoint/2010/main" val="3262470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0937D-9783-6EBB-2332-7BD39140F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55AF9-BE1E-8C9A-F94F-44200A23D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05C8A-C642-45B4-8E92-3057E9E167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42BECE-2F6A-4EED-B953-21D4E8757F36}"/>
              </a:ext>
            </a:extLst>
          </p:cNvPr>
          <p:cNvSpPr>
            <a:spLocks noGrp="1"/>
          </p:cNvSpPr>
          <p:nvPr>
            <p:ph type="sldNum" sz="quarter" idx="5"/>
          </p:nvPr>
        </p:nvSpPr>
        <p:spPr/>
        <p:txBody>
          <a:bodyPr/>
          <a:lstStyle/>
          <a:p>
            <a:fld id="{41490965-B5C9-A14F-870F-09ABD0D4B4A9}" type="slidenum">
              <a:rPr lang="en-US" smtClean="0"/>
              <a:t>88</a:t>
            </a:fld>
            <a:endParaRPr lang="en-US"/>
          </a:p>
        </p:txBody>
      </p:sp>
    </p:spTree>
    <p:extLst>
      <p:ext uri="{BB962C8B-B14F-4D97-AF65-F5344CB8AC3E}">
        <p14:creationId xmlns:p14="http://schemas.microsoft.com/office/powerpoint/2010/main" val="321528395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861DBC73-005C-7F40-958E-96A3366196E8}" type="datetimeFigureOut">
              <a:rPr lang="en-US" smtClean="0"/>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0FA76B9-92C5-1640-90AD-8A5D59AD8425}" type="slidenum">
              <a:rPr lang="en-US" smtClean="0"/>
              <a:t>‹#›</a:t>
            </a:fld>
            <a:endParaRPr lang="en-US"/>
          </a:p>
        </p:txBody>
      </p:sp>
    </p:spTree>
    <p:extLst>
      <p:ext uri="{BB962C8B-B14F-4D97-AF65-F5344CB8AC3E}">
        <p14:creationId xmlns:p14="http://schemas.microsoft.com/office/powerpoint/2010/main" val="2874994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DBC73-005C-7F40-958E-96A3366196E8}" type="datetimeFigureOut">
              <a:rPr lang="en-US" smtClean="0"/>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185493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861DBC73-005C-7F40-958E-96A3366196E8}" type="datetimeFigureOut">
              <a:rPr lang="en-US" smtClean="0"/>
              <a:t>2/6/26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0FA76B9-92C5-1640-90AD-8A5D59AD8425}" type="slidenum">
              <a:rPr lang="en-US" smtClean="0"/>
              <a:t>‹#›</a:t>
            </a:fld>
            <a:endParaRPr lang="en-US"/>
          </a:p>
        </p:txBody>
      </p:sp>
    </p:spTree>
    <p:extLst>
      <p:ext uri="{BB962C8B-B14F-4D97-AF65-F5344CB8AC3E}">
        <p14:creationId xmlns:p14="http://schemas.microsoft.com/office/powerpoint/2010/main" val="4133756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1DBC73-005C-7F40-958E-96A3366196E8}" type="datetimeFigureOut">
              <a:rPr lang="en-US" smtClean="0"/>
              <a:t>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1786391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1DBC73-005C-7F40-958E-96A3366196E8}" type="datetimeFigureOut">
              <a:rPr lang="en-US" smtClean="0"/>
              <a:t>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FA76B9-92C5-1640-90AD-8A5D59AD8425}"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0735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61DBC73-005C-7F40-958E-96A3366196E8}" type="datetimeFigureOut">
              <a:rPr lang="en-US" smtClean="0"/>
              <a:t>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FA76B9-92C5-1640-90AD-8A5D59AD8425}"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8479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1DBC73-005C-7F40-958E-96A3366196E8}" type="datetimeFigureOut">
              <a:rPr lang="en-US" smtClean="0"/>
              <a:t>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4197481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1DBC73-005C-7F40-958E-96A3366196E8}" type="datetimeFigureOut">
              <a:rPr lang="en-US" smtClean="0"/>
              <a:t>2/6/26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1251601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1DBC73-005C-7F40-958E-96A3366196E8}" type="datetimeFigureOut">
              <a:rPr lang="en-US" smtClean="0"/>
              <a:t>2/6/26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4008322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DBC73-005C-7F40-958E-96A3366196E8}" type="datetimeFigureOut">
              <a:rPr lang="en-US" smtClean="0"/>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3446156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DBC73-005C-7F40-958E-96A3366196E8}" type="datetimeFigureOut">
              <a:rPr lang="en-US" smtClean="0"/>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A76B9-92C5-1640-90AD-8A5D59AD8425}" type="slidenum">
              <a:rPr lang="en-US" smtClean="0"/>
              <a:t>‹#›</a:t>
            </a:fld>
            <a:endParaRPr lang="en-US"/>
          </a:p>
        </p:txBody>
      </p:sp>
    </p:spTree>
    <p:extLst>
      <p:ext uri="{BB962C8B-B14F-4D97-AF65-F5344CB8AC3E}">
        <p14:creationId xmlns:p14="http://schemas.microsoft.com/office/powerpoint/2010/main" val="3841053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1DBC73-005C-7F40-958E-96A3366196E8}" type="datetimeFigureOut">
              <a:rPr lang="en-US" smtClean="0"/>
              <a:t>2/6/26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0FA76B9-92C5-1640-90AD-8A5D59AD8425}" type="slidenum">
              <a:rPr lang="en-US" smtClean="0"/>
              <a:t>‹#›</a:t>
            </a:fld>
            <a:endParaRPr lang="en-US"/>
          </a:p>
        </p:txBody>
      </p:sp>
    </p:spTree>
    <p:extLst>
      <p:ext uri="{BB962C8B-B14F-4D97-AF65-F5344CB8AC3E}">
        <p14:creationId xmlns:p14="http://schemas.microsoft.com/office/powerpoint/2010/main" val="300067438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D_20710E1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24_F0A93F3F.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137_CE64D6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microsoft.com/office/2018/10/relationships/comments" Target="../comments/modernComment_18B_6674875A.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microsoft.com/office/2018/10/relationships/comments" Target="../comments/modernComment_13B_B30B417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microsoft.com/office/2018/10/relationships/comments" Target="../comments/modernComment_188_6F30EC9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microsoft.com/office/2018/10/relationships/comments" Target="../comments/modernComment_13E_43ED803A.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microsoft.com/office/2018/10/relationships/comments" Target="../comments/modernComment_13F_63A0FB1C.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microsoft.com/office/2018/10/relationships/comments" Target="../comments/modernComment_156_64E9577D.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DC9AE-EA7B-40FC-DFD6-A02AA9F375AA}"/>
              </a:ext>
            </a:extLst>
          </p:cNvPr>
          <p:cNvSpPr>
            <a:spLocks noGrp="1"/>
          </p:cNvSpPr>
          <p:nvPr>
            <p:ph type="ctrTitle"/>
          </p:nvPr>
        </p:nvSpPr>
        <p:spPr/>
        <p:txBody>
          <a:bodyPr/>
          <a:lstStyle/>
          <a:p>
            <a:r>
              <a:rPr lang="en-US"/>
              <a:t>MITA 4.0</a:t>
            </a:r>
            <a:endParaRPr lang="en-US">
              <a:latin typeface="Rockwell Condensed"/>
            </a:endParaRPr>
          </a:p>
        </p:txBody>
      </p:sp>
      <p:sp>
        <p:nvSpPr>
          <p:cNvPr id="3" name="Subtitle 2">
            <a:extLst>
              <a:ext uri="{FF2B5EF4-FFF2-40B4-BE49-F238E27FC236}">
                <a16:creationId xmlns:a16="http://schemas.microsoft.com/office/drawing/2014/main" id="{2AAE1A8A-8E0E-C03C-62CC-F8E0234973BA}"/>
              </a:ext>
            </a:extLst>
          </p:cNvPr>
          <p:cNvSpPr>
            <a:spLocks noGrp="1"/>
          </p:cNvSpPr>
          <p:nvPr>
            <p:ph type="subTitle" idx="1"/>
          </p:nvPr>
        </p:nvSpPr>
        <p:spPr/>
        <p:txBody>
          <a:bodyPr/>
          <a:lstStyle/>
          <a:p>
            <a:r>
              <a:rPr lang="en-US"/>
              <a:t>Development &amp; Maintenance Process</a:t>
            </a:r>
          </a:p>
          <a:p>
            <a:endParaRPr lang="en-US"/>
          </a:p>
        </p:txBody>
      </p:sp>
    </p:spTree>
    <p:extLst>
      <p:ext uri="{BB962C8B-B14F-4D97-AF65-F5344CB8AC3E}">
        <p14:creationId xmlns:p14="http://schemas.microsoft.com/office/powerpoint/2010/main" val="1321431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7D892-186D-DDA6-3C90-3AB7932C142D}"/>
              </a:ext>
            </a:extLst>
          </p:cNvPr>
          <p:cNvSpPr>
            <a:spLocks noGrp="1"/>
          </p:cNvSpPr>
          <p:nvPr>
            <p:ph type="title"/>
          </p:nvPr>
        </p:nvSpPr>
        <p:spPr/>
        <p:txBody>
          <a:bodyPr/>
          <a:lstStyle/>
          <a:p>
            <a:r>
              <a:rPr lang="en-US"/>
              <a:t>Topics</a:t>
            </a:r>
          </a:p>
        </p:txBody>
      </p:sp>
      <p:sp>
        <p:nvSpPr>
          <p:cNvPr id="3" name="Content Placeholder 2">
            <a:extLst>
              <a:ext uri="{FF2B5EF4-FFF2-40B4-BE49-F238E27FC236}">
                <a16:creationId xmlns:a16="http://schemas.microsoft.com/office/drawing/2014/main" id="{4275D434-B1F9-6686-5537-C1E6D5C1168B}"/>
              </a:ext>
            </a:extLst>
          </p:cNvPr>
          <p:cNvSpPr>
            <a:spLocks noGrp="1"/>
          </p:cNvSpPr>
          <p:nvPr>
            <p:ph idx="1"/>
          </p:nvPr>
        </p:nvSpPr>
        <p:spPr/>
        <p:txBody>
          <a:bodyPr/>
          <a:lstStyle/>
          <a:p>
            <a:r>
              <a:rPr lang="en-US"/>
              <a:t>MITA 3.0 Information Architecture Process</a:t>
            </a:r>
          </a:p>
          <a:p>
            <a:r>
              <a:rPr lang="en-US"/>
              <a:t>Proposed MITA 4.0 Process</a:t>
            </a:r>
          </a:p>
          <a:p>
            <a:pPr lvl="1"/>
            <a:r>
              <a:rPr lang="en-US"/>
              <a:t>Overall Lifecycle</a:t>
            </a:r>
          </a:p>
          <a:p>
            <a:pPr lvl="1"/>
            <a:r>
              <a:rPr lang="en-US"/>
              <a:t>Enterprise Strategic Planning Phases</a:t>
            </a:r>
          </a:p>
          <a:p>
            <a:pPr lvl="1"/>
            <a:r>
              <a:rPr lang="en-US"/>
              <a:t>Define Capability Architecture Process</a:t>
            </a:r>
          </a:p>
          <a:p>
            <a:r>
              <a:rPr lang="en-US"/>
              <a:t>Differences between MITA 3.0 and 4.0</a:t>
            </a:r>
          </a:p>
          <a:p>
            <a:r>
              <a:rPr lang="en-US"/>
              <a:t>MITA 4.0 Example</a:t>
            </a:r>
          </a:p>
        </p:txBody>
      </p:sp>
    </p:spTree>
    <p:extLst>
      <p:ext uri="{BB962C8B-B14F-4D97-AF65-F5344CB8AC3E}">
        <p14:creationId xmlns:p14="http://schemas.microsoft.com/office/powerpoint/2010/main" val="4091919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DEDB-E181-C1F2-53B6-8511D6148EB1}"/>
              </a:ext>
            </a:extLst>
          </p:cNvPr>
          <p:cNvSpPr>
            <a:spLocks noGrp="1"/>
          </p:cNvSpPr>
          <p:nvPr>
            <p:ph type="title"/>
          </p:nvPr>
        </p:nvSpPr>
        <p:spPr/>
        <p:txBody>
          <a:bodyPr/>
          <a:lstStyle/>
          <a:p>
            <a:r>
              <a:rPr lang="en-US"/>
              <a:t>MITA 3.0 Process</a:t>
            </a:r>
          </a:p>
        </p:txBody>
      </p:sp>
      <p:sp>
        <p:nvSpPr>
          <p:cNvPr id="3" name="Text Placeholder 2">
            <a:extLst>
              <a:ext uri="{FF2B5EF4-FFF2-40B4-BE49-F238E27FC236}">
                <a16:creationId xmlns:a16="http://schemas.microsoft.com/office/drawing/2014/main" id="{76770465-15A4-111E-175B-14C59B66EFC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92417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930A-58A5-584C-108A-7556FD037618}"/>
              </a:ext>
            </a:extLst>
          </p:cNvPr>
          <p:cNvSpPr>
            <a:spLocks noGrp="1"/>
          </p:cNvSpPr>
          <p:nvPr>
            <p:ph type="title"/>
          </p:nvPr>
        </p:nvSpPr>
        <p:spPr/>
        <p:txBody>
          <a:bodyPr/>
          <a:lstStyle/>
          <a:p>
            <a:r>
              <a:rPr lang="en-US"/>
              <a:t>MITA 3.0 BA Process</a:t>
            </a:r>
          </a:p>
        </p:txBody>
      </p:sp>
      <p:sp>
        <p:nvSpPr>
          <p:cNvPr id="3" name="Content Placeholder 2">
            <a:extLst>
              <a:ext uri="{FF2B5EF4-FFF2-40B4-BE49-F238E27FC236}">
                <a16:creationId xmlns:a16="http://schemas.microsoft.com/office/drawing/2014/main" id="{0947D5BC-20DC-EDDF-F61B-4E0AF14E0C72}"/>
              </a:ext>
            </a:extLst>
          </p:cNvPr>
          <p:cNvSpPr>
            <a:spLocks noGrp="1"/>
          </p:cNvSpPr>
          <p:nvPr>
            <p:ph idx="1"/>
          </p:nvPr>
        </p:nvSpPr>
        <p:spPr/>
        <p:txBody>
          <a:bodyPr>
            <a:normAutofit/>
          </a:bodyPr>
          <a:lstStyle/>
          <a:p>
            <a:pPr marL="0" indent="0">
              <a:buNone/>
            </a:pPr>
            <a:r>
              <a:rPr lang="en-US"/>
              <a:t>Trigger – MITA </a:t>
            </a:r>
          </a:p>
          <a:p>
            <a:pPr marL="514350" indent="-514350">
              <a:buFont typeface="+mj-lt"/>
              <a:buAutoNum type="arabicPeriod"/>
            </a:pPr>
            <a:r>
              <a:rPr lang="en-US"/>
              <a:t>Identify MITA Business Process(es)</a:t>
            </a:r>
          </a:p>
          <a:p>
            <a:pPr marL="514350" indent="-514350">
              <a:buFont typeface="+mj-lt"/>
              <a:buAutoNum type="arabicPeriod"/>
            </a:pPr>
            <a:r>
              <a:rPr lang="en-US"/>
              <a:t>Define the Business Process (BPT)</a:t>
            </a:r>
          </a:p>
          <a:p>
            <a:pPr marL="514350" indent="-514350">
              <a:buFont typeface="+mj-lt"/>
              <a:buAutoNum type="arabicPeriod"/>
            </a:pPr>
            <a:r>
              <a:rPr lang="en-US"/>
              <a:t>Develop As-Is Business Process Model</a:t>
            </a:r>
          </a:p>
          <a:p>
            <a:pPr marL="514350" indent="-514350">
              <a:buFont typeface="+mj-lt"/>
              <a:buAutoNum type="arabicPeriod"/>
            </a:pPr>
            <a:r>
              <a:rPr lang="en-US"/>
              <a:t>Develop To-Be Business Process Model</a:t>
            </a:r>
          </a:p>
          <a:p>
            <a:pPr marL="514350" indent="-514350">
              <a:buFont typeface="+mj-lt"/>
              <a:buAutoNum type="arabicPeriod"/>
            </a:pPr>
            <a:r>
              <a:rPr lang="en-US"/>
              <a:t>Document the As-Is Capability (Maturity)</a:t>
            </a:r>
          </a:p>
          <a:p>
            <a:pPr marL="514350" indent="-514350">
              <a:buFont typeface="+mj-lt"/>
              <a:buAutoNum type="arabicPeriod"/>
            </a:pPr>
            <a:r>
              <a:rPr lang="en-US"/>
              <a:t>Develop the To-Be Capability (Maturity)</a:t>
            </a:r>
          </a:p>
          <a:p>
            <a:pPr marL="514350" indent="-514350">
              <a:buFont typeface="+mj-lt"/>
              <a:buAutoNum type="arabicPeriod"/>
            </a:pPr>
            <a:endParaRPr lang="en-US"/>
          </a:p>
        </p:txBody>
      </p:sp>
    </p:spTree>
    <p:extLst>
      <p:ext uri="{BB962C8B-B14F-4D97-AF65-F5344CB8AC3E}">
        <p14:creationId xmlns:p14="http://schemas.microsoft.com/office/powerpoint/2010/main" val="2449353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930A-58A5-584C-108A-7556FD037618}"/>
              </a:ext>
            </a:extLst>
          </p:cNvPr>
          <p:cNvSpPr>
            <a:spLocks noGrp="1"/>
          </p:cNvSpPr>
          <p:nvPr>
            <p:ph type="title"/>
          </p:nvPr>
        </p:nvSpPr>
        <p:spPr/>
        <p:txBody>
          <a:bodyPr/>
          <a:lstStyle/>
          <a:p>
            <a:r>
              <a:rPr lang="en-US"/>
              <a:t>MITA 3.0 IA Process</a:t>
            </a:r>
          </a:p>
        </p:txBody>
      </p:sp>
      <p:sp>
        <p:nvSpPr>
          <p:cNvPr id="3" name="Content Placeholder 2">
            <a:extLst>
              <a:ext uri="{FF2B5EF4-FFF2-40B4-BE49-F238E27FC236}">
                <a16:creationId xmlns:a16="http://schemas.microsoft.com/office/drawing/2014/main" id="{0947D5BC-20DC-EDDF-F61B-4E0AF14E0C72}"/>
              </a:ext>
            </a:extLst>
          </p:cNvPr>
          <p:cNvSpPr>
            <a:spLocks noGrp="1"/>
          </p:cNvSpPr>
          <p:nvPr>
            <p:ph idx="1"/>
          </p:nvPr>
        </p:nvSpPr>
        <p:spPr/>
        <p:txBody>
          <a:bodyPr>
            <a:normAutofit/>
          </a:bodyPr>
          <a:lstStyle/>
          <a:p>
            <a:pPr marL="0" indent="0">
              <a:buNone/>
            </a:pPr>
            <a:r>
              <a:rPr lang="en-US"/>
              <a:t>Trigger – MITA Business Process Defined</a:t>
            </a:r>
          </a:p>
          <a:p>
            <a:pPr marL="514350" indent="-514350">
              <a:buFont typeface="+mj-lt"/>
              <a:buAutoNum type="arabicPeriod"/>
            </a:pPr>
            <a:r>
              <a:rPr lang="en-US"/>
              <a:t>Identify Data Elements needed by the MITA Business Process</a:t>
            </a:r>
          </a:p>
          <a:p>
            <a:pPr marL="514350" indent="-514350">
              <a:buFont typeface="+mj-lt"/>
              <a:buAutoNum type="arabicPeriod"/>
            </a:pPr>
            <a:r>
              <a:rPr lang="en-US"/>
              <a:t>Identify Standards to enable successful sharing across enterprise</a:t>
            </a:r>
          </a:p>
          <a:p>
            <a:pPr marL="514350" indent="-514350">
              <a:buFont typeface="+mj-lt"/>
              <a:buAutoNum type="arabicPeriod"/>
            </a:pPr>
            <a:r>
              <a:rPr lang="en-US"/>
              <a:t>Break down the data into subject areas or domains</a:t>
            </a:r>
          </a:p>
          <a:p>
            <a:pPr marL="514350" indent="-514350">
              <a:buFont typeface="+mj-lt"/>
              <a:buAutoNum type="arabicPeriod"/>
            </a:pPr>
            <a:r>
              <a:rPr lang="en-US"/>
              <a:t>Develop As-Is CDM</a:t>
            </a:r>
          </a:p>
          <a:p>
            <a:pPr marL="514350" indent="-514350">
              <a:buFont typeface="+mj-lt"/>
              <a:buAutoNum type="arabicPeriod"/>
            </a:pPr>
            <a:r>
              <a:rPr lang="en-US"/>
              <a:t>Develop To-BE CDM</a:t>
            </a:r>
          </a:p>
          <a:p>
            <a:pPr marL="514350" indent="-514350">
              <a:buFont typeface="+mj-lt"/>
              <a:buAutoNum type="arabicPeriod"/>
            </a:pPr>
            <a:r>
              <a:rPr lang="en-US"/>
              <a:t>Develop LDM</a:t>
            </a:r>
          </a:p>
          <a:p>
            <a:pPr marL="514350" indent="-514350">
              <a:buFont typeface="+mj-lt"/>
              <a:buAutoNum type="arabicPeriod"/>
            </a:pPr>
            <a:r>
              <a:rPr lang="en-US"/>
              <a:t>Develop Data Management Strategy</a:t>
            </a:r>
          </a:p>
        </p:txBody>
      </p:sp>
    </p:spTree>
    <p:extLst>
      <p:ext uri="{BB962C8B-B14F-4D97-AF65-F5344CB8AC3E}">
        <p14:creationId xmlns:p14="http://schemas.microsoft.com/office/powerpoint/2010/main" val="3306678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88C97-913A-07BC-1BDC-19C6AD1BA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AA330-45B0-0272-D899-81B511094592}"/>
              </a:ext>
            </a:extLst>
          </p:cNvPr>
          <p:cNvSpPr>
            <a:spLocks noGrp="1"/>
          </p:cNvSpPr>
          <p:nvPr>
            <p:ph type="title"/>
          </p:nvPr>
        </p:nvSpPr>
        <p:spPr/>
        <p:txBody>
          <a:bodyPr/>
          <a:lstStyle/>
          <a:p>
            <a:r>
              <a:rPr lang="en-US"/>
              <a:t>MITA 3.0 TA Process</a:t>
            </a:r>
          </a:p>
        </p:txBody>
      </p:sp>
      <p:sp>
        <p:nvSpPr>
          <p:cNvPr id="3" name="Content Placeholder 2">
            <a:extLst>
              <a:ext uri="{FF2B5EF4-FFF2-40B4-BE49-F238E27FC236}">
                <a16:creationId xmlns:a16="http://schemas.microsoft.com/office/drawing/2014/main" id="{686550F6-E3FC-5352-51F1-C308207D3875}"/>
              </a:ext>
            </a:extLst>
          </p:cNvPr>
          <p:cNvSpPr>
            <a:spLocks noGrp="1"/>
          </p:cNvSpPr>
          <p:nvPr>
            <p:ph idx="1"/>
          </p:nvPr>
        </p:nvSpPr>
        <p:spPr/>
        <p:txBody>
          <a:bodyPr vert="horz" lIns="91440" tIns="45720" rIns="91440" bIns="45720" rtlCol="0" anchor="t">
            <a:normAutofit/>
          </a:bodyPr>
          <a:lstStyle/>
          <a:p>
            <a:pPr marL="0" indent="0">
              <a:buNone/>
            </a:pPr>
            <a:r>
              <a:rPr lang="en-US"/>
              <a:t>Trigger – MITA Business Process Defined</a:t>
            </a:r>
          </a:p>
          <a:p>
            <a:pPr marL="514350" indent="-514350">
              <a:buFont typeface="+mj-lt"/>
              <a:buAutoNum type="arabicPeriod"/>
            </a:pPr>
            <a:r>
              <a:rPr lang="en-US"/>
              <a:t>Identify technology needed by MITA business process</a:t>
            </a:r>
          </a:p>
          <a:p>
            <a:pPr marL="514350" indent="-514350">
              <a:buFont typeface="+mj-lt"/>
              <a:buAutoNum type="arabicPeriod"/>
            </a:pPr>
            <a:r>
              <a:rPr lang="en-US"/>
              <a:t>Identify modules in need of architectural alignment</a:t>
            </a:r>
          </a:p>
          <a:p>
            <a:pPr marL="514350" indent="-514350">
              <a:buFont typeface="+mj-lt"/>
              <a:buAutoNum type="arabicPeriod"/>
            </a:pPr>
            <a:r>
              <a:rPr lang="en-US"/>
              <a:t>Define target architecture</a:t>
            </a:r>
          </a:p>
          <a:p>
            <a:pPr marL="514350" indent="-514350">
              <a:buFont typeface="+mj-lt"/>
              <a:buAutoNum type="arabicPeriod"/>
            </a:pPr>
            <a:r>
              <a:rPr lang="en-US"/>
              <a:t>Perform gap analysis</a:t>
            </a:r>
          </a:p>
          <a:p>
            <a:pPr marL="514350" indent="-514350">
              <a:buFont typeface="+mj-lt"/>
              <a:buAutoNum type="arabicPeriod"/>
            </a:pPr>
            <a:r>
              <a:rPr lang="en-US"/>
              <a:t>Develop roadmap/strategy</a:t>
            </a:r>
          </a:p>
          <a:p>
            <a:pPr marL="514350" indent="-514350">
              <a:buFont typeface="+mj-lt"/>
              <a:buAutoNum type="arabicPeriod"/>
            </a:pPr>
            <a:r>
              <a:rPr lang="en-US"/>
              <a:t>Define technical governance and compliance structure</a:t>
            </a:r>
          </a:p>
        </p:txBody>
      </p:sp>
    </p:spTree>
    <p:extLst>
      <p:ext uri="{BB962C8B-B14F-4D97-AF65-F5344CB8AC3E}">
        <p14:creationId xmlns:p14="http://schemas.microsoft.com/office/powerpoint/2010/main" val="921258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335B-5192-06DA-55C2-C29518211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E3A1D-8496-97F7-1514-FDA459198515}"/>
              </a:ext>
            </a:extLst>
          </p:cNvPr>
          <p:cNvSpPr>
            <a:spLocks noGrp="1"/>
          </p:cNvSpPr>
          <p:nvPr>
            <p:ph type="title"/>
          </p:nvPr>
        </p:nvSpPr>
        <p:spPr/>
        <p:txBody>
          <a:bodyPr/>
          <a:lstStyle/>
          <a:p>
            <a:r>
              <a:rPr lang="en-US"/>
              <a:t>Proposed MITA 4.0 Process</a:t>
            </a:r>
          </a:p>
        </p:txBody>
      </p:sp>
      <p:sp>
        <p:nvSpPr>
          <p:cNvPr id="3" name="Text Placeholder 2">
            <a:extLst>
              <a:ext uri="{FF2B5EF4-FFF2-40B4-BE49-F238E27FC236}">
                <a16:creationId xmlns:a16="http://schemas.microsoft.com/office/drawing/2014/main" id="{7F714C36-BDF8-2789-6FE3-1D527631379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79990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91E84-ED63-876B-7CCF-7A0415770FB8}"/>
              </a:ext>
            </a:extLst>
          </p:cNvPr>
          <p:cNvSpPr>
            <a:spLocks noGrp="1"/>
          </p:cNvSpPr>
          <p:nvPr>
            <p:ph type="title"/>
          </p:nvPr>
        </p:nvSpPr>
        <p:spPr/>
        <p:txBody>
          <a:bodyPr/>
          <a:lstStyle/>
          <a:p>
            <a:r>
              <a:rPr lang="en-US"/>
              <a:t>Solution Planning Lifecycle</a:t>
            </a:r>
          </a:p>
        </p:txBody>
      </p:sp>
      <p:sp>
        <p:nvSpPr>
          <p:cNvPr id="3" name="Rounded Rectangle 2">
            <a:extLst>
              <a:ext uri="{FF2B5EF4-FFF2-40B4-BE49-F238E27FC236}">
                <a16:creationId xmlns:a16="http://schemas.microsoft.com/office/drawing/2014/main" id="{77965414-E71C-B746-5A03-3C6BD2D79A69}"/>
              </a:ext>
            </a:extLst>
          </p:cNvPr>
          <p:cNvSpPr/>
          <p:nvPr/>
        </p:nvSpPr>
        <p:spPr>
          <a:xfrm>
            <a:off x="709361" y="2847881"/>
            <a:ext cx="1736393" cy="174374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Enterprise Strategic Planning</a:t>
            </a:r>
          </a:p>
        </p:txBody>
      </p:sp>
      <p:sp>
        <p:nvSpPr>
          <p:cNvPr id="4" name="Rounded Rectangle 3">
            <a:extLst>
              <a:ext uri="{FF2B5EF4-FFF2-40B4-BE49-F238E27FC236}">
                <a16:creationId xmlns:a16="http://schemas.microsoft.com/office/drawing/2014/main" id="{824A1FDA-871F-01C7-0E54-C81D79EB3822}"/>
              </a:ext>
            </a:extLst>
          </p:cNvPr>
          <p:cNvSpPr/>
          <p:nvPr/>
        </p:nvSpPr>
        <p:spPr>
          <a:xfrm>
            <a:off x="2897038" y="2862630"/>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Solution Planning &amp; Initiation</a:t>
            </a:r>
          </a:p>
        </p:txBody>
      </p:sp>
      <p:sp>
        <p:nvSpPr>
          <p:cNvPr id="5" name="Rounded Rectangle 4">
            <a:extLst>
              <a:ext uri="{FF2B5EF4-FFF2-40B4-BE49-F238E27FC236}">
                <a16:creationId xmlns:a16="http://schemas.microsoft.com/office/drawing/2014/main" id="{5F3ED35B-169C-E1E9-CC6A-5D25F4DB5A24}"/>
              </a:ext>
            </a:extLst>
          </p:cNvPr>
          <p:cNvSpPr/>
          <p:nvPr/>
        </p:nvSpPr>
        <p:spPr>
          <a:xfrm>
            <a:off x="5177642" y="2862630"/>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Requirements, Design &amp; Development</a:t>
            </a:r>
          </a:p>
        </p:txBody>
      </p:sp>
      <p:sp>
        <p:nvSpPr>
          <p:cNvPr id="6" name="Rounded Rectangle 5">
            <a:extLst>
              <a:ext uri="{FF2B5EF4-FFF2-40B4-BE49-F238E27FC236}">
                <a16:creationId xmlns:a16="http://schemas.microsoft.com/office/drawing/2014/main" id="{15E7ADEF-39DF-4D13-D63D-845086C918A4}"/>
              </a:ext>
            </a:extLst>
          </p:cNvPr>
          <p:cNvSpPr/>
          <p:nvPr/>
        </p:nvSpPr>
        <p:spPr>
          <a:xfrm>
            <a:off x="7365319" y="2862630"/>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Integration, Test &amp; Implementation</a:t>
            </a:r>
          </a:p>
        </p:txBody>
      </p:sp>
      <p:sp>
        <p:nvSpPr>
          <p:cNvPr id="7" name="Rounded Rectangle 6">
            <a:extLst>
              <a:ext uri="{FF2B5EF4-FFF2-40B4-BE49-F238E27FC236}">
                <a16:creationId xmlns:a16="http://schemas.microsoft.com/office/drawing/2014/main" id="{5520B708-F990-3795-ACDC-17E6D85BF5F3}"/>
              </a:ext>
            </a:extLst>
          </p:cNvPr>
          <p:cNvSpPr/>
          <p:nvPr/>
        </p:nvSpPr>
        <p:spPr>
          <a:xfrm>
            <a:off x="9617407" y="2862630"/>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Maintenance &amp; Operations</a:t>
            </a:r>
          </a:p>
        </p:txBody>
      </p:sp>
      <p:sp>
        <p:nvSpPr>
          <p:cNvPr id="8" name="Oval 7">
            <a:extLst>
              <a:ext uri="{FF2B5EF4-FFF2-40B4-BE49-F238E27FC236}">
                <a16:creationId xmlns:a16="http://schemas.microsoft.com/office/drawing/2014/main" id="{8C364272-85F6-8EEF-17A7-FC17D5AE5134}"/>
              </a:ext>
            </a:extLst>
          </p:cNvPr>
          <p:cNvSpPr/>
          <p:nvPr/>
        </p:nvSpPr>
        <p:spPr>
          <a:xfrm>
            <a:off x="134449" y="3593196"/>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7195B94-ACE0-B06B-0128-4932DDD9D02D}"/>
              </a:ext>
            </a:extLst>
          </p:cNvPr>
          <p:cNvSpPr/>
          <p:nvPr/>
        </p:nvSpPr>
        <p:spPr>
          <a:xfrm>
            <a:off x="11719667" y="3611829"/>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5A1EE240-E440-3254-F651-9566193BD45A}"/>
              </a:ext>
            </a:extLst>
          </p:cNvPr>
          <p:cNvCxnSpPr>
            <a:stCxn id="8" idx="6"/>
            <a:endCxn id="3" idx="1"/>
          </p:cNvCxnSpPr>
          <p:nvPr/>
        </p:nvCxnSpPr>
        <p:spPr>
          <a:xfrm>
            <a:off x="384439" y="3719751"/>
            <a:ext cx="32492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D2D313BD-7FD0-22AA-DC86-F29E6929BC2B}"/>
              </a:ext>
            </a:extLst>
          </p:cNvPr>
          <p:cNvCxnSpPr>
            <a:stCxn id="3" idx="3"/>
            <a:endCxn id="4" idx="1"/>
          </p:cNvCxnSpPr>
          <p:nvPr/>
        </p:nvCxnSpPr>
        <p:spPr>
          <a:xfrm>
            <a:off x="2445754" y="3719751"/>
            <a:ext cx="451284" cy="147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EA1695B-399B-F4CD-5870-C87AA86C94E9}"/>
              </a:ext>
            </a:extLst>
          </p:cNvPr>
          <p:cNvCxnSpPr>
            <a:stCxn id="4" idx="3"/>
            <a:endCxn id="5" idx="1"/>
          </p:cNvCxnSpPr>
          <p:nvPr/>
        </p:nvCxnSpPr>
        <p:spPr>
          <a:xfrm>
            <a:off x="4633431" y="3734500"/>
            <a:ext cx="5442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14A4E94-23A9-CD66-9DE7-3F64E4C7DEA9}"/>
              </a:ext>
            </a:extLst>
          </p:cNvPr>
          <p:cNvCxnSpPr>
            <a:stCxn id="5" idx="3"/>
            <a:endCxn id="6" idx="1"/>
          </p:cNvCxnSpPr>
          <p:nvPr/>
        </p:nvCxnSpPr>
        <p:spPr>
          <a:xfrm>
            <a:off x="6914035" y="3734500"/>
            <a:ext cx="4512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0B94342-824A-B2D3-F4E4-F23E2F273959}"/>
              </a:ext>
            </a:extLst>
          </p:cNvPr>
          <p:cNvCxnSpPr>
            <a:stCxn id="6" idx="3"/>
            <a:endCxn id="7" idx="1"/>
          </p:cNvCxnSpPr>
          <p:nvPr/>
        </p:nvCxnSpPr>
        <p:spPr>
          <a:xfrm>
            <a:off x="9101712" y="3734500"/>
            <a:ext cx="5156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053290C-9417-482C-452E-BC6065A5722B}"/>
              </a:ext>
            </a:extLst>
          </p:cNvPr>
          <p:cNvCxnSpPr>
            <a:stCxn id="7" idx="3"/>
            <a:endCxn id="9" idx="2"/>
          </p:cNvCxnSpPr>
          <p:nvPr/>
        </p:nvCxnSpPr>
        <p:spPr>
          <a:xfrm>
            <a:off x="11353800" y="3734500"/>
            <a:ext cx="365867" cy="38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3C72451C-785E-2A3E-BD5C-08318CB73141}"/>
              </a:ext>
            </a:extLst>
          </p:cNvPr>
          <p:cNvCxnSpPr>
            <a:stCxn id="7" idx="0"/>
            <a:endCxn id="5" idx="0"/>
          </p:cNvCxnSpPr>
          <p:nvPr/>
        </p:nvCxnSpPr>
        <p:spPr>
          <a:xfrm rot="16200000" flipV="1">
            <a:off x="8265722" y="642747"/>
            <a:ext cx="12700" cy="4439765"/>
          </a:xfrm>
          <a:prstGeom prst="bentConnector3">
            <a:avLst>
              <a:gd name="adj1" fmla="val 464210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7254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2EFAF-D2E3-6218-780D-10460F85E5B8}"/>
              </a:ext>
            </a:extLst>
          </p:cNvPr>
          <p:cNvSpPr>
            <a:spLocks noGrp="1"/>
          </p:cNvSpPr>
          <p:nvPr>
            <p:ph type="title"/>
          </p:nvPr>
        </p:nvSpPr>
        <p:spPr/>
        <p:txBody>
          <a:bodyPr/>
          <a:lstStyle/>
          <a:p>
            <a:r>
              <a:rPr lang="en-US"/>
              <a:t>Enterprise Strategic Planning</a:t>
            </a:r>
          </a:p>
        </p:txBody>
      </p:sp>
      <p:sp>
        <p:nvSpPr>
          <p:cNvPr id="3" name="Rounded Rectangle 2">
            <a:extLst>
              <a:ext uri="{FF2B5EF4-FFF2-40B4-BE49-F238E27FC236}">
                <a16:creationId xmlns:a16="http://schemas.microsoft.com/office/drawing/2014/main" id="{CCE05C94-E932-E35E-F1EC-962E0A7C4CC0}"/>
              </a:ext>
            </a:extLst>
          </p:cNvPr>
          <p:cNvSpPr/>
          <p:nvPr/>
        </p:nvSpPr>
        <p:spPr>
          <a:xfrm>
            <a:off x="601371" y="3257730"/>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1. Define / Update </a:t>
            </a:r>
            <a:br>
              <a:rPr lang="en-US" sz="1400"/>
            </a:br>
            <a:r>
              <a:rPr lang="en-US" sz="1400"/>
              <a:t> Outcomes</a:t>
            </a:r>
            <a:endParaRPr lang="en-US"/>
          </a:p>
        </p:txBody>
      </p:sp>
      <p:sp>
        <p:nvSpPr>
          <p:cNvPr id="4" name="Rounded Rectangle 3">
            <a:extLst>
              <a:ext uri="{FF2B5EF4-FFF2-40B4-BE49-F238E27FC236}">
                <a16:creationId xmlns:a16="http://schemas.microsoft.com/office/drawing/2014/main" id="{7471A934-96ED-BBB7-4FF3-4B4385AE40CD}"/>
              </a:ext>
            </a:extLst>
          </p:cNvPr>
          <p:cNvSpPr/>
          <p:nvPr/>
        </p:nvSpPr>
        <p:spPr>
          <a:xfrm>
            <a:off x="2597139" y="3270125"/>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2. Identify Required Capabilities</a:t>
            </a:r>
          </a:p>
        </p:txBody>
      </p:sp>
      <p:sp>
        <p:nvSpPr>
          <p:cNvPr id="5" name="Rounded Rectangle 4">
            <a:extLst>
              <a:ext uri="{FF2B5EF4-FFF2-40B4-BE49-F238E27FC236}">
                <a16:creationId xmlns:a16="http://schemas.microsoft.com/office/drawing/2014/main" id="{FE1E0CD4-1147-1349-9537-7D32E8E58A7D}"/>
              </a:ext>
            </a:extLst>
          </p:cNvPr>
          <p:cNvSpPr/>
          <p:nvPr/>
        </p:nvSpPr>
        <p:spPr>
          <a:xfrm>
            <a:off x="4557972" y="3288151"/>
            <a:ext cx="1477602"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 Define</a:t>
            </a:r>
            <a:br>
              <a:rPr lang="en-US" sz="1400"/>
            </a:br>
            <a:r>
              <a:rPr lang="en-US" sz="1400"/>
              <a:t> Capability Architecture</a:t>
            </a:r>
          </a:p>
          <a:p>
            <a:pPr algn="ctr"/>
            <a:r>
              <a:rPr lang="en-US" sz="1000" i="1"/>
              <a:t>(Roles, Process, Information Technology)</a:t>
            </a:r>
          </a:p>
        </p:txBody>
      </p:sp>
      <p:sp>
        <p:nvSpPr>
          <p:cNvPr id="6" name="Rounded Rectangle 5">
            <a:extLst>
              <a:ext uri="{FF2B5EF4-FFF2-40B4-BE49-F238E27FC236}">
                <a16:creationId xmlns:a16="http://schemas.microsoft.com/office/drawing/2014/main" id="{FF3CC17F-9733-8A47-819E-5D5184D8C39B}"/>
              </a:ext>
            </a:extLst>
          </p:cNvPr>
          <p:cNvSpPr/>
          <p:nvPr/>
        </p:nvSpPr>
        <p:spPr>
          <a:xfrm>
            <a:off x="6414712" y="3270125"/>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4. Document State Self-Assessment</a:t>
            </a:r>
            <a:endParaRPr lang="en-US" sz="1000"/>
          </a:p>
        </p:txBody>
      </p:sp>
      <p:sp>
        <p:nvSpPr>
          <p:cNvPr id="7" name="TextBox 6">
            <a:extLst>
              <a:ext uri="{FF2B5EF4-FFF2-40B4-BE49-F238E27FC236}">
                <a16:creationId xmlns:a16="http://schemas.microsoft.com/office/drawing/2014/main" id="{F2029EA7-86CC-3BD5-14AE-1DF916C8A31D}"/>
              </a:ext>
            </a:extLst>
          </p:cNvPr>
          <p:cNvSpPr txBox="1"/>
          <p:nvPr/>
        </p:nvSpPr>
        <p:spPr>
          <a:xfrm>
            <a:off x="601370" y="2341717"/>
            <a:ext cx="1494423" cy="553998"/>
          </a:xfrm>
          <a:prstGeom prst="rect">
            <a:avLst/>
          </a:prstGeom>
          <a:solidFill>
            <a:schemeClr val="bg1">
              <a:lumMod val="95000"/>
            </a:schemeClr>
          </a:solidFill>
          <a:ln>
            <a:solidFill>
              <a:schemeClr val="tx1"/>
            </a:solidFill>
          </a:ln>
        </p:spPr>
        <p:txBody>
          <a:bodyPr wrap="square" rtlCol="0">
            <a:spAutoFit/>
          </a:bodyPr>
          <a:lstStyle/>
          <a:p>
            <a:pPr algn="ctr"/>
            <a:r>
              <a:rPr lang="en-US" sz="1000"/>
              <a:t>MITA 4.0 Outcome Process </a:t>
            </a:r>
          </a:p>
          <a:p>
            <a:pPr algn="ctr"/>
            <a:r>
              <a:rPr lang="en-US" sz="1000"/>
              <a:t>&amp; Reference Models</a:t>
            </a:r>
          </a:p>
        </p:txBody>
      </p:sp>
      <p:sp>
        <p:nvSpPr>
          <p:cNvPr id="8" name="TextBox 7">
            <a:extLst>
              <a:ext uri="{FF2B5EF4-FFF2-40B4-BE49-F238E27FC236}">
                <a16:creationId xmlns:a16="http://schemas.microsoft.com/office/drawing/2014/main" id="{2196001A-0204-A377-4360-26A06B4EFB2D}"/>
              </a:ext>
            </a:extLst>
          </p:cNvPr>
          <p:cNvSpPr txBox="1"/>
          <p:nvPr/>
        </p:nvSpPr>
        <p:spPr>
          <a:xfrm>
            <a:off x="2590272" y="2338163"/>
            <a:ext cx="1477601" cy="400110"/>
          </a:xfrm>
          <a:prstGeom prst="rect">
            <a:avLst/>
          </a:prstGeom>
          <a:solidFill>
            <a:schemeClr val="bg1">
              <a:lumMod val="95000"/>
            </a:schemeClr>
          </a:solidFill>
          <a:ln>
            <a:solidFill>
              <a:schemeClr val="tx1"/>
            </a:solidFill>
          </a:ln>
        </p:spPr>
        <p:txBody>
          <a:bodyPr wrap="square" rtlCol="0">
            <a:spAutoFit/>
          </a:bodyPr>
          <a:lstStyle/>
          <a:p>
            <a:pPr algn="ctr"/>
            <a:r>
              <a:rPr lang="en-US" sz="1000"/>
              <a:t>MITA 4.0 Capability </a:t>
            </a:r>
          </a:p>
          <a:p>
            <a:pPr algn="ctr"/>
            <a:r>
              <a:rPr lang="en-US" sz="1000"/>
              <a:t>Reference Model</a:t>
            </a:r>
          </a:p>
        </p:txBody>
      </p:sp>
      <p:sp>
        <p:nvSpPr>
          <p:cNvPr id="9" name="TextBox 8">
            <a:extLst>
              <a:ext uri="{FF2B5EF4-FFF2-40B4-BE49-F238E27FC236}">
                <a16:creationId xmlns:a16="http://schemas.microsoft.com/office/drawing/2014/main" id="{009DFF2C-6E24-E7BB-D33C-7364AE2722DD}"/>
              </a:ext>
            </a:extLst>
          </p:cNvPr>
          <p:cNvSpPr txBox="1"/>
          <p:nvPr/>
        </p:nvSpPr>
        <p:spPr>
          <a:xfrm>
            <a:off x="4378186" y="2316310"/>
            <a:ext cx="1792575" cy="707886"/>
          </a:xfrm>
          <a:prstGeom prst="rect">
            <a:avLst/>
          </a:prstGeom>
          <a:solidFill>
            <a:schemeClr val="bg1">
              <a:lumMod val="95000"/>
            </a:schemeClr>
          </a:solidFill>
          <a:ln>
            <a:solidFill>
              <a:schemeClr val="tx1"/>
            </a:solidFill>
          </a:ln>
        </p:spPr>
        <p:txBody>
          <a:bodyPr wrap="square" rtlCol="0">
            <a:spAutoFit/>
          </a:bodyPr>
          <a:lstStyle/>
          <a:p>
            <a:pPr algn="ctr"/>
            <a:r>
              <a:rPr lang="en-US" sz="1000"/>
              <a:t>MITA 4.0 Role, Process, Data, Technical </a:t>
            </a:r>
          </a:p>
          <a:p>
            <a:pPr algn="ctr"/>
            <a:r>
              <a:rPr lang="en-US" sz="1000"/>
              <a:t>Reference Models &amp; Architecture Process</a:t>
            </a:r>
          </a:p>
        </p:txBody>
      </p:sp>
      <p:sp>
        <p:nvSpPr>
          <p:cNvPr id="10" name="TextBox 9">
            <a:extLst>
              <a:ext uri="{FF2B5EF4-FFF2-40B4-BE49-F238E27FC236}">
                <a16:creationId xmlns:a16="http://schemas.microsoft.com/office/drawing/2014/main" id="{88025833-1E78-E060-9DCC-7E3C783E3F2A}"/>
              </a:ext>
            </a:extLst>
          </p:cNvPr>
          <p:cNvSpPr txBox="1"/>
          <p:nvPr/>
        </p:nvSpPr>
        <p:spPr>
          <a:xfrm>
            <a:off x="6414712" y="2323691"/>
            <a:ext cx="1477601" cy="553998"/>
          </a:xfrm>
          <a:prstGeom prst="rect">
            <a:avLst/>
          </a:prstGeom>
          <a:solidFill>
            <a:schemeClr val="bg1">
              <a:lumMod val="95000"/>
            </a:schemeClr>
          </a:solidFill>
          <a:ln>
            <a:solidFill>
              <a:schemeClr val="tx1"/>
            </a:solidFill>
          </a:ln>
        </p:spPr>
        <p:txBody>
          <a:bodyPr wrap="square" lIns="91440" tIns="45720" rIns="91440" bIns="45720" rtlCol="0" anchor="t">
            <a:spAutoFit/>
          </a:bodyPr>
          <a:lstStyle/>
          <a:p>
            <a:pPr algn="ctr"/>
            <a:r>
              <a:rPr lang="en-US" sz="1000"/>
              <a:t>MITA 4.0 Maturity Results &amp; SS-A Process</a:t>
            </a:r>
          </a:p>
        </p:txBody>
      </p:sp>
      <p:sp>
        <p:nvSpPr>
          <p:cNvPr id="11" name="TextBox 10">
            <a:extLst>
              <a:ext uri="{FF2B5EF4-FFF2-40B4-BE49-F238E27FC236}">
                <a16:creationId xmlns:a16="http://schemas.microsoft.com/office/drawing/2014/main" id="{8572B206-C01E-22C9-5868-E816E147A44F}"/>
              </a:ext>
            </a:extLst>
          </p:cNvPr>
          <p:cNvSpPr txBox="1"/>
          <p:nvPr/>
        </p:nvSpPr>
        <p:spPr>
          <a:xfrm>
            <a:off x="793326" y="5804553"/>
            <a:ext cx="1150907"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Outcomes &amp; Metrics</a:t>
            </a:r>
          </a:p>
        </p:txBody>
      </p:sp>
      <p:sp>
        <p:nvSpPr>
          <p:cNvPr id="12" name="TextBox 11">
            <a:extLst>
              <a:ext uri="{FF2B5EF4-FFF2-40B4-BE49-F238E27FC236}">
                <a16:creationId xmlns:a16="http://schemas.microsoft.com/office/drawing/2014/main" id="{B925DDBE-9D0E-C11D-5263-E288272CECF6}"/>
              </a:ext>
            </a:extLst>
          </p:cNvPr>
          <p:cNvSpPr txBox="1"/>
          <p:nvPr/>
        </p:nvSpPr>
        <p:spPr>
          <a:xfrm>
            <a:off x="4669705" y="5823478"/>
            <a:ext cx="1265843"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Concept of Operations</a:t>
            </a:r>
          </a:p>
        </p:txBody>
      </p:sp>
      <p:sp>
        <p:nvSpPr>
          <p:cNvPr id="13" name="TextBox 12">
            <a:extLst>
              <a:ext uri="{FF2B5EF4-FFF2-40B4-BE49-F238E27FC236}">
                <a16:creationId xmlns:a16="http://schemas.microsoft.com/office/drawing/2014/main" id="{EB17CD5D-A022-7609-C447-7A5BEDFCA067}"/>
              </a:ext>
            </a:extLst>
          </p:cNvPr>
          <p:cNvSpPr txBox="1"/>
          <p:nvPr/>
        </p:nvSpPr>
        <p:spPr>
          <a:xfrm>
            <a:off x="6416764" y="5835330"/>
            <a:ext cx="1508629"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Maturity Profile &amp; Roadmap</a:t>
            </a:r>
          </a:p>
        </p:txBody>
      </p:sp>
      <p:cxnSp>
        <p:nvCxnSpPr>
          <p:cNvPr id="15" name="Straight Arrow Connector 14">
            <a:extLst>
              <a:ext uri="{FF2B5EF4-FFF2-40B4-BE49-F238E27FC236}">
                <a16:creationId xmlns:a16="http://schemas.microsoft.com/office/drawing/2014/main" id="{295F9633-FE56-4F3B-3E57-6FFE573FBCEE}"/>
              </a:ext>
            </a:extLst>
          </p:cNvPr>
          <p:cNvCxnSpPr>
            <a:cxnSpLocks/>
            <a:stCxn id="7" idx="2"/>
            <a:endCxn id="3" idx="0"/>
          </p:cNvCxnSpPr>
          <p:nvPr/>
        </p:nvCxnSpPr>
        <p:spPr>
          <a:xfrm flipH="1">
            <a:off x="1340172" y="2895715"/>
            <a:ext cx="8410" cy="36201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8AB9A66-93CC-8606-0D42-D2FEC7D71C6B}"/>
              </a:ext>
            </a:extLst>
          </p:cNvPr>
          <p:cNvCxnSpPr>
            <a:cxnSpLocks/>
            <a:stCxn id="8" idx="2"/>
            <a:endCxn id="4" idx="0"/>
          </p:cNvCxnSpPr>
          <p:nvPr/>
        </p:nvCxnSpPr>
        <p:spPr>
          <a:xfrm>
            <a:off x="3329073" y="2738273"/>
            <a:ext cx="6867" cy="531852"/>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B9B1B8B-A51D-0E48-936B-15EB52A7843D}"/>
              </a:ext>
            </a:extLst>
          </p:cNvPr>
          <p:cNvCxnSpPr>
            <a:cxnSpLocks/>
            <a:stCxn id="9" idx="2"/>
            <a:endCxn id="5" idx="0"/>
          </p:cNvCxnSpPr>
          <p:nvPr/>
        </p:nvCxnSpPr>
        <p:spPr>
          <a:xfrm>
            <a:off x="5293211" y="3024196"/>
            <a:ext cx="3562" cy="26395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F686906-705E-9874-E5F1-2F4381270B3E}"/>
              </a:ext>
            </a:extLst>
          </p:cNvPr>
          <p:cNvCxnSpPr>
            <a:cxnSpLocks/>
            <a:stCxn id="10" idx="2"/>
            <a:endCxn id="6" idx="0"/>
          </p:cNvCxnSpPr>
          <p:nvPr/>
        </p:nvCxnSpPr>
        <p:spPr>
          <a:xfrm>
            <a:off x="7153513" y="2877689"/>
            <a:ext cx="0" cy="39243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508F00A-2828-BD3D-1246-890CDB89B01D}"/>
              </a:ext>
            </a:extLst>
          </p:cNvPr>
          <p:cNvCxnSpPr>
            <a:stCxn id="3" idx="2"/>
            <a:endCxn id="11" idx="0"/>
          </p:cNvCxnSpPr>
          <p:nvPr/>
        </p:nvCxnSpPr>
        <p:spPr>
          <a:xfrm>
            <a:off x="1340172" y="5001470"/>
            <a:ext cx="28608" cy="803083"/>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F8945DC-B6F5-6F93-4A4D-50BD454A8DA2}"/>
              </a:ext>
            </a:extLst>
          </p:cNvPr>
          <p:cNvCxnSpPr>
            <a:stCxn id="5" idx="2"/>
            <a:endCxn id="12" idx="0"/>
          </p:cNvCxnSpPr>
          <p:nvPr/>
        </p:nvCxnSpPr>
        <p:spPr>
          <a:xfrm>
            <a:off x="5296773" y="5031891"/>
            <a:ext cx="5854" cy="791587"/>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6282A6C-5D00-388C-E123-B81D3A34ACFF}"/>
              </a:ext>
            </a:extLst>
          </p:cNvPr>
          <p:cNvCxnSpPr>
            <a:cxnSpLocks/>
            <a:stCxn id="6" idx="2"/>
            <a:endCxn id="13" idx="0"/>
          </p:cNvCxnSpPr>
          <p:nvPr/>
        </p:nvCxnSpPr>
        <p:spPr>
          <a:xfrm>
            <a:off x="7153513" y="5013865"/>
            <a:ext cx="17566" cy="82146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29" name="Right Arrow 28">
            <a:extLst>
              <a:ext uri="{FF2B5EF4-FFF2-40B4-BE49-F238E27FC236}">
                <a16:creationId xmlns:a16="http://schemas.microsoft.com/office/drawing/2014/main" id="{3C4026D7-E8A6-8E8A-A386-86F5F4030781}"/>
              </a:ext>
            </a:extLst>
          </p:cNvPr>
          <p:cNvSpPr/>
          <p:nvPr/>
        </p:nvSpPr>
        <p:spPr>
          <a:xfrm>
            <a:off x="2096100" y="4043200"/>
            <a:ext cx="4816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Arrow 29">
            <a:extLst>
              <a:ext uri="{FF2B5EF4-FFF2-40B4-BE49-F238E27FC236}">
                <a16:creationId xmlns:a16="http://schemas.microsoft.com/office/drawing/2014/main" id="{BE4D7171-3134-ECE6-2887-101E61BE272D}"/>
              </a:ext>
            </a:extLst>
          </p:cNvPr>
          <p:cNvSpPr/>
          <p:nvPr/>
        </p:nvSpPr>
        <p:spPr>
          <a:xfrm>
            <a:off x="4089916" y="4031625"/>
            <a:ext cx="462369"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E94E2401-6A14-0792-9451-2C57F662B828}"/>
              </a:ext>
            </a:extLst>
          </p:cNvPr>
          <p:cNvSpPr/>
          <p:nvPr/>
        </p:nvSpPr>
        <p:spPr>
          <a:xfrm>
            <a:off x="6050749" y="4040584"/>
            <a:ext cx="353056"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0121F1A7-55FC-5CBB-865A-3385E24A5294}"/>
              </a:ext>
            </a:extLst>
          </p:cNvPr>
          <p:cNvSpPr/>
          <p:nvPr/>
        </p:nvSpPr>
        <p:spPr>
          <a:xfrm>
            <a:off x="8260545" y="3295300"/>
            <a:ext cx="1477602" cy="1743740"/>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85000"/>
                    <a:lumOff val="15000"/>
                  </a:schemeClr>
                </a:solidFill>
              </a:rPr>
              <a:t>Develop Advanced Planning Document (APD)</a:t>
            </a:r>
            <a:endParaRPr lang="en-US" sz="1000">
              <a:solidFill>
                <a:schemeClr val="tx1">
                  <a:lumMod val="85000"/>
                  <a:lumOff val="15000"/>
                </a:schemeClr>
              </a:solidFill>
            </a:endParaRPr>
          </a:p>
        </p:txBody>
      </p:sp>
      <p:sp>
        <p:nvSpPr>
          <p:cNvPr id="36" name="Right Arrow 35">
            <a:extLst>
              <a:ext uri="{FF2B5EF4-FFF2-40B4-BE49-F238E27FC236}">
                <a16:creationId xmlns:a16="http://schemas.microsoft.com/office/drawing/2014/main" id="{03C89A27-CF4F-AE75-8101-7CE93539EF02}"/>
              </a:ext>
            </a:extLst>
          </p:cNvPr>
          <p:cNvSpPr/>
          <p:nvPr/>
        </p:nvSpPr>
        <p:spPr>
          <a:xfrm>
            <a:off x="7890619" y="4050711"/>
            <a:ext cx="3719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CFB878C9-A8D6-B337-9865-B72CD6169CDB}"/>
              </a:ext>
            </a:extLst>
          </p:cNvPr>
          <p:cNvSpPr/>
          <p:nvPr/>
        </p:nvSpPr>
        <p:spPr>
          <a:xfrm>
            <a:off x="71147" y="4007007"/>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95EDBFA9-F8AE-6C0F-27A7-55F80EB7C402}"/>
              </a:ext>
            </a:extLst>
          </p:cNvPr>
          <p:cNvSpPr/>
          <p:nvPr/>
        </p:nvSpPr>
        <p:spPr>
          <a:xfrm>
            <a:off x="11789426" y="4051223"/>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4DC5B9D3-518C-7B2D-DF45-A85F4DA2BC4D}"/>
              </a:ext>
            </a:extLst>
          </p:cNvPr>
          <p:cNvCxnSpPr>
            <a:cxnSpLocks/>
            <a:stCxn id="53" idx="6"/>
            <a:endCxn id="3" idx="1"/>
          </p:cNvCxnSpPr>
          <p:nvPr/>
        </p:nvCxnSpPr>
        <p:spPr>
          <a:xfrm flipV="1">
            <a:off x="321137" y="4129600"/>
            <a:ext cx="280234" cy="3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DC4D7389-C73F-BEE5-DDD2-49868C39A513}"/>
              </a:ext>
            </a:extLst>
          </p:cNvPr>
          <p:cNvCxnSpPr>
            <a:cxnSpLocks/>
            <a:stCxn id="21" idx="3"/>
            <a:endCxn id="54" idx="2"/>
          </p:cNvCxnSpPr>
          <p:nvPr/>
        </p:nvCxnSpPr>
        <p:spPr>
          <a:xfrm>
            <a:off x="11594871" y="4177778"/>
            <a:ext cx="1945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ED188B23-246A-147E-7D3C-523FEF254ACE}"/>
              </a:ext>
            </a:extLst>
          </p:cNvPr>
          <p:cNvSpPr txBox="1"/>
          <p:nvPr/>
        </p:nvSpPr>
        <p:spPr>
          <a:xfrm>
            <a:off x="793326" y="6204662"/>
            <a:ext cx="1150907"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6" name="TextBox 65">
            <a:extLst>
              <a:ext uri="{FF2B5EF4-FFF2-40B4-BE49-F238E27FC236}">
                <a16:creationId xmlns:a16="http://schemas.microsoft.com/office/drawing/2014/main" id="{12B3CF10-5311-D4DD-0DD3-135F99D5AD1B}"/>
              </a:ext>
            </a:extLst>
          </p:cNvPr>
          <p:cNvSpPr txBox="1"/>
          <p:nvPr/>
        </p:nvSpPr>
        <p:spPr>
          <a:xfrm>
            <a:off x="4669705" y="6204663"/>
            <a:ext cx="1273948"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7" name="TextBox 66">
            <a:extLst>
              <a:ext uri="{FF2B5EF4-FFF2-40B4-BE49-F238E27FC236}">
                <a16:creationId xmlns:a16="http://schemas.microsoft.com/office/drawing/2014/main" id="{AE45D3C8-C74C-5703-4E91-CDF8D6A72CD4}"/>
              </a:ext>
            </a:extLst>
          </p:cNvPr>
          <p:cNvSpPr txBox="1"/>
          <p:nvPr/>
        </p:nvSpPr>
        <p:spPr>
          <a:xfrm>
            <a:off x="6414711" y="6234541"/>
            <a:ext cx="1508629"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9" name="TextBox 68">
            <a:extLst>
              <a:ext uri="{FF2B5EF4-FFF2-40B4-BE49-F238E27FC236}">
                <a16:creationId xmlns:a16="http://schemas.microsoft.com/office/drawing/2014/main" id="{287C9E47-D21C-ED22-D18E-B9BC56316565}"/>
              </a:ext>
            </a:extLst>
          </p:cNvPr>
          <p:cNvSpPr txBox="1"/>
          <p:nvPr/>
        </p:nvSpPr>
        <p:spPr>
          <a:xfrm>
            <a:off x="6414711" y="2077470"/>
            <a:ext cx="147760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INPUT</a:t>
            </a:r>
          </a:p>
        </p:txBody>
      </p:sp>
      <p:sp>
        <p:nvSpPr>
          <p:cNvPr id="70" name="TextBox 69">
            <a:extLst>
              <a:ext uri="{FF2B5EF4-FFF2-40B4-BE49-F238E27FC236}">
                <a16:creationId xmlns:a16="http://schemas.microsoft.com/office/drawing/2014/main" id="{88B4CB51-BA63-E0DE-4764-92D5A7804CB6}"/>
              </a:ext>
            </a:extLst>
          </p:cNvPr>
          <p:cNvSpPr txBox="1"/>
          <p:nvPr/>
        </p:nvSpPr>
        <p:spPr>
          <a:xfrm>
            <a:off x="4378186" y="2091121"/>
            <a:ext cx="1792575"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INPUT</a:t>
            </a:r>
          </a:p>
        </p:txBody>
      </p:sp>
      <p:sp>
        <p:nvSpPr>
          <p:cNvPr id="71" name="TextBox 70">
            <a:extLst>
              <a:ext uri="{FF2B5EF4-FFF2-40B4-BE49-F238E27FC236}">
                <a16:creationId xmlns:a16="http://schemas.microsoft.com/office/drawing/2014/main" id="{66D35263-47E1-62C4-F236-B6DEC929B343}"/>
              </a:ext>
            </a:extLst>
          </p:cNvPr>
          <p:cNvSpPr txBox="1"/>
          <p:nvPr/>
        </p:nvSpPr>
        <p:spPr>
          <a:xfrm>
            <a:off x="2590272" y="2091942"/>
            <a:ext cx="147760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INPUT</a:t>
            </a:r>
          </a:p>
        </p:txBody>
      </p:sp>
      <p:sp>
        <p:nvSpPr>
          <p:cNvPr id="72" name="TextBox 71">
            <a:extLst>
              <a:ext uri="{FF2B5EF4-FFF2-40B4-BE49-F238E27FC236}">
                <a16:creationId xmlns:a16="http://schemas.microsoft.com/office/drawing/2014/main" id="{BB6891A9-DD69-4147-ED44-60BC311EF597}"/>
              </a:ext>
            </a:extLst>
          </p:cNvPr>
          <p:cNvSpPr txBox="1"/>
          <p:nvPr/>
        </p:nvSpPr>
        <p:spPr>
          <a:xfrm>
            <a:off x="601368" y="2106992"/>
            <a:ext cx="149203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INPUT</a:t>
            </a:r>
          </a:p>
        </p:txBody>
      </p:sp>
      <p:sp>
        <p:nvSpPr>
          <p:cNvPr id="21" name="Rounded Rectangle 20">
            <a:extLst>
              <a:ext uri="{FF2B5EF4-FFF2-40B4-BE49-F238E27FC236}">
                <a16:creationId xmlns:a16="http://schemas.microsoft.com/office/drawing/2014/main" id="{3A0099EA-0EEB-B6C8-569D-060B9B46B275}"/>
              </a:ext>
            </a:extLst>
          </p:cNvPr>
          <p:cNvSpPr/>
          <p:nvPr/>
        </p:nvSpPr>
        <p:spPr>
          <a:xfrm>
            <a:off x="10117269" y="3305908"/>
            <a:ext cx="1477602" cy="1743740"/>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85000"/>
                    <a:lumOff val="15000"/>
                  </a:schemeClr>
                </a:solidFill>
              </a:rPr>
              <a:t>Perform MES Certification</a:t>
            </a:r>
            <a:endParaRPr lang="en-US" sz="1000">
              <a:solidFill>
                <a:schemeClr val="tx1">
                  <a:lumMod val="85000"/>
                  <a:lumOff val="15000"/>
                </a:schemeClr>
              </a:solidFill>
            </a:endParaRPr>
          </a:p>
        </p:txBody>
      </p:sp>
      <p:sp>
        <p:nvSpPr>
          <p:cNvPr id="27" name="Right Arrow 26">
            <a:extLst>
              <a:ext uri="{FF2B5EF4-FFF2-40B4-BE49-F238E27FC236}">
                <a16:creationId xmlns:a16="http://schemas.microsoft.com/office/drawing/2014/main" id="{80344C85-1F25-53CC-3F80-055DC4183051}"/>
              </a:ext>
            </a:extLst>
          </p:cNvPr>
          <p:cNvSpPr/>
          <p:nvPr/>
        </p:nvSpPr>
        <p:spPr>
          <a:xfrm>
            <a:off x="9738147" y="4061350"/>
            <a:ext cx="3719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E31692-EE05-9FD1-8732-ECEB285C0F7E}"/>
              </a:ext>
            </a:extLst>
          </p:cNvPr>
          <p:cNvSpPr/>
          <p:nvPr/>
        </p:nvSpPr>
        <p:spPr>
          <a:xfrm>
            <a:off x="435935" y="1691011"/>
            <a:ext cx="7644809" cy="5028766"/>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5E14A77-D597-BF05-7CAF-866CD2F08BC2}"/>
              </a:ext>
            </a:extLst>
          </p:cNvPr>
          <p:cNvSpPr txBox="1"/>
          <p:nvPr/>
        </p:nvSpPr>
        <p:spPr>
          <a:xfrm>
            <a:off x="3526247" y="1707517"/>
            <a:ext cx="1464183" cy="307777"/>
          </a:xfrm>
          <a:prstGeom prst="rect">
            <a:avLst/>
          </a:prstGeom>
          <a:noFill/>
        </p:spPr>
        <p:txBody>
          <a:bodyPr wrap="square" rtlCol="0">
            <a:spAutoFit/>
          </a:bodyPr>
          <a:lstStyle/>
          <a:p>
            <a:r>
              <a:rPr lang="en-US" sz="1400"/>
              <a:t>MITA 4.0 Scope</a:t>
            </a:r>
          </a:p>
        </p:txBody>
      </p:sp>
    </p:spTree>
    <p:extLst>
      <p:ext uri="{BB962C8B-B14F-4D97-AF65-F5344CB8AC3E}">
        <p14:creationId xmlns:p14="http://schemas.microsoft.com/office/powerpoint/2010/main" val="544280081"/>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4B4D2-D278-E38C-8B74-5F9846E23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50FD5-795E-63F8-CE94-87165A2611D6}"/>
              </a:ext>
            </a:extLst>
          </p:cNvPr>
          <p:cNvSpPr>
            <a:spLocks noGrp="1"/>
          </p:cNvSpPr>
          <p:nvPr>
            <p:ph type="title"/>
          </p:nvPr>
        </p:nvSpPr>
        <p:spPr/>
        <p:txBody>
          <a:bodyPr/>
          <a:lstStyle/>
          <a:p>
            <a:r>
              <a:rPr lang="en-US"/>
              <a:t>Define/Update Outcomes</a:t>
            </a:r>
            <a:endParaRPr lang="en-US">
              <a:latin typeface="Rockwell Condensed"/>
            </a:endParaRPr>
          </a:p>
        </p:txBody>
      </p:sp>
    </p:spTree>
    <p:extLst>
      <p:ext uri="{BB962C8B-B14F-4D97-AF65-F5344CB8AC3E}">
        <p14:creationId xmlns:p14="http://schemas.microsoft.com/office/powerpoint/2010/main" val="4056647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9010" y="2100723"/>
            <a:ext cx="2370548" cy="170560"/>
          </a:xfrm>
          <a:prstGeom prst="rect">
            <a:avLst/>
          </a:prstGeom>
        </p:spPr>
        <p:txBody>
          <a:bodyPr vert="horz" wrap="square" lIns="0" tIns="0" rIns="0" bIns="0" rtlCol="0">
            <a:spAutoFit/>
          </a:bodyPr>
          <a:lstStyle/>
          <a:p>
            <a:pPr>
              <a:lnSpc>
                <a:spcPts val="1279"/>
              </a:lnSpc>
            </a:pPr>
            <a:r>
              <a:rPr sz="1346">
                <a:latin typeface="Calibri"/>
                <a:cs typeface="Calibri"/>
              </a:rPr>
              <a:t>Outcomes</a:t>
            </a:r>
            <a:r>
              <a:rPr sz="1346" spc="-34">
                <a:latin typeface="Calibri"/>
                <a:cs typeface="Calibri"/>
              </a:rPr>
              <a:t> </a:t>
            </a:r>
            <a:r>
              <a:rPr sz="1346">
                <a:latin typeface="Calibri"/>
                <a:cs typeface="Calibri"/>
              </a:rPr>
              <a:t>Based</a:t>
            </a:r>
            <a:r>
              <a:rPr sz="1346" spc="-34">
                <a:latin typeface="Calibri"/>
                <a:cs typeface="Calibri"/>
              </a:rPr>
              <a:t> </a:t>
            </a:r>
            <a:r>
              <a:rPr sz="1346">
                <a:latin typeface="Calibri"/>
                <a:cs typeface="Calibri"/>
              </a:rPr>
              <a:t>Planning</a:t>
            </a:r>
            <a:r>
              <a:rPr sz="1346" spc="-29">
                <a:latin typeface="Calibri"/>
                <a:cs typeface="Calibri"/>
              </a:rPr>
              <a:t> </a:t>
            </a:r>
            <a:r>
              <a:rPr sz="1346" spc="-8">
                <a:latin typeface="Calibri"/>
                <a:cs typeface="Calibri"/>
              </a:rPr>
              <a:t>Process</a:t>
            </a:r>
            <a:endParaRPr sz="1346">
              <a:latin typeface="Calibri"/>
              <a:cs typeface="Calibri"/>
            </a:endParaRPr>
          </a:p>
        </p:txBody>
      </p:sp>
      <p:sp>
        <p:nvSpPr>
          <p:cNvPr id="3" name="object 3"/>
          <p:cNvSpPr/>
          <p:nvPr/>
        </p:nvSpPr>
        <p:spPr>
          <a:xfrm>
            <a:off x="196344" y="1985086"/>
            <a:ext cx="11803587" cy="2887185"/>
          </a:xfrm>
          <a:custGeom>
            <a:avLst/>
            <a:gdLst/>
            <a:ahLst/>
            <a:cxnLst/>
            <a:rect l="l" t="t" r="r" b="b"/>
            <a:pathLst>
              <a:path w="14029055" h="3431540">
                <a:moveTo>
                  <a:pt x="0" y="3431120"/>
                </a:moveTo>
                <a:lnTo>
                  <a:pt x="14028801" y="3431120"/>
                </a:lnTo>
                <a:lnTo>
                  <a:pt x="14028801" y="88"/>
                </a:lnTo>
                <a:lnTo>
                  <a:pt x="0" y="88"/>
                </a:lnTo>
                <a:lnTo>
                  <a:pt x="0" y="3431120"/>
                </a:lnTo>
                <a:close/>
              </a:path>
              <a:path w="14029055" h="3431540">
                <a:moveTo>
                  <a:pt x="0" y="457200"/>
                </a:moveTo>
                <a:lnTo>
                  <a:pt x="14028801" y="457200"/>
                </a:lnTo>
                <a:lnTo>
                  <a:pt x="14028801" y="0"/>
                </a:lnTo>
                <a:lnTo>
                  <a:pt x="0" y="0"/>
                </a:lnTo>
                <a:lnTo>
                  <a:pt x="0" y="457200"/>
                </a:lnTo>
                <a:close/>
              </a:path>
            </a:pathLst>
          </a:custGeom>
          <a:ln w="9525">
            <a:solidFill>
              <a:srgbClr val="000000"/>
            </a:solidFill>
          </a:ln>
        </p:spPr>
        <p:txBody>
          <a:bodyPr wrap="square" lIns="0" tIns="0" rIns="0" bIns="0" rtlCol="0"/>
          <a:lstStyle/>
          <a:p>
            <a:endParaRPr sz="1515"/>
          </a:p>
        </p:txBody>
      </p:sp>
      <p:sp>
        <p:nvSpPr>
          <p:cNvPr id="4" name="object 4"/>
          <p:cNvSpPr txBox="1"/>
          <p:nvPr/>
        </p:nvSpPr>
        <p:spPr>
          <a:xfrm>
            <a:off x="239010" y="2100723"/>
            <a:ext cx="2370548" cy="170560"/>
          </a:xfrm>
          <a:prstGeom prst="rect">
            <a:avLst/>
          </a:prstGeom>
        </p:spPr>
        <p:txBody>
          <a:bodyPr vert="horz" wrap="square" lIns="0" tIns="0" rIns="0" bIns="0" rtlCol="0">
            <a:spAutoFit/>
          </a:bodyPr>
          <a:lstStyle/>
          <a:p>
            <a:pPr>
              <a:lnSpc>
                <a:spcPts val="1279"/>
              </a:lnSpc>
            </a:pPr>
            <a:r>
              <a:rPr sz="1346">
                <a:latin typeface="Calibri"/>
                <a:cs typeface="Calibri"/>
              </a:rPr>
              <a:t>Outcomes</a:t>
            </a:r>
            <a:r>
              <a:rPr sz="1346" spc="-34">
                <a:latin typeface="Calibri"/>
                <a:cs typeface="Calibri"/>
              </a:rPr>
              <a:t> </a:t>
            </a:r>
            <a:r>
              <a:rPr sz="1346">
                <a:latin typeface="Calibri"/>
                <a:cs typeface="Calibri"/>
              </a:rPr>
              <a:t>Based</a:t>
            </a:r>
            <a:r>
              <a:rPr sz="1346" spc="-34">
                <a:latin typeface="Calibri"/>
                <a:cs typeface="Calibri"/>
              </a:rPr>
              <a:t> </a:t>
            </a:r>
            <a:r>
              <a:rPr sz="1346">
                <a:latin typeface="Calibri"/>
                <a:cs typeface="Calibri"/>
              </a:rPr>
              <a:t>Planning</a:t>
            </a:r>
            <a:r>
              <a:rPr sz="1346" spc="-29">
                <a:latin typeface="Calibri"/>
                <a:cs typeface="Calibri"/>
              </a:rPr>
              <a:t> </a:t>
            </a:r>
            <a:r>
              <a:rPr sz="1346" spc="-8">
                <a:latin typeface="Calibri"/>
                <a:cs typeface="Calibri"/>
              </a:rPr>
              <a:t>Process</a:t>
            </a:r>
            <a:endParaRPr sz="1346">
              <a:latin typeface="Calibri"/>
              <a:cs typeface="Calibri"/>
            </a:endParaRPr>
          </a:p>
        </p:txBody>
      </p:sp>
      <p:sp>
        <p:nvSpPr>
          <p:cNvPr id="5" name="object 5"/>
          <p:cNvSpPr/>
          <p:nvPr/>
        </p:nvSpPr>
        <p:spPr>
          <a:xfrm>
            <a:off x="196344" y="2369834"/>
            <a:ext cx="11803587" cy="2502512"/>
          </a:xfrm>
          <a:custGeom>
            <a:avLst/>
            <a:gdLst/>
            <a:ahLst/>
            <a:cxnLst/>
            <a:rect l="l" t="t" r="r" b="b"/>
            <a:pathLst>
              <a:path w="14029055" h="2974340">
                <a:moveTo>
                  <a:pt x="0" y="2973832"/>
                </a:moveTo>
                <a:lnTo>
                  <a:pt x="14028801" y="2973832"/>
                </a:lnTo>
                <a:lnTo>
                  <a:pt x="14028801" y="0"/>
                </a:lnTo>
                <a:lnTo>
                  <a:pt x="0" y="0"/>
                </a:lnTo>
                <a:lnTo>
                  <a:pt x="0" y="2973832"/>
                </a:lnTo>
                <a:close/>
              </a:path>
            </a:pathLst>
          </a:custGeom>
          <a:ln w="9525">
            <a:solidFill>
              <a:srgbClr val="000000"/>
            </a:solidFill>
          </a:ln>
        </p:spPr>
        <p:txBody>
          <a:bodyPr wrap="square" lIns="0" tIns="0" rIns="0" bIns="0" rtlCol="0"/>
          <a:lstStyle/>
          <a:p>
            <a:endParaRPr sz="1515"/>
          </a:p>
        </p:txBody>
      </p:sp>
      <p:sp>
        <p:nvSpPr>
          <p:cNvPr id="6" name="object 6"/>
          <p:cNvSpPr txBox="1"/>
          <p:nvPr/>
        </p:nvSpPr>
        <p:spPr>
          <a:xfrm>
            <a:off x="335435" y="3028181"/>
            <a:ext cx="130357" cy="1188212"/>
          </a:xfrm>
          <a:prstGeom prst="rect">
            <a:avLst/>
          </a:prstGeom>
        </p:spPr>
        <p:txBody>
          <a:bodyPr vert="vert270" wrap="square" lIns="0" tIns="0" rIns="0" bIns="0" rtlCol="0">
            <a:spAutoFit/>
          </a:bodyPr>
          <a:lstStyle/>
          <a:p>
            <a:pPr>
              <a:lnSpc>
                <a:spcPts val="959"/>
              </a:lnSpc>
            </a:pPr>
            <a:r>
              <a:rPr sz="1010">
                <a:latin typeface="Calibri"/>
                <a:cs typeface="Calibri"/>
              </a:rPr>
              <a:t>State</a:t>
            </a:r>
            <a:r>
              <a:rPr sz="1010" spc="-25">
                <a:latin typeface="Calibri"/>
                <a:cs typeface="Calibri"/>
              </a:rPr>
              <a:t> </a:t>
            </a:r>
            <a:r>
              <a:rPr sz="1010">
                <a:latin typeface="Calibri"/>
                <a:cs typeface="Calibri"/>
              </a:rPr>
              <a:t>Medicaid</a:t>
            </a:r>
            <a:r>
              <a:rPr sz="1010" spc="-21">
                <a:latin typeface="Calibri"/>
                <a:cs typeface="Calibri"/>
              </a:rPr>
              <a:t> </a:t>
            </a:r>
            <a:r>
              <a:rPr sz="1010" spc="-8">
                <a:latin typeface="Calibri"/>
                <a:cs typeface="Calibri"/>
              </a:rPr>
              <a:t>Agency</a:t>
            </a:r>
            <a:endParaRPr sz="1010">
              <a:latin typeface="Calibri"/>
              <a:cs typeface="Calibri"/>
            </a:endParaRPr>
          </a:p>
        </p:txBody>
      </p:sp>
      <p:sp>
        <p:nvSpPr>
          <p:cNvPr id="7" name="object 7"/>
          <p:cNvSpPr/>
          <p:nvPr/>
        </p:nvSpPr>
        <p:spPr>
          <a:xfrm>
            <a:off x="196344" y="2369834"/>
            <a:ext cx="11803587" cy="2502512"/>
          </a:xfrm>
          <a:custGeom>
            <a:avLst/>
            <a:gdLst/>
            <a:ahLst/>
            <a:cxnLst/>
            <a:rect l="l" t="t" r="r" b="b"/>
            <a:pathLst>
              <a:path w="14029055" h="2974340">
                <a:moveTo>
                  <a:pt x="0" y="2973832"/>
                </a:moveTo>
                <a:lnTo>
                  <a:pt x="14028801" y="2973832"/>
                </a:lnTo>
                <a:lnTo>
                  <a:pt x="14028801" y="0"/>
                </a:lnTo>
                <a:lnTo>
                  <a:pt x="0" y="0"/>
                </a:lnTo>
                <a:lnTo>
                  <a:pt x="0" y="2973832"/>
                </a:lnTo>
                <a:close/>
              </a:path>
            </a:pathLst>
          </a:custGeom>
          <a:ln w="9525">
            <a:solidFill>
              <a:srgbClr val="000000"/>
            </a:solidFill>
          </a:ln>
        </p:spPr>
        <p:txBody>
          <a:bodyPr wrap="square" lIns="0" tIns="0" rIns="0" bIns="0" rtlCol="0"/>
          <a:lstStyle/>
          <a:p>
            <a:endParaRPr sz="1515"/>
          </a:p>
        </p:txBody>
      </p:sp>
      <p:sp>
        <p:nvSpPr>
          <p:cNvPr id="8" name="object 8"/>
          <p:cNvSpPr txBox="1"/>
          <p:nvPr/>
        </p:nvSpPr>
        <p:spPr>
          <a:xfrm>
            <a:off x="335435" y="3028181"/>
            <a:ext cx="130357" cy="1188212"/>
          </a:xfrm>
          <a:prstGeom prst="rect">
            <a:avLst/>
          </a:prstGeom>
        </p:spPr>
        <p:txBody>
          <a:bodyPr vert="vert270" wrap="square" lIns="0" tIns="0" rIns="0" bIns="0" rtlCol="0">
            <a:spAutoFit/>
          </a:bodyPr>
          <a:lstStyle/>
          <a:p>
            <a:pPr>
              <a:lnSpc>
                <a:spcPts val="959"/>
              </a:lnSpc>
            </a:pPr>
            <a:r>
              <a:rPr sz="1010">
                <a:latin typeface="Calibri"/>
                <a:cs typeface="Calibri"/>
              </a:rPr>
              <a:t>State</a:t>
            </a:r>
            <a:r>
              <a:rPr sz="1010" spc="-25">
                <a:latin typeface="Calibri"/>
                <a:cs typeface="Calibri"/>
              </a:rPr>
              <a:t> </a:t>
            </a:r>
            <a:r>
              <a:rPr sz="1010">
                <a:latin typeface="Calibri"/>
                <a:cs typeface="Calibri"/>
              </a:rPr>
              <a:t>Medicaid</a:t>
            </a:r>
            <a:r>
              <a:rPr sz="1010" spc="-21">
                <a:latin typeface="Calibri"/>
                <a:cs typeface="Calibri"/>
              </a:rPr>
              <a:t> </a:t>
            </a:r>
            <a:r>
              <a:rPr sz="1010" spc="-8">
                <a:latin typeface="Calibri"/>
                <a:cs typeface="Calibri"/>
              </a:rPr>
              <a:t>Agency</a:t>
            </a:r>
            <a:endParaRPr sz="1010">
              <a:latin typeface="Calibri"/>
              <a:cs typeface="Calibri"/>
            </a:endParaRPr>
          </a:p>
        </p:txBody>
      </p:sp>
      <p:sp>
        <p:nvSpPr>
          <p:cNvPr id="55" name="object 55"/>
          <p:cNvSpPr txBox="1"/>
          <p:nvPr/>
        </p:nvSpPr>
        <p:spPr>
          <a:xfrm>
            <a:off x="11116129" y="3212988"/>
            <a:ext cx="118608" cy="80471"/>
          </a:xfrm>
          <a:prstGeom prst="rect">
            <a:avLst/>
          </a:prstGeom>
        </p:spPr>
        <p:txBody>
          <a:bodyPr vert="horz" wrap="square" lIns="0" tIns="0" rIns="0" bIns="0" rtlCol="0">
            <a:spAutoFit/>
          </a:bodyPr>
          <a:lstStyle/>
          <a:p>
            <a:pPr>
              <a:lnSpc>
                <a:spcPts val="644"/>
              </a:lnSpc>
            </a:pPr>
            <a:r>
              <a:rPr sz="673" spc="-21">
                <a:latin typeface="Calibri"/>
                <a:cs typeface="Calibri"/>
              </a:rPr>
              <a:t>Yes</a:t>
            </a:r>
            <a:endParaRPr sz="673">
              <a:latin typeface="Calibri"/>
              <a:cs typeface="Calibri"/>
            </a:endParaRPr>
          </a:p>
        </p:txBody>
      </p:sp>
      <p:sp>
        <p:nvSpPr>
          <p:cNvPr id="59" name="object 59"/>
          <p:cNvSpPr txBox="1"/>
          <p:nvPr/>
        </p:nvSpPr>
        <p:spPr>
          <a:xfrm>
            <a:off x="11125212" y="3892170"/>
            <a:ext cx="100442" cy="80471"/>
          </a:xfrm>
          <a:prstGeom prst="rect">
            <a:avLst/>
          </a:prstGeom>
        </p:spPr>
        <p:txBody>
          <a:bodyPr vert="horz" wrap="square" lIns="0" tIns="0" rIns="0" bIns="0" rtlCol="0">
            <a:spAutoFit/>
          </a:bodyPr>
          <a:lstStyle/>
          <a:p>
            <a:pPr>
              <a:lnSpc>
                <a:spcPts val="644"/>
              </a:lnSpc>
            </a:pPr>
            <a:r>
              <a:rPr sz="673" spc="-21">
                <a:latin typeface="Calibri"/>
                <a:cs typeface="Calibri"/>
              </a:rPr>
              <a:t>No</a:t>
            </a:r>
            <a:endParaRPr sz="673">
              <a:latin typeface="Calibri"/>
              <a:cs typeface="Calibri"/>
            </a:endParaRPr>
          </a:p>
        </p:txBody>
      </p:sp>
      <p:sp>
        <p:nvSpPr>
          <p:cNvPr id="61" name="object 61"/>
          <p:cNvSpPr txBox="1"/>
          <p:nvPr/>
        </p:nvSpPr>
        <p:spPr>
          <a:xfrm>
            <a:off x="10135068" y="4039840"/>
            <a:ext cx="120301" cy="77329"/>
          </a:xfrm>
          <a:prstGeom prst="rect">
            <a:avLst/>
          </a:prstGeom>
        </p:spPr>
        <p:txBody>
          <a:bodyPr vert="horz" wrap="square" lIns="0" tIns="0" rIns="0" bIns="0" rtlCol="0">
            <a:spAutoFit/>
          </a:bodyPr>
          <a:lstStyle/>
          <a:p>
            <a:pPr>
              <a:lnSpc>
                <a:spcPts val="644"/>
              </a:lnSpc>
            </a:pPr>
            <a:r>
              <a:rPr sz="673" spc="-21">
                <a:latin typeface="Arial" panose="020B0604020202020204" pitchFamily="34" charset="0"/>
                <a:cs typeface="Arial" panose="020B0604020202020204" pitchFamily="34" charset="0"/>
              </a:rPr>
              <a:t>N</a:t>
            </a:r>
            <a:r>
              <a:rPr lang="en-US" sz="673" spc="-21">
                <a:latin typeface="Arial" panose="020B0604020202020204" pitchFamily="34" charset="0"/>
                <a:cs typeface="Arial" panose="020B0604020202020204" pitchFamily="34" charset="0"/>
              </a:rPr>
              <a:t>o</a:t>
            </a:r>
            <a:endParaRPr sz="673">
              <a:latin typeface="Arial" panose="020B0604020202020204" pitchFamily="34" charset="0"/>
              <a:cs typeface="Arial" panose="020B0604020202020204" pitchFamily="34" charset="0"/>
            </a:endParaRPr>
          </a:p>
        </p:txBody>
      </p:sp>
      <p:sp>
        <p:nvSpPr>
          <p:cNvPr id="65" name="object 65"/>
          <p:cNvSpPr/>
          <p:nvPr/>
        </p:nvSpPr>
        <p:spPr>
          <a:xfrm>
            <a:off x="9856699" y="4242755"/>
            <a:ext cx="118073" cy="102579"/>
          </a:xfrm>
          <a:custGeom>
            <a:avLst/>
            <a:gdLst/>
            <a:ahLst/>
            <a:cxnLst/>
            <a:rect l="l" t="t" r="r" b="b"/>
            <a:pathLst>
              <a:path w="140334" h="121919">
                <a:moveTo>
                  <a:pt x="139801" y="0"/>
                </a:moveTo>
                <a:lnTo>
                  <a:pt x="0" y="0"/>
                </a:lnTo>
                <a:lnTo>
                  <a:pt x="0" y="121918"/>
                </a:lnTo>
                <a:lnTo>
                  <a:pt x="139801" y="121918"/>
                </a:lnTo>
                <a:lnTo>
                  <a:pt x="139801" y="0"/>
                </a:lnTo>
                <a:close/>
              </a:path>
            </a:pathLst>
          </a:custGeom>
          <a:solidFill>
            <a:srgbClr val="FFFFFF"/>
          </a:solidFill>
        </p:spPr>
        <p:txBody>
          <a:bodyPr wrap="square" lIns="0" tIns="0" rIns="0" bIns="0" rtlCol="0"/>
          <a:lstStyle/>
          <a:p>
            <a:endParaRPr sz="1515"/>
          </a:p>
        </p:txBody>
      </p:sp>
      <p:sp>
        <p:nvSpPr>
          <p:cNvPr id="66" name="object 66"/>
          <p:cNvSpPr txBox="1"/>
          <p:nvPr/>
        </p:nvSpPr>
        <p:spPr>
          <a:xfrm>
            <a:off x="9857766" y="4256282"/>
            <a:ext cx="118608" cy="80471"/>
          </a:xfrm>
          <a:prstGeom prst="rect">
            <a:avLst/>
          </a:prstGeom>
        </p:spPr>
        <p:txBody>
          <a:bodyPr vert="horz" wrap="square" lIns="0" tIns="0" rIns="0" bIns="0" rtlCol="0">
            <a:spAutoFit/>
          </a:bodyPr>
          <a:lstStyle/>
          <a:p>
            <a:pPr>
              <a:lnSpc>
                <a:spcPts val="644"/>
              </a:lnSpc>
            </a:pPr>
            <a:r>
              <a:rPr sz="673" spc="-21">
                <a:latin typeface="Calibri"/>
                <a:cs typeface="Calibri"/>
              </a:rPr>
              <a:t>Yes</a:t>
            </a:r>
            <a:endParaRPr sz="673">
              <a:latin typeface="Calibri"/>
              <a:cs typeface="Calibri"/>
            </a:endParaRPr>
          </a:p>
        </p:txBody>
      </p:sp>
      <p:sp>
        <p:nvSpPr>
          <p:cNvPr id="79" name="object 79"/>
          <p:cNvSpPr txBox="1"/>
          <p:nvPr/>
        </p:nvSpPr>
        <p:spPr>
          <a:xfrm>
            <a:off x="239010" y="2100723"/>
            <a:ext cx="2370548" cy="170560"/>
          </a:xfrm>
          <a:prstGeom prst="rect">
            <a:avLst/>
          </a:prstGeom>
        </p:spPr>
        <p:txBody>
          <a:bodyPr vert="horz" wrap="square" lIns="0" tIns="0" rIns="0" bIns="0" rtlCol="0">
            <a:spAutoFit/>
          </a:bodyPr>
          <a:lstStyle/>
          <a:p>
            <a:pPr>
              <a:lnSpc>
                <a:spcPts val="1279"/>
              </a:lnSpc>
            </a:pPr>
            <a:r>
              <a:rPr sz="1346">
                <a:latin typeface="Calibri"/>
                <a:cs typeface="Calibri"/>
              </a:rPr>
              <a:t>Outcomes</a:t>
            </a:r>
            <a:r>
              <a:rPr sz="1346" spc="-34">
                <a:latin typeface="Calibri"/>
                <a:cs typeface="Calibri"/>
              </a:rPr>
              <a:t> </a:t>
            </a:r>
            <a:r>
              <a:rPr sz="1346">
                <a:latin typeface="Calibri"/>
                <a:cs typeface="Calibri"/>
              </a:rPr>
              <a:t>Based</a:t>
            </a:r>
            <a:r>
              <a:rPr sz="1346" spc="-34">
                <a:latin typeface="Calibri"/>
                <a:cs typeface="Calibri"/>
              </a:rPr>
              <a:t> </a:t>
            </a:r>
            <a:r>
              <a:rPr sz="1346">
                <a:latin typeface="Calibri"/>
                <a:cs typeface="Calibri"/>
              </a:rPr>
              <a:t>Planning</a:t>
            </a:r>
            <a:r>
              <a:rPr sz="1346" spc="-29">
                <a:latin typeface="Calibri"/>
                <a:cs typeface="Calibri"/>
              </a:rPr>
              <a:t> </a:t>
            </a:r>
            <a:r>
              <a:rPr sz="1346" spc="-8">
                <a:latin typeface="Calibri"/>
                <a:cs typeface="Calibri"/>
              </a:rPr>
              <a:t>Process</a:t>
            </a:r>
            <a:endParaRPr sz="1346">
              <a:latin typeface="Calibri"/>
              <a:cs typeface="Calibri"/>
            </a:endParaRPr>
          </a:p>
        </p:txBody>
      </p:sp>
      <p:grpSp>
        <p:nvGrpSpPr>
          <p:cNvPr id="80" name="object 80"/>
          <p:cNvGrpSpPr/>
          <p:nvPr/>
        </p:nvGrpSpPr>
        <p:grpSpPr>
          <a:xfrm>
            <a:off x="192337" y="1981080"/>
            <a:ext cx="11811601" cy="2895199"/>
            <a:chOff x="228600" y="228536"/>
            <a:chExt cx="14038580" cy="3441065"/>
          </a:xfrm>
        </p:grpSpPr>
        <p:sp>
          <p:nvSpPr>
            <p:cNvPr id="81" name="object 81"/>
            <p:cNvSpPr/>
            <p:nvPr/>
          </p:nvSpPr>
          <p:spPr>
            <a:xfrm>
              <a:off x="233362" y="233387"/>
              <a:ext cx="14029055" cy="3431540"/>
            </a:xfrm>
            <a:custGeom>
              <a:avLst/>
              <a:gdLst/>
              <a:ahLst/>
              <a:cxnLst/>
              <a:rect l="l" t="t" r="r" b="b"/>
              <a:pathLst>
                <a:path w="14029055" h="3431540">
                  <a:moveTo>
                    <a:pt x="0" y="3431032"/>
                  </a:moveTo>
                  <a:lnTo>
                    <a:pt x="14028801" y="3431032"/>
                  </a:lnTo>
                  <a:lnTo>
                    <a:pt x="14028801" y="0"/>
                  </a:lnTo>
                  <a:lnTo>
                    <a:pt x="0" y="0"/>
                  </a:lnTo>
                  <a:lnTo>
                    <a:pt x="0" y="3431032"/>
                  </a:lnTo>
                  <a:close/>
                </a:path>
              </a:pathLst>
            </a:custGeom>
            <a:ln w="9525">
              <a:solidFill>
                <a:srgbClr val="000000"/>
              </a:solidFill>
            </a:ln>
          </p:spPr>
          <p:txBody>
            <a:bodyPr wrap="square" lIns="0" tIns="0" rIns="0" bIns="0" rtlCol="0"/>
            <a:lstStyle/>
            <a:p>
              <a:endParaRPr sz="1515"/>
            </a:p>
          </p:txBody>
        </p:sp>
        <p:sp>
          <p:nvSpPr>
            <p:cNvPr id="82" name="object 82"/>
            <p:cNvSpPr/>
            <p:nvPr/>
          </p:nvSpPr>
          <p:spPr>
            <a:xfrm>
              <a:off x="233362" y="233298"/>
              <a:ext cx="14029055" cy="457200"/>
            </a:xfrm>
            <a:custGeom>
              <a:avLst/>
              <a:gdLst/>
              <a:ahLst/>
              <a:cxnLst/>
              <a:rect l="l" t="t" r="r" b="b"/>
              <a:pathLst>
                <a:path w="14029055" h="457200">
                  <a:moveTo>
                    <a:pt x="14028801" y="0"/>
                  </a:moveTo>
                  <a:lnTo>
                    <a:pt x="0" y="0"/>
                  </a:lnTo>
                  <a:lnTo>
                    <a:pt x="0" y="457200"/>
                  </a:lnTo>
                  <a:lnTo>
                    <a:pt x="14028801" y="457200"/>
                  </a:lnTo>
                  <a:lnTo>
                    <a:pt x="14028801" y="0"/>
                  </a:lnTo>
                  <a:close/>
                </a:path>
              </a:pathLst>
            </a:custGeom>
            <a:solidFill>
              <a:srgbClr val="FFFFFF"/>
            </a:solidFill>
          </p:spPr>
          <p:txBody>
            <a:bodyPr wrap="square" lIns="0" tIns="0" rIns="0" bIns="0" rtlCol="0"/>
            <a:lstStyle/>
            <a:p>
              <a:endParaRPr sz="1515"/>
            </a:p>
          </p:txBody>
        </p:sp>
        <p:sp>
          <p:nvSpPr>
            <p:cNvPr id="83" name="object 83"/>
            <p:cNvSpPr/>
            <p:nvPr/>
          </p:nvSpPr>
          <p:spPr>
            <a:xfrm>
              <a:off x="233362" y="233298"/>
              <a:ext cx="14029055" cy="457200"/>
            </a:xfrm>
            <a:custGeom>
              <a:avLst/>
              <a:gdLst/>
              <a:ahLst/>
              <a:cxnLst/>
              <a:rect l="l" t="t" r="r" b="b"/>
              <a:pathLst>
                <a:path w="14029055" h="457200">
                  <a:moveTo>
                    <a:pt x="0" y="457200"/>
                  </a:moveTo>
                  <a:lnTo>
                    <a:pt x="14028801" y="457200"/>
                  </a:lnTo>
                  <a:lnTo>
                    <a:pt x="14028801" y="0"/>
                  </a:lnTo>
                  <a:lnTo>
                    <a:pt x="0" y="0"/>
                  </a:lnTo>
                  <a:lnTo>
                    <a:pt x="0" y="457200"/>
                  </a:lnTo>
                  <a:close/>
                </a:path>
              </a:pathLst>
            </a:custGeom>
            <a:ln w="9525">
              <a:solidFill>
                <a:srgbClr val="000000"/>
              </a:solidFill>
            </a:ln>
          </p:spPr>
          <p:txBody>
            <a:bodyPr wrap="square" lIns="0" tIns="0" rIns="0" bIns="0" rtlCol="0"/>
            <a:lstStyle/>
            <a:p>
              <a:endParaRPr sz="1515"/>
            </a:p>
          </p:txBody>
        </p:sp>
      </p:grpSp>
      <p:sp>
        <p:nvSpPr>
          <p:cNvPr id="85" name="object 85"/>
          <p:cNvSpPr/>
          <p:nvPr/>
        </p:nvSpPr>
        <p:spPr>
          <a:xfrm>
            <a:off x="196344" y="2369834"/>
            <a:ext cx="11803587" cy="2502512"/>
          </a:xfrm>
          <a:custGeom>
            <a:avLst/>
            <a:gdLst/>
            <a:ahLst/>
            <a:cxnLst/>
            <a:rect l="l" t="t" r="r" b="b"/>
            <a:pathLst>
              <a:path w="14029055" h="2974340">
                <a:moveTo>
                  <a:pt x="0" y="2973832"/>
                </a:moveTo>
                <a:lnTo>
                  <a:pt x="14028801" y="2973832"/>
                </a:lnTo>
                <a:lnTo>
                  <a:pt x="14028801" y="0"/>
                </a:lnTo>
                <a:lnTo>
                  <a:pt x="0" y="0"/>
                </a:lnTo>
                <a:lnTo>
                  <a:pt x="0" y="2973832"/>
                </a:lnTo>
                <a:close/>
              </a:path>
            </a:pathLst>
          </a:custGeom>
          <a:ln w="9525">
            <a:solidFill>
              <a:srgbClr val="000000"/>
            </a:solidFill>
          </a:ln>
        </p:spPr>
        <p:txBody>
          <a:bodyPr wrap="square" lIns="0" tIns="0" rIns="0" bIns="0" rtlCol="0"/>
          <a:lstStyle/>
          <a:p>
            <a:endParaRPr sz="1515"/>
          </a:p>
        </p:txBody>
      </p:sp>
      <p:sp>
        <p:nvSpPr>
          <p:cNvPr id="86" name="object 86"/>
          <p:cNvSpPr txBox="1"/>
          <p:nvPr/>
        </p:nvSpPr>
        <p:spPr>
          <a:xfrm>
            <a:off x="335435" y="3028181"/>
            <a:ext cx="130357" cy="1188212"/>
          </a:xfrm>
          <a:prstGeom prst="rect">
            <a:avLst/>
          </a:prstGeom>
        </p:spPr>
        <p:txBody>
          <a:bodyPr vert="vert270" wrap="square" lIns="0" tIns="0" rIns="0" bIns="0" rtlCol="0">
            <a:spAutoFit/>
          </a:bodyPr>
          <a:lstStyle/>
          <a:p>
            <a:pPr>
              <a:lnSpc>
                <a:spcPts val="959"/>
              </a:lnSpc>
            </a:pPr>
            <a:r>
              <a:rPr sz="1010">
                <a:latin typeface="Calibri"/>
                <a:cs typeface="Calibri"/>
              </a:rPr>
              <a:t>State</a:t>
            </a:r>
            <a:r>
              <a:rPr sz="1010" spc="-25">
                <a:latin typeface="Calibri"/>
                <a:cs typeface="Calibri"/>
              </a:rPr>
              <a:t> </a:t>
            </a:r>
            <a:r>
              <a:rPr sz="1010">
                <a:latin typeface="Calibri"/>
                <a:cs typeface="Calibri"/>
              </a:rPr>
              <a:t>Medicaid</a:t>
            </a:r>
            <a:r>
              <a:rPr sz="1010" spc="-21">
                <a:latin typeface="Calibri"/>
                <a:cs typeface="Calibri"/>
              </a:rPr>
              <a:t> </a:t>
            </a:r>
            <a:r>
              <a:rPr sz="1010" spc="-8">
                <a:latin typeface="Calibri"/>
                <a:cs typeface="Calibri"/>
              </a:rPr>
              <a:t>Agency</a:t>
            </a:r>
            <a:endParaRPr sz="1010">
              <a:latin typeface="Calibri"/>
              <a:cs typeface="Calibri"/>
            </a:endParaRPr>
          </a:p>
        </p:txBody>
      </p:sp>
      <p:grpSp>
        <p:nvGrpSpPr>
          <p:cNvPr id="87" name="object 87"/>
          <p:cNvGrpSpPr/>
          <p:nvPr/>
        </p:nvGrpSpPr>
        <p:grpSpPr>
          <a:xfrm>
            <a:off x="192337" y="2365828"/>
            <a:ext cx="11811601" cy="2510526"/>
            <a:chOff x="228600" y="685825"/>
            <a:chExt cx="14038580" cy="2983865"/>
          </a:xfrm>
        </p:grpSpPr>
        <p:sp>
          <p:nvSpPr>
            <p:cNvPr id="88" name="object 88"/>
            <p:cNvSpPr/>
            <p:nvPr/>
          </p:nvSpPr>
          <p:spPr>
            <a:xfrm>
              <a:off x="233362" y="690587"/>
              <a:ext cx="14029055" cy="2974340"/>
            </a:xfrm>
            <a:custGeom>
              <a:avLst/>
              <a:gdLst/>
              <a:ahLst/>
              <a:cxnLst/>
              <a:rect l="l" t="t" r="r" b="b"/>
              <a:pathLst>
                <a:path w="14029055" h="2974340">
                  <a:moveTo>
                    <a:pt x="0" y="2973832"/>
                  </a:moveTo>
                  <a:lnTo>
                    <a:pt x="14028801" y="2973832"/>
                  </a:lnTo>
                  <a:lnTo>
                    <a:pt x="14028801" y="0"/>
                  </a:lnTo>
                  <a:lnTo>
                    <a:pt x="0" y="0"/>
                  </a:lnTo>
                  <a:lnTo>
                    <a:pt x="0" y="2973832"/>
                  </a:lnTo>
                  <a:close/>
                </a:path>
              </a:pathLst>
            </a:custGeom>
            <a:ln w="9525">
              <a:solidFill>
                <a:srgbClr val="000000"/>
              </a:solidFill>
            </a:ln>
          </p:spPr>
          <p:txBody>
            <a:bodyPr wrap="square" lIns="0" tIns="0" rIns="0" bIns="0" rtlCol="0"/>
            <a:lstStyle/>
            <a:p>
              <a:endParaRPr sz="1515"/>
            </a:p>
          </p:txBody>
        </p:sp>
        <p:sp>
          <p:nvSpPr>
            <p:cNvPr id="89" name="object 89"/>
            <p:cNvSpPr/>
            <p:nvPr/>
          </p:nvSpPr>
          <p:spPr>
            <a:xfrm>
              <a:off x="233362" y="690587"/>
              <a:ext cx="467995" cy="2974340"/>
            </a:xfrm>
            <a:custGeom>
              <a:avLst/>
              <a:gdLst/>
              <a:ahLst/>
              <a:cxnLst/>
              <a:rect l="l" t="t" r="r" b="b"/>
              <a:pathLst>
                <a:path w="467995" h="2974340">
                  <a:moveTo>
                    <a:pt x="467436" y="0"/>
                  </a:moveTo>
                  <a:lnTo>
                    <a:pt x="0" y="0"/>
                  </a:lnTo>
                  <a:lnTo>
                    <a:pt x="0" y="2973832"/>
                  </a:lnTo>
                  <a:lnTo>
                    <a:pt x="467436" y="2973832"/>
                  </a:lnTo>
                  <a:lnTo>
                    <a:pt x="467436" y="0"/>
                  </a:lnTo>
                  <a:close/>
                </a:path>
              </a:pathLst>
            </a:custGeom>
            <a:solidFill>
              <a:srgbClr val="FFFFFF"/>
            </a:solidFill>
          </p:spPr>
          <p:txBody>
            <a:bodyPr wrap="square" lIns="0" tIns="0" rIns="0" bIns="0" rtlCol="0"/>
            <a:lstStyle/>
            <a:p>
              <a:endParaRPr sz="1515"/>
            </a:p>
          </p:txBody>
        </p:sp>
        <p:sp>
          <p:nvSpPr>
            <p:cNvPr id="90" name="object 90"/>
            <p:cNvSpPr/>
            <p:nvPr/>
          </p:nvSpPr>
          <p:spPr>
            <a:xfrm>
              <a:off x="233362" y="690587"/>
              <a:ext cx="467995" cy="2974340"/>
            </a:xfrm>
            <a:custGeom>
              <a:avLst/>
              <a:gdLst/>
              <a:ahLst/>
              <a:cxnLst/>
              <a:rect l="l" t="t" r="r" b="b"/>
              <a:pathLst>
                <a:path w="467995" h="2974340">
                  <a:moveTo>
                    <a:pt x="0" y="2973832"/>
                  </a:moveTo>
                  <a:lnTo>
                    <a:pt x="467436" y="2973832"/>
                  </a:lnTo>
                  <a:lnTo>
                    <a:pt x="467436" y="0"/>
                  </a:lnTo>
                  <a:lnTo>
                    <a:pt x="0" y="0"/>
                  </a:lnTo>
                  <a:lnTo>
                    <a:pt x="0" y="2973832"/>
                  </a:lnTo>
                  <a:close/>
                </a:path>
              </a:pathLst>
            </a:custGeom>
            <a:ln w="9525">
              <a:solidFill>
                <a:srgbClr val="000000"/>
              </a:solidFill>
            </a:ln>
          </p:spPr>
          <p:txBody>
            <a:bodyPr wrap="square" lIns="0" tIns="0" rIns="0" bIns="0" rtlCol="0"/>
            <a:lstStyle/>
            <a:p>
              <a:endParaRPr sz="1515"/>
            </a:p>
          </p:txBody>
        </p:sp>
      </p:grpSp>
      <p:sp>
        <p:nvSpPr>
          <p:cNvPr id="91" name="object 91"/>
          <p:cNvSpPr txBox="1"/>
          <p:nvPr/>
        </p:nvSpPr>
        <p:spPr>
          <a:xfrm>
            <a:off x="320713" y="2943723"/>
            <a:ext cx="155427" cy="1384823"/>
          </a:xfrm>
          <a:prstGeom prst="rect">
            <a:avLst/>
          </a:prstGeom>
        </p:spPr>
        <p:txBody>
          <a:bodyPr vert="vert270" wrap="square" lIns="0" tIns="0" rIns="0" bIns="0" rtlCol="0">
            <a:spAutoFit/>
          </a:bodyPr>
          <a:lstStyle/>
          <a:p>
            <a:pPr marL="10686"/>
            <a:r>
              <a:rPr sz="1010">
                <a:latin typeface="Arial" panose="020B0604020202020204" pitchFamily="34" charset="0"/>
                <a:cs typeface="Arial" panose="020B0604020202020204" pitchFamily="34" charset="0"/>
              </a:rPr>
              <a:t>State</a:t>
            </a:r>
            <a:r>
              <a:rPr sz="1010" spc="-25">
                <a:latin typeface="Calibri"/>
                <a:cs typeface="Calibri"/>
              </a:rPr>
              <a:t> </a:t>
            </a:r>
            <a:r>
              <a:rPr sz="1010">
                <a:latin typeface="Arial" panose="020B0604020202020204" pitchFamily="34" charset="0"/>
                <a:cs typeface="Arial" panose="020B0604020202020204" pitchFamily="34" charset="0"/>
              </a:rPr>
              <a:t>Medicaid</a:t>
            </a:r>
            <a:r>
              <a:rPr sz="1010" spc="-21">
                <a:latin typeface="Calibri"/>
                <a:cs typeface="Calibri"/>
              </a:rPr>
              <a:t> </a:t>
            </a:r>
            <a:r>
              <a:rPr sz="1010" spc="-8">
                <a:latin typeface="Calibri"/>
                <a:cs typeface="Calibri"/>
              </a:rPr>
              <a:t>Agency</a:t>
            </a:r>
            <a:endParaRPr sz="1010">
              <a:latin typeface="Calibri"/>
              <a:cs typeface="Calibri"/>
            </a:endParaRPr>
          </a:p>
        </p:txBody>
      </p:sp>
      <p:sp>
        <p:nvSpPr>
          <p:cNvPr id="93" name="object 93"/>
          <p:cNvSpPr/>
          <p:nvPr/>
        </p:nvSpPr>
        <p:spPr>
          <a:xfrm>
            <a:off x="196344" y="2369759"/>
            <a:ext cx="11803587" cy="0"/>
          </a:xfrm>
          <a:custGeom>
            <a:avLst/>
            <a:gdLst/>
            <a:ahLst/>
            <a:cxnLst/>
            <a:rect l="l" t="t" r="r" b="b"/>
            <a:pathLst>
              <a:path w="14029055">
                <a:moveTo>
                  <a:pt x="0" y="0"/>
                </a:moveTo>
                <a:lnTo>
                  <a:pt x="14028864" y="0"/>
                </a:lnTo>
                <a:lnTo>
                  <a:pt x="0" y="0"/>
                </a:lnTo>
                <a:close/>
              </a:path>
            </a:pathLst>
          </a:custGeom>
          <a:ln w="9525">
            <a:solidFill>
              <a:srgbClr val="000000"/>
            </a:solidFill>
          </a:ln>
        </p:spPr>
        <p:txBody>
          <a:bodyPr wrap="square" lIns="0" tIns="0" rIns="0" bIns="0" rtlCol="0"/>
          <a:lstStyle/>
          <a:p>
            <a:endParaRPr sz="1515"/>
          </a:p>
        </p:txBody>
      </p:sp>
      <p:sp>
        <p:nvSpPr>
          <p:cNvPr id="96" name="object 96"/>
          <p:cNvSpPr txBox="1"/>
          <p:nvPr/>
        </p:nvSpPr>
        <p:spPr>
          <a:xfrm>
            <a:off x="1035025" y="3743578"/>
            <a:ext cx="201953" cy="114344"/>
          </a:xfrm>
          <a:prstGeom prst="rect">
            <a:avLst/>
          </a:prstGeom>
        </p:spPr>
        <p:txBody>
          <a:bodyPr vert="horz" wrap="square" lIns="0" tIns="10685" rIns="0" bIns="0" rtlCol="0">
            <a:spAutoFit/>
          </a:bodyPr>
          <a:lstStyle/>
          <a:p>
            <a:pPr marL="10686">
              <a:spcBef>
                <a:spcPts val="84"/>
              </a:spcBef>
            </a:pPr>
            <a:r>
              <a:rPr sz="673" spc="-8">
                <a:latin typeface="Arial"/>
                <a:cs typeface="Arial"/>
              </a:rPr>
              <a:t>Start</a:t>
            </a:r>
            <a:endParaRPr sz="673">
              <a:latin typeface="Arial"/>
              <a:cs typeface="Arial"/>
            </a:endParaRPr>
          </a:p>
        </p:txBody>
      </p:sp>
      <p:sp>
        <p:nvSpPr>
          <p:cNvPr id="162" name="object 162"/>
          <p:cNvSpPr/>
          <p:nvPr/>
        </p:nvSpPr>
        <p:spPr>
          <a:xfrm>
            <a:off x="11116398" y="3199952"/>
            <a:ext cx="118073" cy="102579"/>
          </a:xfrm>
          <a:custGeom>
            <a:avLst/>
            <a:gdLst/>
            <a:ahLst/>
            <a:cxnLst/>
            <a:rect l="l" t="t" r="r" b="b"/>
            <a:pathLst>
              <a:path w="140334" h="121919">
                <a:moveTo>
                  <a:pt x="139801" y="0"/>
                </a:moveTo>
                <a:lnTo>
                  <a:pt x="0" y="0"/>
                </a:lnTo>
                <a:lnTo>
                  <a:pt x="0" y="121918"/>
                </a:lnTo>
                <a:lnTo>
                  <a:pt x="139801" y="121918"/>
                </a:lnTo>
                <a:lnTo>
                  <a:pt x="139801" y="0"/>
                </a:lnTo>
                <a:close/>
              </a:path>
            </a:pathLst>
          </a:custGeom>
          <a:solidFill>
            <a:srgbClr val="FFFFFF"/>
          </a:solidFill>
        </p:spPr>
        <p:txBody>
          <a:bodyPr wrap="square" lIns="0" tIns="0" rIns="0" bIns="0" rtlCol="0"/>
          <a:lstStyle/>
          <a:p>
            <a:endParaRPr sz="1515"/>
          </a:p>
        </p:txBody>
      </p:sp>
      <p:sp>
        <p:nvSpPr>
          <p:cNvPr id="163" name="object 163"/>
          <p:cNvSpPr txBox="1"/>
          <p:nvPr/>
        </p:nvSpPr>
        <p:spPr>
          <a:xfrm>
            <a:off x="11083015" y="3229146"/>
            <a:ext cx="154970" cy="114344"/>
          </a:xfrm>
          <a:prstGeom prst="rect">
            <a:avLst/>
          </a:prstGeom>
        </p:spPr>
        <p:txBody>
          <a:bodyPr vert="horz" wrap="square" lIns="0" tIns="10685" rIns="0" bIns="0" rtlCol="0">
            <a:spAutoFit/>
          </a:bodyPr>
          <a:lstStyle/>
          <a:p>
            <a:pPr marL="10686">
              <a:spcBef>
                <a:spcPts val="84"/>
              </a:spcBef>
            </a:pPr>
            <a:r>
              <a:rPr sz="673" spc="-21">
                <a:latin typeface="Arial" panose="020B0604020202020204" pitchFamily="34" charset="0"/>
                <a:cs typeface="Arial" panose="020B0604020202020204" pitchFamily="34" charset="0"/>
              </a:rPr>
              <a:t>Yes</a:t>
            </a:r>
            <a:endParaRPr sz="673">
              <a:latin typeface="Arial" panose="020B0604020202020204" pitchFamily="34" charset="0"/>
              <a:cs typeface="Arial" panose="020B0604020202020204" pitchFamily="34" charset="0"/>
            </a:endParaRPr>
          </a:p>
        </p:txBody>
      </p:sp>
      <p:sp>
        <p:nvSpPr>
          <p:cNvPr id="167" name="object 167"/>
          <p:cNvSpPr/>
          <p:nvPr/>
        </p:nvSpPr>
        <p:spPr>
          <a:xfrm>
            <a:off x="11125212" y="3879114"/>
            <a:ext cx="100442" cy="102579"/>
          </a:xfrm>
          <a:custGeom>
            <a:avLst/>
            <a:gdLst/>
            <a:ahLst/>
            <a:cxnLst/>
            <a:rect l="l" t="t" r="r" b="b"/>
            <a:pathLst>
              <a:path w="119380" h="121919">
                <a:moveTo>
                  <a:pt x="119162" y="0"/>
                </a:moveTo>
                <a:lnTo>
                  <a:pt x="0" y="0"/>
                </a:lnTo>
                <a:lnTo>
                  <a:pt x="0" y="121918"/>
                </a:lnTo>
                <a:lnTo>
                  <a:pt x="119162" y="121918"/>
                </a:lnTo>
                <a:lnTo>
                  <a:pt x="119162" y="0"/>
                </a:lnTo>
                <a:close/>
              </a:path>
            </a:pathLst>
          </a:custGeom>
          <a:solidFill>
            <a:srgbClr val="FFFFFF"/>
          </a:solidFill>
        </p:spPr>
        <p:txBody>
          <a:bodyPr wrap="square" lIns="0" tIns="0" rIns="0" bIns="0" rtlCol="0"/>
          <a:lstStyle/>
          <a:p>
            <a:endParaRPr sz="1515"/>
          </a:p>
        </p:txBody>
      </p:sp>
      <p:sp>
        <p:nvSpPr>
          <p:cNvPr id="168" name="object 168"/>
          <p:cNvSpPr txBox="1"/>
          <p:nvPr/>
        </p:nvSpPr>
        <p:spPr>
          <a:xfrm>
            <a:off x="11099593" y="3891099"/>
            <a:ext cx="121813" cy="114884"/>
          </a:xfrm>
          <a:prstGeom prst="rect">
            <a:avLst/>
          </a:prstGeom>
        </p:spPr>
        <p:txBody>
          <a:bodyPr vert="horz" wrap="square" lIns="0" tIns="11220" rIns="0" bIns="0" rtlCol="0">
            <a:spAutoFit/>
          </a:bodyPr>
          <a:lstStyle/>
          <a:p>
            <a:pPr marL="10686">
              <a:spcBef>
                <a:spcPts val="88"/>
              </a:spcBef>
            </a:pPr>
            <a:r>
              <a:rPr sz="673" spc="-21">
                <a:latin typeface="Arial" panose="020B0604020202020204" pitchFamily="34" charset="0"/>
                <a:cs typeface="Arial" panose="020B0604020202020204" pitchFamily="34" charset="0"/>
              </a:rPr>
              <a:t>No</a:t>
            </a:r>
            <a:endParaRPr sz="673">
              <a:latin typeface="Arial" panose="020B0604020202020204" pitchFamily="34" charset="0"/>
              <a:cs typeface="Arial" panose="020B0604020202020204" pitchFamily="34" charset="0"/>
            </a:endParaRPr>
          </a:p>
        </p:txBody>
      </p:sp>
      <p:sp>
        <p:nvSpPr>
          <p:cNvPr id="174" name="object 174"/>
          <p:cNvSpPr/>
          <p:nvPr/>
        </p:nvSpPr>
        <p:spPr>
          <a:xfrm>
            <a:off x="9856699" y="4242755"/>
            <a:ext cx="118073" cy="102579"/>
          </a:xfrm>
          <a:custGeom>
            <a:avLst/>
            <a:gdLst/>
            <a:ahLst/>
            <a:cxnLst/>
            <a:rect l="l" t="t" r="r" b="b"/>
            <a:pathLst>
              <a:path w="140334" h="121919">
                <a:moveTo>
                  <a:pt x="139801" y="0"/>
                </a:moveTo>
                <a:lnTo>
                  <a:pt x="0" y="0"/>
                </a:lnTo>
                <a:lnTo>
                  <a:pt x="0" y="121918"/>
                </a:lnTo>
                <a:lnTo>
                  <a:pt x="139801" y="121918"/>
                </a:lnTo>
                <a:lnTo>
                  <a:pt x="139801" y="0"/>
                </a:lnTo>
                <a:close/>
              </a:path>
            </a:pathLst>
          </a:custGeom>
          <a:solidFill>
            <a:srgbClr val="FFFFFF"/>
          </a:solidFill>
        </p:spPr>
        <p:txBody>
          <a:bodyPr wrap="square" lIns="0" tIns="0" rIns="0" bIns="0" rtlCol="0"/>
          <a:lstStyle/>
          <a:p>
            <a:endParaRPr sz="1515"/>
          </a:p>
        </p:txBody>
      </p:sp>
      <p:sp>
        <p:nvSpPr>
          <p:cNvPr id="175" name="object 175"/>
          <p:cNvSpPr txBox="1"/>
          <p:nvPr/>
        </p:nvSpPr>
        <p:spPr>
          <a:xfrm>
            <a:off x="9797930" y="4234909"/>
            <a:ext cx="189130" cy="114344"/>
          </a:xfrm>
          <a:prstGeom prst="rect">
            <a:avLst/>
          </a:prstGeom>
        </p:spPr>
        <p:txBody>
          <a:bodyPr vert="horz" wrap="square" lIns="0" tIns="10685" rIns="0" bIns="0" rtlCol="0">
            <a:spAutoFit/>
          </a:bodyPr>
          <a:lstStyle/>
          <a:p>
            <a:pPr marL="10686">
              <a:spcBef>
                <a:spcPts val="84"/>
              </a:spcBef>
            </a:pPr>
            <a:r>
              <a:rPr sz="673" spc="-21">
                <a:latin typeface="Arial" panose="020B0604020202020204" pitchFamily="34" charset="0"/>
                <a:cs typeface="Arial" panose="020B0604020202020204" pitchFamily="34" charset="0"/>
              </a:rPr>
              <a:t>Yes</a:t>
            </a:r>
            <a:endParaRPr sz="673">
              <a:latin typeface="Arial" panose="020B0604020202020204" pitchFamily="34" charset="0"/>
              <a:cs typeface="Arial" panose="020B0604020202020204" pitchFamily="34" charset="0"/>
            </a:endParaRPr>
          </a:p>
        </p:txBody>
      </p:sp>
      <p:cxnSp>
        <p:nvCxnSpPr>
          <p:cNvPr id="193" name="Straight Arrow Connector 192">
            <a:extLst>
              <a:ext uri="{FF2B5EF4-FFF2-40B4-BE49-F238E27FC236}">
                <a16:creationId xmlns:a16="http://schemas.microsoft.com/office/drawing/2014/main" id="{66F1D887-09AA-0551-4C25-7685B732F6A9}"/>
              </a:ext>
            </a:extLst>
          </p:cNvPr>
          <p:cNvCxnSpPr>
            <a:cxnSpLocks/>
            <a:stCxn id="200" idx="3"/>
            <a:endCxn id="265" idx="1"/>
          </p:cNvCxnSpPr>
          <p:nvPr/>
        </p:nvCxnSpPr>
        <p:spPr>
          <a:xfrm flipV="1">
            <a:off x="10692823" y="3621336"/>
            <a:ext cx="216359" cy="1523"/>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5" name="Connector: Elbow 194">
            <a:extLst>
              <a:ext uri="{FF2B5EF4-FFF2-40B4-BE49-F238E27FC236}">
                <a16:creationId xmlns:a16="http://schemas.microsoft.com/office/drawing/2014/main" id="{A77D9A1E-0A6A-96F0-04A0-285A45AB0C80}"/>
              </a:ext>
            </a:extLst>
          </p:cNvPr>
          <p:cNvCxnSpPr>
            <a:cxnSpLocks/>
            <a:stCxn id="265" idx="0"/>
            <a:endCxn id="17" idx="3"/>
          </p:cNvCxnSpPr>
          <p:nvPr/>
        </p:nvCxnSpPr>
        <p:spPr>
          <a:xfrm rot="16200000" flipV="1">
            <a:off x="8642194" y="681171"/>
            <a:ext cx="479897" cy="482342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0" name="Rectangle: Rounded Corners 199">
            <a:extLst>
              <a:ext uri="{FF2B5EF4-FFF2-40B4-BE49-F238E27FC236}">
                <a16:creationId xmlns:a16="http://schemas.microsoft.com/office/drawing/2014/main" id="{99D5ECB3-6367-EAF8-80EA-27F76DF477A7}"/>
              </a:ext>
            </a:extLst>
          </p:cNvPr>
          <p:cNvSpPr/>
          <p:nvPr/>
        </p:nvSpPr>
        <p:spPr>
          <a:xfrm>
            <a:off x="9923476" y="3334354"/>
            <a:ext cx="769346" cy="577010"/>
          </a:xfrm>
          <a:prstGeom prst="roundRect">
            <a:avLst/>
          </a:prstGeom>
          <a:solidFill>
            <a:srgbClr val="B7DDE8"/>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Periodically track progress towards success</a:t>
            </a:r>
          </a:p>
        </p:txBody>
      </p:sp>
      <p:cxnSp>
        <p:nvCxnSpPr>
          <p:cNvPr id="211" name="Straight Arrow Connector 210">
            <a:extLst>
              <a:ext uri="{FF2B5EF4-FFF2-40B4-BE49-F238E27FC236}">
                <a16:creationId xmlns:a16="http://schemas.microsoft.com/office/drawing/2014/main" id="{9BFCA13D-D567-932A-7674-0DB1086E2ED0}"/>
              </a:ext>
            </a:extLst>
          </p:cNvPr>
          <p:cNvCxnSpPr>
            <a:cxnSpLocks/>
            <a:stCxn id="30" idx="1"/>
            <a:endCxn id="41" idx="3"/>
          </p:cNvCxnSpPr>
          <p:nvPr/>
        </p:nvCxnSpPr>
        <p:spPr>
          <a:xfrm flipH="1" flipV="1">
            <a:off x="6470429" y="4389009"/>
            <a:ext cx="3453047" cy="5444"/>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4" name="Connector: Elbow 233">
            <a:extLst>
              <a:ext uri="{FF2B5EF4-FFF2-40B4-BE49-F238E27FC236}">
                <a16:creationId xmlns:a16="http://schemas.microsoft.com/office/drawing/2014/main" id="{3C4927CF-EA50-D96C-51D8-3AAEB4EB9591}"/>
              </a:ext>
            </a:extLst>
          </p:cNvPr>
          <p:cNvCxnSpPr>
            <a:cxnSpLocks/>
            <a:stCxn id="240" idx="0"/>
            <a:endCxn id="17" idx="1"/>
          </p:cNvCxnSpPr>
          <p:nvPr/>
        </p:nvCxnSpPr>
        <p:spPr>
          <a:xfrm rot="5400000" flipH="1" flipV="1">
            <a:off x="3557061" y="1164852"/>
            <a:ext cx="455939" cy="3832106"/>
          </a:xfrm>
          <a:prstGeom prst="bentConnector2">
            <a:avLst/>
          </a:prstGeom>
          <a:ln w="9525">
            <a:solidFill>
              <a:srgbClr val="000000"/>
            </a:solidFill>
            <a:headEnd type="triangle" w="med" len="med"/>
            <a:tailEnd type="none" w="med" len="med"/>
          </a:ln>
        </p:spPr>
      </p:cxnSp>
      <p:sp>
        <p:nvSpPr>
          <p:cNvPr id="240" name="Rectangle: Rounded Corners 239">
            <a:extLst>
              <a:ext uri="{FF2B5EF4-FFF2-40B4-BE49-F238E27FC236}">
                <a16:creationId xmlns:a16="http://schemas.microsoft.com/office/drawing/2014/main" id="{0F187236-E0C2-6192-9102-B9DA765218B2}"/>
              </a:ext>
            </a:extLst>
          </p:cNvPr>
          <p:cNvSpPr/>
          <p:nvPr/>
        </p:nvSpPr>
        <p:spPr>
          <a:xfrm>
            <a:off x="1484304" y="3308874"/>
            <a:ext cx="769346" cy="577010"/>
          </a:xfrm>
          <a:prstGeom prst="roundRect">
            <a:avLst/>
          </a:prstGeom>
          <a:solidFill>
            <a:srgbClr val="00B0F0"/>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Identify goals</a:t>
            </a:r>
          </a:p>
        </p:txBody>
      </p:sp>
      <p:cxnSp>
        <p:nvCxnSpPr>
          <p:cNvPr id="244" name="Straight Arrow Connector 243">
            <a:extLst>
              <a:ext uri="{FF2B5EF4-FFF2-40B4-BE49-F238E27FC236}">
                <a16:creationId xmlns:a16="http://schemas.microsoft.com/office/drawing/2014/main" id="{C868BF8E-FACF-0CF7-5BB6-2639924919A0}"/>
              </a:ext>
            </a:extLst>
          </p:cNvPr>
          <p:cNvCxnSpPr>
            <a:cxnSpLocks/>
            <a:stCxn id="246" idx="6"/>
            <a:endCxn id="240" idx="1"/>
          </p:cNvCxnSpPr>
          <p:nvPr/>
        </p:nvCxnSpPr>
        <p:spPr>
          <a:xfrm>
            <a:off x="1251403" y="3591893"/>
            <a:ext cx="232901" cy="5486"/>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6" name="Oval 245">
            <a:extLst>
              <a:ext uri="{FF2B5EF4-FFF2-40B4-BE49-F238E27FC236}">
                <a16:creationId xmlns:a16="http://schemas.microsoft.com/office/drawing/2014/main" id="{121E8F0D-F34F-1C8B-D468-6DD3A87ED1BE}"/>
              </a:ext>
            </a:extLst>
          </p:cNvPr>
          <p:cNvSpPr>
            <a:spLocks noChangeAspect="1"/>
          </p:cNvSpPr>
          <p:nvPr/>
        </p:nvSpPr>
        <p:spPr>
          <a:xfrm>
            <a:off x="1020599" y="3477084"/>
            <a:ext cx="230804" cy="229618"/>
          </a:xfrm>
          <a:prstGeom prst="ellipse">
            <a:avLst/>
          </a:prstGeom>
          <a:solidFill>
            <a:srgbClr val="9DBA6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15"/>
          </a:p>
        </p:txBody>
      </p:sp>
      <p:cxnSp>
        <p:nvCxnSpPr>
          <p:cNvPr id="253" name="Straight Connector 252">
            <a:extLst>
              <a:ext uri="{FF2B5EF4-FFF2-40B4-BE49-F238E27FC236}">
                <a16:creationId xmlns:a16="http://schemas.microsoft.com/office/drawing/2014/main" id="{79C2C269-6216-D901-B54B-981FF956EFEA}"/>
              </a:ext>
            </a:extLst>
          </p:cNvPr>
          <p:cNvCxnSpPr/>
          <p:nvPr/>
        </p:nvCxnSpPr>
        <p:spPr>
          <a:xfrm>
            <a:off x="854356" y="4695047"/>
            <a:ext cx="561454" cy="0"/>
          </a:xfrm>
          <a:prstGeom prst="line">
            <a:avLst/>
          </a:prstGeom>
          <a:ln w="19050">
            <a:solidFill>
              <a:srgbClr val="0066FF"/>
            </a:solidFill>
            <a:prstDash val="dash"/>
          </a:ln>
        </p:spPr>
        <p:style>
          <a:lnRef idx="1">
            <a:schemeClr val="accent1"/>
          </a:lnRef>
          <a:fillRef idx="0">
            <a:schemeClr val="accent1"/>
          </a:fillRef>
          <a:effectRef idx="0">
            <a:schemeClr val="accent1"/>
          </a:effectRef>
          <a:fontRef idx="minor">
            <a:schemeClr val="tx1"/>
          </a:fontRef>
        </p:style>
      </p:cxnSp>
      <p:sp>
        <p:nvSpPr>
          <p:cNvPr id="254" name="TextBox 253">
            <a:extLst>
              <a:ext uri="{FF2B5EF4-FFF2-40B4-BE49-F238E27FC236}">
                <a16:creationId xmlns:a16="http://schemas.microsoft.com/office/drawing/2014/main" id="{0D1C4C8E-E283-DA31-19F7-2442859052DD}"/>
              </a:ext>
            </a:extLst>
          </p:cNvPr>
          <p:cNvSpPr txBox="1"/>
          <p:nvPr/>
        </p:nvSpPr>
        <p:spPr>
          <a:xfrm>
            <a:off x="1424283" y="4583020"/>
            <a:ext cx="1744388" cy="221727"/>
          </a:xfrm>
          <a:prstGeom prst="rect">
            <a:avLst/>
          </a:prstGeom>
          <a:noFill/>
        </p:spPr>
        <p:txBody>
          <a:bodyPr wrap="none" rtlCol="0">
            <a:spAutoFit/>
          </a:bodyPr>
          <a:lstStyle/>
          <a:p>
            <a:r>
              <a:rPr lang="en-US" sz="841">
                <a:latin typeface="Arial" panose="020B0604020202020204" pitchFamily="34" charset="0"/>
                <a:cs typeface="Arial" panose="020B0604020202020204" pitchFamily="34" charset="0"/>
              </a:rPr>
              <a:t>Step not required in all instances</a:t>
            </a:r>
          </a:p>
        </p:txBody>
      </p:sp>
      <p:cxnSp>
        <p:nvCxnSpPr>
          <p:cNvPr id="256" name="Connector: Elbow 255">
            <a:extLst>
              <a:ext uri="{FF2B5EF4-FFF2-40B4-BE49-F238E27FC236}">
                <a16:creationId xmlns:a16="http://schemas.microsoft.com/office/drawing/2014/main" id="{A20D4883-4791-9307-3B75-A4C6007D5C3A}"/>
              </a:ext>
            </a:extLst>
          </p:cNvPr>
          <p:cNvCxnSpPr>
            <a:cxnSpLocks/>
            <a:stCxn id="41" idx="1"/>
            <a:endCxn id="240" idx="2"/>
          </p:cNvCxnSpPr>
          <p:nvPr/>
        </p:nvCxnSpPr>
        <p:spPr>
          <a:xfrm rot="10800000">
            <a:off x="1868977" y="3885883"/>
            <a:ext cx="3832106" cy="503126"/>
          </a:xfrm>
          <a:prstGeom prst="bentConnector2">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1" name="Connector: Elbow 260">
            <a:extLst>
              <a:ext uri="{FF2B5EF4-FFF2-40B4-BE49-F238E27FC236}">
                <a16:creationId xmlns:a16="http://schemas.microsoft.com/office/drawing/2014/main" id="{2FB68D98-BD1B-332E-682C-0CCDDE39CADF}"/>
              </a:ext>
            </a:extLst>
          </p:cNvPr>
          <p:cNvCxnSpPr>
            <a:cxnSpLocks/>
            <a:stCxn id="265" idx="2"/>
            <a:endCxn id="30" idx="3"/>
          </p:cNvCxnSpPr>
          <p:nvPr/>
        </p:nvCxnSpPr>
        <p:spPr>
          <a:xfrm rot="5400000">
            <a:off x="10751033" y="3851631"/>
            <a:ext cx="484612" cy="601032"/>
          </a:xfrm>
          <a:prstGeom prst="bentConnector2">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22" name="Group 121">
            <a:extLst>
              <a:ext uri="{FF2B5EF4-FFF2-40B4-BE49-F238E27FC236}">
                <a16:creationId xmlns:a16="http://schemas.microsoft.com/office/drawing/2014/main" id="{72275002-D6EF-2A9D-06AB-4719C152A460}"/>
              </a:ext>
            </a:extLst>
          </p:cNvPr>
          <p:cNvGrpSpPr/>
          <p:nvPr/>
        </p:nvGrpSpPr>
        <p:grpSpPr>
          <a:xfrm>
            <a:off x="10909182" y="3332832"/>
            <a:ext cx="769346" cy="577010"/>
            <a:chOff x="12966017" y="1835150"/>
            <a:chExt cx="914400" cy="685800"/>
          </a:xfrm>
        </p:grpSpPr>
        <p:sp>
          <p:nvSpPr>
            <p:cNvPr id="265" name="Diamond 264">
              <a:extLst>
                <a:ext uri="{FF2B5EF4-FFF2-40B4-BE49-F238E27FC236}">
                  <a16:creationId xmlns:a16="http://schemas.microsoft.com/office/drawing/2014/main" id="{1A274CA9-A38D-BB78-A231-D97A6ED03AA2}"/>
                </a:ext>
              </a:extLst>
            </p:cNvPr>
            <p:cNvSpPr/>
            <p:nvPr/>
          </p:nvSpPr>
          <p:spPr>
            <a:xfrm>
              <a:off x="12966017" y="1835150"/>
              <a:ext cx="914400" cy="685800"/>
            </a:xfrm>
            <a:prstGeom prst="diamond">
              <a:avLst/>
            </a:prstGeom>
            <a:solidFill>
              <a:srgbClr val="FDE499"/>
            </a:solidFill>
            <a:ln>
              <a:solidFill>
                <a:schemeClr val="tx1">
                  <a:lumMod val="85000"/>
                  <a:lumOff val="15000"/>
                </a:schemeClr>
              </a:solidFill>
            </a:ln>
          </p:spPr>
          <p:txBody>
            <a:bodyPr wrap="square" lIns="0" tIns="0" rIns="0" bIns="0" rtlCol="0"/>
            <a:lstStyle/>
            <a:p>
              <a:endParaRPr lang="en-US" sz="1515"/>
            </a:p>
          </p:txBody>
        </p:sp>
        <p:sp>
          <p:nvSpPr>
            <p:cNvPr id="144" name="object 144"/>
            <p:cNvSpPr txBox="1"/>
            <p:nvPr/>
          </p:nvSpPr>
          <p:spPr>
            <a:xfrm>
              <a:off x="13171479" y="1964809"/>
              <a:ext cx="519295" cy="369235"/>
            </a:xfrm>
            <a:prstGeom prst="rect">
              <a:avLst/>
            </a:prstGeom>
          </p:spPr>
          <p:txBody>
            <a:bodyPr vert="horz" wrap="square" lIns="0" tIns="0" rIns="0" bIns="0" rtlCol="0">
              <a:spAutoFit/>
            </a:bodyPr>
            <a:lstStyle/>
            <a:p>
              <a:pPr marR="4274" algn="ctr">
                <a:spcBef>
                  <a:spcPts val="84"/>
                </a:spcBef>
              </a:pPr>
              <a:r>
                <a:rPr sz="673">
                  <a:latin typeface="Arial"/>
                  <a:cs typeface="Arial"/>
                </a:rPr>
                <a:t>Was</a:t>
              </a:r>
              <a:r>
                <a:rPr lang="en-US" sz="673">
                  <a:latin typeface="Arial"/>
                  <a:cs typeface="Arial"/>
                </a:rPr>
                <a:t> </a:t>
              </a:r>
              <a:r>
                <a:rPr sz="673" spc="-13">
                  <a:latin typeface="Arial"/>
                  <a:cs typeface="Arial"/>
                </a:rPr>
                <a:t> </a:t>
              </a:r>
              <a:r>
                <a:rPr lang="en-US" sz="673" spc="-8">
                  <a:latin typeface="Arial"/>
                  <a:cs typeface="Arial"/>
                </a:rPr>
                <a:t>s</a:t>
              </a:r>
              <a:r>
                <a:rPr sz="673" spc="-8">
                  <a:latin typeface="Arial"/>
                  <a:cs typeface="Arial"/>
                </a:rPr>
                <a:t>uccess achieved?</a:t>
              </a:r>
              <a:endParaRPr sz="673">
                <a:latin typeface="Arial"/>
                <a:cs typeface="Arial"/>
              </a:endParaRPr>
            </a:p>
          </p:txBody>
        </p:sp>
      </p:grpSp>
      <p:sp>
        <p:nvSpPr>
          <p:cNvPr id="17" name="Rectangle: Rounded Corners 16">
            <a:extLst>
              <a:ext uri="{FF2B5EF4-FFF2-40B4-BE49-F238E27FC236}">
                <a16:creationId xmlns:a16="http://schemas.microsoft.com/office/drawing/2014/main" id="{760EA93E-CDF8-E261-C23E-1420E5B723A1}"/>
              </a:ext>
            </a:extLst>
          </p:cNvPr>
          <p:cNvSpPr/>
          <p:nvPr/>
        </p:nvSpPr>
        <p:spPr>
          <a:xfrm>
            <a:off x="5701083" y="2564429"/>
            <a:ext cx="769346" cy="577010"/>
          </a:xfrm>
          <a:prstGeom prst="roundRect">
            <a:avLst/>
          </a:prstGeom>
          <a:solidFill>
            <a:srgbClr val="B7DDE8"/>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Restart the process for continued growth</a:t>
            </a:r>
          </a:p>
        </p:txBody>
      </p:sp>
      <p:sp>
        <p:nvSpPr>
          <p:cNvPr id="22" name="Rectangle: Rounded Corners 21">
            <a:extLst>
              <a:ext uri="{FF2B5EF4-FFF2-40B4-BE49-F238E27FC236}">
                <a16:creationId xmlns:a16="http://schemas.microsoft.com/office/drawing/2014/main" id="{4C67D73F-BD4D-B620-F35B-0F769E388278}"/>
              </a:ext>
            </a:extLst>
          </p:cNvPr>
          <p:cNvSpPr/>
          <p:nvPr/>
        </p:nvSpPr>
        <p:spPr>
          <a:xfrm>
            <a:off x="2422192" y="3316804"/>
            <a:ext cx="769346" cy="577010"/>
          </a:xfrm>
          <a:prstGeom prst="roundRect">
            <a:avLst/>
          </a:prstGeom>
          <a:solidFill>
            <a:srgbClr val="00B0F0"/>
          </a:solidFill>
          <a:ln w="6350">
            <a:solidFill>
              <a:schemeClr val="tx1"/>
            </a:solidFill>
          </a:ln>
        </p:spPr>
        <p:txBody>
          <a:bodyPr wrap="square" lIns="15387" tIns="0" rIns="15387" bIns="0" rtlCol="0" anchor="ctr" anchorCtr="1"/>
          <a:lstStyle/>
          <a:p>
            <a:pPr algn="ctr"/>
            <a:r>
              <a:rPr lang="en-US" sz="673">
                <a:latin typeface="Arial" panose="020B0604020202020204" pitchFamily="34" charset="0"/>
                <a:cs typeface="Arial" panose="020B0604020202020204" pitchFamily="34" charset="0"/>
              </a:rPr>
              <a:t>Identify concerns, barriers, and specific pain points</a:t>
            </a:r>
          </a:p>
        </p:txBody>
      </p:sp>
      <p:sp>
        <p:nvSpPr>
          <p:cNvPr id="23" name="Rectangle: Rounded Corners 22">
            <a:extLst>
              <a:ext uri="{FF2B5EF4-FFF2-40B4-BE49-F238E27FC236}">
                <a16:creationId xmlns:a16="http://schemas.microsoft.com/office/drawing/2014/main" id="{4C5B35CB-5B4C-D7FF-3425-3893157F0C48}"/>
              </a:ext>
            </a:extLst>
          </p:cNvPr>
          <p:cNvSpPr/>
          <p:nvPr/>
        </p:nvSpPr>
        <p:spPr>
          <a:xfrm>
            <a:off x="3360080" y="3334354"/>
            <a:ext cx="769346" cy="577010"/>
          </a:xfrm>
          <a:prstGeom prst="roundRect">
            <a:avLst/>
          </a:prstGeom>
          <a:solidFill>
            <a:srgbClr val="00B0F0"/>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Develop challenge statement</a:t>
            </a:r>
          </a:p>
        </p:txBody>
      </p:sp>
      <p:sp>
        <p:nvSpPr>
          <p:cNvPr id="24" name="Rectangle: Rounded Corners 23">
            <a:extLst>
              <a:ext uri="{FF2B5EF4-FFF2-40B4-BE49-F238E27FC236}">
                <a16:creationId xmlns:a16="http://schemas.microsoft.com/office/drawing/2014/main" id="{B40414BD-438B-55E3-A04E-640DC8614424}"/>
              </a:ext>
            </a:extLst>
          </p:cNvPr>
          <p:cNvSpPr/>
          <p:nvPr/>
        </p:nvSpPr>
        <p:spPr>
          <a:xfrm>
            <a:off x="4297968" y="3334354"/>
            <a:ext cx="769346" cy="577010"/>
          </a:xfrm>
          <a:prstGeom prst="roundRect">
            <a:avLst/>
          </a:prstGeom>
          <a:solidFill>
            <a:srgbClr val="00B0F0"/>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Develop outcomes to address challenge statement</a:t>
            </a:r>
          </a:p>
        </p:txBody>
      </p:sp>
      <p:sp>
        <p:nvSpPr>
          <p:cNvPr id="25" name="Rectangle: Rounded Corners 24">
            <a:extLst>
              <a:ext uri="{FF2B5EF4-FFF2-40B4-BE49-F238E27FC236}">
                <a16:creationId xmlns:a16="http://schemas.microsoft.com/office/drawing/2014/main" id="{D8E47935-AD39-0879-9919-00177DDCCF25}"/>
              </a:ext>
            </a:extLst>
          </p:cNvPr>
          <p:cNvSpPr/>
          <p:nvPr/>
        </p:nvSpPr>
        <p:spPr>
          <a:xfrm>
            <a:off x="5235856" y="3334354"/>
            <a:ext cx="769346" cy="577010"/>
          </a:xfrm>
          <a:prstGeom prst="roundRect">
            <a:avLst/>
          </a:prstGeom>
          <a:solidFill>
            <a:srgbClr val="00B0F0"/>
          </a:solidFill>
          <a:ln w="6350">
            <a:solidFill>
              <a:schemeClr val="tx1"/>
            </a:solidFill>
          </a:ln>
        </p:spPr>
        <p:txBody>
          <a:bodyPr wrap="square" lIns="23080" tIns="0" rIns="23080" bIns="0" rtlCol="0" anchor="ctr" anchorCtr="1"/>
          <a:lstStyle/>
          <a:p>
            <a:pPr algn="ctr"/>
            <a:r>
              <a:rPr lang="en-US" sz="673">
                <a:latin typeface="Arial" panose="020B0604020202020204" pitchFamily="34" charset="0"/>
                <a:cs typeface="Arial" panose="020B0604020202020204" pitchFamily="34" charset="0"/>
              </a:rPr>
              <a:t>Determine metrics to measure outcome success</a:t>
            </a:r>
          </a:p>
        </p:txBody>
      </p:sp>
      <p:sp>
        <p:nvSpPr>
          <p:cNvPr id="26" name="Rectangle: Rounded Corners 25">
            <a:extLst>
              <a:ext uri="{FF2B5EF4-FFF2-40B4-BE49-F238E27FC236}">
                <a16:creationId xmlns:a16="http://schemas.microsoft.com/office/drawing/2014/main" id="{0FDBF09D-188E-B3B1-0695-6D80D082F317}"/>
              </a:ext>
            </a:extLst>
          </p:cNvPr>
          <p:cNvSpPr/>
          <p:nvPr/>
        </p:nvSpPr>
        <p:spPr>
          <a:xfrm>
            <a:off x="6173744" y="3334354"/>
            <a:ext cx="769346" cy="577010"/>
          </a:xfrm>
          <a:prstGeom prst="roundRect">
            <a:avLst/>
          </a:prstGeom>
          <a:solidFill>
            <a:srgbClr val="00B0F0"/>
          </a:solidFill>
          <a:ln w="6350">
            <a:solidFill>
              <a:schemeClr val="tx1"/>
            </a:solidFill>
          </a:ln>
        </p:spPr>
        <p:txBody>
          <a:bodyPr wrap="square" lIns="23080" tIns="0" rIns="23080" bIns="0" rtlCol="0" anchor="ctr" anchorCtr="1"/>
          <a:lstStyle/>
          <a:p>
            <a:pPr algn="ctr"/>
            <a:r>
              <a:rPr lang="en-US" sz="673">
                <a:latin typeface="Arial" panose="020B0604020202020204" pitchFamily="34" charset="0"/>
                <a:cs typeface="Arial" panose="020B0604020202020204" pitchFamily="34" charset="0"/>
              </a:rPr>
              <a:t>Determine success criteria for goal completion</a:t>
            </a:r>
          </a:p>
        </p:txBody>
      </p:sp>
      <p:sp>
        <p:nvSpPr>
          <p:cNvPr id="27" name="Rectangle: Rounded Corners 26">
            <a:extLst>
              <a:ext uri="{FF2B5EF4-FFF2-40B4-BE49-F238E27FC236}">
                <a16:creationId xmlns:a16="http://schemas.microsoft.com/office/drawing/2014/main" id="{10776B52-038F-8DC9-8ACD-C799AA7A1BF0}"/>
              </a:ext>
            </a:extLst>
          </p:cNvPr>
          <p:cNvSpPr/>
          <p:nvPr/>
        </p:nvSpPr>
        <p:spPr>
          <a:xfrm>
            <a:off x="7111632" y="3334354"/>
            <a:ext cx="769346" cy="577010"/>
          </a:xfrm>
          <a:prstGeom prst="roundRect">
            <a:avLst/>
          </a:prstGeom>
          <a:solidFill>
            <a:srgbClr val="B7DDE8"/>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Map outcomes to MITA capability areas</a:t>
            </a:r>
          </a:p>
        </p:txBody>
      </p:sp>
      <p:sp>
        <p:nvSpPr>
          <p:cNvPr id="28" name="Rectangle: Rounded Corners 27">
            <a:extLst>
              <a:ext uri="{FF2B5EF4-FFF2-40B4-BE49-F238E27FC236}">
                <a16:creationId xmlns:a16="http://schemas.microsoft.com/office/drawing/2014/main" id="{E1248B04-51D1-84C2-6C99-EE8BF305F274}"/>
              </a:ext>
            </a:extLst>
          </p:cNvPr>
          <p:cNvSpPr/>
          <p:nvPr/>
        </p:nvSpPr>
        <p:spPr>
          <a:xfrm>
            <a:off x="8049520" y="3334354"/>
            <a:ext cx="769346" cy="577010"/>
          </a:xfrm>
          <a:prstGeom prst="roundRect">
            <a:avLst/>
          </a:prstGeom>
          <a:solidFill>
            <a:srgbClr val="B7DDE8"/>
          </a:solidFill>
          <a:ln w="19050">
            <a:solidFill>
              <a:srgbClr val="0066FF"/>
            </a:solidFill>
            <a:prstDash val="dash"/>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Conduct maturity assessment of capabilities</a:t>
            </a:r>
          </a:p>
        </p:txBody>
      </p:sp>
      <p:sp>
        <p:nvSpPr>
          <p:cNvPr id="29" name="Rectangle: Rounded Corners 28">
            <a:extLst>
              <a:ext uri="{FF2B5EF4-FFF2-40B4-BE49-F238E27FC236}">
                <a16:creationId xmlns:a16="http://schemas.microsoft.com/office/drawing/2014/main" id="{7104526A-1427-BEB4-C60A-3177FBB33AA0}"/>
              </a:ext>
            </a:extLst>
          </p:cNvPr>
          <p:cNvSpPr/>
          <p:nvPr/>
        </p:nvSpPr>
        <p:spPr>
          <a:xfrm>
            <a:off x="8987408" y="3334354"/>
            <a:ext cx="769346" cy="577010"/>
          </a:xfrm>
          <a:prstGeom prst="roundRect">
            <a:avLst/>
          </a:prstGeom>
          <a:solidFill>
            <a:srgbClr val="B7DDE8"/>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Define projects that will achieve outcomes</a:t>
            </a:r>
          </a:p>
        </p:txBody>
      </p:sp>
      <p:grpSp>
        <p:nvGrpSpPr>
          <p:cNvPr id="123" name="Group 122">
            <a:extLst>
              <a:ext uri="{FF2B5EF4-FFF2-40B4-BE49-F238E27FC236}">
                <a16:creationId xmlns:a16="http://schemas.microsoft.com/office/drawing/2014/main" id="{D9CFF59B-7C77-C23E-9699-A2227E1C4330}"/>
              </a:ext>
            </a:extLst>
          </p:cNvPr>
          <p:cNvGrpSpPr/>
          <p:nvPr/>
        </p:nvGrpSpPr>
        <p:grpSpPr>
          <a:xfrm>
            <a:off x="9923476" y="4105948"/>
            <a:ext cx="769346" cy="577010"/>
            <a:chOff x="11794465" y="2754031"/>
            <a:chExt cx="914400" cy="685800"/>
          </a:xfrm>
        </p:grpSpPr>
        <p:sp>
          <p:nvSpPr>
            <p:cNvPr id="30" name="Diamond 29">
              <a:extLst>
                <a:ext uri="{FF2B5EF4-FFF2-40B4-BE49-F238E27FC236}">
                  <a16:creationId xmlns:a16="http://schemas.microsoft.com/office/drawing/2014/main" id="{02F99299-C478-4572-7157-87E0C6E5B1AF}"/>
                </a:ext>
              </a:extLst>
            </p:cNvPr>
            <p:cNvSpPr/>
            <p:nvPr/>
          </p:nvSpPr>
          <p:spPr>
            <a:xfrm>
              <a:off x="11794465" y="2754031"/>
              <a:ext cx="914400" cy="685800"/>
            </a:xfrm>
            <a:prstGeom prst="diamond">
              <a:avLst/>
            </a:prstGeom>
            <a:solidFill>
              <a:srgbClr val="FDE499"/>
            </a:solidFill>
            <a:ln>
              <a:solidFill>
                <a:schemeClr val="tx1">
                  <a:lumMod val="85000"/>
                  <a:lumOff val="15000"/>
                </a:schemeClr>
              </a:solidFill>
            </a:ln>
          </p:spPr>
          <p:txBody>
            <a:bodyPr wrap="square" lIns="0" tIns="0" rIns="0" bIns="0" rtlCol="0"/>
            <a:lstStyle/>
            <a:p>
              <a:pPr algn="ctr"/>
              <a:endParaRPr lang="en-US" sz="673">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C6D22535-7C65-D8DB-3174-E569402F90E6}"/>
                </a:ext>
              </a:extLst>
            </p:cNvPr>
            <p:cNvSpPr txBox="1"/>
            <p:nvPr/>
          </p:nvSpPr>
          <p:spPr>
            <a:xfrm>
              <a:off x="11893258" y="2988266"/>
              <a:ext cx="717613" cy="246221"/>
            </a:xfrm>
            <a:prstGeom prst="rect">
              <a:avLst/>
            </a:prstGeom>
            <a:noFill/>
          </p:spPr>
          <p:txBody>
            <a:bodyPr wrap="square" lIns="0" tIns="0" rIns="0" bIns="0" rtlCol="0">
              <a:noAutofit/>
            </a:bodyPr>
            <a:lstStyle/>
            <a:p>
              <a:pPr algn="ctr"/>
              <a:r>
                <a:rPr lang="en-US" sz="673">
                  <a:latin typeface="Arial" panose="020B0604020202020204" pitchFamily="34" charset="0"/>
                  <a:cs typeface="Arial" panose="020B0604020202020204" pitchFamily="34" charset="0"/>
                </a:rPr>
                <a:t>Have goals changed?</a:t>
              </a:r>
              <a:endParaRPr lang="en-US" sz="673"/>
            </a:p>
          </p:txBody>
        </p:sp>
      </p:grpSp>
      <p:cxnSp>
        <p:nvCxnSpPr>
          <p:cNvPr id="35" name="Straight Arrow Connector 34">
            <a:extLst>
              <a:ext uri="{FF2B5EF4-FFF2-40B4-BE49-F238E27FC236}">
                <a16:creationId xmlns:a16="http://schemas.microsoft.com/office/drawing/2014/main" id="{DDD0B7FE-A5E2-9033-A529-8CCB3CC56EB1}"/>
              </a:ext>
            </a:extLst>
          </p:cNvPr>
          <p:cNvCxnSpPr>
            <a:cxnSpLocks/>
            <a:stCxn id="30" idx="0"/>
            <a:endCxn id="200" idx="2"/>
          </p:cNvCxnSpPr>
          <p:nvPr/>
        </p:nvCxnSpPr>
        <p:spPr>
          <a:xfrm flipV="1">
            <a:off x="10308149" y="3911365"/>
            <a:ext cx="0" cy="194584"/>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AF9597E6-39F0-859E-F164-F572559A2297}"/>
              </a:ext>
            </a:extLst>
          </p:cNvPr>
          <p:cNvSpPr/>
          <p:nvPr/>
        </p:nvSpPr>
        <p:spPr>
          <a:xfrm>
            <a:off x="5701083" y="4100504"/>
            <a:ext cx="769346" cy="577010"/>
          </a:xfrm>
          <a:prstGeom prst="roundRect">
            <a:avLst/>
          </a:prstGeom>
          <a:solidFill>
            <a:srgbClr val="B7DDE8"/>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Restart the process with new priorities</a:t>
            </a:r>
          </a:p>
        </p:txBody>
      </p:sp>
      <p:cxnSp>
        <p:nvCxnSpPr>
          <p:cNvPr id="45" name="Straight Arrow Connector 44">
            <a:extLst>
              <a:ext uri="{FF2B5EF4-FFF2-40B4-BE49-F238E27FC236}">
                <a16:creationId xmlns:a16="http://schemas.microsoft.com/office/drawing/2014/main" id="{F5336F6D-5BA3-F370-64BD-D9B88010B559}"/>
              </a:ext>
            </a:extLst>
          </p:cNvPr>
          <p:cNvCxnSpPr>
            <a:cxnSpLocks/>
            <a:stCxn id="22" idx="3"/>
            <a:endCxn id="23" idx="1"/>
          </p:cNvCxnSpPr>
          <p:nvPr/>
        </p:nvCxnSpPr>
        <p:spPr>
          <a:xfrm>
            <a:off x="3191538" y="3605308"/>
            <a:ext cx="168542" cy="17551"/>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F5E9FF5-8461-F455-9E69-65E93F3CE706}"/>
              </a:ext>
            </a:extLst>
          </p:cNvPr>
          <p:cNvCxnSpPr>
            <a:cxnSpLocks/>
            <a:stCxn id="23" idx="3"/>
            <a:endCxn id="24" idx="1"/>
          </p:cNvCxnSpPr>
          <p:nvPr/>
        </p:nvCxnSpPr>
        <p:spPr>
          <a:xfrm>
            <a:off x="4129426"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A7010B9-5A22-8D84-2C51-15B2B8663A82}"/>
              </a:ext>
            </a:extLst>
          </p:cNvPr>
          <p:cNvCxnSpPr>
            <a:cxnSpLocks/>
            <a:stCxn id="25" idx="3"/>
            <a:endCxn id="26" idx="1"/>
          </p:cNvCxnSpPr>
          <p:nvPr/>
        </p:nvCxnSpPr>
        <p:spPr>
          <a:xfrm>
            <a:off x="6005203"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BB4CA0C-6BF4-A4FB-9C95-B368C29B552D}"/>
              </a:ext>
            </a:extLst>
          </p:cNvPr>
          <p:cNvCxnSpPr>
            <a:cxnSpLocks/>
            <a:stCxn id="24" idx="3"/>
            <a:endCxn id="25" idx="1"/>
          </p:cNvCxnSpPr>
          <p:nvPr/>
        </p:nvCxnSpPr>
        <p:spPr>
          <a:xfrm>
            <a:off x="5067314"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B13E6E2-1C7C-8DAE-3693-A2A2DBFB223B}"/>
              </a:ext>
            </a:extLst>
          </p:cNvPr>
          <p:cNvCxnSpPr>
            <a:cxnSpLocks/>
            <a:stCxn id="26" idx="3"/>
            <a:endCxn id="27" idx="1"/>
          </p:cNvCxnSpPr>
          <p:nvPr/>
        </p:nvCxnSpPr>
        <p:spPr>
          <a:xfrm>
            <a:off x="6943091"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0454F5D-66BE-2B4B-200C-4F4A3081320E}"/>
              </a:ext>
            </a:extLst>
          </p:cNvPr>
          <p:cNvCxnSpPr>
            <a:cxnSpLocks/>
            <a:stCxn id="27" idx="3"/>
            <a:endCxn id="28" idx="1"/>
          </p:cNvCxnSpPr>
          <p:nvPr/>
        </p:nvCxnSpPr>
        <p:spPr>
          <a:xfrm>
            <a:off x="7880979"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BB475F30-F589-6C6A-CB88-4BC4A6D2A6CB}"/>
              </a:ext>
            </a:extLst>
          </p:cNvPr>
          <p:cNvCxnSpPr>
            <a:cxnSpLocks/>
            <a:stCxn id="28" idx="3"/>
            <a:endCxn id="29" idx="1"/>
          </p:cNvCxnSpPr>
          <p:nvPr/>
        </p:nvCxnSpPr>
        <p:spPr>
          <a:xfrm>
            <a:off x="8818867"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B4A3B74-CA78-F62E-83D4-81BD593508BB}"/>
              </a:ext>
            </a:extLst>
          </p:cNvPr>
          <p:cNvCxnSpPr>
            <a:cxnSpLocks/>
            <a:stCxn id="29" idx="3"/>
            <a:endCxn id="200" idx="1"/>
          </p:cNvCxnSpPr>
          <p:nvPr/>
        </p:nvCxnSpPr>
        <p:spPr>
          <a:xfrm>
            <a:off x="9756754" y="3622859"/>
            <a:ext cx="16672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8DADCC6E-7EB5-BD5B-6101-747B7787F8C5}"/>
              </a:ext>
            </a:extLst>
          </p:cNvPr>
          <p:cNvCxnSpPr>
            <a:cxnSpLocks/>
            <a:stCxn id="240" idx="3"/>
            <a:endCxn id="22" idx="1"/>
          </p:cNvCxnSpPr>
          <p:nvPr/>
        </p:nvCxnSpPr>
        <p:spPr>
          <a:xfrm>
            <a:off x="2253650" y="3597379"/>
            <a:ext cx="168542" cy="793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69A89193-386A-9C41-E508-4A0F51AB0E1C}"/>
              </a:ext>
            </a:extLst>
          </p:cNvPr>
          <p:cNvSpPr>
            <a:spLocks noGrp="1"/>
          </p:cNvSpPr>
          <p:nvPr>
            <p:ph type="title"/>
          </p:nvPr>
        </p:nvSpPr>
        <p:spPr>
          <a:xfrm>
            <a:off x="264387" y="261769"/>
            <a:ext cx="10058400" cy="1609344"/>
          </a:xfrm>
        </p:spPr>
        <p:txBody>
          <a:bodyPr/>
          <a:lstStyle/>
          <a:p>
            <a:r>
              <a:rPr lang="en-US"/>
              <a:t>Define/Update Outcomes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BEFE-E52F-B493-FE6C-3945A7FAD60A}"/>
              </a:ext>
            </a:extLst>
          </p:cNvPr>
          <p:cNvSpPr>
            <a:spLocks noGrp="1"/>
          </p:cNvSpPr>
          <p:nvPr>
            <p:ph type="title"/>
          </p:nvPr>
        </p:nvSpPr>
        <p:spPr>
          <a:xfrm>
            <a:off x="307848" y="0"/>
            <a:ext cx="10058400" cy="1609344"/>
          </a:xfrm>
        </p:spPr>
        <p:txBody>
          <a:bodyPr/>
          <a:lstStyle/>
          <a:p>
            <a:r>
              <a:rPr lang="en-US"/>
              <a:t>1. Define/Update Outcomes</a:t>
            </a:r>
          </a:p>
        </p:txBody>
      </p:sp>
      <p:sp>
        <p:nvSpPr>
          <p:cNvPr id="7" name="Content Placeholder 6">
            <a:extLst>
              <a:ext uri="{FF2B5EF4-FFF2-40B4-BE49-F238E27FC236}">
                <a16:creationId xmlns:a16="http://schemas.microsoft.com/office/drawing/2014/main" id="{4B5F17BE-4F33-35D9-55FE-224E3005FC2A}"/>
              </a:ext>
            </a:extLst>
          </p:cNvPr>
          <p:cNvSpPr>
            <a:spLocks noGrp="1"/>
          </p:cNvSpPr>
          <p:nvPr>
            <p:ph idx="1"/>
          </p:nvPr>
        </p:nvSpPr>
        <p:spPr>
          <a:xfrm>
            <a:off x="457200" y="1195754"/>
            <a:ext cx="11734800" cy="5744308"/>
          </a:xfrm>
        </p:spPr>
        <p:txBody>
          <a:bodyPr>
            <a:normAutofit fontScale="55000" lnSpcReduction="20000"/>
          </a:bodyPr>
          <a:lstStyle/>
          <a:p>
            <a:r>
              <a:rPr lang="en-US" sz="2500"/>
              <a:t>The SMA starts by identifying the business challenge. This could be a new initiative or a problem the SMA is trying to solve (e.g., the trigger for initiating OBP) and describes the “as-is” state.	</a:t>
            </a:r>
          </a:p>
          <a:p>
            <a:pPr marL="457200" lvl="0" indent="-457200">
              <a:buFont typeface="+mj-lt"/>
              <a:buAutoNum type="arabicPeriod"/>
            </a:pPr>
            <a:r>
              <a:rPr lang="en-US" sz="2500"/>
              <a:t>Identify goals.</a:t>
            </a:r>
          </a:p>
          <a:p>
            <a:pPr lvl="1"/>
            <a:r>
              <a:rPr lang="en-US" sz="2500"/>
              <a:t>Identify the main concern that explains why you are not already at your goal (e.g., something blocking you, something you need to fix, something you haven't done).</a:t>
            </a:r>
          </a:p>
          <a:p>
            <a:pPr marL="457200" lvl="0" indent="-457200">
              <a:buFont typeface="+mj-lt"/>
              <a:buAutoNum type="arabicPeriod"/>
            </a:pPr>
            <a:r>
              <a:rPr lang="en-US" sz="2500"/>
              <a:t>Identify the things that cause the concern or make it worse.</a:t>
            </a:r>
          </a:p>
          <a:p>
            <a:pPr lvl="1"/>
            <a:r>
              <a:rPr lang="en-US" sz="2500"/>
              <a:t>Identify specific pain points that are tangible, real world and observable that you can change.</a:t>
            </a:r>
          </a:p>
          <a:p>
            <a:pPr marL="457200" lvl="0" indent="-457200">
              <a:buFont typeface="+mj-lt"/>
              <a:buAutoNum type="arabicPeriod"/>
            </a:pPr>
            <a:r>
              <a:rPr lang="en-US" sz="2500"/>
              <a:t>Summarize the concern and drivers in a business challenge statement.	</a:t>
            </a:r>
          </a:p>
          <a:p>
            <a:pPr marL="457200" lvl="0" indent="-457200">
              <a:buFont typeface="+mj-lt"/>
              <a:buAutoNum type="arabicPeriod"/>
            </a:pPr>
            <a:r>
              <a:rPr lang="en-US" sz="2500"/>
              <a:t>Develop desired outcomes that identify what changes, improvements, or benefits will address the challenges and describe the “to-be” state.</a:t>
            </a:r>
          </a:p>
          <a:p>
            <a:pPr lvl="1"/>
            <a:r>
              <a:rPr lang="en-US" sz="2500"/>
              <a:t>Reverse-engineer the concern and drivers, stating what they would look like when corrected. This is the first step in identifying the “to-be” state. An example would be, “Organizations are able to share information electronically.”</a:t>
            </a:r>
          </a:p>
          <a:p>
            <a:pPr lvl="1"/>
            <a:r>
              <a:rPr lang="en-US" sz="2500"/>
              <a:t>Identify the audience that would benefit from the outcome and the desired result from their perspective.</a:t>
            </a:r>
          </a:p>
          <a:p>
            <a:pPr lvl="1"/>
            <a:r>
              <a:rPr lang="en-US" sz="2500"/>
              <a:t>Identify what new or improved capability is needed to correct the concerns or facilitate the drivers, and the actor to implement the capability.</a:t>
            </a:r>
          </a:p>
          <a:p>
            <a:pPr lvl="1"/>
            <a:r>
              <a:rPr lang="en-US" sz="2500"/>
              <a:t>Summarize the capability and benefits in an Outcome Statement.</a:t>
            </a:r>
          </a:p>
          <a:p>
            <a:pPr marL="457200" lvl="0" indent="-457200">
              <a:buFont typeface="+mj-lt"/>
              <a:buAutoNum type="arabicPeriod"/>
            </a:pPr>
            <a:r>
              <a:rPr lang="en-US" sz="2500"/>
              <a:t>Determine how to measure achievement or success. Determine how to measure, monitor, and report on progress to ensure improvements or benefits are reached.</a:t>
            </a:r>
          </a:p>
          <a:p>
            <a:pPr lvl="1"/>
            <a:r>
              <a:rPr lang="en-US" sz="2500"/>
              <a:t>Identify the success factors that provide the strongest indication of success and why.</a:t>
            </a:r>
          </a:p>
          <a:p>
            <a:pPr lvl="1"/>
            <a:r>
              <a:rPr lang="en-US" sz="2500"/>
              <a:t>For each success factor, corrected driver, and benefit, identify how to measure their status and improvement (either a metric or milestone).</a:t>
            </a:r>
          </a:p>
          <a:p>
            <a:pPr marL="457200" lvl="0" indent="-457200">
              <a:buFont typeface="+mj-lt"/>
              <a:buAutoNum type="arabicPeriod"/>
            </a:pPr>
            <a:r>
              <a:rPr lang="en-US" sz="2500"/>
              <a:t>Define what success looks like and how it can be validated.</a:t>
            </a:r>
          </a:p>
          <a:p>
            <a:pPr lvl="1"/>
            <a:r>
              <a:rPr lang="en-US" sz="2500"/>
              <a:t>Determine the desired time frame for accomplishing a goal.</a:t>
            </a:r>
          </a:p>
          <a:p>
            <a:pPr lvl="1"/>
            <a:r>
              <a:rPr lang="en-US" sz="2500"/>
              <a:t>Based on the metrics associated with the critical success factors, identify target measurements that will indicate success.</a:t>
            </a:r>
          </a:p>
          <a:p>
            <a:pPr lvl="1"/>
            <a:r>
              <a:rPr lang="en-US" sz="2500"/>
              <a:t>Summarize the time frame and metrics into a definition of success. The definition should be framed as a specific, measurable, achievable, relevant, and time-bound (SMART) objective.</a:t>
            </a:r>
          </a:p>
          <a:p>
            <a:endParaRPr lang="en-US"/>
          </a:p>
        </p:txBody>
      </p:sp>
    </p:spTree>
    <p:extLst>
      <p:ext uri="{BB962C8B-B14F-4D97-AF65-F5344CB8AC3E}">
        <p14:creationId xmlns:p14="http://schemas.microsoft.com/office/powerpoint/2010/main" val="2191080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29E47-2177-3E50-DBF7-B25A4F10C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F723C-D805-1ABE-3F2E-47E1A4D4117A}"/>
              </a:ext>
            </a:extLst>
          </p:cNvPr>
          <p:cNvSpPr>
            <a:spLocks noGrp="1"/>
          </p:cNvSpPr>
          <p:nvPr>
            <p:ph type="title"/>
          </p:nvPr>
        </p:nvSpPr>
        <p:spPr/>
        <p:txBody>
          <a:bodyPr/>
          <a:lstStyle/>
          <a:p>
            <a:r>
              <a:rPr lang="en-US"/>
              <a:t>Identify Required Capabilities</a:t>
            </a:r>
            <a:endParaRPr lang="en-US">
              <a:latin typeface="Rockwell Condensed"/>
            </a:endParaRPr>
          </a:p>
        </p:txBody>
      </p:sp>
    </p:spTree>
    <p:extLst>
      <p:ext uri="{BB962C8B-B14F-4D97-AF65-F5344CB8AC3E}">
        <p14:creationId xmlns:p14="http://schemas.microsoft.com/office/powerpoint/2010/main" val="1326762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C1FFB-83A9-37C9-1863-07608FFC58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B5674D7-7AD9-15A8-CAED-85336A8593EE}"/>
              </a:ext>
            </a:extLst>
          </p:cNvPr>
          <p:cNvSpPr txBox="1"/>
          <p:nvPr/>
        </p:nvSpPr>
        <p:spPr>
          <a:xfrm>
            <a:off x="239010" y="2100723"/>
            <a:ext cx="2370548" cy="170560"/>
          </a:xfrm>
          <a:prstGeom prst="rect">
            <a:avLst/>
          </a:prstGeom>
        </p:spPr>
        <p:txBody>
          <a:bodyPr vert="horz" wrap="square" lIns="0" tIns="0" rIns="0" bIns="0" rtlCol="0">
            <a:spAutoFit/>
          </a:bodyPr>
          <a:lstStyle/>
          <a:p>
            <a:pPr>
              <a:lnSpc>
                <a:spcPts val="1279"/>
              </a:lnSpc>
            </a:pPr>
            <a:r>
              <a:rPr sz="1346">
                <a:latin typeface="Calibri"/>
                <a:cs typeface="Calibri"/>
              </a:rPr>
              <a:t>Outcomes</a:t>
            </a:r>
            <a:r>
              <a:rPr sz="1346" spc="-34">
                <a:latin typeface="Calibri"/>
                <a:cs typeface="Calibri"/>
              </a:rPr>
              <a:t> </a:t>
            </a:r>
            <a:r>
              <a:rPr sz="1346">
                <a:latin typeface="Calibri"/>
                <a:cs typeface="Calibri"/>
              </a:rPr>
              <a:t>Based</a:t>
            </a:r>
            <a:r>
              <a:rPr sz="1346" spc="-34">
                <a:latin typeface="Calibri"/>
                <a:cs typeface="Calibri"/>
              </a:rPr>
              <a:t> </a:t>
            </a:r>
            <a:r>
              <a:rPr sz="1346">
                <a:latin typeface="Calibri"/>
                <a:cs typeface="Calibri"/>
              </a:rPr>
              <a:t>Planning</a:t>
            </a:r>
            <a:r>
              <a:rPr sz="1346" spc="-29">
                <a:latin typeface="Calibri"/>
                <a:cs typeface="Calibri"/>
              </a:rPr>
              <a:t> </a:t>
            </a:r>
            <a:r>
              <a:rPr sz="1346" spc="-8">
                <a:latin typeface="Calibri"/>
                <a:cs typeface="Calibri"/>
              </a:rPr>
              <a:t>Process</a:t>
            </a:r>
            <a:endParaRPr sz="1346">
              <a:latin typeface="Calibri"/>
              <a:cs typeface="Calibri"/>
            </a:endParaRPr>
          </a:p>
        </p:txBody>
      </p:sp>
      <p:sp>
        <p:nvSpPr>
          <p:cNvPr id="3" name="object 3">
            <a:extLst>
              <a:ext uri="{FF2B5EF4-FFF2-40B4-BE49-F238E27FC236}">
                <a16:creationId xmlns:a16="http://schemas.microsoft.com/office/drawing/2014/main" id="{EEDDFF87-5C25-52E8-B12D-1CED4FDD6D7F}"/>
              </a:ext>
            </a:extLst>
          </p:cNvPr>
          <p:cNvSpPr/>
          <p:nvPr/>
        </p:nvSpPr>
        <p:spPr>
          <a:xfrm>
            <a:off x="196344" y="1985086"/>
            <a:ext cx="11803587" cy="2887185"/>
          </a:xfrm>
          <a:custGeom>
            <a:avLst/>
            <a:gdLst/>
            <a:ahLst/>
            <a:cxnLst/>
            <a:rect l="l" t="t" r="r" b="b"/>
            <a:pathLst>
              <a:path w="14029055" h="3431540">
                <a:moveTo>
                  <a:pt x="0" y="3431120"/>
                </a:moveTo>
                <a:lnTo>
                  <a:pt x="14028801" y="3431120"/>
                </a:lnTo>
                <a:lnTo>
                  <a:pt x="14028801" y="88"/>
                </a:lnTo>
                <a:lnTo>
                  <a:pt x="0" y="88"/>
                </a:lnTo>
                <a:lnTo>
                  <a:pt x="0" y="3431120"/>
                </a:lnTo>
                <a:close/>
              </a:path>
              <a:path w="14029055" h="3431540">
                <a:moveTo>
                  <a:pt x="0" y="457200"/>
                </a:moveTo>
                <a:lnTo>
                  <a:pt x="14028801" y="457200"/>
                </a:lnTo>
                <a:lnTo>
                  <a:pt x="14028801" y="0"/>
                </a:lnTo>
                <a:lnTo>
                  <a:pt x="0" y="0"/>
                </a:lnTo>
                <a:lnTo>
                  <a:pt x="0" y="457200"/>
                </a:lnTo>
                <a:close/>
              </a:path>
            </a:pathLst>
          </a:custGeom>
          <a:ln w="9525">
            <a:solidFill>
              <a:srgbClr val="000000"/>
            </a:solidFill>
          </a:ln>
        </p:spPr>
        <p:txBody>
          <a:bodyPr wrap="square" lIns="0" tIns="0" rIns="0" bIns="0" rtlCol="0"/>
          <a:lstStyle/>
          <a:p>
            <a:endParaRPr sz="1515"/>
          </a:p>
        </p:txBody>
      </p:sp>
      <p:sp>
        <p:nvSpPr>
          <p:cNvPr id="4" name="object 4">
            <a:extLst>
              <a:ext uri="{FF2B5EF4-FFF2-40B4-BE49-F238E27FC236}">
                <a16:creationId xmlns:a16="http://schemas.microsoft.com/office/drawing/2014/main" id="{05E24C9E-67FB-28FC-56CF-DCF04BCDD78F}"/>
              </a:ext>
            </a:extLst>
          </p:cNvPr>
          <p:cNvSpPr txBox="1"/>
          <p:nvPr/>
        </p:nvSpPr>
        <p:spPr>
          <a:xfrm>
            <a:off x="239010" y="2100723"/>
            <a:ext cx="2370548" cy="170560"/>
          </a:xfrm>
          <a:prstGeom prst="rect">
            <a:avLst/>
          </a:prstGeom>
        </p:spPr>
        <p:txBody>
          <a:bodyPr vert="horz" wrap="square" lIns="0" tIns="0" rIns="0" bIns="0" rtlCol="0">
            <a:spAutoFit/>
          </a:bodyPr>
          <a:lstStyle/>
          <a:p>
            <a:pPr>
              <a:lnSpc>
                <a:spcPts val="1279"/>
              </a:lnSpc>
            </a:pPr>
            <a:r>
              <a:rPr sz="1346">
                <a:latin typeface="Calibri"/>
                <a:cs typeface="Calibri"/>
              </a:rPr>
              <a:t>Outcomes</a:t>
            </a:r>
            <a:r>
              <a:rPr sz="1346" spc="-34">
                <a:latin typeface="Calibri"/>
                <a:cs typeface="Calibri"/>
              </a:rPr>
              <a:t> </a:t>
            </a:r>
            <a:r>
              <a:rPr sz="1346">
                <a:latin typeface="Calibri"/>
                <a:cs typeface="Calibri"/>
              </a:rPr>
              <a:t>Based</a:t>
            </a:r>
            <a:r>
              <a:rPr sz="1346" spc="-34">
                <a:latin typeface="Calibri"/>
                <a:cs typeface="Calibri"/>
              </a:rPr>
              <a:t> </a:t>
            </a:r>
            <a:r>
              <a:rPr sz="1346">
                <a:latin typeface="Calibri"/>
                <a:cs typeface="Calibri"/>
              </a:rPr>
              <a:t>Planning</a:t>
            </a:r>
            <a:r>
              <a:rPr sz="1346" spc="-29">
                <a:latin typeface="Calibri"/>
                <a:cs typeface="Calibri"/>
              </a:rPr>
              <a:t> </a:t>
            </a:r>
            <a:r>
              <a:rPr sz="1346" spc="-8">
                <a:latin typeface="Calibri"/>
                <a:cs typeface="Calibri"/>
              </a:rPr>
              <a:t>Process</a:t>
            </a:r>
            <a:endParaRPr sz="1346">
              <a:latin typeface="Calibri"/>
              <a:cs typeface="Calibri"/>
            </a:endParaRPr>
          </a:p>
        </p:txBody>
      </p:sp>
      <p:sp>
        <p:nvSpPr>
          <p:cNvPr id="5" name="object 5">
            <a:extLst>
              <a:ext uri="{FF2B5EF4-FFF2-40B4-BE49-F238E27FC236}">
                <a16:creationId xmlns:a16="http://schemas.microsoft.com/office/drawing/2014/main" id="{6DB77A61-0EF9-9E78-97A7-BBDED23C4393}"/>
              </a:ext>
            </a:extLst>
          </p:cNvPr>
          <p:cNvSpPr/>
          <p:nvPr/>
        </p:nvSpPr>
        <p:spPr>
          <a:xfrm>
            <a:off x="196344" y="2369834"/>
            <a:ext cx="11803587" cy="2502512"/>
          </a:xfrm>
          <a:custGeom>
            <a:avLst/>
            <a:gdLst/>
            <a:ahLst/>
            <a:cxnLst/>
            <a:rect l="l" t="t" r="r" b="b"/>
            <a:pathLst>
              <a:path w="14029055" h="2974340">
                <a:moveTo>
                  <a:pt x="0" y="2973832"/>
                </a:moveTo>
                <a:lnTo>
                  <a:pt x="14028801" y="2973832"/>
                </a:lnTo>
                <a:lnTo>
                  <a:pt x="14028801" y="0"/>
                </a:lnTo>
                <a:lnTo>
                  <a:pt x="0" y="0"/>
                </a:lnTo>
                <a:lnTo>
                  <a:pt x="0" y="2973832"/>
                </a:lnTo>
                <a:close/>
              </a:path>
            </a:pathLst>
          </a:custGeom>
          <a:ln w="9525">
            <a:solidFill>
              <a:srgbClr val="000000"/>
            </a:solidFill>
          </a:ln>
        </p:spPr>
        <p:txBody>
          <a:bodyPr wrap="square" lIns="0" tIns="0" rIns="0" bIns="0" rtlCol="0"/>
          <a:lstStyle/>
          <a:p>
            <a:endParaRPr sz="1515"/>
          </a:p>
        </p:txBody>
      </p:sp>
      <p:sp>
        <p:nvSpPr>
          <p:cNvPr id="6" name="object 6">
            <a:extLst>
              <a:ext uri="{FF2B5EF4-FFF2-40B4-BE49-F238E27FC236}">
                <a16:creationId xmlns:a16="http://schemas.microsoft.com/office/drawing/2014/main" id="{FF5BFCBB-44CA-B392-B8DE-C40E96F5BA8E}"/>
              </a:ext>
            </a:extLst>
          </p:cNvPr>
          <p:cNvSpPr txBox="1"/>
          <p:nvPr/>
        </p:nvSpPr>
        <p:spPr>
          <a:xfrm>
            <a:off x="335435" y="3028181"/>
            <a:ext cx="130357" cy="1188212"/>
          </a:xfrm>
          <a:prstGeom prst="rect">
            <a:avLst/>
          </a:prstGeom>
        </p:spPr>
        <p:txBody>
          <a:bodyPr vert="vert270" wrap="square" lIns="0" tIns="0" rIns="0" bIns="0" rtlCol="0">
            <a:spAutoFit/>
          </a:bodyPr>
          <a:lstStyle/>
          <a:p>
            <a:pPr>
              <a:lnSpc>
                <a:spcPts val="959"/>
              </a:lnSpc>
            </a:pPr>
            <a:r>
              <a:rPr sz="1010">
                <a:latin typeface="Calibri"/>
                <a:cs typeface="Calibri"/>
              </a:rPr>
              <a:t>State</a:t>
            </a:r>
            <a:r>
              <a:rPr sz="1010" spc="-25">
                <a:latin typeface="Calibri"/>
                <a:cs typeface="Calibri"/>
              </a:rPr>
              <a:t> </a:t>
            </a:r>
            <a:r>
              <a:rPr sz="1010">
                <a:latin typeface="Calibri"/>
                <a:cs typeface="Calibri"/>
              </a:rPr>
              <a:t>Medicaid</a:t>
            </a:r>
            <a:r>
              <a:rPr sz="1010" spc="-21">
                <a:latin typeface="Calibri"/>
                <a:cs typeface="Calibri"/>
              </a:rPr>
              <a:t> </a:t>
            </a:r>
            <a:r>
              <a:rPr sz="1010" spc="-8">
                <a:latin typeface="Calibri"/>
                <a:cs typeface="Calibri"/>
              </a:rPr>
              <a:t>Agency</a:t>
            </a:r>
            <a:endParaRPr sz="1010">
              <a:latin typeface="Calibri"/>
              <a:cs typeface="Calibri"/>
            </a:endParaRPr>
          </a:p>
        </p:txBody>
      </p:sp>
      <p:sp>
        <p:nvSpPr>
          <p:cNvPr id="7" name="object 7">
            <a:extLst>
              <a:ext uri="{FF2B5EF4-FFF2-40B4-BE49-F238E27FC236}">
                <a16:creationId xmlns:a16="http://schemas.microsoft.com/office/drawing/2014/main" id="{80C7E08F-B94F-A8AB-0A6E-1D726C283DA9}"/>
              </a:ext>
            </a:extLst>
          </p:cNvPr>
          <p:cNvSpPr/>
          <p:nvPr/>
        </p:nvSpPr>
        <p:spPr>
          <a:xfrm>
            <a:off x="196344" y="2369834"/>
            <a:ext cx="11803587" cy="2502512"/>
          </a:xfrm>
          <a:custGeom>
            <a:avLst/>
            <a:gdLst/>
            <a:ahLst/>
            <a:cxnLst/>
            <a:rect l="l" t="t" r="r" b="b"/>
            <a:pathLst>
              <a:path w="14029055" h="2974340">
                <a:moveTo>
                  <a:pt x="0" y="2973832"/>
                </a:moveTo>
                <a:lnTo>
                  <a:pt x="14028801" y="2973832"/>
                </a:lnTo>
                <a:lnTo>
                  <a:pt x="14028801" y="0"/>
                </a:lnTo>
                <a:lnTo>
                  <a:pt x="0" y="0"/>
                </a:lnTo>
                <a:lnTo>
                  <a:pt x="0" y="2973832"/>
                </a:lnTo>
                <a:close/>
              </a:path>
            </a:pathLst>
          </a:custGeom>
          <a:ln w="9525">
            <a:solidFill>
              <a:srgbClr val="000000"/>
            </a:solidFill>
          </a:ln>
        </p:spPr>
        <p:txBody>
          <a:bodyPr wrap="square" lIns="0" tIns="0" rIns="0" bIns="0" rtlCol="0"/>
          <a:lstStyle/>
          <a:p>
            <a:endParaRPr sz="1515"/>
          </a:p>
        </p:txBody>
      </p:sp>
      <p:sp>
        <p:nvSpPr>
          <p:cNvPr id="8" name="object 8">
            <a:extLst>
              <a:ext uri="{FF2B5EF4-FFF2-40B4-BE49-F238E27FC236}">
                <a16:creationId xmlns:a16="http://schemas.microsoft.com/office/drawing/2014/main" id="{E65D1879-0E29-9C00-4966-913D56B66BC8}"/>
              </a:ext>
            </a:extLst>
          </p:cNvPr>
          <p:cNvSpPr txBox="1"/>
          <p:nvPr/>
        </p:nvSpPr>
        <p:spPr>
          <a:xfrm>
            <a:off x="335435" y="3028181"/>
            <a:ext cx="130357" cy="1188212"/>
          </a:xfrm>
          <a:prstGeom prst="rect">
            <a:avLst/>
          </a:prstGeom>
        </p:spPr>
        <p:txBody>
          <a:bodyPr vert="vert270" wrap="square" lIns="0" tIns="0" rIns="0" bIns="0" rtlCol="0">
            <a:spAutoFit/>
          </a:bodyPr>
          <a:lstStyle/>
          <a:p>
            <a:pPr>
              <a:lnSpc>
                <a:spcPts val="959"/>
              </a:lnSpc>
            </a:pPr>
            <a:r>
              <a:rPr sz="1010">
                <a:latin typeface="Calibri"/>
                <a:cs typeface="Calibri"/>
              </a:rPr>
              <a:t>State</a:t>
            </a:r>
            <a:r>
              <a:rPr sz="1010" spc="-25">
                <a:latin typeface="Calibri"/>
                <a:cs typeface="Calibri"/>
              </a:rPr>
              <a:t> </a:t>
            </a:r>
            <a:r>
              <a:rPr sz="1010">
                <a:latin typeface="Calibri"/>
                <a:cs typeface="Calibri"/>
              </a:rPr>
              <a:t>Medicaid</a:t>
            </a:r>
            <a:r>
              <a:rPr sz="1010" spc="-21">
                <a:latin typeface="Calibri"/>
                <a:cs typeface="Calibri"/>
              </a:rPr>
              <a:t> </a:t>
            </a:r>
            <a:r>
              <a:rPr sz="1010" spc="-8">
                <a:latin typeface="Calibri"/>
                <a:cs typeface="Calibri"/>
              </a:rPr>
              <a:t>Agency</a:t>
            </a:r>
            <a:endParaRPr sz="1010">
              <a:latin typeface="Calibri"/>
              <a:cs typeface="Calibri"/>
            </a:endParaRPr>
          </a:p>
        </p:txBody>
      </p:sp>
      <p:sp>
        <p:nvSpPr>
          <p:cNvPr id="55" name="object 55">
            <a:extLst>
              <a:ext uri="{FF2B5EF4-FFF2-40B4-BE49-F238E27FC236}">
                <a16:creationId xmlns:a16="http://schemas.microsoft.com/office/drawing/2014/main" id="{06F8F0C8-2EAA-8AFC-98B8-D9DE0BDEFD04}"/>
              </a:ext>
            </a:extLst>
          </p:cNvPr>
          <p:cNvSpPr txBox="1"/>
          <p:nvPr/>
        </p:nvSpPr>
        <p:spPr>
          <a:xfrm>
            <a:off x="11116129" y="3212988"/>
            <a:ext cx="118608" cy="80471"/>
          </a:xfrm>
          <a:prstGeom prst="rect">
            <a:avLst/>
          </a:prstGeom>
        </p:spPr>
        <p:txBody>
          <a:bodyPr vert="horz" wrap="square" lIns="0" tIns="0" rIns="0" bIns="0" rtlCol="0">
            <a:spAutoFit/>
          </a:bodyPr>
          <a:lstStyle/>
          <a:p>
            <a:pPr>
              <a:lnSpc>
                <a:spcPts val="644"/>
              </a:lnSpc>
            </a:pPr>
            <a:r>
              <a:rPr sz="673" spc="-21">
                <a:latin typeface="Calibri"/>
                <a:cs typeface="Calibri"/>
              </a:rPr>
              <a:t>Yes</a:t>
            </a:r>
            <a:endParaRPr sz="673">
              <a:latin typeface="Calibri"/>
              <a:cs typeface="Calibri"/>
            </a:endParaRPr>
          </a:p>
        </p:txBody>
      </p:sp>
      <p:sp>
        <p:nvSpPr>
          <p:cNvPr id="59" name="object 59">
            <a:extLst>
              <a:ext uri="{FF2B5EF4-FFF2-40B4-BE49-F238E27FC236}">
                <a16:creationId xmlns:a16="http://schemas.microsoft.com/office/drawing/2014/main" id="{34A874FE-DE42-CB3E-0FCD-485DBE8B272C}"/>
              </a:ext>
            </a:extLst>
          </p:cNvPr>
          <p:cNvSpPr txBox="1"/>
          <p:nvPr/>
        </p:nvSpPr>
        <p:spPr>
          <a:xfrm>
            <a:off x="11125212" y="3892170"/>
            <a:ext cx="100442" cy="80471"/>
          </a:xfrm>
          <a:prstGeom prst="rect">
            <a:avLst/>
          </a:prstGeom>
        </p:spPr>
        <p:txBody>
          <a:bodyPr vert="horz" wrap="square" lIns="0" tIns="0" rIns="0" bIns="0" rtlCol="0">
            <a:spAutoFit/>
          </a:bodyPr>
          <a:lstStyle/>
          <a:p>
            <a:pPr>
              <a:lnSpc>
                <a:spcPts val="644"/>
              </a:lnSpc>
            </a:pPr>
            <a:r>
              <a:rPr sz="673" spc="-21">
                <a:latin typeface="Calibri"/>
                <a:cs typeface="Calibri"/>
              </a:rPr>
              <a:t>No</a:t>
            </a:r>
            <a:endParaRPr sz="673">
              <a:latin typeface="Calibri"/>
              <a:cs typeface="Calibri"/>
            </a:endParaRPr>
          </a:p>
        </p:txBody>
      </p:sp>
      <p:sp>
        <p:nvSpPr>
          <p:cNvPr id="61" name="object 61">
            <a:extLst>
              <a:ext uri="{FF2B5EF4-FFF2-40B4-BE49-F238E27FC236}">
                <a16:creationId xmlns:a16="http://schemas.microsoft.com/office/drawing/2014/main" id="{8B9EA78F-E301-B728-C58E-7B671D9AE35A}"/>
              </a:ext>
            </a:extLst>
          </p:cNvPr>
          <p:cNvSpPr txBox="1"/>
          <p:nvPr/>
        </p:nvSpPr>
        <p:spPr>
          <a:xfrm>
            <a:off x="10135068" y="4039840"/>
            <a:ext cx="120301" cy="77329"/>
          </a:xfrm>
          <a:prstGeom prst="rect">
            <a:avLst/>
          </a:prstGeom>
        </p:spPr>
        <p:txBody>
          <a:bodyPr vert="horz" wrap="square" lIns="0" tIns="0" rIns="0" bIns="0" rtlCol="0">
            <a:spAutoFit/>
          </a:bodyPr>
          <a:lstStyle/>
          <a:p>
            <a:pPr>
              <a:lnSpc>
                <a:spcPts val="644"/>
              </a:lnSpc>
            </a:pPr>
            <a:r>
              <a:rPr sz="673" spc="-21">
                <a:latin typeface="Arial" panose="020B0604020202020204" pitchFamily="34" charset="0"/>
                <a:cs typeface="Arial" panose="020B0604020202020204" pitchFamily="34" charset="0"/>
              </a:rPr>
              <a:t>N</a:t>
            </a:r>
            <a:r>
              <a:rPr lang="en-US" sz="673" spc="-21">
                <a:latin typeface="Arial" panose="020B0604020202020204" pitchFamily="34" charset="0"/>
                <a:cs typeface="Arial" panose="020B0604020202020204" pitchFamily="34" charset="0"/>
              </a:rPr>
              <a:t>o</a:t>
            </a:r>
            <a:endParaRPr sz="673">
              <a:latin typeface="Arial" panose="020B0604020202020204" pitchFamily="34" charset="0"/>
              <a:cs typeface="Arial" panose="020B0604020202020204" pitchFamily="34" charset="0"/>
            </a:endParaRPr>
          </a:p>
        </p:txBody>
      </p:sp>
      <p:sp>
        <p:nvSpPr>
          <p:cNvPr id="65" name="object 65">
            <a:extLst>
              <a:ext uri="{FF2B5EF4-FFF2-40B4-BE49-F238E27FC236}">
                <a16:creationId xmlns:a16="http://schemas.microsoft.com/office/drawing/2014/main" id="{4703382C-91B1-6E0F-3EED-44A193AEFBBE}"/>
              </a:ext>
            </a:extLst>
          </p:cNvPr>
          <p:cNvSpPr/>
          <p:nvPr/>
        </p:nvSpPr>
        <p:spPr>
          <a:xfrm>
            <a:off x="9856699" y="4242755"/>
            <a:ext cx="118073" cy="102579"/>
          </a:xfrm>
          <a:custGeom>
            <a:avLst/>
            <a:gdLst/>
            <a:ahLst/>
            <a:cxnLst/>
            <a:rect l="l" t="t" r="r" b="b"/>
            <a:pathLst>
              <a:path w="140334" h="121919">
                <a:moveTo>
                  <a:pt x="139801" y="0"/>
                </a:moveTo>
                <a:lnTo>
                  <a:pt x="0" y="0"/>
                </a:lnTo>
                <a:lnTo>
                  <a:pt x="0" y="121918"/>
                </a:lnTo>
                <a:lnTo>
                  <a:pt x="139801" y="121918"/>
                </a:lnTo>
                <a:lnTo>
                  <a:pt x="139801" y="0"/>
                </a:lnTo>
                <a:close/>
              </a:path>
            </a:pathLst>
          </a:custGeom>
          <a:solidFill>
            <a:srgbClr val="FFFFFF"/>
          </a:solidFill>
        </p:spPr>
        <p:txBody>
          <a:bodyPr wrap="square" lIns="0" tIns="0" rIns="0" bIns="0" rtlCol="0"/>
          <a:lstStyle/>
          <a:p>
            <a:endParaRPr sz="1515"/>
          </a:p>
        </p:txBody>
      </p:sp>
      <p:sp>
        <p:nvSpPr>
          <p:cNvPr id="66" name="object 66">
            <a:extLst>
              <a:ext uri="{FF2B5EF4-FFF2-40B4-BE49-F238E27FC236}">
                <a16:creationId xmlns:a16="http://schemas.microsoft.com/office/drawing/2014/main" id="{07F22BCB-22B2-66AD-86DD-2D54B0DE1D99}"/>
              </a:ext>
            </a:extLst>
          </p:cNvPr>
          <p:cNvSpPr txBox="1"/>
          <p:nvPr/>
        </p:nvSpPr>
        <p:spPr>
          <a:xfrm>
            <a:off x="9857766" y="4256282"/>
            <a:ext cx="118608" cy="80471"/>
          </a:xfrm>
          <a:prstGeom prst="rect">
            <a:avLst/>
          </a:prstGeom>
        </p:spPr>
        <p:txBody>
          <a:bodyPr vert="horz" wrap="square" lIns="0" tIns="0" rIns="0" bIns="0" rtlCol="0">
            <a:spAutoFit/>
          </a:bodyPr>
          <a:lstStyle/>
          <a:p>
            <a:pPr>
              <a:lnSpc>
                <a:spcPts val="644"/>
              </a:lnSpc>
            </a:pPr>
            <a:r>
              <a:rPr sz="673" spc="-21">
                <a:latin typeface="Calibri"/>
                <a:cs typeface="Calibri"/>
              </a:rPr>
              <a:t>Yes</a:t>
            </a:r>
            <a:endParaRPr sz="673">
              <a:latin typeface="Calibri"/>
              <a:cs typeface="Calibri"/>
            </a:endParaRPr>
          </a:p>
        </p:txBody>
      </p:sp>
      <p:sp>
        <p:nvSpPr>
          <p:cNvPr id="79" name="object 79">
            <a:extLst>
              <a:ext uri="{FF2B5EF4-FFF2-40B4-BE49-F238E27FC236}">
                <a16:creationId xmlns:a16="http://schemas.microsoft.com/office/drawing/2014/main" id="{5371DD9B-0EB4-A366-A38B-0FB73556B2D6}"/>
              </a:ext>
            </a:extLst>
          </p:cNvPr>
          <p:cNvSpPr txBox="1"/>
          <p:nvPr/>
        </p:nvSpPr>
        <p:spPr>
          <a:xfrm>
            <a:off x="239010" y="2100723"/>
            <a:ext cx="2370548" cy="170560"/>
          </a:xfrm>
          <a:prstGeom prst="rect">
            <a:avLst/>
          </a:prstGeom>
        </p:spPr>
        <p:txBody>
          <a:bodyPr vert="horz" wrap="square" lIns="0" tIns="0" rIns="0" bIns="0" rtlCol="0">
            <a:spAutoFit/>
          </a:bodyPr>
          <a:lstStyle/>
          <a:p>
            <a:pPr>
              <a:lnSpc>
                <a:spcPts val="1279"/>
              </a:lnSpc>
            </a:pPr>
            <a:r>
              <a:rPr sz="1346">
                <a:latin typeface="Calibri"/>
                <a:cs typeface="Calibri"/>
              </a:rPr>
              <a:t>Outcomes</a:t>
            </a:r>
            <a:r>
              <a:rPr sz="1346" spc="-34">
                <a:latin typeface="Calibri"/>
                <a:cs typeface="Calibri"/>
              </a:rPr>
              <a:t> </a:t>
            </a:r>
            <a:r>
              <a:rPr sz="1346">
                <a:latin typeface="Calibri"/>
                <a:cs typeface="Calibri"/>
              </a:rPr>
              <a:t>Based</a:t>
            </a:r>
            <a:r>
              <a:rPr sz="1346" spc="-34">
                <a:latin typeface="Calibri"/>
                <a:cs typeface="Calibri"/>
              </a:rPr>
              <a:t> </a:t>
            </a:r>
            <a:r>
              <a:rPr sz="1346">
                <a:latin typeface="Calibri"/>
                <a:cs typeface="Calibri"/>
              </a:rPr>
              <a:t>Planning</a:t>
            </a:r>
            <a:r>
              <a:rPr sz="1346" spc="-29">
                <a:latin typeface="Calibri"/>
                <a:cs typeface="Calibri"/>
              </a:rPr>
              <a:t> </a:t>
            </a:r>
            <a:r>
              <a:rPr sz="1346" spc="-8">
                <a:latin typeface="Calibri"/>
                <a:cs typeface="Calibri"/>
              </a:rPr>
              <a:t>Process</a:t>
            </a:r>
            <a:endParaRPr sz="1346">
              <a:latin typeface="Calibri"/>
              <a:cs typeface="Calibri"/>
            </a:endParaRPr>
          </a:p>
        </p:txBody>
      </p:sp>
      <p:grpSp>
        <p:nvGrpSpPr>
          <p:cNvPr id="80" name="object 80">
            <a:extLst>
              <a:ext uri="{FF2B5EF4-FFF2-40B4-BE49-F238E27FC236}">
                <a16:creationId xmlns:a16="http://schemas.microsoft.com/office/drawing/2014/main" id="{3E891DB9-0D1A-D867-6032-BE1CCF5F3CDB}"/>
              </a:ext>
            </a:extLst>
          </p:cNvPr>
          <p:cNvGrpSpPr/>
          <p:nvPr/>
        </p:nvGrpSpPr>
        <p:grpSpPr>
          <a:xfrm>
            <a:off x="192337" y="1981080"/>
            <a:ext cx="11811601" cy="2895199"/>
            <a:chOff x="228600" y="228536"/>
            <a:chExt cx="14038580" cy="3441065"/>
          </a:xfrm>
        </p:grpSpPr>
        <p:sp>
          <p:nvSpPr>
            <p:cNvPr id="81" name="object 81">
              <a:extLst>
                <a:ext uri="{FF2B5EF4-FFF2-40B4-BE49-F238E27FC236}">
                  <a16:creationId xmlns:a16="http://schemas.microsoft.com/office/drawing/2014/main" id="{98742FDF-3FED-3643-C40A-A376B7E7202B}"/>
                </a:ext>
              </a:extLst>
            </p:cNvPr>
            <p:cNvSpPr/>
            <p:nvPr/>
          </p:nvSpPr>
          <p:spPr>
            <a:xfrm>
              <a:off x="233362" y="233387"/>
              <a:ext cx="14029055" cy="3431540"/>
            </a:xfrm>
            <a:custGeom>
              <a:avLst/>
              <a:gdLst/>
              <a:ahLst/>
              <a:cxnLst/>
              <a:rect l="l" t="t" r="r" b="b"/>
              <a:pathLst>
                <a:path w="14029055" h="3431540">
                  <a:moveTo>
                    <a:pt x="0" y="3431032"/>
                  </a:moveTo>
                  <a:lnTo>
                    <a:pt x="14028801" y="3431032"/>
                  </a:lnTo>
                  <a:lnTo>
                    <a:pt x="14028801" y="0"/>
                  </a:lnTo>
                  <a:lnTo>
                    <a:pt x="0" y="0"/>
                  </a:lnTo>
                  <a:lnTo>
                    <a:pt x="0" y="3431032"/>
                  </a:lnTo>
                  <a:close/>
                </a:path>
              </a:pathLst>
            </a:custGeom>
            <a:ln w="9525">
              <a:solidFill>
                <a:srgbClr val="000000"/>
              </a:solidFill>
            </a:ln>
          </p:spPr>
          <p:txBody>
            <a:bodyPr wrap="square" lIns="0" tIns="0" rIns="0" bIns="0" rtlCol="0"/>
            <a:lstStyle/>
            <a:p>
              <a:endParaRPr sz="1515"/>
            </a:p>
          </p:txBody>
        </p:sp>
        <p:sp>
          <p:nvSpPr>
            <p:cNvPr id="82" name="object 82">
              <a:extLst>
                <a:ext uri="{FF2B5EF4-FFF2-40B4-BE49-F238E27FC236}">
                  <a16:creationId xmlns:a16="http://schemas.microsoft.com/office/drawing/2014/main" id="{02A758E9-B52C-58BC-0AFA-613DE6834961}"/>
                </a:ext>
              </a:extLst>
            </p:cNvPr>
            <p:cNvSpPr/>
            <p:nvPr/>
          </p:nvSpPr>
          <p:spPr>
            <a:xfrm>
              <a:off x="233362" y="233298"/>
              <a:ext cx="14029055" cy="457200"/>
            </a:xfrm>
            <a:custGeom>
              <a:avLst/>
              <a:gdLst/>
              <a:ahLst/>
              <a:cxnLst/>
              <a:rect l="l" t="t" r="r" b="b"/>
              <a:pathLst>
                <a:path w="14029055" h="457200">
                  <a:moveTo>
                    <a:pt x="14028801" y="0"/>
                  </a:moveTo>
                  <a:lnTo>
                    <a:pt x="0" y="0"/>
                  </a:lnTo>
                  <a:lnTo>
                    <a:pt x="0" y="457200"/>
                  </a:lnTo>
                  <a:lnTo>
                    <a:pt x="14028801" y="457200"/>
                  </a:lnTo>
                  <a:lnTo>
                    <a:pt x="14028801" y="0"/>
                  </a:lnTo>
                  <a:close/>
                </a:path>
              </a:pathLst>
            </a:custGeom>
            <a:solidFill>
              <a:srgbClr val="FFFFFF"/>
            </a:solidFill>
          </p:spPr>
          <p:txBody>
            <a:bodyPr wrap="square" lIns="0" tIns="0" rIns="0" bIns="0" rtlCol="0"/>
            <a:lstStyle/>
            <a:p>
              <a:endParaRPr sz="1515"/>
            </a:p>
          </p:txBody>
        </p:sp>
        <p:sp>
          <p:nvSpPr>
            <p:cNvPr id="83" name="object 83">
              <a:extLst>
                <a:ext uri="{FF2B5EF4-FFF2-40B4-BE49-F238E27FC236}">
                  <a16:creationId xmlns:a16="http://schemas.microsoft.com/office/drawing/2014/main" id="{8370B3CA-6FC1-12EE-F813-99AED5BC0867}"/>
                </a:ext>
              </a:extLst>
            </p:cNvPr>
            <p:cNvSpPr/>
            <p:nvPr/>
          </p:nvSpPr>
          <p:spPr>
            <a:xfrm>
              <a:off x="233362" y="233298"/>
              <a:ext cx="14029055" cy="457200"/>
            </a:xfrm>
            <a:custGeom>
              <a:avLst/>
              <a:gdLst/>
              <a:ahLst/>
              <a:cxnLst/>
              <a:rect l="l" t="t" r="r" b="b"/>
              <a:pathLst>
                <a:path w="14029055" h="457200">
                  <a:moveTo>
                    <a:pt x="0" y="457200"/>
                  </a:moveTo>
                  <a:lnTo>
                    <a:pt x="14028801" y="457200"/>
                  </a:lnTo>
                  <a:lnTo>
                    <a:pt x="14028801" y="0"/>
                  </a:lnTo>
                  <a:lnTo>
                    <a:pt x="0" y="0"/>
                  </a:lnTo>
                  <a:lnTo>
                    <a:pt x="0" y="457200"/>
                  </a:lnTo>
                  <a:close/>
                </a:path>
              </a:pathLst>
            </a:custGeom>
            <a:ln w="9525">
              <a:solidFill>
                <a:srgbClr val="000000"/>
              </a:solidFill>
            </a:ln>
          </p:spPr>
          <p:txBody>
            <a:bodyPr wrap="square" lIns="0" tIns="0" rIns="0" bIns="0" rtlCol="0"/>
            <a:lstStyle/>
            <a:p>
              <a:endParaRPr sz="1515"/>
            </a:p>
          </p:txBody>
        </p:sp>
      </p:grpSp>
      <p:sp>
        <p:nvSpPr>
          <p:cNvPr id="85" name="object 85">
            <a:extLst>
              <a:ext uri="{FF2B5EF4-FFF2-40B4-BE49-F238E27FC236}">
                <a16:creationId xmlns:a16="http://schemas.microsoft.com/office/drawing/2014/main" id="{1CCC4152-82D9-762E-36AD-6350DE770939}"/>
              </a:ext>
            </a:extLst>
          </p:cNvPr>
          <p:cNvSpPr/>
          <p:nvPr/>
        </p:nvSpPr>
        <p:spPr>
          <a:xfrm>
            <a:off x="196344" y="2369834"/>
            <a:ext cx="11803587" cy="2502512"/>
          </a:xfrm>
          <a:custGeom>
            <a:avLst/>
            <a:gdLst/>
            <a:ahLst/>
            <a:cxnLst/>
            <a:rect l="l" t="t" r="r" b="b"/>
            <a:pathLst>
              <a:path w="14029055" h="2974340">
                <a:moveTo>
                  <a:pt x="0" y="2973832"/>
                </a:moveTo>
                <a:lnTo>
                  <a:pt x="14028801" y="2973832"/>
                </a:lnTo>
                <a:lnTo>
                  <a:pt x="14028801" y="0"/>
                </a:lnTo>
                <a:lnTo>
                  <a:pt x="0" y="0"/>
                </a:lnTo>
                <a:lnTo>
                  <a:pt x="0" y="2973832"/>
                </a:lnTo>
                <a:close/>
              </a:path>
            </a:pathLst>
          </a:custGeom>
          <a:ln w="9525">
            <a:solidFill>
              <a:srgbClr val="000000"/>
            </a:solidFill>
          </a:ln>
        </p:spPr>
        <p:txBody>
          <a:bodyPr wrap="square" lIns="0" tIns="0" rIns="0" bIns="0" rtlCol="0"/>
          <a:lstStyle/>
          <a:p>
            <a:endParaRPr sz="1515"/>
          </a:p>
        </p:txBody>
      </p:sp>
      <p:sp>
        <p:nvSpPr>
          <p:cNvPr id="86" name="object 86">
            <a:extLst>
              <a:ext uri="{FF2B5EF4-FFF2-40B4-BE49-F238E27FC236}">
                <a16:creationId xmlns:a16="http://schemas.microsoft.com/office/drawing/2014/main" id="{67EE5D15-8CFF-546A-7280-2274165CD870}"/>
              </a:ext>
            </a:extLst>
          </p:cNvPr>
          <p:cNvSpPr txBox="1"/>
          <p:nvPr/>
        </p:nvSpPr>
        <p:spPr>
          <a:xfrm>
            <a:off x="335435" y="3028181"/>
            <a:ext cx="130357" cy="1188212"/>
          </a:xfrm>
          <a:prstGeom prst="rect">
            <a:avLst/>
          </a:prstGeom>
        </p:spPr>
        <p:txBody>
          <a:bodyPr vert="vert270" wrap="square" lIns="0" tIns="0" rIns="0" bIns="0" rtlCol="0">
            <a:spAutoFit/>
          </a:bodyPr>
          <a:lstStyle/>
          <a:p>
            <a:pPr>
              <a:lnSpc>
                <a:spcPts val="959"/>
              </a:lnSpc>
            </a:pPr>
            <a:r>
              <a:rPr sz="1010">
                <a:latin typeface="Calibri"/>
                <a:cs typeface="Calibri"/>
              </a:rPr>
              <a:t>State</a:t>
            </a:r>
            <a:r>
              <a:rPr sz="1010" spc="-25">
                <a:latin typeface="Calibri"/>
                <a:cs typeface="Calibri"/>
              </a:rPr>
              <a:t> </a:t>
            </a:r>
            <a:r>
              <a:rPr sz="1010">
                <a:latin typeface="Calibri"/>
                <a:cs typeface="Calibri"/>
              </a:rPr>
              <a:t>Medicaid</a:t>
            </a:r>
            <a:r>
              <a:rPr sz="1010" spc="-21">
                <a:latin typeface="Calibri"/>
                <a:cs typeface="Calibri"/>
              </a:rPr>
              <a:t> </a:t>
            </a:r>
            <a:r>
              <a:rPr sz="1010" spc="-8">
                <a:latin typeface="Calibri"/>
                <a:cs typeface="Calibri"/>
              </a:rPr>
              <a:t>Agency</a:t>
            </a:r>
            <a:endParaRPr sz="1010">
              <a:latin typeface="Calibri"/>
              <a:cs typeface="Calibri"/>
            </a:endParaRPr>
          </a:p>
        </p:txBody>
      </p:sp>
      <p:grpSp>
        <p:nvGrpSpPr>
          <p:cNvPr id="87" name="object 87">
            <a:extLst>
              <a:ext uri="{FF2B5EF4-FFF2-40B4-BE49-F238E27FC236}">
                <a16:creationId xmlns:a16="http://schemas.microsoft.com/office/drawing/2014/main" id="{DFF1CF49-4ADA-7B87-A228-7F5CF6325966}"/>
              </a:ext>
            </a:extLst>
          </p:cNvPr>
          <p:cNvGrpSpPr/>
          <p:nvPr/>
        </p:nvGrpSpPr>
        <p:grpSpPr>
          <a:xfrm>
            <a:off x="192337" y="2365828"/>
            <a:ext cx="11811601" cy="2510526"/>
            <a:chOff x="228600" y="685825"/>
            <a:chExt cx="14038580" cy="2983865"/>
          </a:xfrm>
        </p:grpSpPr>
        <p:sp>
          <p:nvSpPr>
            <p:cNvPr id="88" name="object 88">
              <a:extLst>
                <a:ext uri="{FF2B5EF4-FFF2-40B4-BE49-F238E27FC236}">
                  <a16:creationId xmlns:a16="http://schemas.microsoft.com/office/drawing/2014/main" id="{B64EABF3-185B-D54F-F549-279AD4C707D1}"/>
                </a:ext>
              </a:extLst>
            </p:cNvPr>
            <p:cNvSpPr/>
            <p:nvPr/>
          </p:nvSpPr>
          <p:spPr>
            <a:xfrm>
              <a:off x="233362" y="690587"/>
              <a:ext cx="14029055" cy="2974340"/>
            </a:xfrm>
            <a:custGeom>
              <a:avLst/>
              <a:gdLst/>
              <a:ahLst/>
              <a:cxnLst/>
              <a:rect l="l" t="t" r="r" b="b"/>
              <a:pathLst>
                <a:path w="14029055" h="2974340">
                  <a:moveTo>
                    <a:pt x="0" y="2973832"/>
                  </a:moveTo>
                  <a:lnTo>
                    <a:pt x="14028801" y="2973832"/>
                  </a:lnTo>
                  <a:lnTo>
                    <a:pt x="14028801" y="0"/>
                  </a:lnTo>
                  <a:lnTo>
                    <a:pt x="0" y="0"/>
                  </a:lnTo>
                  <a:lnTo>
                    <a:pt x="0" y="2973832"/>
                  </a:lnTo>
                  <a:close/>
                </a:path>
              </a:pathLst>
            </a:custGeom>
            <a:ln w="9525">
              <a:solidFill>
                <a:srgbClr val="000000"/>
              </a:solidFill>
            </a:ln>
          </p:spPr>
          <p:txBody>
            <a:bodyPr wrap="square" lIns="0" tIns="0" rIns="0" bIns="0" rtlCol="0"/>
            <a:lstStyle/>
            <a:p>
              <a:endParaRPr sz="1515"/>
            </a:p>
          </p:txBody>
        </p:sp>
        <p:sp>
          <p:nvSpPr>
            <p:cNvPr id="89" name="object 89">
              <a:extLst>
                <a:ext uri="{FF2B5EF4-FFF2-40B4-BE49-F238E27FC236}">
                  <a16:creationId xmlns:a16="http://schemas.microsoft.com/office/drawing/2014/main" id="{EB68C009-7BAB-8463-D760-0E616FBD49F6}"/>
                </a:ext>
              </a:extLst>
            </p:cNvPr>
            <p:cNvSpPr/>
            <p:nvPr/>
          </p:nvSpPr>
          <p:spPr>
            <a:xfrm>
              <a:off x="233362" y="690587"/>
              <a:ext cx="467995" cy="2974340"/>
            </a:xfrm>
            <a:custGeom>
              <a:avLst/>
              <a:gdLst/>
              <a:ahLst/>
              <a:cxnLst/>
              <a:rect l="l" t="t" r="r" b="b"/>
              <a:pathLst>
                <a:path w="467995" h="2974340">
                  <a:moveTo>
                    <a:pt x="467436" y="0"/>
                  </a:moveTo>
                  <a:lnTo>
                    <a:pt x="0" y="0"/>
                  </a:lnTo>
                  <a:lnTo>
                    <a:pt x="0" y="2973832"/>
                  </a:lnTo>
                  <a:lnTo>
                    <a:pt x="467436" y="2973832"/>
                  </a:lnTo>
                  <a:lnTo>
                    <a:pt x="467436" y="0"/>
                  </a:lnTo>
                  <a:close/>
                </a:path>
              </a:pathLst>
            </a:custGeom>
            <a:solidFill>
              <a:srgbClr val="FFFFFF"/>
            </a:solidFill>
          </p:spPr>
          <p:txBody>
            <a:bodyPr wrap="square" lIns="0" tIns="0" rIns="0" bIns="0" rtlCol="0"/>
            <a:lstStyle/>
            <a:p>
              <a:endParaRPr sz="1515"/>
            </a:p>
          </p:txBody>
        </p:sp>
        <p:sp>
          <p:nvSpPr>
            <p:cNvPr id="90" name="object 90">
              <a:extLst>
                <a:ext uri="{FF2B5EF4-FFF2-40B4-BE49-F238E27FC236}">
                  <a16:creationId xmlns:a16="http://schemas.microsoft.com/office/drawing/2014/main" id="{FAD04AD0-DD76-E910-1B95-C53E117EEE1C}"/>
                </a:ext>
              </a:extLst>
            </p:cNvPr>
            <p:cNvSpPr/>
            <p:nvPr/>
          </p:nvSpPr>
          <p:spPr>
            <a:xfrm>
              <a:off x="233362" y="690587"/>
              <a:ext cx="467995" cy="2974340"/>
            </a:xfrm>
            <a:custGeom>
              <a:avLst/>
              <a:gdLst/>
              <a:ahLst/>
              <a:cxnLst/>
              <a:rect l="l" t="t" r="r" b="b"/>
              <a:pathLst>
                <a:path w="467995" h="2974340">
                  <a:moveTo>
                    <a:pt x="0" y="2973832"/>
                  </a:moveTo>
                  <a:lnTo>
                    <a:pt x="467436" y="2973832"/>
                  </a:lnTo>
                  <a:lnTo>
                    <a:pt x="467436" y="0"/>
                  </a:lnTo>
                  <a:lnTo>
                    <a:pt x="0" y="0"/>
                  </a:lnTo>
                  <a:lnTo>
                    <a:pt x="0" y="2973832"/>
                  </a:lnTo>
                  <a:close/>
                </a:path>
              </a:pathLst>
            </a:custGeom>
            <a:ln w="9525">
              <a:solidFill>
                <a:srgbClr val="000000"/>
              </a:solidFill>
            </a:ln>
          </p:spPr>
          <p:txBody>
            <a:bodyPr wrap="square" lIns="0" tIns="0" rIns="0" bIns="0" rtlCol="0"/>
            <a:lstStyle/>
            <a:p>
              <a:endParaRPr sz="1515"/>
            </a:p>
          </p:txBody>
        </p:sp>
      </p:grpSp>
      <p:sp>
        <p:nvSpPr>
          <p:cNvPr id="91" name="object 91">
            <a:extLst>
              <a:ext uri="{FF2B5EF4-FFF2-40B4-BE49-F238E27FC236}">
                <a16:creationId xmlns:a16="http://schemas.microsoft.com/office/drawing/2014/main" id="{7C06A1A4-B06E-89A4-2844-17BC40D191F8}"/>
              </a:ext>
            </a:extLst>
          </p:cNvPr>
          <p:cNvSpPr txBox="1"/>
          <p:nvPr/>
        </p:nvSpPr>
        <p:spPr>
          <a:xfrm>
            <a:off x="320713" y="2943723"/>
            <a:ext cx="155427" cy="1384823"/>
          </a:xfrm>
          <a:prstGeom prst="rect">
            <a:avLst/>
          </a:prstGeom>
        </p:spPr>
        <p:txBody>
          <a:bodyPr vert="vert270" wrap="square" lIns="0" tIns="0" rIns="0" bIns="0" rtlCol="0">
            <a:spAutoFit/>
          </a:bodyPr>
          <a:lstStyle/>
          <a:p>
            <a:pPr marL="10686"/>
            <a:r>
              <a:rPr sz="1010">
                <a:latin typeface="Arial" panose="020B0604020202020204" pitchFamily="34" charset="0"/>
                <a:cs typeface="Arial" panose="020B0604020202020204" pitchFamily="34" charset="0"/>
              </a:rPr>
              <a:t>State</a:t>
            </a:r>
            <a:r>
              <a:rPr sz="1010" spc="-25">
                <a:latin typeface="Calibri"/>
                <a:cs typeface="Calibri"/>
              </a:rPr>
              <a:t> </a:t>
            </a:r>
            <a:r>
              <a:rPr sz="1010">
                <a:latin typeface="Arial" panose="020B0604020202020204" pitchFamily="34" charset="0"/>
                <a:cs typeface="Arial" panose="020B0604020202020204" pitchFamily="34" charset="0"/>
              </a:rPr>
              <a:t>Medicaid</a:t>
            </a:r>
            <a:r>
              <a:rPr sz="1010" spc="-21">
                <a:latin typeface="Calibri"/>
                <a:cs typeface="Calibri"/>
              </a:rPr>
              <a:t> </a:t>
            </a:r>
            <a:r>
              <a:rPr sz="1010" spc="-8">
                <a:latin typeface="Calibri"/>
                <a:cs typeface="Calibri"/>
              </a:rPr>
              <a:t>Agency</a:t>
            </a:r>
            <a:endParaRPr sz="1010">
              <a:latin typeface="Calibri"/>
              <a:cs typeface="Calibri"/>
            </a:endParaRPr>
          </a:p>
        </p:txBody>
      </p:sp>
      <p:sp>
        <p:nvSpPr>
          <p:cNvPr id="93" name="object 93">
            <a:extLst>
              <a:ext uri="{FF2B5EF4-FFF2-40B4-BE49-F238E27FC236}">
                <a16:creationId xmlns:a16="http://schemas.microsoft.com/office/drawing/2014/main" id="{A6CC3FB4-D854-240D-6BE0-E9AD1E5A860E}"/>
              </a:ext>
            </a:extLst>
          </p:cNvPr>
          <p:cNvSpPr/>
          <p:nvPr/>
        </p:nvSpPr>
        <p:spPr>
          <a:xfrm>
            <a:off x="196344" y="2369759"/>
            <a:ext cx="11803587" cy="0"/>
          </a:xfrm>
          <a:custGeom>
            <a:avLst/>
            <a:gdLst/>
            <a:ahLst/>
            <a:cxnLst/>
            <a:rect l="l" t="t" r="r" b="b"/>
            <a:pathLst>
              <a:path w="14029055">
                <a:moveTo>
                  <a:pt x="0" y="0"/>
                </a:moveTo>
                <a:lnTo>
                  <a:pt x="14028864" y="0"/>
                </a:lnTo>
                <a:lnTo>
                  <a:pt x="0" y="0"/>
                </a:lnTo>
                <a:close/>
              </a:path>
            </a:pathLst>
          </a:custGeom>
          <a:ln w="9525">
            <a:solidFill>
              <a:srgbClr val="000000"/>
            </a:solidFill>
          </a:ln>
        </p:spPr>
        <p:txBody>
          <a:bodyPr wrap="square" lIns="0" tIns="0" rIns="0" bIns="0" rtlCol="0"/>
          <a:lstStyle/>
          <a:p>
            <a:endParaRPr sz="1515"/>
          </a:p>
        </p:txBody>
      </p:sp>
      <p:sp>
        <p:nvSpPr>
          <p:cNvPr id="96" name="object 96">
            <a:extLst>
              <a:ext uri="{FF2B5EF4-FFF2-40B4-BE49-F238E27FC236}">
                <a16:creationId xmlns:a16="http://schemas.microsoft.com/office/drawing/2014/main" id="{8EEF1F7B-0439-DA7A-0D3D-E2AFD6127DDA}"/>
              </a:ext>
            </a:extLst>
          </p:cNvPr>
          <p:cNvSpPr txBox="1"/>
          <p:nvPr/>
        </p:nvSpPr>
        <p:spPr>
          <a:xfrm>
            <a:off x="1035025" y="3743578"/>
            <a:ext cx="201953" cy="114344"/>
          </a:xfrm>
          <a:prstGeom prst="rect">
            <a:avLst/>
          </a:prstGeom>
        </p:spPr>
        <p:txBody>
          <a:bodyPr vert="horz" wrap="square" lIns="0" tIns="10685" rIns="0" bIns="0" rtlCol="0">
            <a:spAutoFit/>
          </a:bodyPr>
          <a:lstStyle/>
          <a:p>
            <a:pPr marL="10686">
              <a:spcBef>
                <a:spcPts val="84"/>
              </a:spcBef>
            </a:pPr>
            <a:r>
              <a:rPr sz="673" spc="-8">
                <a:latin typeface="Arial"/>
                <a:cs typeface="Arial"/>
              </a:rPr>
              <a:t>Start</a:t>
            </a:r>
            <a:endParaRPr sz="673">
              <a:latin typeface="Arial"/>
              <a:cs typeface="Arial"/>
            </a:endParaRPr>
          </a:p>
        </p:txBody>
      </p:sp>
      <p:sp>
        <p:nvSpPr>
          <p:cNvPr id="162" name="object 162">
            <a:extLst>
              <a:ext uri="{FF2B5EF4-FFF2-40B4-BE49-F238E27FC236}">
                <a16:creationId xmlns:a16="http://schemas.microsoft.com/office/drawing/2014/main" id="{9CCC1B75-F581-2754-8DF1-803436D07CFE}"/>
              </a:ext>
            </a:extLst>
          </p:cNvPr>
          <p:cNvSpPr/>
          <p:nvPr/>
        </p:nvSpPr>
        <p:spPr>
          <a:xfrm>
            <a:off x="11116398" y="3199952"/>
            <a:ext cx="118073" cy="102579"/>
          </a:xfrm>
          <a:custGeom>
            <a:avLst/>
            <a:gdLst/>
            <a:ahLst/>
            <a:cxnLst/>
            <a:rect l="l" t="t" r="r" b="b"/>
            <a:pathLst>
              <a:path w="140334" h="121919">
                <a:moveTo>
                  <a:pt x="139801" y="0"/>
                </a:moveTo>
                <a:lnTo>
                  <a:pt x="0" y="0"/>
                </a:lnTo>
                <a:lnTo>
                  <a:pt x="0" y="121918"/>
                </a:lnTo>
                <a:lnTo>
                  <a:pt x="139801" y="121918"/>
                </a:lnTo>
                <a:lnTo>
                  <a:pt x="139801" y="0"/>
                </a:lnTo>
                <a:close/>
              </a:path>
            </a:pathLst>
          </a:custGeom>
          <a:solidFill>
            <a:srgbClr val="FFFFFF"/>
          </a:solidFill>
        </p:spPr>
        <p:txBody>
          <a:bodyPr wrap="square" lIns="0" tIns="0" rIns="0" bIns="0" rtlCol="0"/>
          <a:lstStyle/>
          <a:p>
            <a:endParaRPr sz="1515"/>
          </a:p>
        </p:txBody>
      </p:sp>
      <p:sp>
        <p:nvSpPr>
          <p:cNvPr id="163" name="object 163">
            <a:extLst>
              <a:ext uri="{FF2B5EF4-FFF2-40B4-BE49-F238E27FC236}">
                <a16:creationId xmlns:a16="http://schemas.microsoft.com/office/drawing/2014/main" id="{28220325-5978-18B2-14AC-0CC761B88F22}"/>
              </a:ext>
            </a:extLst>
          </p:cNvPr>
          <p:cNvSpPr txBox="1"/>
          <p:nvPr/>
        </p:nvSpPr>
        <p:spPr>
          <a:xfrm>
            <a:off x="11083015" y="3229146"/>
            <a:ext cx="154970" cy="114344"/>
          </a:xfrm>
          <a:prstGeom prst="rect">
            <a:avLst/>
          </a:prstGeom>
        </p:spPr>
        <p:txBody>
          <a:bodyPr vert="horz" wrap="square" lIns="0" tIns="10685" rIns="0" bIns="0" rtlCol="0">
            <a:spAutoFit/>
          </a:bodyPr>
          <a:lstStyle/>
          <a:p>
            <a:pPr marL="10686">
              <a:spcBef>
                <a:spcPts val="84"/>
              </a:spcBef>
            </a:pPr>
            <a:r>
              <a:rPr sz="673" spc="-21">
                <a:latin typeface="Arial" panose="020B0604020202020204" pitchFamily="34" charset="0"/>
                <a:cs typeface="Arial" panose="020B0604020202020204" pitchFamily="34" charset="0"/>
              </a:rPr>
              <a:t>Yes</a:t>
            </a:r>
            <a:endParaRPr sz="673">
              <a:latin typeface="Arial" panose="020B0604020202020204" pitchFamily="34" charset="0"/>
              <a:cs typeface="Arial" panose="020B0604020202020204" pitchFamily="34" charset="0"/>
            </a:endParaRPr>
          </a:p>
        </p:txBody>
      </p:sp>
      <p:sp>
        <p:nvSpPr>
          <p:cNvPr id="167" name="object 167">
            <a:extLst>
              <a:ext uri="{FF2B5EF4-FFF2-40B4-BE49-F238E27FC236}">
                <a16:creationId xmlns:a16="http://schemas.microsoft.com/office/drawing/2014/main" id="{41CDAA32-9A56-00CF-8BCC-D9C6D8D8B34E}"/>
              </a:ext>
            </a:extLst>
          </p:cNvPr>
          <p:cNvSpPr/>
          <p:nvPr/>
        </p:nvSpPr>
        <p:spPr>
          <a:xfrm>
            <a:off x="11125212" y="3879114"/>
            <a:ext cx="100442" cy="102579"/>
          </a:xfrm>
          <a:custGeom>
            <a:avLst/>
            <a:gdLst/>
            <a:ahLst/>
            <a:cxnLst/>
            <a:rect l="l" t="t" r="r" b="b"/>
            <a:pathLst>
              <a:path w="119380" h="121919">
                <a:moveTo>
                  <a:pt x="119162" y="0"/>
                </a:moveTo>
                <a:lnTo>
                  <a:pt x="0" y="0"/>
                </a:lnTo>
                <a:lnTo>
                  <a:pt x="0" y="121918"/>
                </a:lnTo>
                <a:lnTo>
                  <a:pt x="119162" y="121918"/>
                </a:lnTo>
                <a:lnTo>
                  <a:pt x="119162" y="0"/>
                </a:lnTo>
                <a:close/>
              </a:path>
            </a:pathLst>
          </a:custGeom>
          <a:solidFill>
            <a:srgbClr val="FFFFFF"/>
          </a:solidFill>
        </p:spPr>
        <p:txBody>
          <a:bodyPr wrap="square" lIns="0" tIns="0" rIns="0" bIns="0" rtlCol="0"/>
          <a:lstStyle/>
          <a:p>
            <a:endParaRPr sz="1515"/>
          </a:p>
        </p:txBody>
      </p:sp>
      <p:sp>
        <p:nvSpPr>
          <p:cNvPr id="168" name="object 168">
            <a:extLst>
              <a:ext uri="{FF2B5EF4-FFF2-40B4-BE49-F238E27FC236}">
                <a16:creationId xmlns:a16="http://schemas.microsoft.com/office/drawing/2014/main" id="{32091BA2-79B2-EC0C-9D37-DA76C024438A}"/>
              </a:ext>
            </a:extLst>
          </p:cNvPr>
          <p:cNvSpPr txBox="1"/>
          <p:nvPr/>
        </p:nvSpPr>
        <p:spPr>
          <a:xfrm>
            <a:off x="11099593" y="3891099"/>
            <a:ext cx="121813" cy="114884"/>
          </a:xfrm>
          <a:prstGeom prst="rect">
            <a:avLst/>
          </a:prstGeom>
        </p:spPr>
        <p:txBody>
          <a:bodyPr vert="horz" wrap="square" lIns="0" tIns="11220" rIns="0" bIns="0" rtlCol="0">
            <a:spAutoFit/>
          </a:bodyPr>
          <a:lstStyle/>
          <a:p>
            <a:pPr marL="10686">
              <a:spcBef>
                <a:spcPts val="88"/>
              </a:spcBef>
            </a:pPr>
            <a:r>
              <a:rPr sz="673" spc="-21">
                <a:latin typeface="Arial" panose="020B0604020202020204" pitchFamily="34" charset="0"/>
                <a:cs typeface="Arial" panose="020B0604020202020204" pitchFamily="34" charset="0"/>
              </a:rPr>
              <a:t>No</a:t>
            </a:r>
            <a:endParaRPr sz="673">
              <a:latin typeface="Arial" panose="020B0604020202020204" pitchFamily="34" charset="0"/>
              <a:cs typeface="Arial" panose="020B0604020202020204" pitchFamily="34" charset="0"/>
            </a:endParaRPr>
          </a:p>
        </p:txBody>
      </p:sp>
      <p:sp>
        <p:nvSpPr>
          <p:cNvPr id="174" name="object 174">
            <a:extLst>
              <a:ext uri="{FF2B5EF4-FFF2-40B4-BE49-F238E27FC236}">
                <a16:creationId xmlns:a16="http://schemas.microsoft.com/office/drawing/2014/main" id="{99ADA1C0-F061-576D-6C94-E6DD72E9C8FE}"/>
              </a:ext>
            </a:extLst>
          </p:cNvPr>
          <p:cNvSpPr/>
          <p:nvPr/>
        </p:nvSpPr>
        <p:spPr>
          <a:xfrm>
            <a:off x="9856699" y="4242755"/>
            <a:ext cx="118073" cy="102579"/>
          </a:xfrm>
          <a:custGeom>
            <a:avLst/>
            <a:gdLst/>
            <a:ahLst/>
            <a:cxnLst/>
            <a:rect l="l" t="t" r="r" b="b"/>
            <a:pathLst>
              <a:path w="140334" h="121919">
                <a:moveTo>
                  <a:pt x="139801" y="0"/>
                </a:moveTo>
                <a:lnTo>
                  <a:pt x="0" y="0"/>
                </a:lnTo>
                <a:lnTo>
                  <a:pt x="0" y="121918"/>
                </a:lnTo>
                <a:lnTo>
                  <a:pt x="139801" y="121918"/>
                </a:lnTo>
                <a:lnTo>
                  <a:pt x="139801" y="0"/>
                </a:lnTo>
                <a:close/>
              </a:path>
            </a:pathLst>
          </a:custGeom>
          <a:solidFill>
            <a:srgbClr val="FFFFFF"/>
          </a:solidFill>
        </p:spPr>
        <p:txBody>
          <a:bodyPr wrap="square" lIns="0" tIns="0" rIns="0" bIns="0" rtlCol="0"/>
          <a:lstStyle/>
          <a:p>
            <a:endParaRPr sz="1515"/>
          </a:p>
        </p:txBody>
      </p:sp>
      <p:sp>
        <p:nvSpPr>
          <p:cNvPr id="175" name="object 175">
            <a:extLst>
              <a:ext uri="{FF2B5EF4-FFF2-40B4-BE49-F238E27FC236}">
                <a16:creationId xmlns:a16="http://schemas.microsoft.com/office/drawing/2014/main" id="{27712915-98B0-CA45-46B7-B236E98738D4}"/>
              </a:ext>
            </a:extLst>
          </p:cNvPr>
          <p:cNvSpPr txBox="1"/>
          <p:nvPr/>
        </p:nvSpPr>
        <p:spPr>
          <a:xfrm>
            <a:off x="9797930" y="4234909"/>
            <a:ext cx="189130" cy="114344"/>
          </a:xfrm>
          <a:prstGeom prst="rect">
            <a:avLst/>
          </a:prstGeom>
        </p:spPr>
        <p:txBody>
          <a:bodyPr vert="horz" wrap="square" lIns="0" tIns="10685" rIns="0" bIns="0" rtlCol="0">
            <a:spAutoFit/>
          </a:bodyPr>
          <a:lstStyle/>
          <a:p>
            <a:pPr marL="10686">
              <a:spcBef>
                <a:spcPts val="84"/>
              </a:spcBef>
            </a:pPr>
            <a:r>
              <a:rPr sz="673" spc="-21">
                <a:latin typeface="Arial" panose="020B0604020202020204" pitchFamily="34" charset="0"/>
                <a:cs typeface="Arial" panose="020B0604020202020204" pitchFamily="34" charset="0"/>
              </a:rPr>
              <a:t>Yes</a:t>
            </a:r>
            <a:endParaRPr sz="673">
              <a:latin typeface="Arial" panose="020B0604020202020204" pitchFamily="34" charset="0"/>
              <a:cs typeface="Arial" panose="020B0604020202020204" pitchFamily="34" charset="0"/>
            </a:endParaRPr>
          </a:p>
        </p:txBody>
      </p:sp>
      <p:cxnSp>
        <p:nvCxnSpPr>
          <p:cNvPr id="193" name="Straight Arrow Connector 192">
            <a:extLst>
              <a:ext uri="{FF2B5EF4-FFF2-40B4-BE49-F238E27FC236}">
                <a16:creationId xmlns:a16="http://schemas.microsoft.com/office/drawing/2014/main" id="{476EC762-8B3E-379C-4CD3-8DE49B89FA74}"/>
              </a:ext>
            </a:extLst>
          </p:cNvPr>
          <p:cNvCxnSpPr>
            <a:cxnSpLocks/>
            <a:stCxn id="200" idx="3"/>
            <a:endCxn id="265" idx="1"/>
          </p:cNvCxnSpPr>
          <p:nvPr/>
        </p:nvCxnSpPr>
        <p:spPr>
          <a:xfrm flipV="1">
            <a:off x="10692823" y="3621336"/>
            <a:ext cx="216359" cy="1523"/>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5" name="Connector: Elbow 194">
            <a:extLst>
              <a:ext uri="{FF2B5EF4-FFF2-40B4-BE49-F238E27FC236}">
                <a16:creationId xmlns:a16="http://schemas.microsoft.com/office/drawing/2014/main" id="{9AA12A33-4561-472E-4FB5-20278ABA8242}"/>
              </a:ext>
            </a:extLst>
          </p:cNvPr>
          <p:cNvCxnSpPr>
            <a:cxnSpLocks/>
            <a:stCxn id="265" idx="0"/>
            <a:endCxn id="17" idx="3"/>
          </p:cNvCxnSpPr>
          <p:nvPr/>
        </p:nvCxnSpPr>
        <p:spPr>
          <a:xfrm rot="16200000" flipV="1">
            <a:off x="8642194" y="681171"/>
            <a:ext cx="479897" cy="482342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0" name="Rectangle: Rounded Corners 199">
            <a:extLst>
              <a:ext uri="{FF2B5EF4-FFF2-40B4-BE49-F238E27FC236}">
                <a16:creationId xmlns:a16="http://schemas.microsoft.com/office/drawing/2014/main" id="{556F5CFB-FA66-CA6A-32F9-CFD07B02E17A}"/>
              </a:ext>
            </a:extLst>
          </p:cNvPr>
          <p:cNvSpPr/>
          <p:nvPr/>
        </p:nvSpPr>
        <p:spPr>
          <a:xfrm>
            <a:off x="9923476" y="3334354"/>
            <a:ext cx="769346" cy="577010"/>
          </a:xfrm>
          <a:prstGeom prst="roundRect">
            <a:avLst/>
          </a:prstGeom>
          <a:solidFill>
            <a:schemeClr val="tx2">
              <a:lumMod val="60000"/>
              <a:lumOff val="40000"/>
            </a:schemeClr>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Periodically track progress towards success</a:t>
            </a:r>
          </a:p>
        </p:txBody>
      </p:sp>
      <p:cxnSp>
        <p:nvCxnSpPr>
          <p:cNvPr id="211" name="Straight Arrow Connector 210">
            <a:extLst>
              <a:ext uri="{FF2B5EF4-FFF2-40B4-BE49-F238E27FC236}">
                <a16:creationId xmlns:a16="http://schemas.microsoft.com/office/drawing/2014/main" id="{9833052D-16E1-E0E6-807C-7F9497BB4B48}"/>
              </a:ext>
            </a:extLst>
          </p:cNvPr>
          <p:cNvCxnSpPr>
            <a:cxnSpLocks/>
            <a:stCxn id="30" idx="1"/>
            <a:endCxn id="41" idx="3"/>
          </p:cNvCxnSpPr>
          <p:nvPr/>
        </p:nvCxnSpPr>
        <p:spPr>
          <a:xfrm flipH="1" flipV="1">
            <a:off x="6470429" y="4389009"/>
            <a:ext cx="3453047" cy="5444"/>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4" name="Connector: Elbow 233">
            <a:extLst>
              <a:ext uri="{FF2B5EF4-FFF2-40B4-BE49-F238E27FC236}">
                <a16:creationId xmlns:a16="http://schemas.microsoft.com/office/drawing/2014/main" id="{D32C9BD4-1C5D-60C4-6DF8-FE27DD14642C}"/>
              </a:ext>
            </a:extLst>
          </p:cNvPr>
          <p:cNvCxnSpPr>
            <a:cxnSpLocks/>
            <a:stCxn id="240" idx="0"/>
            <a:endCxn id="17" idx="1"/>
          </p:cNvCxnSpPr>
          <p:nvPr/>
        </p:nvCxnSpPr>
        <p:spPr>
          <a:xfrm rot="5400000" flipH="1" flipV="1">
            <a:off x="3557061" y="1164852"/>
            <a:ext cx="455939" cy="3832106"/>
          </a:xfrm>
          <a:prstGeom prst="bentConnector2">
            <a:avLst/>
          </a:prstGeom>
          <a:ln w="9525">
            <a:solidFill>
              <a:srgbClr val="000000"/>
            </a:solidFill>
            <a:headEnd type="triangle" w="med" len="med"/>
            <a:tailEnd type="none" w="med" len="med"/>
          </a:ln>
        </p:spPr>
      </p:cxnSp>
      <p:sp>
        <p:nvSpPr>
          <p:cNvPr id="240" name="Rectangle: Rounded Corners 239">
            <a:extLst>
              <a:ext uri="{FF2B5EF4-FFF2-40B4-BE49-F238E27FC236}">
                <a16:creationId xmlns:a16="http://schemas.microsoft.com/office/drawing/2014/main" id="{0A7C57A3-6125-E776-C3F2-BC573A36D0E3}"/>
              </a:ext>
            </a:extLst>
          </p:cNvPr>
          <p:cNvSpPr/>
          <p:nvPr/>
        </p:nvSpPr>
        <p:spPr>
          <a:xfrm>
            <a:off x="1484304" y="3308874"/>
            <a:ext cx="769346" cy="577010"/>
          </a:xfrm>
          <a:prstGeom prst="roundRect">
            <a:avLst/>
          </a:prstGeom>
          <a:solidFill>
            <a:srgbClr val="B7DDE8"/>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Identify goals</a:t>
            </a:r>
          </a:p>
        </p:txBody>
      </p:sp>
      <p:cxnSp>
        <p:nvCxnSpPr>
          <p:cNvPr id="244" name="Straight Arrow Connector 243">
            <a:extLst>
              <a:ext uri="{FF2B5EF4-FFF2-40B4-BE49-F238E27FC236}">
                <a16:creationId xmlns:a16="http://schemas.microsoft.com/office/drawing/2014/main" id="{350FF6CB-F9BF-2051-EC84-26376B2A1F12}"/>
              </a:ext>
            </a:extLst>
          </p:cNvPr>
          <p:cNvCxnSpPr>
            <a:cxnSpLocks/>
            <a:stCxn id="246" idx="6"/>
            <a:endCxn id="240" idx="1"/>
          </p:cNvCxnSpPr>
          <p:nvPr/>
        </p:nvCxnSpPr>
        <p:spPr>
          <a:xfrm>
            <a:off x="1251403" y="3591893"/>
            <a:ext cx="232901" cy="5486"/>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6" name="Oval 245">
            <a:extLst>
              <a:ext uri="{FF2B5EF4-FFF2-40B4-BE49-F238E27FC236}">
                <a16:creationId xmlns:a16="http://schemas.microsoft.com/office/drawing/2014/main" id="{88F553C3-D8B9-2F25-7017-9CD6E2430376}"/>
              </a:ext>
            </a:extLst>
          </p:cNvPr>
          <p:cNvSpPr>
            <a:spLocks noChangeAspect="1"/>
          </p:cNvSpPr>
          <p:nvPr/>
        </p:nvSpPr>
        <p:spPr>
          <a:xfrm>
            <a:off x="1020599" y="3477084"/>
            <a:ext cx="230804" cy="229618"/>
          </a:xfrm>
          <a:prstGeom prst="ellipse">
            <a:avLst/>
          </a:prstGeom>
          <a:solidFill>
            <a:srgbClr val="9DBA6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15"/>
          </a:p>
        </p:txBody>
      </p:sp>
      <p:cxnSp>
        <p:nvCxnSpPr>
          <p:cNvPr id="253" name="Straight Connector 252">
            <a:extLst>
              <a:ext uri="{FF2B5EF4-FFF2-40B4-BE49-F238E27FC236}">
                <a16:creationId xmlns:a16="http://schemas.microsoft.com/office/drawing/2014/main" id="{BD66E400-6688-B3F1-4DFE-2D7651B79F63}"/>
              </a:ext>
            </a:extLst>
          </p:cNvPr>
          <p:cNvCxnSpPr/>
          <p:nvPr/>
        </p:nvCxnSpPr>
        <p:spPr>
          <a:xfrm>
            <a:off x="854356" y="4695047"/>
            <a:ext cx="561454" cy="0"/>
          </a:xfrm>
          <a:prstGeom prst="line">
            <a:avLst/>
          </a:prstGeom>
          <a:ln w="19050">
            <a:solidFill>
              <a:srgbClr val="0066FF"/>
            </a:solidFill>
            <a:prstDash val="dash"/>
          </a:ln>
        </p:spPr>
        <p:style>
          <a:lnRef idx="1">
            <a:schemeClr val="accent1"/>
          </a:lnRef>
          <a:fillRef idx="0">
            <a:schemeClr val="accent1"/>
          </a:fillRef>
          <a:effectRef idx="0">
            <a:schemeClr val="accent1"/>
          </a:effectRef>
          <a:fontRef idx="minor">
            <a:schemeClr val="tx1"/>
          </a:fontRef>
        </p:style>
      </p:cxnSp>
      <p:sp>
        <p:nvSpPr>
          <p:cNvPr id="254" name="TextBox 253">
            <a:extLst>
              <a:ext uri="{FF2B5EF4-FFF2-40B4-BE49-F238E27FC236}">
                <a16:creationId xmlns:a16="http://schemas.microsoft.com/office/drawing/2014/main" id="{223D47B7-9DBD-5978-C6DB-433211027FA5}"/>
              </a:ext>
            </a:extLst>
          </p:cNvPr>
          <p:cNvSpPr txBox="1"/>
          <p:nvPr/>
        </p:nvSpPr>
        <p:spPr>
          <a:xfrm>
            <a:off x="1424283" y="4583020"/>
            <a:ext cx="1744388" cy="221727"/>
          </a:xfrm>
          <a:prstGeom prst="rect">
            <a:avLst/>
          </a:prstGeom>
          <a:noFill/>
        </p:spPr>
        <p:txBody>
          <a:bodyPr wrap="none" rtlCol="0">
            <a:spAutoFit/>
          </a:bodyPr>
          <a:lstStyle/>
          <a:p>
            <a:r>
              <a:rPr lang="en-US" sz="841">
                <a:latin typeface="Arial" panose="020B0604020202020204" pitchFamily="34" charset="0"/>
                <a:cs typeface="Arial" panose="020B0604020202020204" pitchFamily="34" charset="0"/>
              </a:rPr>
              <a:t>Step not required in all instances</a:t>
            </a:r>
          </a:p>
        </p:txBody>
      </p:sp>
      <p:cxnSp>
        <p:nvCxnSpPr>
          <p:cNvPr id="256" name="Connector: Elbow 255">
            <a:extLst>
              <a:ext uri="{FF2B5EF4-FFF2-40B4-BE49-F238E27FC236}">
                <a16:creationId xmlns:a16="http://schemas.microsoft.com/office/drawing/2014/main" id="{9CB7A4DF-E0F5-7A8D-9360-6469F20C4A0D}"/>
              </a:ext>
            </a:extLst>
          </p:cNvPr>
          <p:cNvCxnSpPr>
            <a:cxnSpLocks/>
            <a:stCxn id="41" idx="1"/>
            <a:endCxn id="240" idx="2"/>
          </p:cNvCxnSpPr>
          <p:nvPr/>
        </p:nvCxnSpPr>
        <p:spPr>
          <a:xfrm rot="10800000">
            <a:off x="1868977" y="3885883"/>
            <a:ext cx="3832106" cy="503126"/>
          </a:xfrm>
          <a:prstGeom prst="bentConnector2">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1" name="Connector: Elbow 260">
            <a:extLst>
              <a:ext uri="{FF2B5EF4-FFF2-40B4-BE49-F238E27FC236}">
                <a16:creationId xmlns:a16="http://schemas.microsoft.com/office/drawing/2014/main" id="{8430442A-ABB3-F315-ED34-48A7363E9532}"/>
              </a:ext>
            </a:extLst>
          </p:cNvPr>
          <p:cNvCxnSpPr>
            <a:cxnSpLocks/>
            <a:stCxn id="265" idx="2"/>
            <a:endCxn id="30" idx="3"/>
          </p:cNvCxnSpPr>
          <p:nvPr/>
        </p:nvCxnSpPr>
        <p:spPr>
          <a:xfrm rot="5400000">
            <a:off x="10751033" y="3851631"/>
            <a:ext cx="484612" cy="601032"/>
          </a:xfrm>
          <a:prstGeom prst="bentConnector2">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22" name="Group 121">
            <a:extLst>
              <a:ext uri="{FF2B5EF4-FFF2-40B4-BE49-F238E27FC236}">
                <a16:creationId xmlns:a16="http://schemas.microsoft.com/office/drawing/2014/main" id="{9B4B7A09-57CF-D4A9-1131-37F6EC15C28C}"/>
              </a:ext>
            </a:extLst>
          </p:cNvPr>
          <p:cNvGrpSpPr/>
          <p:nvPr/>
        </p:nvGrpSpPr>
        <p:grpSpPr>
          <a:xfrm>
            <a:off x="10909182" y="3332832"/>
            <a:ext cx="769346" cy="577010"/>
            <a:chOff x="12966017" y="1835150"/>
            <a:chExt cx="914400" cy="685800"/>
          </a:xfrm>
        </p:grpSpPr>
        <p:sp>
          <p:nvSpPr>
            <p:cNvPr id="265" name="Diamond 264">
              <a:extLst>
                <a:ext uri="{FF2B5EF4-FFF2-40B4-BE49-F238E27FC236}">
                  <a16:creationId xmlns:a16="http://schemas.microsoft.com/office/drawing/2014/main" id="{0C692415-03C9-6929-9696-A4C6FF7F061A}"/>
                </a:ext>
              </a:extLst>
            </p:cNvPr>
            <p:cNvSpPr/>
            <p:nvPr/>
          </p:nvSpPr>
          <p:spPr>
            <a:xfrm>
              <a:off x="12966017" y="1835150"/>
              <a:ext cx="914400" cy="685800"/>
            </a:xfrm>
            <a:prstGeom prst="diamond">
              <a:avLst/>
            </a:prstGeom>
            <a:solidFill>
              <a:schemeClr val="tx2">
                <a:lumMod val="60000"/>
                <a:lumOff val="40000"/>
              </a:schemeClr>
            </a:solidFill>
            <a:ln>
              <a:solidFill>
                <a:schemeClr val="tx1">
                  <a:lumMod val="85000"/>
                  <a:lumOff val="15000"/>
                </a:schemeClr>
              </a:solidFill>
            </a:ln>
          </p:spPr>
          <p:txBody>
            <a:bodyPr wrap="square" lIns="0" tIns="0" rIns="0" bIns="0" rtlCol="0"/>
            <a:lstStyle/>
            <a:p>
              <a:endParaRPr lang="en-US" sz="1515"/>
            </a:p>
          </p:txBody>
        </p:sp>
        <p:sp>
          <p:nvSpPr>
            <p:cNvPr id="144" name="object 144">
              <a:extLst>
                <a:ext uri="{FF2B5EF4-FFF2-40B4-BE49-F238E27FC236}">
                  <a16:creationId xmlns:a16="http://schemas.microsoft.com/office/drawing/2014/main" id="{6E3BCAD1-7E16-5B74-2B1D-6AF41D009A5E}"/>
                </a:ext>
              </a:extLst>
            </p:cNvPr>
            <p:cNvSpPr txBox="1"/>
            <p:nvPr/>
          </p:nvSpPr>
          <p:spPr>
            <a:xfrm>
              <a:off x="13171479" y="1964809"/>
              <a:ext cx="519295" cy="369235"/>
            </a:xfrm>
            <a:prstGeom prst="rect">
              <a:avLst/>
            </a:prstGeom>
            <a:solidFill>
              <a:schemeClr val="tx2">
                <a:lumMod val="60000"/>
                <a:lumOff val="40000"/>
              </a:schemeClr>
            </a:solidFill>
          </p:spPr>
          <p:txBody>
            <a:bodyPr vert="horz" wrap="square" lIns="0" tIns="0" rIns="0" bIns="0" rtlCol="0">
              <a:spAutoFit/>
            </a:bodyPr>
            <a:lstStyle/>
            <a:p>
              <a:pPr marR="4274" algn="ctr">
                <a:spcBef>
                  <a:spcPts val="84"/>
                </a:spcBef>
              </a:pPr>
              <a:r>
                <a:rPr sz="673">
                  <a:latin typeface="Arial"/>
                  <a:cs typeface="Arial"/>
                </a:rPr>
                <a:t>Was</a:t>
              </a:r>
              <a:r>
                <a:rPr lang="en-US" sz="673">
                  <a:latin typeface="Arial"/>
                  <a:cs typeface="Arial"/>
                </a:rPr>
                <a:t> </a:t>
              </a:r>
              <a:r>
                <a:rPr sz="673" spc="-13">
                  <a:latin typeface="Arial"/>
                  <a:cs typeface="Arial"/>
                </a:rPr>
                <a:t> </a:t>
              </a:r>
              <a:r>
                <a:rPr lang="en-US" sz="673" spc="-8">
                  <a:latin typeface="Arial"/>
                  <a:cs typeface="Arial"/>
                </a:rPr>
                <a:t>s</a:t>
              </a:r>
              <a:r>
                <a:rPr sz="673" spc="-8">
                  <a:latin typeface="Arial"/>
                  <a:cs typeface="Arial"/>
                </a:rPr>
                <a:t>uccess achieved?</a:t>
              </a:r>
              <a:endParaRPr sz="673">
                <a:latin typeface="Arial"/>
                <a:cs typeface="Arial"/>
              </a:endParaRPr>
            </a:p>
          </p:txBody>
        </p:sp>
      </p:grpSp>
      <p:sp>
        <p:nvSpPr>
          <p:cNvPr id="17" name="Rectangle: Rounded Corners 16">
            <a:extLst>
              <a:ext uri="{FF2B5EF4-FFF2-40B4-BE49-F238E27FC236}">
                <a16:creationId xmlns:a16="http://schemas.microsoft.com/office/drawing/2014/main" id="{DBF838D0-3FF2-AA49-1B22-EC48988F2551}"/>
              </a:ext>
            </a:extLst>
          </p:cNvPr>
          <p:cNvSpPr/>
          <p:nvPr/>
        </p:nvSpPr>
        <p:spPr>
          <a:xfrm>
            <a:off x="5701083" y="2564429"/>
            <a:ext cx="769346" cy="577010"/>
          </a:xfrm>
          <a:prstGeom prst="roundRect">
            <a:avLst/>
          </a:prstGeom>
          <a:solidFill>
            <a:schemeClr val="tx2">
              <a:lumMod val="60000"/>
              <a:lumOff val="40000"/>
            </a:schemeClr>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Restart the process for continued growth</a:t>
            </a:r>
          </a:p>
        </p:txBody>
      </p:sp>
      <p:sp>
        <p:nvSpPr>
          <p:cNvPr id="22" name="Rectangle: Rounded Corners 21">
            <a:extLst>
              <a:ext uri="{FF2B5EF4-FFF2-40B4-BE49-F238E27FC236}">
                <a16:creationId xmlns:a16="http://schemas.microsoft.com/office/drawing/2014/main" id="{04461A28-21C3-C2F6-D73D-0805A03E65FF}"/>
              </a:ext>
            </a:extLst>
          </p:cNvPr>
          <p:cNvSpPr/>
          <p:nvPr/>
        </p:nvSpPr>
        <p:spPr>
          <a:xfrm>
            <a:off x="2422192" y="3316804"/>
            <a:ext cx="769346" cy="577010"/>
          </a:xfrm>
          <a:prstGeom prst="roundRect">
            <a:avLst/>
          </a:prstGeom>
          <a:solidFill>
            <a:srgbClr val="B7DDE8"/>
          </a:solidFill>
          <a:ln w="6350">
            <a:solidFill>
              <a:schemeClr val="tx1"/>
            </a:solidFill>
          </a:ln>
        </p:spPr>
        <p:txBody>
          <a:bodyPr wrap="square" lIns="15387" tIns="0" rIns="15387" bIns="0" rtlCol="0" anchor="ctr" anchorCtr="1"/>
          <a:lstStyle/>
          <a:p>
            <a:pPr algn="ctr"/>
            <a:r>
              <a:rPr lang="en-US" sz="673">
                <a:latin typeface="Arial" panose="020B0604020202020204" pitchFamily="34" charset="0"/>
                <a:cs typeface="Arial" panose="020B0604020202020204" pitchFamily="34" charset="0"/>
              </a:rPr>
              <a:t>Identify concerns, barriers, and specific pain points</a:t>
            </a:r>
          </a:p>
        </p:txBody>
      </p:sp>
      <p:sp>
        <p:nvSpPr>
          <p:cNvPr id="23" name="Rectangle: Rounded Corners 22">
            <a:extLst>
              <a:ext uri="{FF2B5EF4-FFF2-40B4-BE49-F238E27FC236}">
                <a16:creationId xmlns:a16="http://schemas.microsoft.com/office/drawing/2014/main" id="{22036E20-F2E4-C730-3505-122B2D66C817}"/>
              </a:ext>
            </a:extLst>
          </p:cNvPr>
          <p:cNvSpPr/>
          <p:nvPr/>
        </p:nvSpPr>
        <p:spPr>
          <a:xfrm>
            <a:off x="3360080" y="3334354"/>
            <a:ext cx="769346" cy="577010"/>
          </a:xfrm>
          <a:prstGeom prst="roundRect">
            <a:avLst/>
          </a:prstGeom>
          <a:solidFill>
            <a:srgbClr val="B7DDE8"/>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Develop challenge statement</a:t>
            </a:r>
          </a:p>
        </p:txBody>
      </p:sp>
      <p:sp>
        <p:nvSpPr>
          <p:cNvPr id="24" name="Rectangle: Rounded Corners 23">
            <a:extLst>
              <a:ext uri="{FF2B5EF4-FFF2-40B4-BE49-F238E27FC236}">
                <a16:creationId xmlns:a16="http://schemas.microsoft.com/office/drawing/2014/main" id="{C477DAF7-6D8A-8CA4-10BC-61CC77286E3C}"/>
              </a:ext>
            </a:extLst>
          </p:cNvPr>
          <p:cNvSpPr/>
          <p:nvPr/>
        </p:nvSpPr>
        <p:spPr>
          <a:xfrm>
            <a:off x="4297968" y="3334354"/>
            <a:ext cx="769346" cy="577010"/>
          </a:xfrm>
          <a:prstGeom prst="roundRect">
            <a:avLst/>
          </a:prstGeom>
          <a:solidFill>
            <a:srgbClr val="B7DDE8"/>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Develop outcomes to address challenge statement</a:t>
            </a:r>
          </a:p>
        </p:txBody>
      </p:sp>
      <p:sp>
        <p:nvSpPr>
          <p:cNvPr id="25" name="Rectangle: Rounded Corners 24">
            <a:extLst>
              <a:ext uri="{FF2B5EF4-FFF2-40B4-BE49-F238E27FC236}">
                <a16:creationId xmlns:a16="http://schemas.microsoft.com/office/drawing/2014/main" id="{B2E36221-A6E9-DEE8-7A96-9CABD69083F0}"/>
              </a:ext>
            </a:extLst>
          </p:cNvPr>
          <p:cNvSpPr/>
          <p:nvPr/>
        </p:nvSpPr>
        <p:spPr>
          <a:xfrm>
            <a:off x="5235856" y="3334354"/>
            <a:ext cx="769346" cy="577010"/>
          </a:xfrm>
          <a:prstGeom prst="roundRect">
            <a:avLst/>
          </a:prstGeom>
          <a:solidFill>
            <a:srgbClr val="B7DDE8"/>
          </a:solidFill>
          <a:ln w="6350">
            <a:solidFill>
              <a:schemeClr val="tx1"/>
            </a:solidFill>
          </a:ln>
        </p:spPr>
        <p:txBody>
          <a:bodyPr wrap="square" lIns="23080" tIns="0" rIns="23080" bIns="0" rtlCol="0" anchor="ctr" anchorCtr="1"/>
          <a:lstStyle/>
          <a:p>
            <a:pPr algn="ctr"/>
            <a:r>
              <a:rPr lang="en-US" sz="673">
                <a:latin typeface="Arial" panose="020B0604020202020204" pitchFamily="34" charset="0"/>
                <a:cs typeface="Arial" panose="020B0604020202020204" pitchFamily="34" charset="0"/>
              </a:rPr>
              <a:t>Determine metrics to measure outcome success</a:t>
            </a:r>
          </a:p>
        </p:txBody>
      </p:sp>
      <p:sp>
        <p:nvSpPr>
          <p:cNvPr id="26" name="Rectangle: Rounded Corners 25">
            <a:extLst>
              <a:ext uri="{FF2B5EF4-FFF2-40B4-BE49-F238E27FC236}">
                <a16:creationId xmlns:a16="http://schemas.microsoft.com/office/drawing/2014/main" id="{95D64EB5-CB22-0477-EE28-E992DA976D81}"/>
              </a:ext>
            </a:extLst>
          </p:cNvPr>
          <p:cNvSpPr/>
          <p:nvPr/>
        </p:nvSpPr>
        <p:spPr>
          <a:xfrm>
            <a:off x="6173744" y="3334354"/>
            <a:ext cx="769346" cy="577010"/>
          </a:xfrm>
          <a:prstGeom prst="roundRect">
            <a:avLst/>
          </a:prstGeom>
          <a:solidFill>
            <a:srgbClr val="B7DDE8"/>
          </a:solidFill>
          <a:ln w="6350">
            <a:solidFill>
              <a:schemeClr val="tx1"/>
            </a:solidFill>
          </a:ln>
        </p:spPr>
        <p:txBody>
          <a:bodyPr wrap="square" lIns="23080" tIns="0" rIns="23080" bIns="0" rtlCol="0" anchor="ctr" anchorCtr="1"/>
          <a:lstStyle/>
          <a:p>
            <a:pPr algn="ctr"/>
            <a:r>
              <a:rPr lang="en-US" sz="673">
                <a:latin typeface="Arial" panose="020B0604020202020204" pitchFamily="34" charset="0"/>
                <a:cs typeface="Arial" panose="020B0604020202020204" pitchFamily="34" charset="0"/>
              </a:rPr>
              <a:t>Determine success criteria for goal completion</a:t>
            </a:r>
          </a:p>
        </p:txBody>
      </p:sp>
      <p:sp>
        <p:nvSpPr>
          <p:cNvPr id="27" name="Rectangle: Rounded Corners 26">
            <a:extLst>
              <a:ext uri="{FF2B5EF4-FFF2-40B4-BE49-F238E27FC236}">
                <a16:creationId xmlns:a16="http://schemas.microsoft.com/office/drawing/2014/main" id="{87E4CCA8-0745-F46C-17A2-126AF8C2F49F}"/>
              </a:ext>
            </a:extLst>
          </p:cNvPr>
          <p:cNvSpPr/>
          <p:nvPr/>
        </p:nvSpPr>
        <p:spPr>
          <a:xfrm>
            <a:off x="7111632" y="3334354"/>
            <a:ext cx="769346" cy="577010"/>
          </a:xfrm>
          <a:prstGeom prst="roundRect">
            <a:avLst/>
          </a:prstGeom>
          <a:solidFill>
            <a:srgbClr val="00B0F0"/>
          </a:solidFill>
          <a:ln w="6350">
            <a:solidFill>
              <a:srgbClr val="00B0F0"/>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Map outcomes to MITA capability areas</a:t>
            </a:r>
          </a:p>
        </p:txBody>
      </p:sp>
      <p:sp>
        <p:nvSpPr>
          <p:cNvPr id="28" name="Rectangle: Rounded Corners 27">
            <a:extLst>
              <a:ext uri="{FF2B5EF4-FFF2-40B4-BE49-F238E27FC236}">
                <a16:creationId xmlns:a16="http://schemas.microsoft.com/office/drawing/2014/main" id="{3B5BE4D5-A1CD-1626-52FE-F5F728B4479E}"/>
              </a:ext>
            </a:extLst>
          </p:cNvPr>
          <p:cNvSpPr/>
          <p:nvPr/>
        </p:nvSpPr>
        <p:spPr>
          <a:xfrm>
            <a:off x="8049520" y="3334354"/>
            <a:ext cx="769346" cy="577010"/>
          </a:xfrm>
          <a:prstGeom prst="roundRect">
            <a:avLst/>
          </a:prstGeom>
          <a:solidFill>
            <a:schemeClr val="tx2">
              <a:lumMod val="60000"/>
              <a:lumOff val="40000"/>
            </a:schemeClr>
          </a:solidFill>
          <a:ln w="19050">
            <a:solidFill>
              <a:srgbClr val="0066FF"/>
            </a:solidFill>
            <a:prstDash val="dash"/>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Conduct maturity assessment of capabilities</a:t>
            </a:r>
          </a:p>
        </p:txBody>
      </p:sp>
      <p:sp>
        <p:nvSpPr>
          <p:cNvPr id="29" name="Rectangle: Rounded Corners 28">
            <a:extLst>
              <a:ext uri="{FF2B5EF4-FFF2-40B4-BE49-F238E27FC236}">
                <a16:creationId xmlns:a16="http://schemas.microsoft.com/office/drawing/2014/main" id="{AD14BA07-C81B-F625-D64B-B5AFB3944B9B}"/>
              </a:ext>
            </a:extLst>
          </p:cNvPr>
          <p:cNvSpPr/>
          <p:nvPr/>
        </p:nvSpPr>
        <p:spPr>
          <a:xfrm>
            <a:off x="8987408" y="3334354"/>
            <a:ext cx="769346" cy="577010"/>
          </a:xfrm>
          <a:prstGeom prst="roundRect">
            <a:avLst/>
          </a:prstGeom>
          <a:solidFill>
            <a:schemeClr val="tx2">
              <a:lumMod val="60000"/>
              <a:lumOff val="40000"/>
            </a:schemeClr>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Define projects that will achieve outcomes</a:t>
            </a:r>
          </a:p>
        </p:txBody>
      </p:sp>
      <p:grpSp>
        <p:nvGrpSpPr>
          <p:cNvPr id="123" name="Group 122">
            <a:extLst>
              <a:ext uri="{FF2B5EF4-FFF2-40B4-BE49-F238E27FC236}">
                <a16:creationId xmlns:a16="http://schemas.microsoft.com/office/drawing/2014/main" id="{CFDC1450-2301-1D12-F4CD-DD70324E1C9D}"/>
              </a:ext>
            </a:extLst>
          </p:cNvPr>
          <p:cNvGrpSpPr/>
          <p:nvPr/>
        </p:nvGrpSpPr>
        <p:grpSpPr>
          <a:xfrm>
            <a:off x="9923476" y="4105948"/>
            <a:ext cx="769346" cy="577010"/>
            <a:chOff x="11794465" y="2754031"/>
            <a:chExt cx="914400" cy="685800"/>
          </a:xfrm>
        </p:grpSpPr>
        <p:sp>
          <p:nvSpPr>
            <p:cNvPr id="30" name="Diamond 29">
              <a:extLst>
                <a:ext uri="{FF2B5EF4-FFF2-40B4-BE49-F238E27FC236}">
                  <a16:creationId xmlns:a16="http://schemas.microsoft.com/office/drawing/2014/main" id="{EDDEEEBF-1FAF-E128-8B48-7797839860CB}"/>
                </a:ext>
              </a:extLst>
            </p:cNvPr>
            <p:cNvSpPr/>
            <p:nvPr/>
          </p:nvSpPr>
          <p:spPr>
            <a:xfrm>
              <a:off x="11794465" y="2754031"/>
              <a:ext cx="914400" cy="685800"/>
            </a:xfrm>
            <a:prstGeom prst="diamond">
              <a:avLst/>
            </a:prstGeom>
            <a:solidFill>
              <a:schemeClr val="tx2">
                <a:lumMod val="60000"/>
                <a:lumOff val="40000"/>
              </a:schemeClr>
            </a:solidFill>
            <a:ln>
              <a:solidFill>
                <a:schemeClr val="tx1">
                  <a:lumMod val="85000"/>
                  <a:lumOff val="15000"/>
                </a:schemeClr>
              </a:solidFill>
            </a:ln>
          </p:spPr>
          <p:txBody>
            <a:bodyPr wrap="square" lIns="0" tIns="0" rIns="0" bIns="0" rtlCol="0"/>
            <a:lstStyle/>
            <a:p>
              <a:pPr algn="ctr"/>
              <a:endParaRPr lang="en-US" sz="673">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87FA628D-5C22-20DB-5EA6-BF416D6CF173}"/>
                </a:ext>
              </a:extLst>
            </p:cNvPr>
            <p:cNvSpPr txBox="1"/>
            <p:nvPr/>
          </p:nvSpPr>
          <p:spPr>
            <a:xfrm>
              <a:off x="11893258" y="2988266"/>
              <a:ext cx="717613" cy="246221"/>
            </a:xfrm>
            <a:prstGeom prst="rect">
              <a:avLst/>
            </a:prstGeom>
            <a:solidFill>
              <a:schemeClr val="tx2">
                <a:lumMod val="60000"/>
                <a:lumOff val="40000"/>
              </a:schemeClr>
            </a:solidFill>
          </p:spPr>
          <p:txBody>
            <a:bodyPr wrap="square" lIns="0" tIns="0" rIns="0" bIns="0" rtlCol="0">
              <a:noAutofit/>
            </a:bodyPr>
            <a:lstStyle/>
            <a:p>
              <a:pPr algn="ctr"/>
              <a:r>
                <a:rPr lang="en-US" sz="673">
                  <a:latin typeface="Arial" panose="020B0604020202020204" pitchFamily="34" charset="0"/>
                  <a:cs typeface="Arial" panose="020B0604020202020204" pitchFamily="34" charset="0"/>
                </a:rPr>
                <a:t>Have goals changed?</a:t>
              </a:r>
              <a:endParaRPr lang="en-US" sz="673"/>
            </a:p>
          </p:txBody>
        </p:sp>
      </p:grpSp>
      <p:cxnSp>
        <p:nvCxnSpPr>
          <p:cNvPr id="35" name="Straight Arrow Connector 34">
            <a:extLst>
              <a:ext uri="{FF2B5EF4-FFF2-40B4-BE49-F238E27FC236}">
                <a16:creationId xmlns:a16="http://schemas.microsoft.com/office/drawing/2014/main" id="{54550EBF-AB91-93DB-F16D-EDF54123C218}"/>
              </a:ext>
            </a:extLst>
          </p:cNvPr>
          <p:cNvCxnSpPr>
            <a:cxnSpLocks/>
            <a:stCxn id="30" idx="0"/>
            <a:endCxn id="200" idx="2"/>
          </p:cNvCxnSpPr>
          <p:nvPr/>
        </p:nvCxnSpPr>
        <p:spPr>
          <a:xfrm flipV="1">
            <a:off x="10308149" y="3911365"/>
            <a:ext cx="0" cy="194584"/>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0AB6B4C7-DED4-2FB2-33DF-6F4021B10BA9}"/>
              </a:ext>
            </a:extLst>
          </p:cNvPr>
          <p:cNvSpPr/>
          <p:nvPr/>
        </p:nvSpPr>
        <p:spPr>
          <a:xfrm>
            <a:off x="5701083" y="4100504"/>
            <a:ext cx="769346" cy="577010"/>
          </a:xfrm>
          <a:prstGeom prst="roundRect">
            <a:avLst/>
          </a:prstGeom>
          <a:solidFill>
            <a:schemeClr val="tx2">
              <a:lumMod val="60000"/>
              <a:lumOff val="40000"/>
            </a:schemeClr>
          </a:solidFill>
          <a:ln w="6350">
            <a:solidFill>
              <a:schemeClr val="tx1"/>
            </a:solidFill>
          </a:ln>
        </p:spPr>
        <p:txBody>
          <a:bodyPr wrap="square" lIns="38467" tIns="0" rIns="38467" bIns="0" rtlCol="0" anchor="ctr" anchorCtr="1"/>
          <a:lstStyle/>
          <a:p>
            <a:pPr algn="ctr"/>
            <a:r>
              <a:rPr lang="en-US" sz="673">
                <a:latin typeface="Arial" panose="020B0604020202020204" pitchFamily="34" charset="0"/>
                <a:cs typeface="Arial" panose="020B0604020202020204" pitchFamily="34" charset="0"/>
              </a:rPr>
              <a:t>Restart the process with new priorities</a:t>
            </a:r>
          </a:p>
        </p:txBody>
      </p:sp>
      <p:cxnSp>
        <p:nvCxnSpPr>
          <p:cNvPr id="45" name="Straight Arrow Connector 44">
            <a:extLst>
              <a:ext uri="{FF2B5EF4-FFF2-40B4-BE49-F238E27FC236}">
                <a16:creationId xmlns:a16="http://schemas.microsoft.com/office/drawing/2014/main" id="{1F9A67E3-D5AE-F803-B5DB-7FCD6F91581A}"/>
              </a:ext>
            </a:extLst>
          </p:cNvPr>
          <p:cNvCxnSpPr>
            <a:cxnSpLocks/>
            <a:stCxn id="22" idx="3"/>
            <a:endCxn id="23" idx="1"/>
          </p:cNvCxnSpPr>
          <p:nvPr/>
        </p:nvCxnSpPr>
        <p:spPr>
          <a:xfrm>
            <a:off x="3191538" y="3605308"/>
            <a:ext cx="168542" cy="17551"/>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F40D045-69EE-743C-17B9-45777D3EEC76}"/>
              </a:ext>
            </a:extLst>
          </p:cNvPr>
          <p:cNvCxnSpPr>
            <a:cxnSpLocks/>
            <a:stCxn id="23" idx="3"/>
            <a:endCxn id="24" idx="1"/>
          </p:cNvCxnSpPr>
          <p:nvPr/>
        </p:nvCxnSpPr>
        <p:spPr>
          <a:xfrm>
            <a:off x="4129426"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AA57AAB9-D21B-DBBD-D067-445F063F4E44}"/>
              </a:ext>
            </a:extLst>
          </p:cNvPr>
          <p:cNvCxnSpPr>
            <a:cxnSpLocks/>
            <a:stCxn id="25" idx="3"/>
            <a:endCxn id="26" idx="1"/>
          </p:cNvCxnSpPr>
          <p:nvPr/>
        </p:nvCxnSpPr>
        <p:spPr>
          <a:xfrm>
            <a:off x="6005203"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A05091A-3A9E-D148-C48D-9713BA47F256}"/>
              </a:ext>
            </a:extLst>
          </p:cNvPr>
          <p:cNvCxnSpPr>
            <a:cxnSpLocks/>
            <a:stCxn id="24" idx="3"/>
            <a:endCxn id="25" idx="1"/>
          </p:cNvCxnSpPr>
          <p:nvPr/>
        </p:nvCxnSpPr>
        <p:spPr>
          <a:xfrm>
            <a:off x="5067314"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A192272-23CD-541F-0C85-E69A740A0DE0}"/>
              </a:ext>
            </a:extLst>
          </p:cNvPr>
          <p:cNvCxnSpPr>
            <a:cxnSpLocks/>
            <a:stCxn id="26" idx="3"/>
            <a:endCxn id="27" idx="1"/>
          </p:cNvCxnSpPr>
          <p:nvPr/>
        </p:nvCxnSpPr>
        <p:spPr>
          <a:xfrm>
            <a:off x="6943091"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639D8105-B8D6-7021-C17F-417A7EF8F869}"/>
              </a:ext>
            </a:extLst>
          </p:cNvPr>
          <p:cNvCxnSpPr>
            <a:cxnSpLocks/>
            <a:stCxn id="27" idx="3"/>
            <a:endCxn id="28" idx="1"/>
          </p:cNvCxnSpPr>
          <p:nvPr/>
        </p:nvCxnSpPr>
        <p:spPr>
          <a:xfrm>
            <a:off x="7880979"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70ADB4B0-1962-CB59-A497-4FB126FDFBD9}"/>
              </a:ext>
            </a:extLst>
          </p:cNvPr>
          <p:cNvCxnSpPr>
            <a:cxnSpLocks/>
            <a:stCxn id="28" idx="3"/>
            <a:endCxn id="29" idx="1"/>
          </p:cNvCxnSpPr>
          <p:nvPr/>
        </p:nvCxnSpPr>
        <p:spPr>
          <a:xfrm>
            <a:off x="8818867" y="3622859"/>
            <a:ext cx="16854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1CA6B562-B420-8846-8D57-B8B5F7B01E4B}"/>
              </a:ext>
            </a:extLst>
          </p:cNvPr>
          <p:cNvCxnSpPr>
            <a:cxnSpLocks/>
            <a:stCxn id="29" idx="3"/>
            <a:endCxn id="200" idx="1"/>
          </p:cNvCxnSpPr>
          <p:nvPr/>
        </p:nvCxnSpPr>
        <p:spPr>
          <a:xfrm>
            <a:off x="9756754" y="3622859"/>
            <a:ext cx="166722"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3164927F-4DFC-948F-0EC8-C8484314C127}"/>
              </a:ext>
            </a:extLst>
          </p:cNvPr>
          <p:cNvCxnSpPr>
            <a:cxnSpLocks/>
            <a:stCxn id="240" idx="3"/>
            <a:endCxn id="22" idx="1"/>
          </p:cNvCxnSpPr>
          <p:nvPr/>
        </p:nvCxnSpPr>
        <p:spPr>
          <a:xfrm>
            <a:off x="2253650" y="3597379"/>
            <a:ext cx="168542" cy="793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35A6A81C-B0DC-1D20-DF46-C1EEB6002BB4}"/>
              </a:ext>
            </a:extLst>
          </p:cNvPr>
          <p:cNvSpPr>
            <a:spLocks noGrp="1"/>
          </p:cNvSpPr>
          <p:nvPr>
            <p:ph type="title"/>
          </p:nvPr>
        </p:nvSpPr>
        <p:spPr>
          <a:xfrm>
            <a:off x="264387" y="261769"/>
            <a:ext cx="10058400" cy="1609344"/>
          </a:xfrm>
        </p:spPr>
        <p:txBody>
          <a:bodyPr/>
          <a:lstStyle/>
          <a:p>
            <a:r>
              <a:rPr lang="en-US"/>
              <a:t>Identify Required Capabilities</a:t>
            </a:r>
          </a:p>
        </p:txBody>
      </p:sp>
    </p:spTree>
    <p:extLst>
      <p:ext uri="{BB962C8B-B14F-4D97-AF65-F5344CB8AC3E}">
        <p14:creationId xmlns:p14="http://schemas.microsoft.com/office/powerpoint/2010/main" val="477601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4EF9D-1DAF-CFA6-89F6-4F4D95DC5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0F8F6-8C15-E3B4-56DF-10BABA89012F}"/>
              </a:ext>
            </a:extLst>
          </p:cNvPr>
          <p:cNvSpPr>
            <a:spLocks noGrp="1"/>
          </p:cNvSpPr>
          <p:nvPr>
            <p:ph type="title"/>
          </p:nvPr>
        </p:nvSpPr>
        <p:spPr>
          <a:xfrm>
            <a:off x="366464" y="0"/>
            <a:ext cx="10058400" cy="1609344"/>
          </a:xfrm>
        </p:spPr>
        <p:txBody>
          <a:bodyPr/>
          <a:lstStyle/>
          <a:p>
            <a:r>
              <a:rPr lang="en-US"/>
              <a:t>2. Identify Required Capabilities</a:t>
            </a:r>
          </a:p>
        </p:txBody>
      </p:sp>
      <p:sp>
        <p:nvSpPr>
          <p:cNvPr id="7" name="Content Placeholder 2">
            <a:extLst>
              <a:ext uri="{FF2B5EF4-FFF2-40B4-BE49-F238E27FC236}">
                <a16:creationId xmlns:a16="http://schemas.microsoft.com/office/drawing/2014/main" id="{2BCF2D96-D81B-E12D-4A9C-FB274C70E884}"/>
              </a:ext>
            </a:extLst>
          </p:cNvPr>
          <p:cNvSpPr txBox="1">
            <a:spLocks/>
          </p:cNvSpPr>
          <p:nvPr/>
        </p:nvSpPr>
        <p:spPr>
          <a:xfrm>
            <a:off x="1222248" y="2273808"/>
            <a:ext cx="10058400" cy="4050792"/>
          </a:xfrm>
          <a:prstGeom prst="rect">
            <a:avLst/>
          </a:prstGeom>
        </p:spPr>
        <p:txBody>
          <a:bodyPr vert="horz" lIns="91440" tIns="45720" rIns="91440" bIns="45720" rtlCol="0" anchor="t">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pPr>
            <a:r>
              <a:rPr lang="en-US" b="1"/>
              <a:t>Activities</a:t>
            </a:r>
          </a:p>
          <a:p>
            <a:pPr marL="914400" lvl="1" indent="-457200">
              <a:buFont typeface="+mj-lt"/>
              <a:buAutoNum type="arabicPeriod"/>
            </a:pPr>
            <a:r>
              <a:rPr lang="en-US"/>
              <a:t>If already defined, map state specific capabilities to each MITA 4.0 Capability Area. If capabilities are not defined, move to activity 2.</a:t>
            </a:r>
          </a:p>
          <a:p>
            <a:pPr marL="914400" lvl="1" indent="-457200">
              <a:buClr>
                <a:srgbClr val="9E3611"/>
              </a:buClr>
              <a:buAutoNum type="arabicPeriod"/>
            </a:pPr>
            <a:r>
              <a:rPr lang="en-US"/>
              <a:t>Map outcomes from previous step to MITA 4.0 Capability Area, potentially mapping multiple outcomes to one capability areas.</a:t>
            </a:r>
          </a:p>
          <a:p>
            <a:pPr marL="914400" lvl="1" indent="-457200">
              <a:buFont typeface="Rockwell Condensed" panose="02060603050405020104"/>
              <a:buAutoNum type="arabicPeriod"/>
            </a:pPr>
            <a:r>
              <a:rPr lang="en-US"/>
              <a:t>If applicable, document the latest maturity assessment for those capability areas mapped to outcomes. The capability maturity assessment scores may help to define the projects needed to achieve outcomes. The assessment may also help shape the initial identified outcomes and add more information.</a:t>
            </a:r>
          </a:p>
          <a:p>
            <a:pPr marL="914400" lvl="1" indent="-457200">
              <a:buClr>
                <a:srgbClr val="9E3611"/>
              </a:buClr>
              <a:buAutoNum type="arabicPeriod"/>
            </a:pPr>
            <a:r>
              <a:rPr lang="en-US"/>
              <a:t>Document the target maturity for each capability area mapped to an outcome.</a:t>
            </a:r>
          </a:p>
          <a:p>
            <a:pPr marL="914400" lvl="1" indent="-457200">
              <a:buClr>
                <a:srgbClr val="9E3611"/>
              </a:buClr>
              <a:buAutoNum type="arabicPeriod"/>
            </a:pPr>
            <a:r>
              <a:rPr lang="en-US"/>
              <a:t>Update capability mapping as state specific capabilities are defined and as maturity assessments are conducted.</a:t>
            </a:r>
          </a:p>
          <a:p>
            <a:pPr marL="914400" lvl="1" indent="-457200">
              <a:buClr>
                <a:srgbClr val="9E3611"/>
              </a:buClr>
              <a:buAutoNum type="arabicPeriod"/>
            </a:pPr>
            <a:endParaRPr lang="en-US"/>
          </a:p>
          <a:p>
            <a:pPr marL="914400" lvl="1" indent="-457200">
              <a:buClr>
                <a:srgbClr val="D34817">
                  <a:lumMod val="75000"/>
                </a:srgbClr>
              </a:buClr>
              <a:buFont typeface="Rockwell Condensed" panose="02060603050405020104"/>
              <a:buAutoNum type="arabicPeriod"/>
            </a:pPr>
            <a:endParaRPr lang="en-US"/>
          </a:p>
          <a:p>
            <a:pPr marL="914400" lvl="1" indent="-457200">
              <a:buFont typeface="+mj-lt"/>
              <a:buAutoNum type="arabicPeriod"/>
            </a:pPr>
            <a:endParaRPr lang="en-US"/>
          </a:p>
        </p:txBody>
      </p:sp>
    </p:spTree>
    <p:extLst>
      <p:ext uri="{BB962C8B-B14F-4D97-AF65-F5344CB8AC3E}">
        <p14:creationId xmlns:p14="http://schemas.microsoft.com/office/powerpoint/2010/main" val="1013563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094E3-B42E-11FE-1823-AE8B40C3B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94D83-0B5B-D4CA-3D51-E09B91AC1C35}"/>
              </a:ext>
            </a:extLst>
          </p:cNvPr>
          <p:cNvSpPr>
            <a:spLocks noGrp="1"/>
          </p:cNvSpPr>
          <p:nvPr>
            <p:ph type="title"/>
          </p:nvPr>
        </p:nvSpPr>
        <p:spPr/>
        <p:txBody>
          <a:bodyPr/>
          <a:lstStyle/>
          <a:p>
            <a:r>
              <a:rPr lang="en-US"/>
              <a:t>Define Capability Architecture</a:t>
            </a:r>
          </a:p>
        </p:txBody>
      </p:sp>
      <p:sp>
        <p:nvSpPr>
          <p:cNvPr id="3" name="Text Placeholder 2">
            <a:extLst>
              <a:ext uri="{FF2B5EF4-FFF2-40B4-BE49-F238E27FC236}">
                <a16:creationId xmlns:a16="http://schemas.microsoft.com/office/drawing/2014/main" id="{4536726F-7F8D-54D0-C663-8A8DE3ECF5EF}"/>
              </a:ext>
            </a:extLst>
          </p:cNvPr>
          <p:cNvSpPr>
            <a:spLocks noGrp="1"/>
          </p:cNvSpPr>
          <p:nvPr>
            <p:ph type="body" idx="1"/>
          </p:nvPr>
        </p:nvSpPr>
        <p:spPr/>
        <p:txBody>
          <a:bodyPr/>
          <a:lstStyle/>
          <a:p>
            <a:r>
              <a:rPr lang="en-US" i="1"/>
              <a:t>Identify Roles, Process, Information &amp; Technology</a:t>
            </a:r>
          </a:p>
          <a:p>
            <a:endParaRPr lang="en-US"/>
          </a:p>
        </p:txBody>
      </p:sp>
    </p:spTree>
    <p:extLst>
      <p:ext uri="{BB962C8B-B14F-4D97-AF65-F5344CB8AC3E}">
        <p14:creationId xmlns:p14="http://schemas.microsoft.com/office/powerpoint/2010/main" val="2665161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B0F08-9F47-4394-3704-00B9735EEC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E9C8E-5632-C41F-B4E4-C77419DA4777}"/>
              </a:ext>
            </a:extLst>
          </p:cNvPr>
          <p:cNvSpPr>
            <a:spLocks noGrp="1"/>
          </p:cNvSpPr>
          <p:nvPr>
            <p:ph type="title"/>
          </p:nvPr>
        </p:nvSpPr>
        <p:spPr/>
        <p:txBody>
          <a:bodyPr/>
          <a:lstStyle/>
          <a:p>
            <a:r>
              <a:rPr lang="en-US"/>
              <a:t>Define Capability Architecture (repeat for each Architecture)</a:t>
            </a:r>
          </a:p>
        </p:txBody>
      </p:sp>
      <p:sp>
        <p:nvSpPr>
          <p:cNvPr id="3" name="Rounded Rectangle 2">
            <a:extLst>
              <a:ext uri="{FF2B5EF4-FFF2-40B4-BE49-F238E27FC236}">
                <a16:creationId xmlns:a16="http://schemas.microsoft.com/office/drawing/2014/main" id="{738EABEF-587A-E02D-C601-EDBFF3EBE7C3}"/>
              </a:ext>
            </a:extLst>
          </p:cNvPr>
          <p:cNvSpPr/>
          <p:nvPr/>
        </p:nvSpPr>
        <p:spPr>
          <a:xfrm>
            <a:off x="3596720" y="3046248"/>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Capability Architecture</a:t>
            </a:r>
          </a:p>
        </p:txBody>
      </p:sp>
      <p:sp>
        <p:nvSpPr>
          <p:cNvPr id="4" name="Rounded Rectangle 3">
            <a:extLst>
              <a:ext uri="{FF2B5EF4-FFF2-40B4-BE49-F238E27FC236}">
                <a16:creationId xmlns:a16="http://schemas.microsoft.com/office/drawing/2014/main" id="{DDC3A1D3-3C69-990F-D1FF-BF0C1AFA0D61}"/>
              </a:ext>
            </a:extLst>
          </p:cNvPr>
          <p:cNvSpPr/>
          <p:nvPr/>
        </p:nvSpPr>
        <p:spPr>
          <a:xfrm>
            <a:off x="5354870" y="3028674"/>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Target Capability Architecture</a:t>
            </a:r>
          </a:p>
        </p:txBody>
      </p:sp>
      <p:sp>
        <p:nvSpPr>
          <p:cNvPr id="5" name="Rounded Rectangle 4">
            <a:extLst>
              <a:ext uri="{FF2B5EF4-FFF2-40B4-BE49-F238E27FC236}">
                <a16:creationId xmlns:a16="http://schemas.microsoft.com/office/drawing/2014/main" id="{037F619C-A36A-D488-DDF3-7AF93E810D64}"/>
              </a:ext>
            </a:extLst>
          </p:cNvPr>
          <p:cNvSpPr/>
          <p:nvPr/>
        </p:nvSpPr>
        <p:spPr>
          <a:xfrm>
            <a:off x="8842403"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Perform Gap Analysis</a:t>
            </a:r>
            <a:endParaRPr lang="en-US" sz="900" i="1"/>
          </a:p>
        </p:txBody>
      </p:sp>
      <p:sp>
        <p:nvSpPr>
          <p:cNvPr id="35" name="Rounded Rectangle 34">
            <a:extLst>
              <a:ext uri="{FF2B5EF4-FFF2-40B4-BE49-F238E27FC236}">
                <a16:creationId xmlns:a16="http://schemas.microsoft.com/office/drawing/2014/main" id="{C3730848-3E20-E3F5-07E8-47BF4B7EAEC1}"/>
              </a:ext>
            </a:extLst>
          </p:cNvPr>
          <p:cNvSpPr/>
          <p:nvPr/>
        </p:nvSpPr>
        <p:spPr>
          <a:xfrm>
            <a:off x="1838570" y="3059760"/>
            <a:ext cx="1442138"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Define Architectural Approach</a:t>
            </a:r>
            <a:endParaRPr lang="en-US" sz="900"/>
          </a:p>
        </p:txBody>
      </p:sp>
      <p:sp>
        <p:nvSpPr>
          <p:cNvPr id="53" name="Oval 52">
            <a:extLst>
              <a:ext uri="{FF2B5EF4-FFF2-40B4-BE49-F238E27FC236}">
                <a16:creationId xmlns:a16="http://schemas.microsoft.com/office/drawing/2014/main" id="{69265E21-2790-B3A3-A07A-026062E5D9B0}"/>
              </a:ext>
            </a:extLst>
          </p:cNvPr>
          <p:cNvSpPr/>
          <p:nvPr/>
        </p:nvSpPr>
        <p:spPr>
          <a:xfrm>
            <a:off x="1311288" y="3805075"/>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80CD757E-23DB-B2C1-8057-D678F040CFEA}"/>
              </a:ext>
            </a:extLst>
          </p:cNvPr>
          <p:cNvSpPr/>
          <p:nvPr/>
        </p:nvSpPr>
        <p:spPr>
          <a:xfrm>
            <a:off x="10585442" y="3773989"/>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7393174B-9EA9-7844-397F-46D4338334AC}"/>
              </a:ext>
            </a:extLst>
          </p:cNvPr>
          <p:cNvCxnSpPr>
            <a:cxnSpLocks/>
            <a:stCxn id="53" idx="6"/>
            <a:endCxn id="35" idx="1"/>
          </p:cNvCxnSpPr>
          <p:nvPr/>
        </p:nvCxnSpPr>
        <p:spPr>
          <a:xfrm>
            <a:off x="1561278" y="3931630"/>
            <a:ext cx="2772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6B56C034-89D0-CE18-8488-4F31D5E5D565}"/>
              </a:ext>
            </a:extLst>
          </p:cNvPr>
          <p:cNvCxnSpPr>
            <a:cxnSpLocks/>
            <a:stCxn id="5" idx="3"/>
            <a:endCxn id="54" idx="2"/>
          </p:cNvCxnSpPr>
          <p:nvPr/>
        </p:nvCxnSpPr>
        <p:spPr>
          <a:xfrm>
            <a:off x="10284541" y="3892155"/>
            <a:ext cx="300901" cy="8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D77671B-B67D-32DF-439B-F80DCC8A5510}"/>
              </a:ext>
            </a:extLst>
          </p:cNvPr>
          <p:cNvSpPr txBox="1"/>
          <p:nvPr/>
        </p:nvSpPr>
        <p:spPr>
          <a:xfrm>
            <a:off x="1910127" y="3066881"/>
            <a:ext cx="507017" cy="369332"/>
          </a:xfrm>
          <a:prstGeom prst="rect">
            <a:avLst/>
          </a:prstGeom>
          <a:noFill/>
        </p:spPr>
        <p:txBody>
          <a:bodyPr wrap="square" lIns="91440" tIns="45720" rIns="91440" bIns="45720" rtlCol="0" anchor="t">
            <a:spAutoFit/>
          </a:bodyPr>
          <a:lstStyle/>
          <a:p>
            <a:r>
              <a:rPr lang="en-US">
                <a:solidFill>
                  <a:schemeClr val="bg1"/>
                </a:solidFill>
              </a:rPr>
              <a:t>3.1</a:t>
            </a:r>
          </a:p>
        </p:txBody>
      </p:sp>
      <p:sp>
        <p:nvSpPr>
          <p:cNvPr id="8" name="TextBox 7">
            <a:extLst>
              <a:ext uri="{FF2B5EF4-FFF2-40B4-BE49-F238E27FC236}">
                <a16:creationId xmlns:a16="http://schemas.microsoft.com/office/drawing/2014/main" id="{FB5AA209-C620-EC81-451D-F23CE02886FE}"/>
              </a:ext>
            </a:extLst>
          </p:cNvPr>
          <p:cNvSpPr txBox="1"/>
          <p:nvPr/>
        </p:nvSpPr>
        <p:spPr>
          <a:xfrm>
            <a:off x="3645744" y="3060490"/>
            <a:ext cx="571110" cy="369332"/>
          </a:xfrm>
          <a:prstGeom prst="rect">
            <a:avLst/>
          </a:prstGeom>
          <a:noFill/>
        </p:spPr>
        <p:txBody>
          <a:bodyPr wrap="square" lIns="91440" tIns="45720" rIns="91440" bIns="45720" rtlCol="0" anchor="t">
            <a:spAutoFit/>
          </a:bodyPr>
          <a:lstStyle/>
          <a:p>
            <a:r>
              <a:rPr lang="en-US">
                <a:solidFill>
                  <a:schemeClr val="bg1"/>
                </a:solidFill>
              </a:rPr>
              <a:t>3.2</a:t>
            </a:r>
          </a:p>
        </p:txBody>
      </p:sp>
      <p:sp>
        <p:nvSpPr>
          <p:cNvPr id="9" name="TextBox 8">
            <a:extLst>
              <a:ext uri="{FF2B5EF4-FFF2-40B4-BE49-F238E27FC236}">
                <a16:creationId xmlns:a16="http://schemas.microsoft.com/office/drawing/2014/main" id="{1914EE61-0DD7-3A5C-7AC4-3298160A362C}"/>
              </a:ext>
            </a:extLst>
          </p:cNvPr>
          <p:cNvSpPr txBox="1"/>
          <p:nvPr/>
        </p:nvSpPr>
        <p:spPr>
          <a:xfrm>
            <a:off x="5466111" y="3060490"/>
            <a:ext cx="535503" cy="369332"/>
          </a:xfrm>
          <a:prstGeom prst="rect">
            <a:avLst/>
          </a:prstGeom>
          <a:noFill/>
        </p:spPr>
        <p:txBody>
          <a:bodyPr wrap="square" lIns="91440" tIns="45720" rIns="91440" bIns="45720" rtlCol="0" anchor="t">
            <a:spAutoFit/>
          </a:bodyPr>
          <a:lstStyle/>
          <a:p>
            <a:r>
              <a:rPr lang="en-US">
                <a:solidFill>
                  <a:schemeClr val="bg1"/>
                </a:solidFill>
              </a:rPr>
              <a:t>3.3</a:t>
            </a:r>
          </a:p>
        </p:txBody>
      </p:sp>
      <p:sp>
        <p:nvSpPr>
          <p:cNvPr id="10" name="TextBox 9">
            <a:extLst>
              <a:ext uri="{FF2B5EF4-FFF2-40B4-BE49-F238E27FC236}">
                <a16:creationId xmlns:a16="http://schemas.microsoft.com/office/drawing/2014/main" id="{1109C8FE-DD05-1A11-FF08-84BBB9C54E20}"/>
              </a:ext>
            </a:extLst>
          </p:cNvPr>
          <p:cNvSpPr txBox="1"/>
          <p:nvPr/>
        </p:nvSpPr>
        <p:spPr>
          <a:xfrm>
            <a:off x="8972586" y="3066881"/>
            <a:ext cx="592475" cy="369332"/>
          </a:xfrm>
          <a:prstGeom prst="rect">
            <a:avLst/>
          </a:prstGeom>
          <a:noFill/>
        </p:spPr>
        <p:txBody>
          <a:bodyPr wrap="square" lIns="91440" tIns="45720" rIns="91440" bIns="45720" rtlCol="0" anchor="t">
            <a:spAutoFit/>
          </a:bodyPr>
          <a:lstStyle/>
          <a:p>
            <a:r>
              <a:rPr lang="en-US">
                <a:solidFill>
                  <a:schemeClr val="bg1"/>
                </a:solidFill>
              </a:rPr>
              <a:t>3.5</a:t>
            </a:r>
          </a:p>
        </p:txBody>
      </p:sp>
      <p:sp>
        <p:nvSpPr>
          <p:cNvPr id="15" name="Rounded Rectangle 14">
            <a:extLst>
              <a:ext uri="{FF2B5EF4-FFF2-40B4-BE49-F238E27FC236}">
                <a16:creationId xmlns:a16="http://schemas.microsoft.com/office/drawing/2014/main" id="{726CAB3D-E9A2-94F1-BDFD-12AB1C64AB59}"/>
              </a:ext>
            </a:extLst>
          </p:cNvPr>
          <p:cNvSpPr/>
          <p:nvPr/>
        </p:nvSpPr>
        <p:spPr>
          <a:xfrm>
            <a:off x="7099194"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Align Architecture and Compile Concept of Operations</a:t>
            </a:r>
            <a:endParaRPr lang="en-US" sz="900" i="1"/>
          </a:p>
        </p:txBody>
      </p:sp>
      <p:sp>
        <p:nvSpPr>
          <p:cNvPr id="16" name="TextBox 15">
            <a:extLst>
              <a:ext uri="{FF2B5EF4-FFF2-40B4-BE49-F238E27FC236}">
                <a16:creationId xmlns:a16="http://schemas.microsoft.com/office/drawing/2014/main" id="{EBC41DC6-2F96-7D1E-1AE4-1DF2CA8B84C6}"/>
              </a:ext>
            </a:extLst>
          </p:cNvPr>
          <p:cNvSpPr txBox="1"/>
          <p:nvPr/>
        </p:nvSpPr>
        <p:spPr>
          <a:xfrm>
            <a:off x="7102739" y="3064503"/>
            <a:ext cx="521260" cy="369332"/>
          </a:xfrm>
          <a:prstGeom prst="rect">
            <a:avLst/>
          </a:prstGeom>
          <a:noFill/>
        </p:spPr>
        <p:txBody>
          <a:bodyPr wrap="square" lIns="91440" tIns="45720" rIns="91440" bIns="45720" rtlCol="0" anchor="t">
            <a:spAutoFit/>
          </a:bodyPr>
          <a:lstStyle/>
          <a:p>
            <a:r>
              <a:rPr lang="en-US">
                <a:solidFill>
                  <a:schemeClr val="bg1"/>
                </a:solidFill>
              </a:rPr>
              <a:t>3.4</a:t>
            </a:r>
          </a:p>
        </p:txBody>
      </p:sp>
      <p:sp>
        <p:nvSpPr>
          <p:cNvPr id="17" name="Right Arrow 16">
            <a:extLst>
              <a:ext uri="{FF2B5EF4-FFF2-40B4-BE49-F238E27FC236}">
                <a16:creationId xmlns:a16="http://schemas.microsoft.com/office/drawing/2014/main" id="{36454232-6357-D130-19D6-EF985C8EE54E}"/>
              </a:ext>
            </a:extLst>
          </p:cNvPr>
          <p:cNvSpPr/>
          <p:nvPr/>
        </p:nvSpPr>
        <p:spPr>
          <a:xfrm>
            <a:off x="8541502" y="3784116"/>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70F50C2B-9DB9-33DD-44AC-FBE04E2E52AF}"/>
              </a:ext>
            </a:extLst>
          </p:cNvPr>
          <p:cNvSpPr/>
          <p:nvPr/>
        </p:nvSpPr>
        <p:spPr>
          <a:xfrm>
            <a:off x="6800098" y="3782589"/>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6BF8C10E-A206-6BBF-5FEF-76D53D7D59A9}"/>
              </a:ext>
            </a:extLst>
          </p:cNvPr>
          <p:cNvSpPr/>
          <p:nvPr/>
        </p:nvSpPr>
        <p:spPr>
          <a:xfrm>
            <a:off x="5038858" y="3794243"/>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021805D6-0460-D56B-2C49-2617ECC44144}"/>
              </a:ext>
            </a:extLst>
          </p:cNvPr>
          <p:cNvSpPr/>
          <p:nvPr/>
        </p:nvSpPr>
        <p:spPr>
          <a:xfrm>
            <a:off x="3285247" y="3804262"/>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Elbow Connector 10">
            <a:extLst>
              <a:ext uri="{FF2B5EF4-FFF2-40B4-BE49-F238E27FC236}">
                <a16:creationId xmlns:a16="http://schemas.microsoft.com/office/drawing/2014/main" id="{AC9874E6-FF5F-46E0-200F-498B2F9C3CAB}"/>
              </a:ext>
            </a:extLst>
          </p:cNvPr>
          <p:cNvCxnSpPr>
            <a:stCxn id="5" idx="0"/>
            <a:endCxn id="4" idx="0"/>
          </p:cNvCxnSpPr>
          <p:nvPr/>
        </p:nvCxnSpPr>
        <p:spPr>
          <a:xfrm rot="16200000" flipH="1" flipV="1">
            <a:off x="7815511" y="1280712"/>
            <a:ext cx="8389" cy="3487533"/>
          </a:xfrm>
          <a:prstGeom prst="bentConnector3">
            <a:avLst>
              <a:gd name="adj1" fmla="val -680627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40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5E800-178E-B945-23E9-F76ED99FA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206B8-896E-80EC-25C5-5AFA4626DE11}"/>
              </a:ext>
            </a:extLst>
          </p:cNvPr>
          <p:cNvSpPr>
            <a:spLocks noGrp="1"/>
          </p:cNvSpPr>
          <p:nvPr>
            <p:ph type="title"/>
          </p:nvPr>
        </p:nvSpPr>
        <p:spPr/>
        <p:txBody>
          <a:bodyPr>
            <a:normAutofit/>
          </a:bodyPr>
          <a:lstStyle/>
          <a:p>
            <a:r>
              <a:rPr lang="en-US"/>
              <a:t>3.1A. Define BA Approach</a:t>
            </a:r>
          </a:p>
        </p:txBody>
      </p:sp>
      <p:sp>
        <p:nvSpPr>
          <p:cNvPr id="3" name="Content Placeholder 2">
            <a:extLst>
              <a:ext uri="{FF2B5EF4-FFF2-40B4-BE49-F238E27FC236}">
                <a16:creationId xmlns:a16="http://schemas.microsoft.com/office/drawing/2014/main" id="{E2E38CAC-2157-8635-3571-FC3A0D926663}"/>
              </a:ext>
            </a:extLst>
          </p:cNvPr>
          <p:cNvSpPr>
            <a:spLocks noGrp="1"/>
          </p:cNvSpPr>
          <p:nvPr>
            <p:ph idx="1"/>
          </p:nvPr>
        </p:nvSpPr>
        <p:spPr/>
        <p:txBody>
          <a:bodyPr>
            <a:normAutofit/>
          </a:bodyPr>
          <a:lstStyle/>
          <a:p>
            <a:pPr marL="0" indent="0">
              <a:buNone/>
            </a:pPr>
            <a:r>
              <a:rPr lang="en-US" b="1"/>
              <a:t>Purpose</a:t>
            </a:r>
          </a:p>
          <a:p>
            <a:pPr lvl="1"/>
            <a:r>
              <a:rPr lang="en-US"/>
              <a:t>Identify the BA reference models, viewpoints and tools that will be used to develop the BA views. </a:t>
            </a:r>
          </a:p>
          <a:p>
            <a:pPr marL="0" indent="0">
              <a:buNone/>
            </a:pPr>
            <a:r>
              <a:rPr lang="en-US" b="1"/>
              <a:t>Goal</a:t>
            </a:r>
          </a:p>
          <a:p>
            <a:pPr lvl="1"/>
            <a:r>
              <a:rPr lang="en-US"/>
              <a:t>Develop artifacts that help communicate the capability business architecture and drive the design of a solution that supports the desired SMA outcome. </a:t>
            </a:r>
          </a:p>
          <a:p>
            <a:pPr marL="0" indent="0">
              <a:buNone/>
            </a:pPr>
            <a:r>
              <a:rPr lang="en-US" b="1"/>
              <a:t>Triggers</a:t>
            </a:r>
          </a:p>
          <a:p>
            <a:pPr lvl="1"/>
            <a:r>
              <a:rPr lang="en-US"/>
              <a:t>Business Drivers Defined (e.g. Outcomes, Required Capabilities, etc.), Business Strategy Defined</a:t>
            </a:r>
          </a:p>
          <a:p>
            <a:pPr marL="0" indent="0">
              <a:buNone/>
            </a:pPr>
            <a:r>
              <a:rPr lang="en-US" b="1"/>
              <a:t>Output</a:t>
            </a:r>
          </a:p>
          <a:p>
            <a:pPr lvl="1"/>
            <a:r>
              <a:rPr lang="en-US"/>
              <a:t>BA Reference Models, Viewpoints and Tools</a:t>
            </a:r>
          </a:p>
        </p:txBody>
      </p:sp>
    </p:spTree>
    <p:extLst>
      <p:ext uri="{BB962C8B-B14F-4D97-AF65-F5344CB8AC3E}">
        <p14:creationId xmlns:p14="http://schemas.microsoft.com/office/powerpoint/2010/main" val="2085156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2DF7D-0191-EA3D-E4F7-208CE2DB35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7BE63-EDA2-5175-B2F5-CAEE675991B4}"/>
              </a:ext>
            </a:extLst>
          </p:cNvPr>
          <p:cNvSpPr>
            <a:spLocks noGrp="1"/>
          </p:cNvSpPr>
          <p:nvPr>
            <p:ph type="title"/>
          </p:nvPr>
        </p:nvSpPr>
        <p:spPr/>
        <p:txBody>
          <a:bodyPr>
            <a:normAutofit/>
          </a:bodyPr>
          <a:lstStyle/>
          <a:p>
            <a:r>
              <a:rPr lang="en-US" dirty="0"/>
              <a:t>3.1A. Define BA Activities</a:t>
            </a:r>
          </a:p>
        </p:txBody>
      </p:sp>
      <p:sp>
        <p:nvSpPr>
          <p:cNvPr id="3" name="Content Placeholder 2">
            <a:extLst>
              <a:ext uri="{FF2B5EF4-FFF2-40B4-BE49-F238E27FC236}">
                <a16:creationId xmlns:a16="http://schemas.microsoft.com/office/drawing/2014/main" id="{E52DBFB8-2B98-F3E1-6CCD-E094CC3A014E}"/>
              </a:ext>
            </a:extLst>
          </p:cNvPr>
          <p:cNvSpPr>
            <a:spLocks noGrp="1"/>
          </p:cNvSpPr>
          <p:nvPr>
            <p:ph idx="1"/>
          </p:nvPr>
        </p:nvSpPr>
        <p:spPr/>
        <p:txBody>
          <a:bodyPr>
            <a:normAutofit/>
          </a:bodyPr>
          <a:lstStyle/>
          <a:p>
            <a:pPr marL="0" indent="0">
              <a:buNone/>
            </a:pPr>
            <a:r>
              <a:rPr lang="en-US" b="1"/>
              <a:t>Activities</a:t>
            </a:r>
          </a:p>
          <a:p>
            <a:pPr marL="914400" lvl="1" indent="-457200">
              <a:buFont typeface="+mj-lt"/>
              <a:buAutoNum type="arabicPeriod"/>
            </a:pPr>
            <a:r>
              <a:rPr lang="en-US"/>
              <a:t>Select required viewpoints</a:t>
            </a:r>
          </a:p>
          <a:p>
            <a:pPr marL="1188720" lvl="2" indent="-457200">
              <a:buFont typeface="+mj-lt"/>
              <a:buAutoNum type="alphaLcParenR"/>
            </a:pPr>
            <a:r>
              <a:rPr lang="en-US"/>
              <a:t>Determine overall modeling process</a:t>
            </a:r>
          </a:p>
          <a:p>
            <a:pPr marL="1188720" lvl="2" indent="-457200">
              <a:buFont typeface="+mj-lt"/>
              <a:buAutoNum type="alphaLcParenR"/>
            </a:pPr>
            <a:r>
              <a:rPr lang="en-US"/>
              <a:t>Identify required catalogs </a:t>
            </a:r>
          </a:p>
          <a:p>
            <a:pPr marL="1188720" lvl="2" indent="-457200">
              <a:buFont typeface="+mj-lt"/>
              <a:buAutoNum type="alphaLcParenR"/>
            </a:pPr>
            <a:r>
              <a:rPr lang="en-US"/>
              <a:t>Identify required matrices</a:t>
            </a:r>
          </a:p>
          <a:p>
            <a:pPr marL="1188720" lvl="2" indent="-457200">
              <a:buFont typeface="+mj-lt"/>
              <a:buAutoNum type="alphaLcParenR"/>
            </a:pPr>
            <a:r>
              <a:rPr lang="en-US"/>
              <a:t>Identify required diagrams</a:t>
            </a:r>
          </a:p>
          <a:p>
            <a:pPr marL="914400" lvl="1" indent="-457200">
              <a:buFont typeface="+mj-lt"/>
              <a:buAutoNum type="arabicPeriod"/>
            </a:pPr>
            <a:r>
              <a:rPr lang="en-US"/>
              <a:t>Identify types of requirements to be collected</a:t>
            </a:r>
          </a:p>
          <a:p>
            <a:pPr marL="914400" lvl="1" indent="-457200">
              <a:buFont typeface="+mj-lt"/>
              <a:buAutoNum type="arabicPeriod"/>
            </a:pPr>
            <a:r>
              <a:rPr lang="en-US"/>
              <a:t>Select required reference models</a:t>
            </a:r>
          </a:p>
          <a:p>
            <a:pPr marL="1188720" lvl="2" indent="-457200">
              <a:buFont typeface="+mj-lt"/>
              <a:buAutoNum type="alphaLcParenR"/>
            </a:pPr>
            <a:r>
              <a:rPr lang="en-US"/>
              <a:t>Business capability and business process reference models</a:t>
            </a:r>
          </a:p>
          <a:p>
            <a:pPr marL="914400" lvl="1" indent="-457200">
              <a:buFont typeface="+mj-lt"/>
              <a:buAutoNum type="arabicPeriod"/>
            </a:pPr>
            <a:r>
              <a:rPr lang="en-US"/>
              <a:t>Select required tools</a:t>
            </a:r>
          </a:p>
        </p:txBody>
      </p:sp>
    </p:spTree>
    <p:extLst>
      <p:ext uri="{BB962C8B-B14F-4D97-AF65-F5344CB8AC3E}">
        <p14:creationId xmlns:p14="http://schemas.microsoft.com/office/powerpoint/2010/main" val="2115673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386EC-CF40-6178-A71E-11403D3890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32788-6F68-D4C9-DED8-3D34AE764555}"/>
              </a:ext>
            </a:extLst>
          </p:cNvPr>
          <p:cNvSpPr>
            <a:spLocks noGrp="1"/>
          </p:cNvSpPr>
          <p:nvPr>
            <p:ph type="title"/>
          </p:nvPr>
        </p:nvSpPr>
        <p:spPr/>
        <p:txBody>
          <a:bodyPr>
            <a:normAutofit/>
          </a:bodyPr>
          <a:lstStyle/>
          <a:p>
            <a:r>
              <a:rPr lang="en-US"/>
              <a:t>3.1b. Define IA Approach</a:t>
            </a:r>
          </a:p>
        </p:txBody>
      </p:sp>
      <p:sp>
        <p:nvSpPr>
          <p:cNvPr id="3" name="Content Placeholder 2">
            <a:extLst>
              <a:ext uri="{FF2B5EF4-FFF2-40B4-BE49-F238E27FC236}">
                <a16:creationId xmlns:a16="http://schemas.microsoft.com/office/drawing/2014/main" id="{212BE6BA-DBEB-6E72-CC4C-D38565EDEE15}"/>
              </a:ext>
            </a:extLst>
          </p:cNvPr>
          <p:cNvSpPr>
            <a:spLocks noGrp="1"/>
          </p:cNvSpPr>
          <p:nvPr>
            <p:ph idx="1"/>
          </p:nvPr>
        </p:nvSpPr>
        <p:spPr/>
        <p:txBody>
          <a:bodyPr>
            <a:normAutofit/>
          </a:bodyPr>
          <a:lstStyle/>
          <a:p>
            <a:pPr marL="0" indent="0">
              <a:buNone/>
            </a:pPr>
            <a:r>
              <a:rPr lang="en-US" b="1"/>
              <a:t>Purpose</a:t>
            </a:r>
          </a:p>
          <a:p>
            <a:pPr lvl="1"/>
            <a:r>
              <a:rPr lang="en-US"/>
              <a:t>Identify the IA reference models, viewpoints and tools that will be used to develop the IA views. </a:t>
            </a:r>
          </a:p>
          <a:p>
            <a:pPr marL="0" indent="0">
              <a:buNone/>
            </a:pPr>
            <a:r>
              <a:rPr lang="en-US" b="1"/>
              <a:t>Goal</a:t>
            </a:r>
          </a:p>
          <a:p>
            <a:pPr lvl="1"/>
            <a:r>
              <a:rPr lang="en-US"/>
              <a:t>Develop artifacts that help communicate the capability information architecture and drive the design of a solution that supports the desired SMA outcome. </a:t>
            </a:r>
          </a:p>
          <a:p>
            <a:pPr marL="0" indent="0">
              <a:buNone/>
            </a:pPr>
            <a:r>
              <a:rPr lang="en-US" b="1"/>
              <a:t>Triggers</a:t>
            </a:r>
          </a:p>
          <a:p>
            <a:pPr lvl="1"/>
            <a:r>
              <a:rPr lang="en-US"/>
              <a:t>Business Drivers Defined (e.g. Outcomes, Required Capabilities, etc.)</a:t>
            </a:r>
          </a:p>
          <a:p>
            <a:pPr marL="0" indent="0">
              <a:buNone/>
            </a:pPr>
            <a:r>
              <a:rPr lang="en-US" b="1"/>
              <a:t>Output</a:t>
            </a:r>
          </a:p>
          <a:p>
            <a:pPr lvl="1"/>
            <a:r>
              <a:rPr lang="en-US"/>
              <a:t>IA Reference Models, Viewpoints and Tools</a:t>
            </a:r>
          </a:p>
        </p:txBody>
      </p:sp>
    </p:spTree>
    <p:extLst>
      <p:ext uri="{BB962C8B-B14F-4D97-AF65-F5344CB8AC3E}">
        <p14:creationId xmlns:p14="http://schemas.microsoft.com/office/powerpoint/2010/main" val="4037623615"/>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02235-3EA1-7B98-8C6F-D794E935C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63296-E809-5DF3-F2E4-F32C237A0180}"/>
              </a:ext>
            </a:extLst>
          </p:cNvPr>
          <p:cNvSpPr>
            <a:spLocks noGrp="1"/>
          </p:cNvSpPr>
          <p:nvPr>
            <p:ph type="title"/>
          </p:nvPr>
        </p:nvSpPr>
        <p:spPr/>
        <p:txBody>
          <a:bodyPr>
            <a:normAutofit/>
          </a:bodyPr>
          <a:lstStyle/>
          <a:p>
            <a:r>
              <a:rPr lang="en-US" dirty="0"/>
              <a:t>3.1b. Define IA Activities</a:t>
            </a:r>
          </a:p>
        </p:txBody>
      </p:sp>
      <p:sp>
        <p:nvSpPr>
          <p:cNvPr id="3" name="Content Placeholder 2">
            <a:extLst>
              <a:ext uri="{FF2B5EF4-FFF2-40B4-BE49-F238E27FC236}">
                <a16:creationId xmlns:a16="http://schemas.microsoft.com/office/drawing/2014/main" id="{E4B3AC60-30A0-1D44-283F-CF9CC1558BE9}"/>
              </a:ext>
            </a:extLst>
          </p:cNvPr>
          <p:cNvSpPr>
            <a:spLocks noGrp="1"/>
          </p:cNvSpPr>
          <p:nvPr>
            <p:ph idx="1"/>
          </p:nvPr>
        </p:nvSpPr>
        <p:spPr/>
        <p:txBody>
          <a:bodyPr>
            <a:normAutofit/>
          </a:bodyPr>
          <a:lstStyle/>
          <a:p>
            <a:pPr marL="0" indent="0">
              <a:buNone/>
            </a:pPr>
            <a:r>
              <a:rPr lang="en-US" b="1"/>
              <a:t>Activities</a:t>
            </a:r>
          </a:p>
          <a:p>
            <a:pPr marL="914400" lvl="1" indent="-457200">
              <a:buFont typeface="+mj-lt"/>
              <a:buAutoNum type="arabicPeriod"/>
            </a:pPr>
            <a:r>
              <a:rPr lang="en-US"/>
              <a:t>Select required viewpoints</a:t>
            </a:r>
          </a:p>
          <a:p>
            <a:pPr marL="1188720" lvl="2" indent="-457200">
              <a:buFont typeface="+mj-lt"/>
              <a:buAutoNum type="alphaLcParenR"/>
            </a:pPr>
            <a:r>
              <a:rPr lang="en-US"/>
              <a:t>Determine overall modeling process</a:t>
            </a:r>
          </a:p>
          <a:p>
            <a:pPr marL="1188720" lvl="2" indent="-457200">
              <a:buFont typeface="+mj-lt"/>
              <a:buAutoNum type="alphaLcParenR"/>
            </a:pPr>
            <a:r>
              <a:rPr lang="en-US"/>
              <a:t>Identify required catalogs of data building blocks</a:t>
            </a:r>
          </a:p>
          <a:p>
            <a:pPr marL="1188720" lvl="2" indent="-457200">
              <a:buFont typeface="+mj-lt"/>
              <a:buAutoNum type="alphaLcParenR"/>
            </a:pPr>
            <a:r>
              <a:rPr lang="en-US"/>
              <a:t>Identify required matrices</a:t>
            </a:r>
          </a:p>
          <a:p>
            <a:pPr marL="1188720" lvl="2" indent="-457200">
              <a:buFont typeface="+mj-lt"/>
              <a:buAutoNum type="alphaLcParenR"/>
            </a:pPr>
            <a:r>
              <a:rPr lang="en-US"/>
              <a:t>Identify required diagrams</a:t>
            </a:r>
          </a:p>
          <a:p>
            <a:pPr marL="914400" lvl="1" indent="-457200">
              <a:buFont typeface="+mj-lt"/>
              <a:buAutoNum type="arabicPeriod"/>
            </a:pPr>
            <a:r>
              <a:rPr lang="en-US"/>
              <a:t>Identify types of requirements to be collected</a:t>
            </a:r>
          </a:p>
          <a:p>
            <a:pPr marL="914400" lvl="1" indent="-457200">
              <a:buFont typeface="+mj-lt"/>
              <a:buAutoNum type="arabicPeriod"/>
            </a:pPr>
            <a:r>
              <a:rPr lang="en-US"/>
              <a:t>Select required reference models</a:t>
            </a:r>
          </a:p>
          <a:p>
            <a:pPr marL="1188720" lvl="2" indent="-457200">
              <a:buFont typeface="+mj-lt"/>
              <a:buAutoNum type="alphaLcParenR"/>
            </a:pPr>
            <a:r>
              <a:rPr lang="en-US"/>
              <a:t>Data reference models</a:t>
            </a:r>
          </a:p>
          <a:p>
            <a:pPr marL="914400" lvl="1" indent="-457200">
              <a:buFont typeface="+mj-lt"/>
              <a:buAutoNum type="arabicPeriod"/>
            </a:pPr>
            <a:r>
              <a:rPr lang="en-US"/>
              <a:t>Select required tools</a:t>
            </a:r>
          </a:p>
        </p:txBody>
      </p:sp>
    </p:spTree>
    <p:extLst>
      <p:ext uri="{BB962C8B-B14F-4D97-AF65-F5344CB8AC3E}">
        <p14:creationId xmlns:p14="http://schemas.microsoft.com/office/powerpoint/2010/main" val="3214209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5E521-25A0-E056-94D6-5E0CD38F8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13762-611F-1D83-E47F-5716A1ED8650}"/>
              </a:ext>
            </a:extLst>
          </p:cNvPr>
          <p:cNvSpPr>
            <a:spLocks noGrp="1"/>
          </p:cNvSpPr>
          <p:nvPr>
            <p:ph type="title"/>
          </p:nvPr>
        </p:nvSpPr>
        <p:spPr/>
        <p:txBody>
          <a:bodyPr>
            <a:normAutofit/>
          </a:bodyPr>
          <a:lstStyle/>
          <a:p>
            <a:r>
              <a:rPr lang="en-US"/>
              <a:t>3.1C. Define TA Approach</a:t>
            </a:r>
          </a:p>
        </p:txBody>
      </p:sp>
      <p:sp>
        <p:nvSpPr>
          <p:cNvPr id="3" name="Content Placeholder 2">
            <a:extLst>
              <a:ext uri="{FF2B5EF4-FFF2-40B4-BE49-F238E27FC236}">
                <a16:creationId xmlns:a16="http://schemas.microsoft.com/office/drawing/2014/main" id="{FFC90FBA-69C4-ED50-4455-46D9E789A47C}"/>
              </a:ext>
            </a:extLst>
          </p:cNvPr>
          <p:cNvSpPr>
            <a:spLocks noGrp="1"/>
          </p:cNvSpPr>
          <p:nvPr>
            <p:ph idx="1"/>
          </p:nvPr>
        </p:nvSpPr>
        <p:spPr/>
        <p:txBody>
          <a:bodyPr vert="horz" lIns="91440" tIns="45720" rIns="91440" bIns="45720" rtlCol="0" anchor="t">
            <a:normAutofit lnSpcReduction="10000"/>
          </a:bodyPr>
          <a:lstStyle/>
          <a:p>
            <a:pPr marL="0" indent="0">
              <a:buNone/>
            </a:pPr>
            <a:r>
              <a:rPr lang="en-US" b="1"/>
              <a:t>Purpose</a:t>
            </a:r>
          </a:p>
          <a:p>
            <a:pPr lvl="1"/>
            <a:r>
              <a:rPr lang="en-US"/>
              <a:t>Identify technical reference models, platforms, standards and best practices used to develop the TA solution.</a:t>
            </a:r>
          </a:p>
          <a:p>
            <a:pPr marL="0" indent="0">
              <a:buNone/>
            </a:pPr>
            <a:r>
              <a:rPr lang="en-US" b="1"/>
              <a:t>Goal</a:t>
            </a:r>
          </a:p>
          <a:p>
            <a:pPr lvl="1"/>
            <a:r>
              <a:rPr lang="en-US"/>
              <a:t>Provide a clear, standards centric technical design for integration, technical and application services, security, and infrastructure.</a:t>
            </a:r>
          </a:p>
          <a:p>
            <a:pPr marL="0" indent="0">
              <a:buNone/>
            </a:pPr>
            <a:r>
              <a:rPr lang="en-US" b="1"/>
              <a:t>Triggers</a:t>
            </a:r>
          </a:p>
          <a:p>
            <a:pPr lvl="1"/>
            <a:r>
              <a:rPr lang="en-US"/>
              <a:t>Business Drivers Defined (e.g. Outcomes, Required Capabilities, etc.)</a:t>
            </a:r>
          </a:p>
          <a:p>
            <a:pPr lvl="1"/>
            <a:r>
              <a:rPr lang="en-US"/>
              <a:t>Modernization Strategy</a:t>
            </a:r>
          </a:p>
          <a:p>
            <a:pPr lvl="1"/>
            <a:r>
              <a:rPr lang="en-US"/>
              <a:t>Regulatory changes</a:t>
            </a:r>
          </a:p>
          <a:p>
            <a:pPr marL="0" indent="0">
              <a:buNone/>
            </a:pPr>
            <a:r>
              <a:rPr lang="en-US" b="1"/>
              <a:t>Output</a:t>
            </a:r>
          </a:p>
          <a:p>
            <a:pPr lvl="1"/>
            <a:r>
              <a:rPr lang="en-US"/>
              <a:t>TA Reference Models, Viewpoints and Tools</a:t>
            </a:r>
          </a:p>
          <a:p>
            <a:pPr lvl="1"/>
            <a:r>
              <a:rPr lang="en-US"/>
              <a:t>Technical standards (e.g. protocols, API standards, Integration patterns)</a:t>
            </a:r>
          </a:p>
        </p:txBody>
      </p:sp>
    </p:spTree>
    <p:extLst>
      <p:ext uri="{BB962C8B-B14F-4D97-AF65-F5344CB8AC3E}">
        <p14:creationId xmlns:p14="http://schemas.microsoft.com/office/powerpoint/2010/main" val="3362697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7869A-0BE1-7F39-FB8D-0E7625151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BDCF0-59BF-EC5B-8032-2A01545C20D7}"/>
              </a:ext>
            </a:extLst>
          </p:cNvPr>
          <p:cNvSpPr>
            <a:spLocks noGrp="1"/>
          </p:cNvSpPr>
          <p:nvPr>
            <p:ph type="title"/>
          </p:nvPr>
        </p:nvSpPr>
        <p:spPr/>
        <p:txBody>
          <a:bodyPr>
            <a:normAutofit/>
          </a:bodyPr>
          <a:lstStyle/>
          <a:p>
            <a:r>
              <a:rPr lang="en-US" dirty="0"/>
              <a:t>3.1C. Define TA Activities</a:t>
            </a:r>
          </a:p>
        </p:txBody>
      </p:sp>
      <p:sp>
        <p:nvSpPr>
          <p:cNvPr id="3" name="Content Placeholder 2">
            <a:extLst>
              <a:ext uri="{FF2B5EF4-FFF2-40B4-BE49-F238E27FC236}">
                <a16:creationId xmlns:a16="http://schemas.microsoft.com/office/drawing/2014/main" id="{82E7C4C6-45C9-3472-350D-1F8B34684E51}"/>
              </a:ext>
            </a:extLst>
          </p:cNvPr>
          <p:cNvSpPr>
            <a:spLocks noGrp="1"/>
          </p:cNvSpPr>
          <p:nvPr>
            <p:ph idx="1"/>
          </p:nvPr>
        </p:nvSpPr>
        <p:spPr/>
        <p:txBody>
          <a:bodyPr vert="horz" lIns="91440" tIns="45720" rIns="91440" bIns="45720" rtlCol="0" anchor="t">
            <a:normAutofit/>
          </a:bodyPr>
          <a:lstStyle/>
          <a:p>
            <a:pPr marL="0" indent="0">
              <a:buNone/>
            </a:pPr>
            <a:r>
              <a:rPr lang="en-US" b="1"/>
              <a:t>Activities</a:t>
            </a:r>
          </a:p>
          <a:p>
            <a:pPr marL="914400" indent="-457200">
              <a:buAutoNum type="arabicPeriod"/>
            </a:pPr>
            <a:r>
              <a:rPr lang="en-US"/>
              <a:t>Identify</a:t>
            </a:r>
            <a:r>
              <a:rPr lang="en-US">
                <a:solidFill>
                  <a:srgbClr val="000000"/>
                </a:solidFill>
                <a:latin typeface="Rockwell"/>
                <a:cs typeface="Segoe UI"/>
              </a:rPr>
              <a:t> TA viewpoints</a:t>
            </a:r>
          </a:p>
          <a:p>
            <a:pPr marL="914400" indent="-457200">
              <a:buClr>
                <a:srgbClr val="9E3611"/>
              </a:buClr>
              <a:buAutoNum type="arabicPeriod"/>
            </a:pPr>
            <a:r>
              <a:rPr lang="en-US">
                <a:solidFill>
                  <a:srgbClr val="000000"/>
                </a:solidFill>
                <a:latin typeface="Rockwell"/>
                <a:cs typeface="Segoe UI"/>
              </a:rPr>
              <a:t>Identify types of requirements (functional, non-functional, regulatory/compliance, integration, and technology constraints)</a:t>
            </a:r>
            <a:endParaRPr lang="en-US"/>
          </a:p>
          <a:p>
            <a:pPr marL="914400" indent="-457200">
              <a:buClr>
                <a:srgbClr val="9E3611"/>
              </a:buClr>
              <a:buAutoNum type="arabicPeriod"/>
            </a:pPr>
            <a:r>
              <a:rPr lang="en-US">
                <a:solidFill>
                  <a:srgbClr val="000000"/>
                </a:solidFill>
                <a:latin typeface="Rockwell"/>
                <a:cs typeface="Segoe UI"/>
              </a:rPr>
              <a:t>Select required reference model</a:t>
            </a:r>
          </a:p>
          <a:p>
            <a:pPr marL="914400" indent="-457200">
              <a:buClr>
                <a:srgbClr val="9E3611"/>
              </a:buClr>
              <a:buAutoNum type="arabicPeriod"/>
            </a:pPr>
            <a:r>
              <a:rPr lang="en-US">
                <a:solidFill>
                  <a:srgbClr val="000000"/>
                </a:solidFill>
                <a:latin typeface="Rockwell"/>
                <a:cs typeface="Segoe UI"/>
              </a:rPr>
              <a:t>Select required tools</a:t>
            </a:r>
            <a:endParaRPr lang="en-US"/>
          </a:p>
          <a:p>
            <a:pPr marL="914400" lvl="1" indent="-457200">
              <a:buClr>
                <a:srgbClr val="9E3611"/>
              </a:buClr>
              <a:buAutoNum type="arabicPeriod"/>
            </a:pPr>
            <a:endParaRPr lang="en-US"/>
          </a:p>
        </p:txBody>
      </p:sp>
    </p:spTree>
    <p:extLst>
      <p:ext uri="{BB962C8B-B14F-4D97-AF65-F5344CB8AC3E}">
        <p14:creationId xmlns:p14="http://schemas.microsoft.com/office/powerpoint/2010/main" val="1387802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17869A-0BE1-7F39-FB8D-0E7625151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BDCF0-59BF-EC5B-8032-2A01545C20D7}"/>
              </a:ext>
            </a:extLst>
          </p:cNvPr>
          <p:cNvSpPr>
            <a:spLocks noGrp="1"/>
          </p:cNvSpPr>
          <p:nvPr>
            <p:ph type="title"/>
          </p:nvPr>
        </p:nvSpPr>
        <p:spPr/>
        <p:txBody>
          <a:bodyPr>
            <a:normAutofit/>
          </a:bodyPr>
          <a:lstStyle/>
          <a:p>
            <a:r>
              <a:rPr lang="en-US"/>
              <a:t>Outdated 3.1C activities to move</a:t>
            </a:r>
          </a:p>
        </p:txBody>
      </p:sp>
      <p:pic>
        <p:nvPicPr>
          <p:cNvPr id="6" name="Content Placeholder 5">
            <a:extLst>
              <a:ext uri="{FF2B5EF4-FFF2-40B4-BE49-F238E27FC236}">
                <a16:creationId xmlns:a16="http://schemas.microsoft.com/office/drawing/2014/main" id="{F33E2A2F-5BAF-D9C4-6019-DDD6DD1DB84D}"/>
              </a:ext>
            </a:extLst>
          </p:cNvPr>
          <p:cNvPicPr>
            <a:picLocks noGrp="1" noChangeAspect="1"/>
          </p:cNvPicPr>
          <p:nvPr>
            <p:ph idx="1"/>
          </p:nvPr>
        </p:nvPicPr>
        <p:blipFill>
          <a:blip r:embed="rId2"/>
          <a:stretch>
            <a:fillRect/>
          </a:stretch>
        </p:blipFill>
        <p:spPr>
          <a:xfrm>
            <a:off x="1115073" y="2121408"/>
            <a:ext cx="9967949" cy="4050792"/>
          </a:xfrm>
          <a:prstGeom prst="rect">
            <a:avLst/>
          </a:prstGeom>
        </p:spPr>
      </p:pic>
    </p:spTree>
    <p:extLst>
      <p:ext uri="{BB962C8B-B14F-4D97-AF65-F5344CB8AC3E}">
        <p14:creationId xmlns:p14="http://schemas.microsoft.com/office/powerpoint/2010/main" val="427928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01B94-5064-8AB9-7FC8-1BDD6FCEF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D4291-2F53-D9CE-4AC6-96AF974565DB}"/>
              </a:ext>
            </a:extLst>
          </p:cNvPr>
          <p:cNvSpPr>
            <a:spLocks noGrp="1"/>
          </p:cNvSpPr>
          <p:nvPr>
            <p:ph type="title"/>
          </p:nvPr>
        </p:nvSpPr>
        <p:spPr/>
        <p:txBody>
          <a:bodyPr/>
          <a:lstStyle/>
          <a:p>
            <a:r>
              <a:rPr lang="en-US"/>
              <a:t>Define Capability Architecture</a:t>
            </a:r>
          </a:p>
        </p:txBody>
      </p:sp>
      <p:sp>
        <p:nvSpPr>
          <p:cNvPr id="3" name="Rounded Rectangle 2">
            <a:extLst>
              <a:ext uri="{FF2B5EF4-FFF2-40B4-BE49-F238E27FC236}">
                <a16:creationId xmlns:a16="http://schemas.microsoft.com/office/drawing/2014/main" id="{18E6D23B-9FBA-7DD0-0187-989AD8A64D9B}"/>
              </a:ext>
            </a:extLst>
          </p:cNvPr>
          <p:cNvSpPr/>
          <p:nvPr/>
        </p:nvSpPr>
        <p:spPr>
          <a:xfrm>
            <a:off x="3596720" y="3046248"/>
            <a:ext cx="1442138"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Capability Architecture</a:t>
            </a:r>
          </a:p>
        </p:txBody>
      </p:sp>
      <p:sp>
        <p:nvSpPr>
          <p:cNvPr id="4" name="Rounded Rectangle 3">
            <a:extLst>
              <a:ext uri="{FF2B5EF4-FFF2-40B4-BE49-F238E27FC236}">
                <a16:creationId xmlns:a16="http://schemas.microsoft.com/office/drawing/2014/main" id="{AD935284-E481-7697-E762-92B519357758}"/>
              </a:ext>
            </a:extLst>
          </p:cNvPr>
          <p:cNvSpPr/>
          <p:nvPr/>
        </p:nvSpPr>
        <p:spPr>
          <a:xfrm>
            <a:off x="5354870" y="3028674"/>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Target Capability Architecture</a:t>
            </a:r>
          </a:p>
        </p:txBody>
      </p:sp>
      <p:sp>
        <p:nvSpPr>
          <p:cNvPr id="5" name="Rounded Rectangle 4">
            <a:extLst>
              <a:ext uri="{FF2B5EF4-FFF2-40B4-BE49-F238E27FC236}">
                <a16:creationId xmlns:a16="http://schemas.microsoft.com/office/drawing/2014/main" id="{46F1FB81-4BD3-A734-E5FE-56FFCA17AD7C}"/>
              </a:ext>
            </a:extLst>
          </p:cNvPr>
          <p:cNvSpPr/>
          <p:nvPr/>
        </p:nvSpPr>
        <p:spPr>
          <a:xfrm>
            <a:off x="8842403"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Perform Gap Analysis</a:t>
            </a:r>
            <a:endParaRPr lang="en-US" sz="900" i="1"/>
          </a:p>
        </p:txBody>
      </p:sp>
      <p:sp>
        <p:nvSpPr>
          <p:cNvPr id="35" name="Rounded Rectangle 34">
            <a:extLst>
              <a:ext uri="{FF2B5EF4-FFF2-40B4-BE49-F238E27FC236}">
                <a16:creationId xmlns:a16="http://schemas.microsoft.com/office/drawing/2014/main" id="{9E8C86B0-BFC6-1AC1-4FBD-D72D91BBA46B}"/>
              </a:ext>
            </a:extLst>
          </p:cNvPr>
          <p:cNvSpPr/>
          <p:nvPr/>
        </p:nvSpPr>
        <p:spPr>
          <a:xfrm>
            <a:off x="1838570" y="3059760"/>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Define Architectural Approach</a:t>
            </a:r>
            <a:endParaRPr lang="en-US" sz="900"/>
          </a:p>
        </p:txBody>
      </p:sp>
      <p:sp>
        <p:nvSpPr>
          <p:cNvPr id="53" name="Oval 52">
            <a:extLst>
              <a:ext uri="{FF2B5EF4-FFF2-40B4-BE49-F238E27FC236}">
                <a16:creationId xmlns:a16="http://schemas.microsoft.com/office/drawing/2014/main" id="{26730464-FBF9-8A2F-0FA7-DE8FCDDCA7C6}"/>
              </a:ext>
            </a:extLst>
          </p:cNvPr>
          <p:cNvSpPr/>
          <p:nvPr/>
        </p:nvSpPr>
        <p:spPr>
          <a:xfrm>
            <a:off x="1311288" y="3805075"/>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63D71637-D99C-1A3E-C5CB-FC5F06C9D281}"/>
              </a:ext>
            </a:extLst>
          </p:cNvPr>
          <p:cNvSpPr/>
          <p:nvPr/>
        </p:nvSpPr>
        <p:spPr>
          <a:xfrm>
            <a:off x="10585442" y="3773989"/>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B49D3B25-381F-0523-04A0-B92ACDE6E984}"/>
              </a:ext>
            </a:extLst>
          </p:cNvPr>
          <p:cNvCxnSpPr>
            <a:cxnSpLocks/>
            <a:stCxn id="53" idx="6"/>
            <a:endCxn id="35" idx="1"/>
          </p:cNvCxnSpPr>
          <p:nvPr/>
        </p:nvCxnSpPr>
        <p:spPr>
          <a:xfrm>
            <a:off x="1561278" y="3931630"/>
            <a:ext cx="2772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668AF0D5-4D1C-ED1E-D1DF-282189F69FB9}"/>
              </a:ext>
            </a:extLst>
          </p:cNvPr>
          <p:cNvCxnSpPr>
            <a:cxnSpLocks/>
            <a:stCxn id="5" idx="3"/>
            <a:endCxn id="54" idx="2"/>
          </p:cNvCxnSpPr>
          <p:nvPr/>
        </p:nvCxnSpPr>
        <p:spPr>
          <a:xfrm>
            <a:off x="10284541" y="3892155"/>
            <a:ext cx="300901" cy="8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4DC2408-D9C2-66A1-D68E-B79EF37B2629}"/>
              </a:ext>
            </a:extLst>
          </p:cNvPr>
          <p:cNvSpPr txBox="1"/>
          <p:nvPr/>
        </p:nvSpPr>
        <p:spPr>
          <a:xfrm>
            <a:off x="1910127" y="3066881"/>
            <a:ext cx="507017" cy="369332"/>
          </a:xfrm>
          <a:prstGeom prst="rect">
            <a:avLst/>
          </a:prstGeom>
          <a:noFill/>
        </p:spPr>
        <p:txBody>
          <a:bodyPr wrap="square" lIns="91440" tIns="45720" rIns="91440" bIns="45720" rtlCol="0" anchor="t">
            <a:spAutoFit/>
          </a:bodyPr>
          <a:lstStyle/>
          <a:p>
            <a:r>
              <a:rPr lang="en-US">
                <a:solidFill>
                  <a:schemeClr val="bg1"/>
                </a:solidFill>
              </a:rPr>
              <a:t>3.1</a:t>
            </a:r>
          </a:p>
        </p:txBody>
      </p:sp>
      <p:sp>
        <p:nvSpPr>
          <p:cNvPr id="8" name="TextBox 7">
            <a:extLst>
              <a:ext uri="{FF2B5EF4-FFF2-40B4-BE49-F238E27FC236}">
                <a16:creationId xmlns:a16="http://schemas.microsoft.com/office/drawing/2014/main" id="{72D13477-B5A2-61CD-AAB1-9C3F2F2C021C}"/>
              </a:ext>
            </a:extLst>
          </p:cNvPr>
          <p:cNvSpPr txBox="1"/>
          <p:nvPr/>
        </p:nvSpPr>
        <p:spPr>
          <a:xfrm>
            <a:off x="3645744" y="3060490"/>
            <a:ext cx="571110" cy="369332"/>
          </a:xfrm>
          <a:prstGeom prst="rect">
            <a:avLst/>
          </a:prstGeom>
          <a:noFill/>
        </p:spPr>
        <p:txBody>
          <a:bodyPr wrap="square" lIns="91440" tIns="45720" rIns="91440" bIns="45720" rtlCol="0" anchor="t">
            <a:spAutoFit/>
          </a:bodyPr>
          <a:lstStyle/>
          <a:p>
            <a:r>
              <a:rPr lang="en-US">
                <a:solidFill>
                  <a:schemeClr val="bg1"/>
                </a:solidFill>
              </a:rPr>
              <a:t>3.2</a:t>
            </a:r>
          </a:p>
        </p:txBody>
      </p:sp>
      <p:sp>
        <p:nvSpPr>
          <p:cNvPr id="9" name="TextBox 8">
            <a:extLst>
              <a:ext uri="{FF2B5EF4-FFF2-40B4-BE49-F238E27FC236}">
                <a16:creationId xmlns:a16="http://schemas.microsoft.com/office/drawing/2014/main" id="{6C0D8459-D766-AE44-4412-D16D5888DBEC}"/>
              </a:ext>
            </a:extLst>
          </p:cNvPr>
          <p:cNvSpPr txBox="1"/>
          <p:nvPr/>
        </p:nvSpPr>
        <p:spPr>
          <a:xfrm>
            <a:off x="5466111" y="3060490"/>
            <a:ext cx="535503" cy="369332"/>
          </a:xfrm>
          <a:prstGeom prst="rect">
            <a:avLst/>
          </a:prstGeom>
          <a:noFill/>
        </p:spPr>
        <p:txBody>
          <a:bodyPr wrap="square" lIns="91440" tIns="45720" rIns="91440" bIns="45720" rtlCol="0" anchor="t">
            <a:spAutoFit/>
          </a:bodyPr>
          <a:lstStyle/>
          <a:p>
            <a:r>
              <a:rPr lang="en-US">
                <a:solidFill>
                  <a:schemeClr val="bg1"/>
                </a:solidFill>
              </a:rPr>
              <a:t>3.3</a:t>
            </a:r>
          </a:p>
        </p:txBody>
      </p:sp>
      <p:sp>
        <p:nvSpPr>
          <p:cNvPr id="10" name="TextBox 9">
            <a:extLst>
              <a:ext uri="{FF2B5EF4-FFF2-40B4-BE49-F238E27FC236}">
                <a16:creationId xmlns:a16="http://schemas.microsoft.com/office/drawing/2014/main" id="{4B6A3163-3D2F-B910-1573-2C1C47126C33}"/>
              </a:ext>
            </a:extLst>
          </p:cNvPr>
          <p:cNvSpPr txBox="1"/>
          <p:nvPr/>
        </p:nvSpPr>
        <p:spPr>
          <a:xfrm>
            <a:off x="8972586" y="3066881"/>
            <a:ext cx="592475" cy="369332"/>
          </a:xfrm>
          <a:prstGeom prst="rect">
            <a:avLst/>
          </a:prstGeom>
          <a:noFill/>
        </p:spPr>
        <p:txBody>
          <a:bodyPr wrap="square" lIns="91440" tIns="45720" rIns="91440" bIns="45720" rtlCol="0" anchor="t">
            <a:spAutoFit/>
          </a:bodyPr>
          <a:lstStyle/>
          <a:p>
            <a:r>
              <a:rPr lang="en-US">
                <a:solidFill>
                  <a:schemeClr val="bg1"/>
                </a:solidFill>
              </a:rPr>
              <a:t>3.5</a:t>
            </a:r>
          </a:p>
        </p:txBody>
      </p:sp>
      <p:sp>
        <p:nvSpPr>
          <p:cNvPr id="15" name="Rounded Rectangle 14">
            <a:extLst>
              <a:ext uri="{FF2B5EF4-FFF2-40B4-BE49-F238E27FC236}">
                <a16:creationId xmlns:a16="http://schemas.microsoft.com/office/drawing/2014/main" id="{5904C9DD-39E6-CB63-F13C-570C076EA32B}"/>
              </a:ext>
            </a:extLst>
          </p:cNvPr>
          <p:cNvSpPr/>
          <p:nvPr/>
        </p:nvSpPr>
        <p:spPr>
          <a:xfrm>
            <a:off x="7099194"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Align Architecture and Compile Concept of Operations</a:t>
            </a:r>
            <a:endParaRPr lang="en-US" sz="900" i="1"/>
          </a:p>
        </p:txBody>
      </p:sp>
      <p:sp>
        <p:nvSpPr>
          <p:cNvPr id="16" name="TextBox 15">
            <a:extLst>
              <a:ext uri="{FF2B5EF4-FFF2-40B4-BE49-F238E27FC236}">
                <a16:creationId xmlns:a16="http://schemas.microsoft.com/office/drawing/2014/main" id="{6B5B9F08-21E8-C54C-0A5F-D25FC9C0306D}"/>
              </a:ext>
            </a:extLst>
          </p:cNvPr>
          <p:cNvSpPr txBox="1"/>
          <p:nvPr/>
        </p:nvSpPr>
        <p:spPr>
          <a:xfrm>
            <a:off x="7102739" y="3064503"/>
            <a:ext cx="521260" cy="369332"/>
          </a:xfrm>
          <a:prstGeom prst="rect">
            <a:avLst/>
          </a:prstGeom>
          <a:noFill/>
        </p:spPr>
        <p:txBody>
          <a:bodyPr wrap="square" lIns="91440" tIns="45720" rIns="91440" bIns="45720" rtlCol="0" anchor="t">
            <a:spAutoFit/>
          </a:bodyPr>
          <a:lstStyle/>
          <a:p>
            <a:r>
              <a:rPr lang="en-US">
                <a:solidFill>
                  <a:schemeClr val="bg1"/>
                </a:solidFill>
              </a:rPr>
              <a:t>3.4</a:t>
            </a:r>
          </a:p>
        </p:txBody>
      </p:sp>
      <p:sp>
        <p:nvSpPr>
          <p:cNvPr id="17" name="Right Arrow 16">
            <a:extLst>
              <a:ext uri="{FF2B5EF4-FFF2-40B4-BE49-F238E27FC236}">
                <a16:creationId xmlns:a16="http://schemas.microsoft.com/office/drawing/2014/main" id="{7662EF8F-2E1D-5371-3A62-E48FD034B77A}"/>
              </a:ext>
            </a:extLst>
          </p:cNvPr>
          <p:cNvSpPr/>
          <p:nvPr/>
        </p:nvSpPr>
        <p:spPr>
          <a:xfrm>
            <a:off x="8541502" y="3784116"/>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C82B0900-F43D-A8C6-47E8-B1E50B4E23E5}"/>
              </a:ext>
            </a:extLst>
          </p:cNvPr>
          <p:cNvSpPr/>
          <p:nvPr/>
        </p:nvSpPr>
        <p:spPr>
          <a:xfrm>
            <a:off x="6800098" y="3782589"/>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0AE21A54-F6E6-A6BD-0FAA-63E7594782AF}"/>
              </a:ext>
            </a:extLst>
          </p:cNvPr>
          <p:cNvSpPr/>
          <p:nvPr/>
        </p:nvSpPr>
        <p:spPr>
          <a:xfrm>
            <a:off x="5038858" y="3794243"/>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3AD5870B-717E-D617-4FFA-37509C105E14}"/>
              </a:ext>
            </a:extLst>
          </p:cNvPr>
          <p:cNvSpPr/>
          <p:nvPr/>
        </p:nvSpPr>
        <p:spPr>
          <a:xfrm>
            <a:off x="3285247" y="3804262"/>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Elbow Connector 10">
            <a:extLst>
              <a:ext uri="{FF2B5EF4-FFF2-40B4-BE49-F238E27FC236}">
                <a16:creationId xmlns:a16="http://schemas.microsoft.com/office/drawing/2014/main" id="{3C34A463-3609-0855-B46C-A689D31ED271}"/>
              </a:ext>
            </a:extLst>
          </p:cNvPr>
          <p:cNvCxnSpPr>
            <a:stCxn id="5" idx="0"/>
            <a:endCxn id="4" idx="0"/>
          </p:cNvCxnSpPr>
          <p:nvPr/>
        </p:nvCxnSpPr>
        <p:spPr>
          <a:xfrm rot="16200000" flipH="1" flipV="1">
            <a:off x="7815511" y="1280712"/>
            <a:ext cx="8389" cy="3487533"/>
          </a:xfrm>
          <a:prstGeom prst="bentConnector3">
            <a:avLst>
              <a:gd name="adj1" fmla="val -680627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27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D295-D80F-DA58-357F-38E7F299ED1A}"/>
              </a:ext>
            </a:extLst>
          </p:cNvPr>
          <p:cNvSpPr>
            <a:spLocks noGrp="1"/>
          </p:cNvSpPr>
          <p:nvPr>
            <p:ph type="title"/>
          </p:nvPr>
        </p:nvSpPr>
        <p:spPr/>
        <p:txBody>
          <a:bodyPr>
            <a:normAutofit/>
          </a:bodyPr>
          <a:lstStyle/>
          <a:p>
            <a:r>
              <a:rPr lang="en-US"/>
              <a:t>3.2. Define Baseline Capability Architecture</a:t>
            </a:r>
          </a:p>
        </p:txBody>
      </p:sp>
      <p:sp>
        <p:nvSpPr>
          <p:cNvPr id="3" name="Rounded Rectangle 2">
            <a:extLst>
              <a:ext uri="{FF2B5EF4-FFF2-40B4-BE49-F238E27FC236}">
                <a16:creationId xmlns:a16="http://schemas.microsoft.com/office/drawing/2014/main" id="{96036BF0-48F6-2977-0D1B-6EF84642486E}"/>
              </a:ext>
            </a:extLst>
          </p:cNvPr>
          <p:cNvSpPr/>
          <p:nvPr/>
        </p:nvSpPr>
        <p:spPr>
          <a:xfrm>
            <a:off x="210002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3.2a. Identify Impacted Business architecture</a:t>
            </a:r>
            <a:endParaRPr lang="en-US" sz="1000"/>
          </a:p>
        </p:txBody>
      </p:sp>
      <p:sp>
        <p:nvSpPr>
          <p:cNvPr id="4" name="Rounded Rectangle 3">
            <a:extLst>
              <a:ext uri="{FF2B5EF4-FFF2-40B4-BE49-F238E27FC236}">
                <a16:creationId xmlns:a16="http://schemas.microsoft.com/office/drawing/2014/main" id="{54CAD4AB-26CD-F835-4EBE-44B6BF7591C5}"/>
              </a:ext>
            </a:extLst>
          </p:cNvPr>
          <p:cNvSpPr/>
          <p:nvPr/>
        </p:nvSpPr>
        <p:spPr>
          <a:xfrm>
            <a:off x="2100027"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3.2a. Identify Impacted Business Processes Roles</a:t>
            </a:r>
            <a:endParaRPr lang="en-US" sz="1000"/>
          </a:p>
        </p:txBody>
      </p:sp>
      <p:sp>
        <p:nvSpPr>
          <p:cNvPr id="5" name="Rounded Rectangle 4">
            <a:extLst>
              <a:ext uri="{FF2B5EF4-FFF2-40B4-BE49-F238E27FC236}">
                <a16:creationId xmlns:a16="http://schemas.microsoft.com/office/drawing/2014/main" id="{9ADCDACA-91F3-A48B-4FB6-51F4D28B6728}"/>
              </a:ext>
            </a:extLst>
          </p:cNvPr>
          <p:cNvSpPr/>
          <p:nvPr/>
        </p:nvSpPr>
        <p:spPr>
          <a:xfrm>
            <a:off x="469844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3.2b. Identify Impacted Information Architecture</a:t>
            </a:r>
            <a:endParaRPr lang="en-US" sz="1000"/>
          </a:p>
        </p:txBody>
      </p:sp>
      <p:sp>
        <p:nvSpPr>
          <p:cNvPr id="6" name="Rounded Rectangle 5">
            <a:extLst>
              <a:ext uri="{FF2B5EF4-FFF2-40B4-BE49-F238E27FC236}">
                <a16:creationId xmlns:a16="http://schemas.microsoft.com/office/drawing/2014/main" id="{76AF7135-F70F-7F84-FAB7-90A615CF976E}"/>
              </a:ext>
            </a:extLst>
          </p:cNvPr>
          <p:cNvSpPr/>
          <p:nvPr/>
        </p:nvSpPr>
        <p:spPr>
          <a:xfrm>
            <a:off x="4698448"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3.2b. Identify Impacted Data Roles</a:t>
            </a:r>
            <a:endParaRPr lang="en-US" sz="1000"/>
          </a:p>
        </p:txBody>
      </p:sp>
      <p:sp>
        <p:nvSpPr>
          <p:cNvPr id="7" name="Rounded Rectangle 6">
            <a:extLst>
              <a:ext uri="{FF2B5EF4-FFF2-40B4-BE49-F238E27FC236}">
                <a16:creationId xmlns:a16="http://schemas.microsoft.com/office/drawing/2014/main" id="{5D4268EE-4BD3-B98A-E4B3-DCA415B5A508}"/>
              </a:ext>
            </a:extLst>
          </p:cNvPr>
          <p:cNvSpPr/>
          <p:nvPr/>
        </p:nvSpPr>
        <p:spPr>
          <a:xfrm>
            <a:off x="7570470"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3.2c. Identify Impacted Technical Architecture</a:t>
            </a:r>
            <a:endParaRPr lang="en-US" sz="1000"/>
          </a:p>
        </p:txBody>
      </p:sp>
      <p:sp>
        <p:nvSpPr>
          <p:cNvPr id="8" name="Rounded Rectangle 7">
            <a:extLst>
              <a:ext uri="{FF2B5EF4-FFF2-40B4-BE49-F238E27FC236}">
                <a16:creationId xmlns:a16="http://schemas.microsoft.com/office/drawing/2014/main" id="{DCF442E6-29CE-F86A-F6DE-274D499F4B02}"/>
              </a:ext>
            </a:extLst>
          </p:cNvPr>
          <p:cNvSpPr/>
          <p:nvPr/>
        </p:nvSpPr>
        <p:spPr>
          <a:xfrm>
            <a:off x="7570469"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3.2c. Identify Impacted Technology Roles</a:t>
            </a:r>
            <a:endParaRPr lang="en-US" sz="1000"/>
          </a:p>
        </p:txBody>
      </p:sp>
      <p:cxnSp>
        <p:nvCxnSpPr>
          <p:cNvPr id="10" name="Straight Arrow Connector 9">
            <a:extLst>
              <a:ext uri="{FF2B5EF4-FFF2-40B4-BE49-F238E27FC236}">
                <a16:creationId xmlns:a16="http://schemas.microsoft.com/office/drawing/2014/main" id="{6803189D-CE0C-3B2F-FE3D-121B9B4003BE}"/>
              </a:ext>
            </a:extLst>
          </p:cNvPr>
          <p:cNvCxnSpPr>
            <a:stCxn id="3" idx="2"/>
            <a:endCxn id="4" idx="0"/>
          </p:cNvCxnSpPr>
          <p:nvPr/>
        </p:nvCxnSpPr>
        <p:spPr>
          <a:xfrm flipH="1">
            <a:off x="2968224"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04F2FE84-4BB6-F704-A90E-4A739DFE65F1}"/>
              </a:ext>
            </a:extLst>
          </p:cNvPr>
          <p:cNvCxnSpPr>
            <a:stCxn id="4" idx="3"/>
            <a:endCxn id="5" idx="1"/>
          </p:cNvCxnSpPr>
          <p:nvPr/>
        </p:nvCxnSpPr>
        <p:spPr>
          <a:xfrm flipV="1">
            <a:off x="3836420" y="3029034"/>
            <a:ext cx="862028" cy="231765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F9744DFA-55C4-A8BC-0EF9-EE3F0CBEB133}"/>
              </a:ext>
            </a:extLst>
          </p:cNvPr>
          <p:cNvCxnSpPr>
            <a:cxnSpLocks/>
            <a:stCxn id="6" idx="3"/>
            <a:endCxn id="7" idx="1"/>
          </p:cNvCxnSpPr>
          <p:nvPr/>
        </p:nvCxnSpPr>
        <p:spPr>
          <a:xfrm flipV="1">
            <a:off x="6434841" y="3029034"/>
            <a:ext cx="1135629" cy="231765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1521F38-2B27-CB77-83C8-1A5C52FF5F26}"/>
              </a:ext>
            </a:extLst>
          </p:cNvPr>
          <p:cNvCxnSpPr>
            <a:stCxn id="5" idx="2"/>
            <a:endCxn id="6" idx="0"/>
          </p:cNvCxnSpPr>
          <p:nvPr/>
        </p:nvCxnSpPr>
        <p:spPr>
          <a:xfrm>
            <a:off x="5566645" y="3900904"/>
            <a:ext cx="0"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C03ADF3-43D2-6E65-9319-12D2DE16BD47}"/>
              </a:ext>
            </a:extLst>
          </p:cNvPr>
          <p:cNvCxnSpPr>
            <a:cxnSpLocks/>
            <a:stCxn id="7" idx="2"/>
            <a:endCxn id="8" idx="0"/>
          </p:cNvCxnSpPr>
          <p:nvPr/>
        </p:nvCxnSpPr>
        <p:spPr>
          <a:xfrm flipH="1">
            <a:off x="8438666"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CB1557CF-89F9-611C-81D6-8146FBAF1DB5}"/>
              </a:ext>
            </a:extLst>
          </p:cNvPr>
          <p:cNvSpPr/>
          <p:nvPr/>
        </p:nvSpPr>
        <p:spPr>
          <a:xfrm>
            <a:off x="1006434" y="2754714"/>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8DFF54C-667C-2261-C604-34A4BB408141}"/>
              </a:ext>
            </a:extLst>
          </p:cNvPr>
          <p:cNvSpPr/>
          <p:nvPr/>
        </p:nvSpPr>
        <p:spPr>
          <a:xfrm>
            <a:off x="9697044" y="5072365"/>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A5F3E47A-43A4-FC3A-85A0-AF9B1800EB7F}"/>
              </a:ext>
            </a:extLst>
          </p:cNvPr>
          <p:cNvCxnSpPr>
            <a:cxnSpLocks/>
            <a:stCxn id="21" idx="6"/>
            <a:endCxn id="3" idx="1"/>
          </p:cNvCxnSpPr>
          <p:nvPr/>
        </p:nvCxnSpPr>
        <p:spPr>
          <a:xfrm>
            <a:off x="1532214" y="3029034"/>
            <a:ext cx="5678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BC045021-CA5B-5D7E-A7CC-CD4A76EF2AF5}"/>
              </a:ext>
            </a:extLst>
          </p:cNvPr>
          <p:cNvCxnSpPr>
            <a:cxnSpLocks/>
            <a:stCxn id="8" idx="3"/>
            <a:endCxn id="22" idx="2"/>
          </p:cNvCxnSpPr>
          <p:nvPr/>
        </p:nvCxnSpPr>
        <p:spPr>
          <a:xfrm>
            <a:off x="9306862" y="5346685"/>
            <a:ext cx="3901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9163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3B627-FEEE-4D44-B452-89DEF2FE6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8B137-2924-1CE6-276E-3B12F1341CC3}"/>
              </a:ext>
            </a:extLst>
          </p:cNvPr>
          <p:cNvSpPr>
            <a:spLocks noGrp="1"/>
          </p:cNvSpPr>
          <p:nvPr>
            <p:ph type="title"/>
          </p:nvPr>
        </p:nvSpPr>
        <p:spPr/>
        <p:txBody>
          <a:bodyPr>
            <a:normAutofit/>
          </a:bodyPr>
          <a:lstStyle/>
          <a:p>
            <a:r>
              <a:rPr lang="en-US"/>
              <a:t>3.2A. </a:t>
            </a:r>
            <a:r>
              <a:rPr lang="en-US" sz="4800">
                <a:solidFill>
                  <a:srgbClr val="000000"/>
                </a:solidFill>
              </a:rPr>
              <a:t>Define Baseline Capability </a:t>
            </a:r>
            <a:r>
              <a:rPr lang="en-US" sz="4800"/>
              <a:t>Overview</a:t>
            </a:r>
            <a:endParaRPr lang="en-US" sz="4800">
              <a:latin typeface="Rockwell Condensed"/>
            </a:endParaRPr>
          </a:p>
        </p:txBody>
      </p:sp>
      <p:sp>
        <p:nvSpPr>
          <p:cNvPr id="3" name="Content Placeholder 2">
            <a:extLst>
              <a:ext uri="{FF2B5EF4-FFF2-40B4-BE49-F238E27FC236}">
                <a16:creationId xmlns:a16="http://schemas.microsoft.com/office/drawing/2014/main" id="{EA120972-5341-7FCC-842F-1E8B2C909BB3}"/>
              </a:ext>
            </a:extLst>
          </p:cNvPr>
          <p:cNvSpPr>
            <a:spLocks noGrp="1"/>
          </p:cNvSpPr>
          <p:nvPr>
            <p:ph idx="1"/>
          </p:nvPr>
        </p:nvSpPr>
        <p:spPr/>
        <p:txBody>
          <a:bodyPr>
            <a:normAutofit/>
          </a:bodyPr>
          <a:lstStyle/>
          <a:p>
            <a:pPr marL="0" indent="0">
              <a:buNone/>
            </a:pPr>
            <a:r>
              <a:rPr lang="en-US" b="1"/>
              <a:t>Purpose</a:t>
            </a:r>
          </a:p>
          <a:p>
            <a:pPr lvl="1"/>
            <a:r>
              <a:rPr lang="en-US"/>
              <a:t>Identify the Business Process(es) that are currently in place to support the defined outcomes, goals, strategy.</a:t>
            </a:r>
          </a:p>
          <a:p>
            <a:pPr marL="0" indent="0">
              <a:buNone/>
            </a:pPr>
            <a:r>
              <a:rPr lang="en-US" b="1"/>
              <a:t>Goal</a:t>
            </a:r>
          </a:p>
          <a:p>
            <a:pPr lvl="1"/>
            <a:r>
              <a:rPr lang="en-US"/>
              <a:t>Discover how the current business process(es) will or will not support the capabilities needed to support the SMA’s desired outcomes.  </a:t>
            </a:r>
          </a:p>
          <a:p>
            <a:pPr marL="0" indent="0">
              <a:buNone/>
            </a:pPr>
            <a:r>
              <a:rPr lang="en-US" b="1"/>
              <a:t>Triggers</a:t>
            </a:r>
          </a:p>
          <a:p>
            <a:pPr lvl="1"/>
            <a:r>
              <a:rPr lang="en-US"/>
              <a:t>Baseline Outcomes, Goals, Business Strategy</a:t>
            </a:r>
          </a:p>
          <a:p>
            <a:pPr lvl="1"/>
            <a:r>
              <a:rPr lang="en-US"/>
              <a:t>Business Architecture Viewpoints, Reference Models &amp; Tools Defined</a:t>
            </a:r>
          </a:p>
          <a:p>
            <a:pPr marL="0" indent="0">
              <a:buNone/>
            </a:pPr>
            <a:r>
              <a:rPr lang="en-US" b="1"/>
              <a:t>Output</a:t>
            </a:r>
          </a:p>
          <a:p>
            <a:pPr lvl="1"/>
            <a:r>
              <a:rPr lang="en-US"/>
              <a:t>Baseline Capability Business Architecture Maturity Assessment</a:t>
            </a:r>
          </a:p>
        </p:txBody>
      </p:sp>
    </p:spTree>
    <p:extLst>
      <p:ext uri="{BB962C8B-B14F-4D97-AF65-F5344CB8AC3E}">
        <p14:creationId xmlns:p14="http://schemas.microsoft.com/office/powerpoint/2010/main" val="2317739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9387D-B411-0DC7-EC10-E6058A5E3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5F4CC-7819-6465-0E3C-4A34EB205D5A}"/>
              </a:ext>
            </a:extLst>
          </p:cNvPr>
          <p:cNvSpPr>
            <a:spLocks noGrp="1"/>
          </p:cNvSpPr>
          <p:nvPr>
            <p:ph type="title"/>
          </p:nvPr>
        </p:nvSpPr>
        <p:spPr/>
        <p:txBody>
          <a:bodyPr>
            <a:normAutofit/>
          </a:bodyPr>
          <a:lstStyle/>
          <a:p>
            <a:r>
              <a:rPr lang="en-US"/>
              <a:t>3.2A. Activities</a:t>
            </a:r>
          </a:p>
        </p:txBody>
      </p:sp>
      <p:sp>
        <p:nvSpPr>
          <p:cNvPr id="3" name="Content Placeholder 2">
            <a:extLst>
              <a:ext uri="{FF2B5EF4-FFF2-40B4-BE49-F238E27FC236}">
                <a16:creationId xmlns:a16="http://schemas.microsoft.com/office/drawing/2014/main" id="{F37F5635-EA03-403D-A044-13A93616D11E}"/>
              </a:ext>
            </a:extLst>
          </p:cNvPr>
          <p:cNvSpPr>
            <a:spLocks noGrp="1"/>
          </p:cNvSpPr>
          <p:nvPr>
            <p:ph idx="1"/>
          </p:nvPr>
        </p:nvSpPr>
        <p:spPr/>
        <p:txBody>
          <a:bodyPr>
            <a:normAutofit/>
          </a:bodyPr>
          <a:lstStyle/>
          <a:p>
            <a:pPr marL="0" indent="0">
              <a:buNone/>
            </a:pPr>
            <a:r>
              <a:rPr lang="en-US" b="1"/>
              <a:t>Activities</a:t>
            </a:r>
          </a:p>
          <a:p>
            <a:pPr marL="914400" lvl="1" indent="-457200">
              <a:buFont typeface="+mj-lt"/>
              <a:buAutoNum type="arabicPeriod"/>
            </a:pPr>
            <a:r>
              <a:rPr lang="en-US"/>
              <a:t>Identify how the process(es) are performed, including any measures, metrics and reports produced for the impacted capability(</a:t>
            </a:r>
            <a:r>
              <a:rPr lang="en-US" err="1"/>
              <a:t>ies</a:t>
            </a:r>
            <a:r>
              <a:rPr lang="en-US"/>
              <a:t>).</a:t>
            </a:r>
          </a:p>
          <a:p>
            <a:pPr marL="914400" lvl="1" indent="-457200">
              <a:buFont typeface="+mj-lt"/>
              <a:buAutoNum type="arabicPeriod"/>
            </a:pPr>
            <a:r>
              <a:rPr lang="en-US"/>
              <a:t>Identify the activities that are currently performed to support the process(es) for the impacted capability(</a:t>
            </a:r>
            <a:r>
              <a:rPr lang="en-US" err="1"/>
              <a:t>ies</a:t>
            </a:r>
            <a:r>
              <a:rPr lang="en-US"/>
              <a:t>).</a:t>
            </a:r>
          </a:p>
          <a:p>
            <a:pPr marL="914400" lvl="1" indent="-457200">
              <a:buFont typeface="+mj-lt"/>
              <a:buAutoNum type="arabicPeriod"/>
            </a:pPr>
            <a:r>
              <a:rPr lang="en-US"/>
              <a:t>Identify the business process roles and stakeholders for each process.</a:t>
            </a:r>
          </a:p>
          <a:p>
            <a:pPr marL="914400" lvl="1" indent="-457200">
              <a:buFont typeface="+mj-lt"/>
              <a:buAutoNum type="arabicPeriod"/>
            </a:pPr>
            <a:r>
              <a:rPr lang="en-US"/>
              <a:t>Identify standards and regulations (state and federal) required for each process.</a:t>
            </a:r>
          </a:p>
          <a:p>
            <a:pPr marL="914400" lvl="1" indent="-457200">
              <a:buFont typeface="+mj-lt"/>
              <a:buAutoNum type="arabicPeriod"/>
            </a:pPr>
            <a:r>
              <a:rPr lang="en-US"/>
              <a:t>Gather all supporting documentation (e.g. SOP’s, desk manuals) for the identified process(es).</a:t>
            </a:r>
          </a:p>
          <a:p>
            <a:pPr marL="914400" lvl="1" indent="-457200">
              <a:buFont typeface="+mj-lt"/>
              <a:buAutoNum type="arabicPeriod"/>
            </a:pPr>
            <a:r>
              <a:rPr lang="en-US"/>
              <a:t>Assess the current (if available) performance metrics for each process.</a:t>
            </a:r>
          </a:p>
          <a:p>
            <a:pPr marL="914400" lvl="1" indent="-457200">
              <a:buFont typeface="+mj-lt"/>
              <a:buAutoNum type="arabicPeriod"/>
            </a:pPr>
            <a:r>
              <a:rPr lang="en-US"/>
              <a:t>Use the information gathered to develop baseline business architecture artifacts.</a:t>
            </a:r>
          </a:p>
          <a:p>
            <a:pPr marL="914400" lvl="1" indent="-457200">
              <a:buFont typeface="+mj-lt"/>
              <a:buAutoNum type="arabicPeriod"/>
            </a:pPr>
            <a:r>
              <a:rPr lang="en-US"/>
              <a:t>Assess the baseline business architecture maturity.</a:t>
            </a:r>
          </a:p>
          <a:p>
            <a:pPr marL="914400" lvl="1" indent="-457200">
              <a:buFont typeface="+mj-lt"/>
              <a:buAutoNum type="arabicPeriod"/>
            </a:pPr>
            <a:endParaRPr lang="en-US"/>
          </a:p>
          <a:p>
            <a:pPr marL="914400" lvl="1" indent="-457200">
              <a:buFont typeface="+mj-lt"/>
              <a:buAutoNum type="arabicPeriod"/>
            </a:pPr>
            <a:endParaRPr lang="en-US"/>
          </a:p>
        </p:txBody>
      </p:sp>
    </p:spTree>
    <p:extLst>
      <p:ext uri="{BB962C8B-B14F-4D97-AF65-F5344CB8AC3E}">
        <p14:creationId xmlns:p14="http://schemas.microsoft.com/office/powerpoint/2010/main" val="3447822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AB9A4-9DD0-57F2-2CE2-A850EA2A71D8}"/>
              </a:ext>
            </a:extLst>
          </p:cNvPr>
          <p:cNvSpPr>
            <a:spLocks noGrp="1"/>
          </p:cNvSpPr>
          <p:nvPr>
            <p:ph type="title"/>
          </p:nvPr>
        </p:nvSpPr>
        <p:spPr/>
        <p:txBody>
          <a:bodyPr>
            <a:normAutofit/>
          </a:bodyPr>
          <a:lstStyle/>
          <a:p>
            <a:r>
              <a:rPr lang="en-US"/>
              <a:t>3.2b. </a:t>
            </a:r>
            <a:r>
              <a:rPr lang="en-US" sz="4800">
                <a:solidFill>
                  <a:srgbClr val="000000"/>
                </a:solidFill>
              </a:rPr>
              <a:t>Define Baseline Capability </a:t>
            </a:r>
            <a:r>
              <a:rPr lang="en-US" sz="4800"/>
              <a:t>Overview</a:t>
            </a:r>
            <a:endParaRPr lang="en-US" sz="4800" err="1">
              <a:latin typeface="Rockwell Condensed"/>
            </a:endParaRPr>
          </a:p>
        </p:txBody>
      </p:sp>
      <p:sp>
        <p:nvSpPr>
          <p:cNvPr id="3" name="Content Placeholder 2">
            <a:extLst>
              <a:ext uri="{FF2B5EF4-FFF2-40B4-BE49-F238E27FC236}">
                <a16:creationId xmlns:a16="http://schemas.microsoft.com/office/drawing/2014/main" id="{B6A41A7C-CE0D-9D70-BA26-387488A3DA09}"/>
              </a:ext>
            </a:extLst>
          </p:cNvPr>
          <p:cNvSpPr>
            <a:spLocks noGrp="1"/>
          </p:cNvSpPr>
          <p:nvPr>
            <p:ph idx="1"/>
          </p:nvPr>
        </p:nvSpPr>
        <p:spPr/>
        <p:txBody>
          <a:bodyPr vert="horz" lIns="91440" tIns="45720" rIns="91440" bIns="45720" rtlCol="0" anchor="t">
            <a:normAutofit/>
          </a:bodyPr>
          <a:lstStyle/>
          <a:p>
            <a:pPr marL="0" indent="0">
              <a:buNone/>
            </a:pPr>
            <a:r>
              <a:rPr lang="en-US" b="1"/>
              <a:t>Purpose</a:t>
            </a:r>
          </a:p>
          <a:p>
            <a:pPr lvl="1"/>
            <a:r>
              <a:rPr lang="en-US"/>
              <a:t>Identify the data assets that are currently in place to support the identified process.</a:t>
            </a:r>
          </a:p>
          <a:p>
            <a:pPr marL="0" indent="0">
              <a:buNone/>
            </a:pPr>
            <a:r>
              <a:rPr lang="en-US" b="1"/>
              <a:t>Goal</a:t>
            </a:r>
          </a:p>
          <a:p>
            <a:pPr lvl="1"/>
            <a:r>
              <a:rPr lang="en-US"/>
              <a:t>Discover how the current data assets will or will not support the capabilities needed to support the SMA’s desired outcomes.  </a:t>
            </a:r>
          </a:p>
          <a:p>
            <a:pPr marL="0" indent="0">
              <a:buNone/>
            </a:pPr>
            <a:r>
              <a:rPr lang="en-US" b="1"/>
              <a:t>Triggers</a:t>
            </a:r>
          </a:p>
          <a:p>
            <a:pPr lvl="1"/>
            <a:r>
              <a:rPr lang="en-US"/>
              <a:t>Baseline Business Process Defined</a:t>
            </a:r>
          </a:p>
          <a:p>
            <a:pPr lvl="1"/>
            <a:r>
              <a:rPr lang="en-US"/>
              <a:t>Information Architecture Viewpoints, Reference Models &amp; Tools Defined</a:t>
            </a:r>
          </a:p>
          <a:p>
            <a:pPr marL="0" indent="0">
              <a:buNone/>
            </a:pPr>
            <a:r>
              <a:rPr lang="en-US" b="1"/>
              <a:t>Output</a:t>
            </a:r>
          </a:p>
          <a:p>
            <a:pPr lvl="1"/>
            <a:r>
              <a:rPr lang="en-US"/>
              <a:t>Baseline Capability Information Architecture Maturity Assessment</a:t>
            </a:r>
          </a:p>
        </p:txBody>
      </p:sp>
    </p:spTree>
    <p:extLst>
      <p:ext uri="{BB962C8B-B14F-4D97-AF65-F5344CB8AC3E}">
        <p14:creationId xmlns:p14="http://schemas.microsoft.com/office/powerpoint/2010/main" val="1365255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F166-7D1F-A104-4201-AD99D726C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FB06C-D92C-6219-1648-270725A945CD}"/>
              </a:ext>
            </a:extLst>
          </p:cNvPr>
          <p:cNvSpPr>
            <a:spLocks noGrp="1"/>
          </p:cNvSpPr>
          <p:nvPr>
            <p:ph type="title"/>
          </p:nvPr>
        </p:nvSpPr>
        <p:spPr/>
        <p:txBody>
          <a:bodyPr>
            <a:normAutofit/>
          </a:bodyPr>
          <a:lstStyle/>
          <a:p>
            <a:r>
              <a:rPr lang="en-US"/>
              <a:t>3.2B. Activities</a:t>
            </a:r>
          </a:p>
        </p:txBody>
      </p:sp>
      <p:sp>
        <p:nvSpPr>
          <p:cNvPr id="3" name="Content Placeholder 2">
            <a:extLst>
              <a:ext uri="{FF2B5EF4-FFF2-40B4-BE49-F238E27FC236}">
                <a16:creationId xmlns:a16="http://schemas.microsoft.com/office/drawing/2014/main" id="{FED499A4-21EA-9B9B-753C-3A949C272DCC}"/>
              </a:ext>
            </a:extLst>
          </p:cNvPr>
          <p:cNvSpPr>
            <a:spLocks noGrp="1"/>
          </p:cNvSpPr>
          <p:nvPr>
            <p:ph idx="1"/>
          </p:nvPr>
        </p:nvSpPr>
        <p:spPr/>
        <p:txBody>
          <a:bodyPr>
            <a:normAutofit/>
          </a:bodyPr>
          <a:lstStyle/>
          <a:p>
            <a:pPr marL="0" indent="0">
              <a:buNone/>
            </a:pPr>
            <a:r>
              <a:rPr lang="en-US" b="1"/>
              <a:t>Activities</a:t>
            </a:r>
          </a:p>
          <a:p>
            <a:pPr marL="914400" lvl="1" indent="-457200">
              <a:buFont typeface="+mj-lt"/>
              <a:buAutoNum type="arabicPeriod"/>
            </a:pPr>
            <a:r>
              <a:rPr lang="en-US"/>
              <a:t>Identify how the data is currently used, including any measures, metrics and reports produced for the impacted processes.</a:t>
            </a:r>
          </a:p>
          <a:p>
            <a:pPr marL="914400" lvl="1" indent="-457200">
              <a:buFont typeface="+mj-lt"/>
              <a:buAutoNum type="arabicPeriod"/>
            </a:pPr>
            <a:r>
              <a:rPr lang="en-US"/>
              <a:t>Identify the data assets that are currently used to support the identified data usage for the impacted processes.</a:t>
            </a:r>
          </a:p>
          <a:p>
            <a:pPr marL="914400" lvl="1" indent="-457200">
              <a:buFont typeface="+mj-lt"/>
              <a:buAutoNum type="arabicPeriod"/>
            </a:pPr>
            <a:r>
              <a:rPr lang="en-US"/>
              <a:t>Identify the data governance role stakeholders for each data asset.</a:t>
            </a:r>
          </a:p>
          <a:p>
            <a:pPr marL="914400" lvl="1" indent="-457200">
              <a:buFont typeface="+mj-lt"/>
              <a:buAutoNum type="arabicPeriod"/>
            </a:pPr>
            <a:r>
              <a:rPr lang="en-US"/>
              <a:t>Identify adopted data standards for each data asset.</a:t>
            </a:r>
          </a:p>
          <a:p>
            <a:pPr marL="914400" lvl="1" indent="-457200">
              <a:buFont typeface="+mj-lt"/>
              <a:buAutoNum type="arabicPeriod"/>
            </a:pPr>
            <a:r>
              <a:rPr lang="en-US"/>
              <a:t>Gather all supporting documentation (e.g. Data dictionary) for the identified data assets.</a:t>
            </a:r>
          </a:p>
          <a:p>
            <a:pPr marL="914400" lvl="1" indent="-457200">
              <a:buFont typeface="+mj-lt"/>
              <a:buAutoNum type="arabicPeriod"/>
            </a:pPr>
            <a:r>
              <a:rPr lang="en-US"/>
              <a:t>Assess the current quality of the data.</a:t>
            </a:r>
          </a:p>
          <a:p>
            <a:pPr marL="914400" lvl="1" indent="-457200">
              <a:buFont typeface="+mj-lt"/>
              <a:buAutoNum type="arabicPeriod"/>
            </a:pPr>
            <a:r>
              <a:rPr lang="en-US"/>
              <a:t>Use the information gathered to develop baseline information architecture artifacts.</a:t>
            </a:r>
          </a:p>
          <a:p>
            <a:pPr marL="914400" lvl="1" indent="-457200">
              <a:buFont typeface="+mj-lt"/>
              <a:buAutoNum type="arabicPeriod"/>
            </a:pPr>
            <a:r>
              <a:rPr lang="en-US"/>
              <a:t>Assess the baseline information architecture maturity.</a:t>
            </a:r>
          </a:p>
          <a:p>
            <a:pPr marL="914400" lvl="1" indent="-457200">
              <a:buFont typeface="+mj-lt"/>
              <a:buAutoNum type="arabicPeriod"/>
            </a:pPr>
            <a:endParaRPr lang="en-US"/>
          </a:p>
          <a:p>
            <a:pPr marL="914400" lvl="1" indent="-457200">
              <a:buFont typeface="+mj-lt"/>
              <a:buAutoNum type="arabicPeriod"/>
            </a:pPr>
            <a:endParaRPr lang="en-US"/>
          </a:p>
        </p:txBody>
      </p:sp>
    </p:spTree>
    <p:extLst>
      <p:ext uri="{BB962C8B-B14F-4D97-AF65-F5344CB8AC3E}">
        <p14:creationId xmlns:p14="http://schemas.microsoft.com/office/powerpoint/2010/main" val="2671186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D7E3-9BBA-58F9-9E64-5E8D98E78509}"/>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4DF14B6B-42E0-1169-D90C-046E88061877}"/>
              </a:ext>
            </a:extLst>
          </p:cNvPr>
          <p:cNvGraphicFramePr>
            <a:graphicFrameLocks noGrp="1"/>
          </p:cNvGraphicFramePr>
          <p:nvPr>
            <p:extLst>
              <p:ext uri="{D42A27DB-BD31-4B8C-83A1-F6EECF244321}">
                <p14:modId xmlns:p14="http://schemas.microsoft.com/office/powerpoint/2010/main" val="3423750965"/>
              </p:ext>
            </p:extLst>
          </p:nvPr>
        </p:nvGraphicFramePr>
        <p:xfrm>
          <a:off x="1069847" y="2294948"/>
          <a:ext cx="10058400" cy="4460240"/>
        </p:xfrm>
        <a:graphic>
          <a:graphicData uri="http://schemas.openxmlformats.org/drawingml/2006/table">
            <a:tbl>
              <a:tblPr firstRow="1" bandRow="1">
                <a:tableStyleId>{5C22544A-7EE6-4342-B048-85BDC9FD1C3A}</a:tableStyleId>
              </a:tblPr>
              <a:tblGrid>
                <a:gridCol w="5442048">
                  <a:extLst>
                    <a:ext uri="{9D8B030D-6E8A-4147-A177-3AD203B41FA5}">
                      <a16:colId xmlns:a16="http://schemas.microsoft.com/office/drawing/2014/main" val="3257242011"/>
                    </a:ext>
                  </a:extLst>
                </a:gridCol>
                <a:gridCol w="2449225">
                  <a:extLst>
                    <a:ext uri="{9D8B030D-6E8A-4147-A177-3AD203B41FA5}">
                      <a16:colId xmlns:a16="http://schemas.microsoft.com/office/drawing/2014/main" val="1602646226"/>
                    </a:ext>
                  </a:extLst>
                </a:gridCol>
                <a:gridCol w="2167127">
                  <a:extLst>
                    <a:ext uri="{9D8B030D-6E8A-4147-A177-3AD203B41FA5}">
                      <a16:colId xmlns:a16="http://schemas.microsoft.com/office/drawing/2014/main" val="1592569193"/>
                    </a:ext>
                  </a:extLst>
                </a:gridCol>
              </a:tblGrid>
              <a:tr h="370840">
                <a:tc>
                  <a:txBody>
                    <a:bodyPr/>
                    <a:lstStyle/>
                    <a:p>
                      <a:endParaRPr lang="en-US" sz="800" dirty="0"/>
                    </a:p>
                  </a:txBody>
                  <a:tcPr/>
                </a:tc>
                <a:tc>
                  <a:txBody>
                    <a:bodyPr/>
                    <a:lstStyle/>
                    <a:p>
                      <a:r>
                        <a:rPr lang="en-US" sz="800" dirty="0"/>
                        <a:t>Required</a:t>
                      </a:r>
                    </a:p>
                  </a:txBody>
                  <a:tcPr/>
                </a:tc>
                <a:tc>
                  <a:txBody>
                    <a:bodyPr/>
                    <a:lstStyle/>
                    <a:p>
                      <a:r>
                        <a:rPr lang="en-US" sz="800" dirty="0"/>
                        <a:t>Recommended Artifact</a:t>
                      </a:r>
                    </a:p>
                  </a:txBody>
                  <a:tcPr/>
                </a:tc>
                <a:extLst>
                  <a:ext uri="{0D108BD9-81ED-4DB2-BD59-A6C34878D82A}">
                    <a16:rowId xmlns:a16="http://schemas.microsoft.com/office/drawing/2014/main" val="4205587298"/>
                  </a:ext>
                </a:extLst>
              </a:tr>
              <a:tr h="370840">
                <a:tc>
                  <a:txBody>
                    <a:bodyPr/>
                    <a:lstStyle/>
                    <a:p>
                      <a:r>
                        <a:rPr lang="en-US" sz="800" dirty="0"/>
                        <a:t>1. Evaluate the baseline business process.</a:t>
                      </a:r>
                    </a:p>
                  </a:txBody>
                  <a:tcPr/>
                </a:tc>
                <a:tc>
                  <a:txBody>
                    <a:bodyPr/>
                    <a:lstStyle/>
                    <a:p>
                      <a:endParaRPr lang="en-US" sz="800" dirty="0"/>
                    </a:p>
                  </a:txBody>
                  <a:tcPr/>
                </a:tc>
                <a:tc>
                  <a:txBody>
                    <a:bodyPr/>
                    <a:lstStyle/>
                    <a:p>
                      <a:r>
                        <a:rPr lang="en-US" sz="800" dirty="0"/>
                        <a:t>Business Glossary</a:t>
                      </a:r>
                    </a:p>
                  </a:txBody>
                  <a:tcPr/>
                </a:tc>
                <a:extLst>
                  <a:ext uri="{0D108BD9-81ED-4DB2-BD59-A6C34878D82A}">
                    <a16:rowId xmlns:a16="http://schemas.microsoft.com/office/drawing/2014/main" val="2678315309"/>
                  </a:ext>
                </a:extLst>
              </a:tr>
              <a:tr h="370840">
                <a:tc>
                  <a:txBody>
                    <a:bodyPr/>
                    <a:lstStyle/>
                    <a:p>
                      <a:r>
                        <a:rPr lang="en-US" sz="800" dirty="0"/>
                        <a:t>2. Identify how the data is currently used, including any measures, metrics and reports produced for the impacted processes.</a:t>
                      </a:r>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447524433"/>
                  </a:ext>
                </a:extLst>
              </a:tr>
              <a:tr h="370840">
                <a:tc>
                  <a:txBody>
                    <a:bodyPr/>
                    <a:lstStyle/>
                    <a:p>
                      <a:r>
                        <a:rPr lang="en-US" sz="800" dirty="0"/>
                        <a:t>3. Identify the data assets that are currently used to support the identified data usage for the impacted processes.</a:t>
                      </a:r>
                    </a:p>
                  </a:txBody>
                  <a:tcPr/>
                </a:tc>
                <a:tc>
                  <a:txBody>
                    <a:bodyPr/>
                    <a:lstStyle/>
                    <a:p>
                      <a:r>
                        <a:rPr lang="en-US" sz="800" dirty="0"/>
                        <a:t>Data Catalog</a:t>
                      </a:r>
                    </a:p>
                  </a:txBody>
                  <a:tcPr/>
                </a:tc>
                <a:tc>
                  <a:txBody>
                    <a:bodyPr/>
                    <a:lstStyle/>
                    <a:p>
                      <a:endParaRPr lang="en-US" sz="800" dirty="0"/>
                    </a:p>
                  </a:txBody>
                  <a:tcPr/>
                </a:tc>
                <a:extLst>
                  <a:ext uri="{0D108BD9-81ED-4DB2-BD59-A6C34878D82A}">
                    <a16:rowId xmlns:a16="http://schemas.microsoft.com/office/drawing/2014/main" val="375027178"/>
                  </a:ext>
                </a:extLst>
              </a:tr>
              <a:tr h="370840">
                <a:tc>
                  <a:txBody>
                    <a:bodyPr/>
                    <a:lstStyle/>
                    <a:p>
                      <a:r>
                        <a:rPr lang="en-US" sz="800" dirty="0"/>
                        <a:t>4. Identify the data governance role stakeholders for each data asset.</a:t>
                      </a:r>
                    </a:p>
                    <a:p>
                      <a:endParaRPr lang="en-US" sz="800" dirty="0"/>
                    </a:p>
                  </a:txBody>
                  <a:tcPr/>
                </a:tc>
                <a:tc>
                  <a:txBody>
                    <a:bodyPr/>
                    <a:lstStyle/>
                    <a:p>
                      <a:r>
                        <a:rPr lang="en-US" sz="800" dirty="0"/>
                        <a:t>Data Catalog</a:t>
                      </a:r>
                    </a:p>
                  </a:txBody>
                  <a:tcPr/>
                </a:tc>
                <a:tc>
                  <a:txBody>
                    <a:bodyPr/>
                    <a:lstStyle/>
                    <a:p>
                      <a:endParaRPr lang="en-US" sz="800" dirty="0"/>
                    </a:p>
                  </a:txBody>
                  <a:tcPr/>
                </a:tc>
                <a:extLst>
                  <a:ext uri="{0D108BD9-81ED-4DB2-BD59-A6C34878D82A}">
                    <a16:rowId xmlns:a16="http://schemas.microsoft.com/office/drawing/2014/main" val="573188263"/>
                  </a:ext>
                </a:extLst>
              </a:tr>
              <a:tr h="370840">
                <a:tc>
                  <a:txBody>
                    <a:bodyPr/>
                    <a:lstStyle/>
                    <a:p>
                      <a:r>
                        <a:rPr lang="en-US" sz="800" dirty="0"/>
                        <a:t>5. Identify adopted data standards for each data asset.</a:t>
                      </a:r>
                    </a:p>
                    <a:p>
                      <a:endParaRPr lang="en-US" sz="800" dirty="0"/>
                    </a:p>
                  </a:txBody>
                  <a:tcPr/>
                </a:tc>
                <a:tc>
                  <a:txBody>
                    <a:bodyPr/>
                    <a:lstStyle/>
                    <a:p>
                      <a:r>
                        <a:rPr lang="en-US" sz="800" dirty="0"/>
                        <a:t>Data Catalog</a:t>
                      </a:r>
                    </a:p>
                  </a:txBody>
                  <a:tcPr/>
                </a:tc>
                <a:tc>
                  <a:txBody>
                    <a:bodyPr/>
                    <a:lstStyle/>
                    <a:p>
                      <a:endParaRPr lang="en-US" sz="800" dirty="0"/>
                    </a:p>
                  </a:txBody>
                  <a:tcPr/>
                </a:tc>
                <a:extLst>
                  <a:ext uri="{0D108BD9-81ED-4DB2-BD59-A6C34878D82A}">
                    <a16:rowId xmlns:a16="http://schemas.microsoft.com/office/drawing/2014/main" val="421111144"/>
                  </a:ext>
                </a:extLst>
              </a:tr>
              <a:tr h="370840">
                <a:tc>
                  <a:txBody>
                    <a:bodyPr/>
                    <a:lstStyle/>
                    <a:p>
                      <a:r>
                        <a:rPr lang="en-US" sz="800" dirty="0"/>
                        <a:t>6. Gather all supporting documentation (e.g. Data dictionary) for the identified data assets.</a:t>
                      </a:r>
                    </a:p>
                    <a:p>
                      <a:endParaRPr lang="en-US" sz="800" dirty="0"/>
                    </a:p>
                  </a:txBody>
                  <a:tcPr/>
                </a:tc>
                <a:tc>
                  <a:txBody>
                    <a:bodyPr/>
                    <a:lstStyle/>
                    <a:p>
                      <a:r>
                        <a:rPr lang="en-US" sz="800" dirty="0"/>
                        <a:t>- Physical Data Dictionary</a:t>
                      </a:r>
                    </a:p>
                    <a:p>
                      <a:pPr marL="171450" indent="-171450">
                        <a:buFontTx/>
                        <a:buChar char="-"/>
                      </a:pPr>
                      <a:r>
                        <a:rPr lang="en-US" sz="800" dirty="0"/>
                        <a:t>Reference Data Catalog</a:t>
                      </a:r>
                    </a:p>
                    <a:p>
                      <a:pPr marL="171450" indent="-171450">
                        <a:buFontTx/>
                        <a:buChar char="-"/>
                      </a:pPr>
                      <a:r>
                        <a:rPr lang="en-US" sz="800" dirty="0"/>
                        <a:t>Data Transformation Matrix</a:t>
                      </a:r>
                    </a:p>
                    <a:p>
                      <a:pPr marL="171450" indent="-171450">
                        <a:buFontTx/>
                        <a:buChar char="-"/>
                      </a:pPr>
                      <a:r>
                        <a:rPr lang="en-US" sz="800" dirty="0"/>
                        <a:t>Reference Data Crosswalk</a:t>
                      </a:r>
                    </a:p>
                  </a:txBody>
                  <a:tcPr/>
                </a:tc>
                <a:tc>
                  <a:txBody>
                    <a:bodyPr/>
                    <a:lstStyle/>
                    <a:p>
                      <a:r>
                        <a:rPr lang="en-US" sz="800" dirty="0"/>
                        <a:t>- Data Rule Catalog</a:t>
                      </a:r>
                    </a:p>
                    <a:p>
                      <a:r>
                        <a:rPr lang="en-US" sz="800" dirty="0"/>
                        <a:t>- Report Catalog</a:t>
                      </a:r>
                    </a:p>
                  </a:txBody>
                  <a:tcPr/>
                </a:tc>
                <a:extLst>
                  <a:ext uri="{0D108BD9-81ED-4DB2-BD59-A6C34878D82A}">
                    <a16:rowId xmlns:a16="http://schemas.microsoft.com/office/drawing/2014/main" val="1591859233"/>
                  </a:ext>
                </a:extLst>
              </a:tr>
              <a:tr h="370840">
                <a:tc>
                  <a:txBody>
                    <a:bodyPr/>
                    <a:lstStyle/>
                    <a:p>
                      <a:r>
                        <a:rPr lang="en-US" sz="800" dirty="0"/>
                        <a:t>7. Assess the current quality of the data.</a:t>
                      </a:r>
                    </a:p>
                    <a:p>
                      <a:endParaRPr lang="en-US" sz="800" dirty="0"/>
                    </a:p>
                  </a:txBody>
                  <a:tcPr/>
                </a:tc>
                <a:tc>
                  <a:txBody>
                    <a:bodyPr/>
                    <a:lstStyle/>
                    <a:p>
                      <a:endParaRPr lang="en-US" sz="800" dirty="0"/>
                    </a:p>
                  </a:txBody>
                  <a:tcPr/>
                </a:tc>
                <a:tc>
                  <a:txBody>
                    <a:bodyPr/>
                    <a:lstStyle/>
                    <a:p>
                      <a:r>
                        <a:rPr lang="en-US" sz="800" dirty="0"/>
                        <a:t>Data Profile</a:t>
                      </a:r>
                    </a:p>
                  </a:txBody>
                  <a:tcPr/>
                </a:tc>
                <a:extLst>
                  <a:ext uri="{0D108BD9-81ED-4DB2-BD59-A6C34878D82A}">
                    <a16:rowId xmlns:a16="http://schemas.microsoft.com/office/drawing/2014/main" val="2440072693"/>
                  </a:ext>
                </a:extLst>
              </a:tr>
              <a:tr h="370840">
                <a:tc>
                  <a:txBody>
                    <a:bodyPr/>
                    <a:lstStyle/>
                    <a:p>
                      <a:r>
                        <a:rPr lang="en-US" sz="800" dirty="0"/>
                        <a:t>8. Use the information gathered to develop baseline information architecture artifacts.</a:t>
                      </a:r>
                    </a:p>
                    <a:p>
                      <a:endParaRPr lang="en-US" sz="800" dirty="0"/>
                    </a:p>
                  </a:txBody>
                  <a:tcPr/>
                </a:tc>
                <a:tc>
                  <a:txBody>
                    <a:bodyPr/>
                    <a:lstStyle/>
                    <a:p>
                      <a:r>
                        <a:rPr lang="en-US" sz="800" dirty="0"/>
                        <a:t>Data to Business Process Matrix</a:t>
                      </a:r>
                    </a:p>
                    <a:p>
                      <a:r>
                        <a:rPr lang="en-US" sz="800" dirty="0"/>
                        <a:t>Data to Application Matrix</a:t>
                      </a:r>
                    </a:p>
                  </a:txBody>
                  <a:tcPr/>
                </a:tc>
                <a:tc>
                  <a:txBody>
                    <a:bodyPr/>
                    <a:lstStyle/>
                    <a:p>
                      <a:endParaRPr lang="en-US" sz="800" dirty="0"/>
                    </a:p>
                  </a:txBody>
                  <a:tcPr/>
                </a:tc>
                <a:extLst>
                  <a:ext uri="{0D108BD9-81ED-4DB2-BD59-A6C34878D82A}">
                    <a16:rowId xmlns:a16="http://schemas.microsoft.com/office/drawing/2014/main" val="3761829634"/>
                  </a:ext>
                </a:extLst>
              </a:tr>
              <a:tr h="370840">
                <a:tc>
                  <a:txBody>
                    <a:bodyPr/>
                    <a:lstStyle/>
                    <a:p>
                      <a:r>
                        <a:rPr lang="en-US" sz="800" dirty="0"/>
                        <a:t>9. Use the MITA Maturity Model to assign maturity levels for each identified</a:t>
                      </a:r>
                    </a:p>
                    <a:p>
                      <a:r>
                        <a:rPr lang="en-US" sz="800" dirty="0"/>
                        <a:t>data asset.</a:t>
                      </a:r>
                    </a:p>
                    <a:p>
                      <a:endParaRPr lang="en-US" sz="800" dirty="0"/>
                    </a:p>
                  </a:txBody>
                  <a:tcPr/>
                </a:tc>
                <a:tc>
                  <a:txBody>
                    <a:bodyPr/>
                    <a:lstStyle/>
                    <a:p>
                      <a:r>
                        <a:rPr lang="en-US" sz="800" dirty="0"/>
                        <a:t>TBD</a:t>
                      </a:r>
                    </a:p>
                  </a:txBody>
                  <a:tcPr/>
                </a:tc>
                <a:tc>
                  <a:txBody>
                    <a:bodyPr/>
                    <a:lstStyle/>
                    <a:p>
                      <a:endParaRPr lang="en-US" sz="800" dirty="0"/>
                    </a:p>
                  </a:txBody>
                  <a:tcPr/>
                </a:tc>
                <a:extLst>
                  <a:ext uri="{0D108BD9-81ED-4DB2-BD59-A6C34878D82A}">
                    <a16:rowId xmlns:a16="http://schemas.microsoft.com/office/drawing/2014/main" val="4045141551"/>
                  </a:ext>
                </a:extLst>
              </a:tr>
              <a:tr h="370840">
                <a:tc>
                  <a:txBody>
                    <a:bodyPr/>
                    <a:lstStyle/>
                    <a:p>
                      <a:r>
                        <a:rPr lang="en-US" sz="800" dirty="0"/>
                        <a:t>10. Note Baseline exceptions, differences, and non-applicable business</a:t>
                      </a:r>
                    </a:p>
                    <a:p>
                      <a:r>
                        <a:rPr lang="en-US" sz="800" dirty="0"/>
                        <a:t>processes.</a:t>
                      </a:r>
                    </a:p>
                    <a:p>
                      <a:endParaRPr lang="en-US" sz="800" dirty="0"/>
                    </a:p>
                  </a:txBody>
                  <a:tcPr/>
                </a:tc>
                <a:tc>
                  <a:txBody>
                    <a:bodyPr/>
                    <a:lstStyle/>
                    <a:p>
                      <a:endParaRPr lang="en-US" sz="800"/>
                    </a:p>
                  </a:txBody>
                  <a:tcPr/>
                </a:tc>
                <a:tc>
                  <a:txBody>
                    <a:bodyPr/>
                    <a:lstStyle/>
                    <a:p>
                      <a:endParaRPr lang="en-US" sz="800" dirty="0"/>
                    </a:p>
                  </a:txBody>
                  <a:tcPr/>
                </a:tc>
                <a:extLst>
                  <a:ext uri="{0D108BD9-81ED-4DB2-BD59-A6C34878D82A}">
                    <a16:rowId xmlns:a16="http://schemas.microsoft.com/office/drawing/2014/main" val="3794807151"/>
                  </a:ext>
                </a:extLst>
              </a:tr>
            </a:tbl>
          </a:graphicData>
        </a:graphic>
      </p:graphicFrame>
      <p:sp>
        <p:nvSpPr>
          <p:cNvPr id="4" name="TextBox 3">
            <a:extLst>
              <a:ext uri="{FF2B5EF4-FFF2-40B4-BE49-F238E27FC236}">
                <a16:creationId xmlns:a16="http://schemas.microsoft.com/office/drawing/2014/main" id="{756D9E35-83D5-E01F-4A5D-672C310D64B3}"/>
              </a:ext>
            </a:extLst>
          </p:cNvPr>
          <p:cNvSpPr txBox="1"/>
          <p:nvPr/>
        </p:nvSpPr>
        <p:spPr>
          <a:xfrm>
            <a:off x="7752945" y="-28210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65714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CAA9-BD21-51A3-7E5A-3F6D7991C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371E6-9DB1-26D6-DDC5-40048FB4AA8A}"/>
              </a:ext>
            </a:extLst>
          </p:cNvPr>
          <p:cNvSpPr>
            <a:spLocks noGrp="1"/>
          </p:cNvSpPr>
          <p:nvPr>
            <p:ph type="title"/>
          </p:nvPr>
        </p:nvSpPr>
        <p:spPr/>
        <p:txBody>
          <a:bodyPr>
            <a:normAutofit/>
          </a:bodyPr>
          <a:lstStyle/>
          <a:p>
            <a:r>
              <a:rPr lang="en-US"/>
              <a:t>3.2C. </a:t>
            </a:r>
            <a:r>
              <a:rPr lang="en-US" sz="4800">
                <a:solidFill>
                  <a:srgbClr val="000000"/>
                </a:solidFill>
              </a:rPr>
              <a:t>Define Baseline Capability </a:t>
            </a:r>
            <a:r>
              <a:rPr lang="en-US" sz="4800"/>
              <a:t>Overview</a:t>
            </a:r>
            <a:endParaRPr lang="en-US" sz="4800" err="1">
              <a:latin typeface="Rockwell Condensed"/>
            </a:endParaRPr>
          </a:p>
        </p:txBody>
      </p:sp>
      <p:sp>
        <p:nvSpPr>
          <p:cNvPr id="3" name="Content Placeholder 2">
            <a:extLst>
              <a:ext uri="{FF2B5EF4-FFF2-40B4-BE49-F238E27FC236}">
                <a16:creationId xmlns:a16="http://schemas.microsoft.com/office/drawing/2014/main" id="{89805A3B-C3B3-8C48-809E-E98BFDD4CDBF}"/>
              </a:ext>
            </a:extLst>
          </p:cNvPr>
          <p:cNvSpPr>
            <a:spLocks noGrp="1"/>
          </p:cNvSpPr>
          <p:nvPr>
            <p:ph idx="1"/>
          </p:nvPr>
        </p:nvSpPr>
        <p:spPr/>
        <p:txBody>
          <a:bodyPr vert="horz" lIns="91440" tIns="45720" rIns="91440" bIns="45720" rtlCol="0" anchor="t">
            <a:normAutofit/>
          </a:bodyPr>
          <a:lstStyle/>
          <a:p>
            <a:pPr marL="0" indent="0">
              <a:buNone/>
            </a:pPr>
            <a:r>
              <a:rPr lang="en-US" b="1"/>
              <a:t>Purpose</a:t>
            </a:r>
          </a:p>
          <a:p>
            <a:pPr lvl="1"/>
            <a:r>
              <a:rPr lang="en-US"/>
              <a:t>Identify the Business Applications or Technical assets that are currently in place to support the identified process.</a:t>
            </a:r>
          </a:p>
          <a:p>
            <a:pPr marL="0" indent="0">
              <a:buNone/>
            </a:pPr>
            <a:r>
              <a:rPr lang="en-US" b="1"/>
              <a:t>Goal</a:t>
            </a:r>
          </a:p>
          <a:p>
            <a:pPr lvl="1"/>
            <a:r>
              <a:rPr lang="en-US"/>
              <a:t>Discover how the current Business Applications or Technical assets will or will not support the capabilities needed to support the SMA’s desired outcomes.  </a:t>
            </a:r>
          </a:p>
          <a:p>
            <a:pPr marL="0" indent="0">
              <a:buNone/>
            </a:pPr>
            <a:r>
              <a:rPr lang="en-US" b="1"/>
              <a:t>Triggers</a:t>
            </a:r>
          </a:p>
          <a:p>
            <a:pPr lvl="1"/>
            <a:r>
              <a:rPr lang="en-US"/>
              <a:t>Required outcomes, workflows, and capability expectations defined</a:t>
            </a:r>
          </a:p>
          <a:p>
            <a:pPr lvl="1"/>
            <a:r>
              <a:rPr lang="en-US"/>
              <a:t>Technical Architecture Viewpoints, Reference Models &amp; Tools Defined</a:t>
            </a:r>
          </a:p>
          <a:p>
            <a:pPr marL="0" indent="0">
              <a:buNone/>
            </a:pPr>
            <a:r>
              <a:rPr lang="en-US" b="1"/>
              <a:t>Output</a:t>
            </a:r>
          </a:p>
          <a:p>
            <a:pPr lvl="1"/>
            <a:r>
              <a:rPr lang="en-US"/>
              <a:t>Identification of constraints and technical debt</a:t>
            </a:r>
          </a:p>
        </p:txBody>
      </p:sp>
    </p:spTree>
    <p:extLst>
      <p:ext uri="{BB962C8B-B14F-4D97-AF65-F5344CB8AC3E}">
        <p14:creationId xmlns:p14="http://schemas.microsoft.com/office/powerpoint/2010/main" val="1753441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FBB72-3384-67C8-E5F9-42E85B232E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5272A-7FED-A777-08A5-045AB21D4C43}"/>
              </a:ext>
            </a:extLst>
          </p:cNvPr>
          <p:cNvSpPr>
            <a:spLocks noGrp="1"/>
          </p:cNvSpPr>
          <p:nvPr>
            <p:ph type="title"/>
          </p:nvPr>
        </p:nvSpPr>
        <p:spPr/>
        <p:txBody>
          <a:bodyPr>
            <a:normAutofit/>
          </a:bodyPr>
          <a:lstStyle/>
          <a:p>
            <a:r>
              <a:rPr lang="en-US"/>
              <a:t>3.2C. Activities</a:t>
            </a:r>
          </a:p>
        </p:txBody>
      </p:sp>
      <p:sp>
        <p:nvSpPr>
          <p:cNvPr id="3" name="Content Placeholder 2">
            <a:extLst>
              <a:ext uri="{FF2B5EF4-FFF2-40B4-BE49-F238E27FC236}">
                <a16:creationId xmlns:a16="http://schemas.microsoft.com/office/drawing/2014/main" id="{614AB5C5-ADFE-0985-1AFA-C1A7964EC569}"/>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b="1"/>
              <a:t>Activities</a:t>
            </a:r>
          </a:p>
          <a:p>
            <a:pPr marL="914400" lvl="1" indent="-457200">
              <a:buFont typeface="+mj-lt"/>
              <a:buAutoNum type="arabicPeriod"/>
            </a:pPr>
            <a:endParaRPr lang="en-US"/>
          </a:p>
          <a:p>
            <a:pPr marL="914400" lvl="1" indent="-457200">
              <a:lnSpc>
                <a:spcPct val="70000"/>
              </a:lnSpc>
              <a:buClr>
                <a:srgbClr val="9E3611"/>
              </a:buClr>
              <a:buAutoNum type="arabicPeriod"/>
            </a:pPr>
            <a:r>
              <a:rPr lang="en-US">
                <a:ea typeface="+mn-lt"/>
                <a:cs typeface="+mn-lt"/>
              </a:rPr>
              <a:t>Create an inventory of all existing applications used by impacted capability(</a:t>
            </a:r>
            <a:r>
              <a:rPr lang="en-US" err="1">
                <a:ea typeface="+mn-lt"/>
                <a:cs typeface="+mn-lt"/>
              </a:rPr>
              <a:t>ies</a:t>
            </a:r>
            <a:r>
              <a:rPr lang="en-US">
                <a:ea typeface="+mn-lt"/>
                <a:cs typeface="+mn-lt"/>
              </a:rPr>
              <a:t>).</a:t>
            </a:r>
            <a:endParaRPr lang="en-US"/>
          </a:p>
          <a:p>
            <a:pPr marL="914400" lvl="1" indent="-457200">
              <a:lnSpc>
                <a:spcPct val="120000"/>
              </a:lnSpc>
              <a:buClr>
                <a:srgbClr val="9E3611"/>
              </a:buClr>
              <a:buAutoNum type="arabicPeriod"/>
            </a:pPr>
            <a:r>
              <a:rPr lang="en-US">
                <a:ea typeface="+mn-lt"/>
                <a:cs typeface="+mn-lt"/>
              </a:rPr>
              <a:t>Catalog technical components used for non-SaaS delivery, including on-premise, hybrid, and cloud environments.</a:t>
            </a:r>
            <a:endParaRPr lang="en-US"/>
          </a:p>
          <a:p>
            <a:pPr marL="914400" lvl="1" indent="-457200">
              <a:lnSpc>
                <a:spcPct val="120000"/>
              </a:lnSpc>
              <a:buClr>
                <a:srgbClr val="9E3611"/>
              </a:buClr>
              <a:buAutoNum type="arabicPeriod"/>
            </a:pPr>
            <a:r>
              <a:rPr lang="en-US">
                <a:ea typeface="+mn-lt"/>
                <a:cs typeface="+mn-lt"/>
              </a:rPr>
              <a:t>Identify the technical roles involved in the planning and delivery of applications and technical components.</a:t>
            </a:r>
            <a:endParaRPr lang="en-US"/>
          </a:p>
          <a:p>
            <a:pPr marL="914400" lvl="1" indent="-457200">
              <a:lnSpc>
                <a:spcPct val="70000"/>
              </a:lnSpc>
              <a:buClr>
                <a:srgbClr val="9E3611"/>
              </a:buClr>
              <a:buAutoNum type="arabicPeriod"/>
            </a:pPr>
            <a:r>
              <a:rPr lang="en-US">
                <a:ea typeface="+mn-lt"/>
                <a:cs typeface="+mn-lt"/>
              </a:rPr>
              <a:t>Map each component to its associated business process.</a:t>
            </a:r>
            <a:endParaRPr lang="en-US"/>
          </a:p>
          <a:p>
            <a:pPr marL="914400" lvl="1" indent="-457200">
              <a:lnSpc>
                <a:spcPct val="70000"/>
              </a:lnSpc>
              <a:buClr>
                <a:srgbClr val="9E3611"/>
              </a:buClr>
              <a:buAutoNum type="arabicPeriod"/>
            </a:pPr>
            <a:r>
              <a:rPr lang="en-US">
                <a:ea typeface="+mn-lt"/>
                <a:cs typeface="+mn-lt"/>
              </a:rPr>
              <a:t>Align components with corresponding business and technical capabilities.</a:t>
            </a:r>
            <a:endParaRPr lang="en-US"/>
          </a:p>
          <a:p>
            <a:pPr marL="914400" lvl="1" indent="-457200">
              <a:lnSpc>
                <a:spcPct val="70000"/>
              </a:lnSpc>
              <a:buClr>
                <a:srgbClr val="9E3611"/>
              </a:buClr>
              <a:buAutoNum type="arabicPeriod"/>
            </a:pPr>
            <a:r>
              <a:rPr lang="en-US">
                <a:ea typeface="+mn-lt"/>
                <a:cs typeface="+mn-lt"/>
              </a:rPr>
              <a:t>Link components to relevant data assets.</a:t>
            </a:r>
            <a:endParaRPr lang="en-US"/>
          </a:p>
          <a:p>
            <a:pPr marL="914400" lvl="1" indent="-457200">
              <a:lnSpc>
                <a:spcPct val="120000"/>
              </a:lnSpc>
              <a:buClr>
                <a:srgbClr val="9E3611"/>
              </a:buClr>
              <a:buAutoNum type="arabicPeriod"/>
            </a:pPr>
            <a:r>
              <a:rPr lang="en-US">
                <a:ea typeface="+mn-lt"/>
                <a:cs typeface="+mn-lt"/>
              </a:rPr>
              <a:t>Identify all non-functional requirements and regulatory/compliance mandates that apply to impacted capability(</a:t>
            </a:r>
            <a:r>
              <a:rPr lang="en-US" err="1">
                <a:ea typeface="+mn-lt"/>
                <a:cs typeface="+mn-lt"/>
              </a:rPr>
              <a:t>ies</a:t>
            </a:r>
            <a:r>
              <a:rPr lang="en-US">
                <a:ea typeface="+mn-lt"/>
                <a:cs typeface="+mn-lt"/>
              </a:rPr>
              <a:t>).</a:t>
            </a:r>
            <a:endParaRPr lang="en-US"/>
          </a:p>
          <a:p>
            <a:pPr marL="914400" lvl="1" indent="-457200">
              <a:buFont typeface="+mj-lt"/>
              <a:buAutoNum type="arabicPeriod"/>
            </a:pPr>
            <a:r>
              <a:rPr lang="en-US"/>
              <a:t>Identify Service Level Objectives and Agreements and measures</a:t>
            </a:r>
          </a:p>
          <a:p>
            <a:pPr marL="914400" lvl="1" indent="-457200">
              <a:buClr>
                <a:srgbClr val="9E3611"/>
              </a:buClr>
              <a:buAutoNum type="arabicPeriod"/>
            </a:pPr>
            <a:r>
              <a:rPr lang="en-US"/>
              <a:t>Identify existing technical standards (e.g., Single sign-on and Multi-factor authentication) </a:t>
            </a:r>
          </a:p>
          <a:p>
            <a:pPr marL="914400" lvl="1" indent="-457200">
              <a:buFont typeface="+mj-lt"/>
              <a:buAutoNum type="arabicPeriod"/>
            </a:pPr>
            <a:r>
              <a:rPr lang="en-US"/>
              <a:t>Identify existing gaps, risks, and technical debt</a:t>
            </a:r>
          </a:p>
          <a:p>
            <a:pPr marL="914400" lvl="1" indent="-457200">
              <a:buFont typeface="Rockwell Condensed" panose="02060603050405020104"/>
              <a:buAutoNum type="arabicPeriod"/>
            </a:pPr>
            <a:r>
              <a:rPr lang="en-US"/>
              <a:t>Assess the baseline technical architecture maturity.</a:t>
            </a:r>
          </a:p>
        </p:txBody>
      </p:sp>
    </p:spTree>
    <p:extLst>
      <p:ext uri="{BB962C8B-B14F-4D97-AF65-F5344CB8AC3E}">
        <p14:creationId xmlns:p14="http://schemas.microsoft.com/office/powerpoint/2010/main" val="1337234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C9F07-30D8-18DC-C835-63008C810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51DA7-A662-65A3-53C8-CC30907CDD70}"/>
              </a:ext>
            </a:extLst>
          </p:cNvPr>
          <p:cNvSpPr>
            <a:spLocks noGrp="1"/>
          </p:cNvSpPr>
          <p:nvPr>
            <p:ph type="title"/>
          </p:nvPr>
        </p:nvSpPr>
        <p:spPr/>
        <p:txBody>
          <a:bodyPr>
            <a:normAutofit/>
          </a:bodyPr>
          <a:lstStyle/>
          <a:p>
            <a:r>
              <a:rPr lang="en-US"/>
              <a:t>3.2. Combined Activities</a:t>
            </a:r>
          </a:p>
        </p:txBody>
      </p:sp>
      <p:sp>
        <p:nvSpPr>
          <p:cNvPr id="3" name="Content Placeholder 2">
            <a:extLst>
              <a:ext uri="{FF2B5EF4-FFF2-40B4-BE49-F238E27FC236}">
                <a16:creationId xmlns:a16="http://schemas.microsoft.com/office/drawing/2014/main" id="{3C9BD3B6-2325-6E14-B356-830D269A1E44}"/>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b="1"/>
              <a:t>Activities*</a:t>
            </a:r>
          </a:p>
          <a:p>
            <a:pPr marL="914400" lvl="1" indent="-457200">
              <a:buFont typeface="+mj-lt"/>
              <a:buAutoNum type="arabicPeriod"/>
            </a:pPr>
            <a:r>
              <a:rPr lang="en-US"/>
              <a:t>Identify how the process(es), data, and applications are performed, including any measures, metrics and reports produced for the impacted capability(</a:t>
            </a:r>
            <a:r>
              <a:rPr lang="en-US" err="1"/>
              <a:t>ies</a:t>
            </a:r>
            <a:r>
              <a:rPr lang="en-US"/>
              <a:t>).</a:t>
            </a:r>
          </a:p>
          <a:p>
            <a:pPr marL="914400" lvl="1" indent="-457200">
              <a:buFont typeface="+mj-lt"/>
              <a:buAutoNum type="arabicPeriod"/>
            </a:pPr>
            <a:r>
              <a:rPr lang="en-US"/>
              <a:t>Identify the activities, data, and technical assets that are currently supporting the process(es) for the impacted capability(</a:t>
            </a:r>
            <a:r>
              <a:rPr lang="en-US" err="1"/>
              <a:t>ies</a:t>
            </a:r>
            <a:r>
              <a:rPr lang="en-US"/>
              <a:t>).</a:t>
            </a:r>
          </a:p>
          <a:p>
            <a:pPr marL="914400" lvl="1" indent="-457200">
              <a:buFont typeface="+mj-lt"/>
              <a:buAutoNum type="arabicPeriod"/>
            </a:pPr>
            <a:r>
              <a:rPr lang="en-US"/>
              <a:t>Identify the roles and stakeholders for each process, data asset, application, and technical component.</a:t>
            </a:r>
          </a:p>
          <a:p>
            <a:pPr lvl="2" indent="0">
              <a:buClr>
                <a:srgbClr val="9E3611"/>
              </a:buClr>
              <a:buNone/>
            </a:pPr>
            <a:r>
              <a:rPr lang="en-US"/>
              <a:t>           IA: Identify the data governance role stakeholders for each data asset.</a:t>
            </a:r>
          </a:p>
          <a:p>
            <a:pPr lvl="2" indent="0">
              <a:buClr>
                <a:srgbClr val="9E3611"/>
              </a:buClr>
              <a:buNone/>
            </a:pPr>
            <a:r>
              <a:rPr lang="en-US"/>
              <a:t>           TA: Identify the technical roles involved in the planning and delivery of applications and technical components.</a:t>
            </a:r>
          </a:p>
          <a:p>
            <a:pPr marL="914400" lvl="1" indent="-457200">
              <a:buFont typeface="+mj-lt"/>
              <a:buAutoNum type="arabicPeriod"/>
            </a:pPr>
            <a:r>
              <a:rPr lang="en-US"/>
              <a:t>Identify standards and regulations (state and federal) required for each process, data asset, and technical component.</a:t>
            </a:r>
          </a:p>
          <a:p>
            <a:pPr lvl="2" indent="0">
              <a:buClr>
                <a:srgbClr val="9E3611"/>
              </a:buClr>
              <a:buNone/>
            </a:pPr>
            <a:r>
              <a:rPr lang="en-US"/>
              <a:t>           TA: Map each component to its associated business process and capability, and data set.</a:t>
            </a:r>
          </a:p>
          <a:p>
            <a:pPr marL="914400" lvl="1" indent="-457200">
              <a:buFont typeface="+mj-lt"/>
              <a:buAutoNum type="arabicPeriod"/>
            </a:pPr>
            <a:r>
              <a:rPr lang="en-US"/>
              <a:t>Gather all supporting documentation (e.g. SOP’s, data dictionary, SLAs) for the identified process(es).</a:t>
            </a:r>
          </a:p>
          <a:p>
            <a:pPr lvl="2" indent="0">
              <a:buClr>
                <a:srgbClr val="9E3611"/>
              </a:buClr>
              <a:buNone/>
            </a:pPr>
            <a:r>
              <a:rPr lang="en-US"/>
              <a:t>           TA: Identify all non-functional requirements and regulatory/compliance mandates that apply to impacted capability(</a:t>
            </a:r>
            <a:r>
              <a:rPr lang="en-US" err="1"/>
              <a:t>ies</a:t>
            </a:r>
            <a:r>
              <a:rPr lang="en-US"/>
              <a:t>).</a:t>
            </a:r>
          </a:p>
          <a:p>
            <a:pPr marL="914400" lvl="1" indent="-457200">
              <a:buFont typeface="+mj-lt"/>
              <a:buAutoNum type="arabicPeriod"/>
            </a:pPr>
            <a:r>
              <a:rPr lang="en-US"/>
              <a:t>Assess the current (if available) performance metrics for each process.</a:t>
            </a:r>
          </a:p>
          <a:p>
            <a:pPr lvl="2" indent="0">
              <a:buClr>
                <a:srgbClr val="9E3611"/>
              </a:buClr>
              <a:buNone/>
            </a:pPr>
            <a:r>
              <a:rPr lang="en-US"/>
              <a:t>            IA: Assess the current quality of the data.</a:t>
            </a:r>
          </a:p>
          <a:p>
            <a:pPr lvl="2" indent="0">
              <a:buClr>
                <a:srgbClr val="9E3611"/>
              </a:buClr>
              <a:buNone/>
            </a:pPr>
            <a:r>
              <a:rPr lang="en-US"/>
              <a:t>           TA: Identify existing gaps, risks, and technical debt</a:t>
            </a:r>
          </a:p>
          <a:p>
            <a:pPr marL="914400" lvl="1" indent="-457200">
              <a:buFont typeface="+mj-lt"/>
              <a:buAutoNum type="arabicPeriod"/>
            </a:pPr>
            <a:r>
              <a:rPr lang="en-US"/>
              <a:t>Use the information gathered to develop baseline business architecture artifacts.</a:t>
            </a:r>
          </a:p>
          <a:p>
            <a:pPr marL="914400" lvl="1" indent="-457200">
              <a:buFont typeface="+mj-lt"/>
              <a:buAutoNum type="arabicPeriod"/>
            </a:pPr>
            <a:r>
              <a:rPr lang="en-US"/>
              <a:t>Assess the baseline business, data, and technical architecture maturity.</a:t>
            </a:r>
          </a:p>
          <a:p>
            <a:pPr marL="914400" lvl="1" indent="-457200">
              <a:buFont typeface="+mj-lt"/>
              <a:buAutoNum type="arabicPeriod"/>
            </a:pPr>
            <a:endParaRPr lang="en-US"/>
          </a:p>
          <a:p>
            <a:pPr marL="914400" lvl="1" indent="-457200">
              <a:buFont typeface="+mj-lt"/>
              <a:buAutoNum type="arabicPeriod"/>
            </a:pPr>
            <a:endParaRPr lang="en-US"/>
          </a:p>
        </p:txBody>
      </p:sp>
      <p:sp>
        <p:nvSpPr>
          <p:cNvPr id="5" name="Content Placeholder 2">
            <a:extLst>
              <a:ext uri="{FF2B5EF4-FFF2-40B4-BE49-F238E27FC236}">
                <a16:creationId xmlns:a16="http://schemas.microsoft.com/office/drawing/2014/main" id="{5695257D-AB08-844F-992F-806C78848D29}"/>
              </a:ext>
            </a:extLst>
          </p:cNvPr>
          <p:cNvSpPr txBox="1">
            <a:spLocks/>
          </p:cNvSpPr>
          <p:nvPr/>
        </p:nvSpPr>
        <p:spPr>
          <a:xfrm>
            <a:off x="1150361" y="6011922"/>
            <a:ext cx="10058400" cy="758377"/>
          </a:xfrm>
          <a:prstGeom prst="rect">
            <a:avLst/>
          </a:prstGeom>
        </p:spPr>
        <p:txBody>
          <a:bodyPr vert="horz" lIns="91440" tIns="45720" rIns="91440" bIns="45720" rtlCol="0" anchor="t">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None/>
            </a:pPr>
            <a:r>
              <a:rPr lang="en-US" sz="1400"/>
              <a:t>* Complete steps for the Business Architecture, then for the Information Architecture, and finally for the Technical Architecture. Specific steps for each architecture are labeled within each step.</a:t>
            </a:r>
          </a:p>
        </p:txBody>
      </p:sp>
    </p:spTree>
    <p:extLst>
      <p:ext uri="{BB962C8B-B14F-4D97-AF65-F5344CB8AC3E}">
        <p14:creationId xmlns:p14="http://schemas.microsoft.com/office/powerpoint/2010/main" val="956152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9830E-E7E1-5C5A-C120-9D6D78D4E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DE07E-AADF-A743-44AF-8E6A5FDCC091}"/>
              </a:ext>
            </a:extLst>
          </p:cNvPr>
          <p:cNvSpPr>
            <a:spLocks noGrp="1"/>
          </p:cNvSpPr>
          <p:nvPr>
            <p:ph type="title"/>
          </p:nvPr>
        </p:nvSpPr>
        <p:spPr/>
        <p:txBody>
          <a:bodyPr/>
          <a:lstStyle/>
          <a:p>
            <a:r>
              <a:rPr lang="en-US"/>
              <a:t>Define Capability Architecture</a:t>
            </a:r>
          </a:p>
        </p:txBody>
      </p:sp>
      <p:sp>
        <p:nvSpPr>
          <p:cNvPr id="3" name="Rounded Rectangle 2">
            <a:extLst>
              <a:ext uri="{FF2B5EF4-FFF2-40B4-BE49-F238E27FC236}">
                <a16:creationId xmlns:a16="http://schemas.microsoft.com/office/drawing/2014/main" id="{64630187-74AC-9D15-28E2-A56FB3A957FC}"/>
              </a:ext>
            </a:extLst>
          </p:cNvPr>
          <p:cNvSpPr/>
          <p:nvPr/>
        </p:nvSpPr>
        <p:spPr>
          <a:xfrm>
            <a:off x="3596720" y="3046248"/>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Capability Architecture</a:t>
            </a:r>
          </a:p>
        </p:txBody>
      </p:sp>
      <p:sp>
        <p:nvSpPr>
          <p:cNvPr id="4" name="Rounded Rectangle 3">
            <a:extLst>
              <a:ext uri="{FF2B5EF4-FFF2-40B4-BE49-F238E27FC236}">
                <a16:creationId xmlns:a16="http://schemas.microsoft.com/office/drawing/2014/main" id="{189A1D21-89EC-73A7-2F6D-25E77248FB14}"/>
              </a:ext>
            </a:extLst>
          </p:cNvPr>
          <p:cNvSpPr/>
          <p:nvPr/>
        </p:nvSpPr>
        <p:spPr>
          <a:xfrm>
            <a:off x="5354870" y="3028674"/>
            <a:ext cx="1442138"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Target Capability Architecture</a:t>
            </a:r>
          </a:p>
        </p:txBody>
      </p:sp>
      <p:sp>
        <p:nvSpPr>
          <p:cNvPr id="5" name="Rounded Rectangle 4">
            <a:extLst>
              <a:ext uri="{FF2B5EF4-FFF2-40B4-BE49-F238E27FC236}">
                <a16:creationId xmlns:a16="http://schemas.microsoft.com/office/drawing/2014/main" id="{657787D0-8CAA-5080-80EB-937D0AAB8896}"/>
              </a:ext>
            </a:extLst>
          </p:cNvPr>
          <p:cNvSpPr/>
          <p:nvPr/>
        </p:nvSpPr>
        <p:spPr>
          <a:xfrm>
            <a:off x="8842403"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Perform Gap Analysis</a:t>
            </a:r>
            <a:endParaRPr lang="en-US" sz="900" i="1"/>
          </a:p>
        </p:txBody>
      </p:sp>
      <p:sp>
        <p:nvSpPr>
          <p:cNvPr id="35" name="Rounded Rectangle 34">
            <a:extLst>
              <a:ext uri="{FF2B5EF4-FFF2-40B4-BE49-F238E27FC236}">
                <a16:creationId xmlns:a16="http://schemas.microsoft.com/office/drawing/2014/main" id="{01A8ABE3-4DF7-7881-76D3-E34BCF1B88A3}"/>
              </a:ext>
            </a:extLst>
          </p:cNvPr>
          <p:cNvSpPr/>
          <p:nvPr/>
        </p:nvSpPr>
        <p:spPr>
          <a:xfrm>
            <a:off x="1838570" y="3059760"/>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Define Architectural Approach</a:t>
            </a:r>
            <a:endParaRPr lang="en-US" sz="900"/>
          </a:p>
        </p:txBody>
      </p:sp>
      <p:sp>
        <p:nvSpPr>
          <p:cNvPr id="53" name="Oval 52">
            <a:extLst>
              <a:ext uri="{FF2B5EF4-FFF2-40B4-BE49-F238E27FC236}">
                <a16:creationId xmlns:a16="http://schemas.microsoft.com/office/drawing/2014/main" id="{42F2DD3F-AA41-9276-ED72-A85184F21A1A}"/>
              </a:ext>
            </a:extLst>
          </p:cNvPr>
          <p:cNvSpPr/>
          <p:nvPr/>
        </p:nvSpPr>
        <p:spPr>
          <a:xfrm>
            <a:off x="1311288" y="3805075"/>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E91A9DAD-21B6-1C1C-E241-4E94E0217D53}"/>
              </a:ext>
            </a:extLst>
          </p:cNvPr>
          <p:cNvSpPr/>
          <p:nvPr/>
        </p:nvSpPr>
        <p:spPr>
          <a:xfrm>
            <a:off x="10585442" y="3773989"/>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4E1D08FD-AE6E-42E8-89DF-9F7F332BC4E2}"/>
              </a:ext>
            </a:extLst>
          </p:cNvPr>
          <p:cNvCxnSpPr>
            <a:cxnSpLocks/>
            <a:stCxn id="53" idx="6"/>
            <a:endCxn id="35" idx="1"/>
          </p:cNvCxnSpPr>
          <p:nvPr/>
        </p:nvCxnSpPr>
        <p:spPr>
          <a:xfrm>
            <a:off x="1561278" y="3931630"/>
            <a:ext cx="2772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661E55FB-20A9-EBE5-8A15-774EFAF46EDE}"/>
              </a:ext>
            </a:extLst>
          </p:cNvPr>
          <p:cNvCxnSpPr>
            <a:cxnSpLocks/>
            <a:stCxn id="5" idx="3"/>
            <a:endCxn id="54" idx="2"/>
          </p:cNvCxnSpPr>
          <p:nvPr/>
        </p:nvCxnSpPr>
        <p:spPr>
          <a:xfrm>
            <a:off x="10284541" y="3892155"/>
            <a:ext cx="300901" cy="8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89A255C-33D8-689D-E8BC-100D1E85CDE2}"/>
              </a:ext>
            </a:extLst>
          </p:cNvPr>
          <p:cNvSpPr txBox="1"/>
          <p:nvPr/>
        </p:nvSpPr>
        <p:spPr>
          <a:xfrm>
            <a:off x="1910127" y="3066881"/>
            <a:ext cx="507017" cy="369332"/>
          </a:xfrm>
          <a:prstGeom prst="rect">
            <a:avLst/>
          </a:prstGeom>
          <a:noFill/>
        </p:spPr>
        <p:txBody>
          <a:bodyPr wrap="square" lIns="91440" tIns="45720" rIns="91440" bIns="45720" rtlCol="0" anchor="t">
            <a:spAutoFit/>
          </a:bodyPr>
          <a:lstStyle/>
          <a:p>
            <a:r>
              <a:rPr lang="en-US">
                <a:solidFill>
                  <a:schemeClr val="bg1"/>
                </a:solidFill>
              </a:rPr>
              <a:t>3.1</a:t>
            </a:r>
          </a:p>
        </p:txBody>
      </p:sp>
      <p:sp>
        <p:nvSpPr>
          <p:cNvPr id="8" name="TextBox 7">
            <a:extLst>
              <a:ext uri="{FF2B5EF4-FFF2-40B4-BE49-F238E27FC236}">
                <a16:creationId xmlns:a16="http://schemas.microsoft.com/office/drawing/2014/main" id="{7E7B47BE-FE0B-E2DC-92B3-DB5F201DB199}"/>
              </a:ext>
            </a:extLst>
          </p:cNvPr>
          <p:cNvSpPr txBox="1"/>
          <p:nvPr/>
        </p:nvSpPr>
        <p:spPr>
          <a:xfrm>
            <a:off x="3645744" y="3060490"/>
            <a:ext cx="571110" cy="369332"/>
          </a:xfrm>
          <a:prstGeom prst="rect">
            <a:avLst/>
          </a:prstGeom>
          <a:noFill/>
        </p:spPr>
        <p:txBody>
          <a:bodyPr wrap="square" lIns="91440" tIns="45720" rIns="91440" bIns="45720" rtlCol="0" anchor="t">
            <a:spAutoFit/>
          </a:bodyPr>
          <a:lstStyle/>
          <a:p>
            <a:r>
              <a:rPr lang="en-US">
                <a:solidFill>
                  <a:schemeClr val="bg1"/>
                </a:solidFill>
              </a:rPr>
              <a:t>3.2</a:t>
            </a:r>
          </a:p>
        </p:txBody>
      </p:sp>
      <p:sp>
        <p:nvSpPr>
          <p:cNvPr id="9" name="TextBox 8">
            <a:extLst>
              <a:ext uri="{FF2B5EF4-FFF2-40B4-BE49-F238E27FC236}">
                <a16:creationId xmlns:a16="http://schemas.microsoft.com/office/drawing/2014/main" id="{4124AA48-07F5-A392-04E2-BDA586503C06}"/>
              </a:ext>
            </a:extLst>
          </p:cNvPr>
          <p:cNvSpPr txBox="1"/>
          <p:nvPr/>
        </p:nvSpPr>
        <p:spPr>
          <a:xfrm>
            <a:off x="5466111" y="3060490"/>
            <a:ext cx="535503" cy="369332"/>
          </a:xfrm>
          <a:prstGeom prst="rect">
            <a:avLst/>
          </a:prstGeom>
          <a:noFill/>
        </p:spPr>
        <p:txBody>
          <a:bodyPr wrap="square" lIns="91440" tIns="45720" rIns="91440" bIns="45720" rtlCol="0" anchor="t">
            <a:spAutoFit/>
          </a:bodyPr>
          <a:lstStyle/>
          <a:p>
            <a:r>
              <a:rPr lang="en-US">
                <a:solidFill>
                  <a:schemeClr val="bg1"/>
                </a:solidFill>
              </a:rPr>
              <a:t>3.3</a:t>
            </a:r>
          </a:p>
        </p:txBody>
      </p:sp>
      <p:sp>
        <p:nvSpPr>
          <p:cNvPr id="10" name="TextBox 9">
            <a:extLst>
              <a:ext uri="{FF2B5EF4-FFF2-40B4-BE49-F238E27FC236}">
                <a16:creationId xmlns:a16="http://schemas.microsoft.com/office/drawing/2014/main" id="{031FE8C7-5BED-48A1-366A-B031CED07591}"/>
              </a:ext>
            </a:extLst>
          </p:cNvPr>
          <p:cNvSpPr txBox="1"/>
          <p:nvPr/>
        </p:nvSpPr>
        <p:spPr>
          <a:xfrm>
            <a:off x="8972586" y="3066881"/>
            <a:ext cx="592475" cy="369332"/>
          </a:xfrm>
          <a:prstGeom prst="rect">
            <a:avLst/>
          </a:prstGeom>
          <a:noFill/>
        </p:spPr>
        <p:txBody>
          <a:bodyPr wrap="square" lIns="91440" tIns="45720" rIns="91440" bIns="45720" rtlCol="0" anchor="t">
            <a:spAutoFit/>
          </a:bodyPr>
          <a:lstStyle/>
          <a:p>
            <a:r>
              <a:rPr lang="en-US">
                <a:solidFill>
                  <a:schemeClr val="bg1"/>
                </a:solidFill>
              </a:rPr>
              <a:t>3.5</a:t>
            </a:r>
          </a:p>
        </p:txBody>
      </p:sp>
      <p:sp>
        <p:nvSpPr>
          <p:cNvPr id="15" name="Rounded Rectangle 14">
            <a:extLst>
              <a:ext uri="{FF2B5EF4-FFF2-40B4-BE49-F238E27FC236}">
                <a16:creationId xmlns:a16="http://schemas.microsoft.com/office/drawing/2014/main" id="{2F801E7E-3F0F-2D3B-E5E4-87171BCF713D}"/>
              </a:ext>
            </a:extLst>
          </p:cNvPr>
          <p:cNvSpPr/>
          <p:nvPr/>
        </p:nvSpPr>
        <p:spPr>
          <a:xfrm>
            <a:off x="7099194"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Align Architecture and Compile Concept of Operations</a:t>
            </a:r>
            <a:endParaRPr lang="en-US" sz="900" i="1"/>
          </a:p>
        </p:txBody>
      </p:sp>
      <p:sp>
        <p:nvSpPr>
          <p:cNvPr id="16" name="TextBox 15">
            <a:extLst>
              <a:ext uri="{FF2B5EF4-FFF2-40B4-BE49-F238E27FC236}">
                <a16:creationId xmlns:a16="http://schemas.microsoft.com/office/drawing/2014/main" id="{9556055E-0530-816A-BD23-8C2C2E2CF7B1}"/>
              </a:ext>
            </a:extLst>
          </p:cNvPr>
          <p:cNvSpPr txBox="1"/>
          <p:nvPr/>
        </p:nvSpPr>
        <p:spPr>
          <a:xfrm>
            <a:off x="7102739" y="3064503"/>
            <a:ext cx="521260" cy="369332"/>
          </a:xfrm>
          <a:prstGeom prst="rect">
            <a:avLst/>
          </a:prstGeom>
          <a:noFill/>
        </p:spPr>
        <p:txBody>
          <a:bodyPr wrap="square" lIns="91440" tIns="45720" rIns="91440" bIns="45720" rtlCol="0" anchor="t">
            <a:spAutoFit/>
          </a:bodyPr>
          <a:lstStyle/>
          <a:p>
            <a:r>
              <a:rPr lang="en-US">
                <a:solidFill>
                  <a:schemeClr val="bg1"/>
                </a:solidFill>
              </a:rPr>
              <a:t>3.4</a:t>
            </a:r>
          </a:p>
        </p:txBody>
      </p:sp>
      <p:sp>
        <p:nvSpPr>
          <p:cNvPr id="17" name="Right Arrow 16">
            <a:extLst>
              <a:ext uri="{FF2B5EF4-FFF2-40B4-BE49-F238E27FC236}">
                <a16:creationId xmlns:a16="http://schemas.microsoft.com/office/drawing/2014/main" id="{5AAF6C67-BA76-F2F4-F5AE-0FFF1DDA07FA}"/>
              </a:ext>
            </a:extLst>
          </p:cNvPr>
          <p:cNvSpPr/>
          <p:nvPr/>
        </p:nvSpPr>
        <p:spPr>
          <a:xfrm>
            <a:off x="8541502" y="3784116"/>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EC259EDA-6067-FF1A-6561-BF49918E16E2}"/>
              </a:ext>
            </a:extLst>
          </p:cNvPr>
          <p:cNvSpPr/>
          <p:nvPr/>
        </p:nvSpPr>
        <p:spPr>
          <a:xfrm>
            <a:off x="6800098" y="3782589"/>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466B5432-F30A-6B04-F90C-C86DF45B4B00}"/>
              </a:ext>
            </a:extLst>
          </p:cNvPr>
          <p:cNvSpPr/>
          <p:nvPr/>
        </p:nvSpPr>
        <p:spPr>
          <a:xfrm>
            <a:off x="5038858" y="3794243"/>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50F34A61-64BC-11AA-7172-E1AB4252B5B3}"/>
              </a:ext>
            </a:extLst>
          </p:cNvPr>
          <p:cNvSpPr/>
          <p:nvPr/>
        </p:nvSpPr>
        <p:spPr>
          <a:xfrm>
            <a:off x="3285247" y="3804262"/>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Elbow Connector 10">
            <a:extLst>
              <a:ext uri="{FF2B5EF4-FFF2-40B4-BE49-F238E27FC236}">
                <a16:creationId xmlns:a16="http://schemas.microsoft.com/office/drawing/2014/main" id="{2D608F6F-D7AE-F93A-D083-88036DF20ADE}"/>
              </a:ext>
            </a:extLst>
          </p:cNvPr>
          <p:cNvCxnSpPr>
            <a:stCxn id="5" idx="0"/>
            <a:endCxn id="4" idx="0"/>
          </p:cNvCxnSpPr>
          <p:nvPr/>
        </p:nvCxnSpPr>
        <p:spPr>
          <a:xfrm rot="16200000" flipH="1" flipV="1">
            <a:off x="7815511" y="1280712"/>
            <a:ext cx="8389" cy="3487533"/>
          </a:xfrm>
          <a:prstGeom prst="bentConnector3">
            <a:avLst>
              <a:gd name="adj1" fmla="val -680627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3781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2BC00-3EF0-BE47-B23F-3E22E62A2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562C4-C22F-A142-522E-C1EF7DC34D3E}"/>
              </a:ext>
            </a:extLst>
          </p:cNvPr>
          <p:cNvSpPr>
            <a:spLocks noGrp="1"/>
          </p:cNvSpPr>
          <p:nvPr>
            <p:ph type="title"/>
          </p:nvPr>
        </p:nvSpPr>
        <p:spPr/>
        <p:txBody>
          <a:bodyPr>
            <a:normAutofit/>
          </a:bodyPr>
          <a:lstStyle/>
          <a:p>
            <a:r>
              <a:rPr lang="en-US"/>
              <a:t>3.3. Define Target Capability Architecture</a:t>
            </a:r>
          </a:p>
        </p:txBody>
      </p:sp>
      <p:sp>
        <p:nvSpPr>
          <p:cNvPr id="3" name="Rounded Rectangle 2">
            <a:extLst>
              <a:ext uri="{FF2B5EF4-FFF2-40B4-BE49-F238E27FC236}">
                <a16:creationId xmlns:a16="http://schemas.microsoft.com/office/drawing/2014/main" id="{51B4FF26-3341-202C-5C6F-470B8605BBEB}"/>
              </a:ext>
            </a:extLst>
          </p:cNvPr>
          <p:cNvSpPr/>
          <p:nvPr/>
        </p:nvSpPr>
        <p:spPr>
          <a:xfrm>
            <a:off x="210002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3.3a. Identify Impacted target Business Architecture</a:t>
            </a:r>
            <a:endParaRPr lang="en-US" sz="1000"/>
          </a:p>
        </p:txBody>
      </p:sp>
      <p:sp>
        <p:nvSpPr>
          <p:cNvPr id="4" name="Rounded Rectangle 3">
            <a:extLst>
              <a:ext uri="{FF2B5EF4-FFF2-40B4-BE49-F238E27FC236}">
                <a16:creationId xmlns:a16="http://schemas.microsoft.com/office/drawing/2014/main" id="{4A47A60A-DC9B-2888-0514-56FF9AAC5017}"/>
              </a:ext>
            </a:extLst>
          </p:cNvPr>
          <p:cNvSpPr/>
          <p:nvPr/>
        </p:nvSpPr>
        <p:spPr>
          <a:xfrm>
            <a:off x="2100027"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3.3a. Identify Impacted target Business Processes Roles</a:t>
            </a:r>
            <a:endParaRPr lang="en-US" sz="1000"/>
          </a:p>
        </p:txBody>
      </p:sp>
      <p:sp>
        <p:nvSpPr>
          <p:cNvPr id="5" name="Rounded Rectangle 4">
            <a:extLst>
              <a:ext uri="{FF2B5EF4-FFF2-40B4-BE49-F238E27FC236}">
                <a16:creationId xmlns:a16="http://schemas.microsoft.com/office/drawing/2014/main" id="{BCAD0704-F51A-0450-6F70-FA289E429C7C}"/>
              </a:ext>
            </a:extLst>
          </p:cNvPr>
          <p:cNvSpPr/>
          <p:nvPr/>
        </p:nvSpPr>
        <p:spPr>
          <a:xfrm>
            <a:off x="469844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3.3b. Identify Impacted target Information Architecture</a:t>
            </a:r>
            <a:endParaRPr lang="en-US" sz="1000"/>
          </a:p>
        </p:txBody>
      </p:sp>
      <p:sp>
        <p:nvSpPr>
          <p:cNvPr id="6" name="Rounded Rectangle 5">
            <a:extLst>
              <a:ext uri="{FF2B5EF4-FFF2-40B4-BE49-F238E27FC236}">
                <a16:creationId xmlns:a16="http://schemas.microsoft.com/office/drawing/2014/main" id="{454BBD9E-6CDD-2B18-0AD5-34E3592BB62B}"/>
              </a:ext>
            </a:extLst>
          </p:cNvPr>
          <p:cNvSpPr/>
          <p:nvPr/>
        </p:nvSpPr>
        <p:spPr>
          <a:xfrm>
            <a:off x="4698448"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3.3b. Identify Impacted target Data Roles</a:t>
            </a:r>
            <a:endParaRPr lang="en-US" sz="1000"/>
          </a:p>
        </p:txBody>
      </p:sp>
      <p:sp>
        <p:nvSpPr>
          <p:cNvPr id="7" name="Rounded Rectangle 6">
            <a:extLst>
              <a:ext uri="{FF2B5EF4-FFF2-40B4-BE49-F238E27FC236}">
                <a16:creationId xmlns:a16="http://schemas.microsoft.com/office/drawing/2014/main" id="{DE05E1CA-7A68-751D-4D32-4F465B7744D8}"/>
              </a:ext>
            </a:extLst>
          </p:cNvPr>
          <p:cNvSpPr/>
          <p:nvPr/>
        </p:nvSpPr>
        <p:spPr>
          <a:xfrm>
            <a:off x="7570470"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3.3c. Identify Impacted target Technical Architecture</a:t>
            </a:r>
            <a:endParaRPr lang="en-US" sz="1000"/>
          </a:p>
        </p:txBody>
      </p:sp>
      <p:sp>
        <p:nvSpPr>
          <p:cNvPr id="8" name="Rounded Rectangle 7">
            <a:extLst>
              <a:ext uri="{FF2B5EF4-FFF2-40B4-BE49-F238E27FC236}">
                <a16:creationId xmlns:a16="http://schemas.microsoft.com/office/drawing/2014/main" id="{4861CBEC-0F1F-A475-C2F7-49D149CE99E0}"/>
              </a:ext>
            </a:extLst>
          </p:cNvPr>
          <p:cNvSpPr/>
          <p:nvPr/>
        </p:nvSpPr>
        <p:spPr>
          <a:xfrm>
            <a:off x="7570469"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3.3c. Identify Impacted target Technology Roles</a:t>
            </a:r>
            <a:endParaRPr lang="en-US" sz="1000"/>
          </a:p>
        </p:txBody>
      </p:sp>
      <p:cxnSp>
        <p:nvCxnSpPr>
          <p:cNvPr id="10" name="Straight Arrow Connector 9">
            <a:extLst>
              <a:ext uri="{FF2B5EF4-FFF2-40B4-BE49-F238E27FC236}">
                <a16:creationId xmlns:a16="http://schemas.microsoft.com/office/drawing/2014/main" id="{985EF7B1-2B9D-8569-1A6E-DCB2CAAA25A5}"/>
              </a:ext>
            </a:extLst>
          </p:cNvPr>
          <p:cNvCxnSpPr>
            <a:stCxn id="3" idx="2"/>
            <a:endCxn id="4" idx="0"/>
          </p:cNvCxnSpPr>
          <p:nvPr/>
        </p:nvCxnSpPr>
        <p:spPr>
          <a:xfrm flipH="1">
            <a:off x="2968224"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DE3950A7-5679-3E71-3E91-F713A4D56BC4}"/>
              </a:ext>
            </a:extLst>
          </p:cNvPr>
          <p:cNvCxnSpPr>
            <a:stCxn id="4" idx="3"/>
            <a:endCxn id="5" idx="1"/>
          </p:cNvCxnSpPr>
          <p:nvPr/>
        </p:nvCxnSpPr>
        <p:spPr>
          <a:xfrm flipV="1">
            <a:off x="3836420" y="3029034"/>
            <a:ext cx="862028" cy="231765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BBFABCE9-F948-0E67-84B8-E5263C39F005}"/>
              </a:ext>
            </a:extLst>
          </p:cNvPr>
          <p:cNvCxnSpPr>
            <a:cxnSpLocks/>
            <a:stCxn id="6" idx="3"/>
            <a:endCxn id="7" idx="1"/>
          </p:cNvCxnSpPr>
          <p:nvPr/>
        </p:nvCxnSpPr>
        <p:spPr>
          <a:xfrm flipV="1">
            <a:off x="6434841" y="3029034"/>
            <a:ext cx="1135629" cy="231765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A6A1D5C-B615-EB40-F84A-3CE423AB5C52}"/>
              </a:ext>
            </a:extLst>
          </p:cNvPr>
          <p:cNvCxnSpPr>
            <a:stCxn id="5" idx="2"/>
            <a:endCxn id="6" idx="0"/>
          </p:cNvCxnSpPr>
          <p:nvPr/>
        </p:nvCxnSpPr>
        <p:spPr>
          <a:xfrm>
            <a:off x="5566645" y="3900904"/>
            <a:ext cx="0"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3515974-6DA7-C521-0D10-A1CD64DABB7D}"/>
              </a:ext>
            </a:extLst>
          </p:cNvPr>
          <p:cNvCxnSpPr>
            <a:cxnSpLocks/>
            <a:stCxn id="7" idx="2"/>
            <a:endCxn id="8" idx="0"/>
          </p:cNvCxnSpPr>
          <p:nvPr/>
        </p:nvCxnSpPr>
        <p:spPr>
          <a:xfrm flipH="1">
            <a:off x="8438666"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48CF3EF8-C755-12CF-B109-2A86F3A5BCB8}"/>
              </a:ext>
            </a:extLst>
          </p:cNvPr>
          <p:cNvSpPr/>
          <p:nvPr/>
        </p:nvSpPr>
        <p:spPr>
          <a:xfrm>
            <a:off x="1006434" y="2754714"/>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1BE3ED2-6A33-2829-8CAA-3FD34B59BE5A}"/>
              </a:ext>
            </a:extLst>
          </p:cNvPr>
          <p:cNvSpPr/>
          <p:nvPr/>
        </p:nvSpPr>
        <p:spPr>
          <a:xfrm>
            <a:off x="9697044" y="5072365"/>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9A74304-CF92-8519-4EB4-48F49935AD51}"/>
              </a:ext>
            </a:extLst>
          </p:cNvPr>
          <p:cNvCxnSpPr>
            <a:cxnSpLocks/>
            <a:stCxn id="21" idx="6"/>
            <a:endCxn id="3" idx="1"/>
          </p:cNvCxnSpPr>
          <p:nvPr/>
        </p:nvCxnSpPr>
        <p:spPr>
          <a:xfrm>
            <a:off x="1532214" y="3029034"/>
            <a:ext cx="5678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6D70B4E-13BB-FDFA-752A-EF9DE8FFD72D}"/>
              </a:ext>
            </a:extLst>
          </p:cNvPr>
          <p:cNvCxnSpPr>
            <a:cxnSpLocks/>
            <a:stCxn id="8" idx="3"/>
            <a:endCxn id="22" idx="2"/>
          </p:cNvCxnSpPr>
          <p:nvPr/>
        </p:nvCxnSpPr>
        <p:spPr>
          <a:xfrm>
            <a:off x="9306862" y="5346685"/>
            <a:ext cx="3901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6455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53DA0-7917-719F-F11C-F3508BD58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B7F14-1AFF-5B07-7FC3-A0AC3D869BCB}"/>
              </a:ext>
            </a:extLst>
          </p:cNvPr>
          <p:cNvSpPr>
            <a:spLocks noGrp="1"/>
          </p:cNvSpPr>
          <p:nvPr>
            <p:ph type="title"/>
          </p:nvPr>
        </p:nvSpPr>
        <p:spPr/>
        <p:txBody>
          <a:bodyPr>
            <a:normAutofit/>
          </a:bodyPr>
          <a:lstStyle/>
          <a:p>
            <a:r>
              <a:rPr lang="en-US"/>
              <a:t>3.3A. Overview</a:t>
            </a:r>
          </a:p>
        </p:txBody>
      </p:sp>
      <p:sp>
        <p:nvSpPr>
          <p:cNvPr id="3" name="Content Placeholder 2">
            <a:extLst>
              <a:ext uri="{FF2B5EF4-FFF2-40B4-BE49-F238E27FC236}">
                <a16:creationId xmlns:a16="http://schemas.microsoft.com/office/drawing/2014/main" id="{9DE3E2C2-F3C6-4E38-80DE-6B5B27F9A1B6}"/>
              </a:ext>
            </a:extLst>
          </p:cNvPr>
          <p:cNvSpPr>
            <a:spLocks noGrp="1"/>
          </p:cNvSpPr>
          <p:nvPr>
            <p:ph idx="1"/>
          </p:nvPr>
        </p:nvSpPr>
        <p:spPr/>
        <p:txBody>
          <a:bodyPr>
            <a:normAutofit/>
          </a:bodyPr>
          <a:lstStyle/>
          <a:p>
            <a:pPr marL="0" indent="0">
              <a:buNone/>
            </a:pPr>
            <a:r>
              <a:rPr lang="en-US" b="1"/>
              <a:t>Purpose</a:t>
            </a:r>
          </a:p>
          <a:p>
            <a:pPr lvl="1"/>
            <a:r>
              <a:rPr lang="en-US"/>
              <a:t>Identify the process(es) that are needed to be in place to support the targeted capability(</a:t>
            </a:r>
            <a:r>
              <a:rPr lang="en-US" err="1"/>
              <a:t>ies</a:t>
            </a:r>
            <a:r>
              <a:rPr lang="en-US"/>
              <a:t>).</a:t>
            </a:r>
          </a:p>
          <a:p>
            <a:pPr marL="0" indent="0">
              <a:buNone/>
            </a:pPr>
            <a:r>
              <a:rPr lang="en-US" b="1"/>
              <a:t>Goal</a:t>
            </a:r>
          </a:p>
          <a:p>
            <a:pPr lvl="1"/>
            <a:r>
              <a:rPr lang="en-US"/>
              <a:t>Define the target process(es) that are needed to support the SMA’s desired outcomes.  </a:t>
            </a:r>
          </a:p>
          <a:p>
            <a:pPr marL="0" indent="0">
              <a:buNone/>
            </a:pPr>
            <a:r>
              <a:rPr lang="en-US" b="1"/>
              <a:t>Triggers</a:t>
            </a:r>
          </a:p>
          <a:p>
            <a:pPr lvl="1"/>
            <a:r>
              <a:rPr lang="en-US"/>
              <a:t>Baseline Business Capability Defined</a:t>
            </a:r>
          </a:p>
          <a:p>
            <a:pPr lvl="1"/>
            <a:r>
              <a:rPr lang="en-US"/>
              <a:t>Business Architecture Viewpoints, Reference Models &amp; Tools Defined</a:t>
            </a:r>
          </a:p>
          <a:p>
            <a:pPr marL="0" indent="0">
              <a:buNone/>
            </a:pPr>
            <a:r>
              <a:rPr lang="en-US" b="1"/>
              <a:t>Output</a:t>
            </a:r>
          </a:p>
          <a:p>
            <a:pPr lvl="1"/>
            <a:r>
              <a:rPr lang="en-US"/>
              <a:t>Target Capability Business Architecture Views</a:t>
            </a:r>
          </a:p>
        </p:txBody>
      </p:sp>
    </p:spTree>
    <p:extLst>
      <p:ext uri="{BB962C8B-B14F-4D97-AF65-F5344CB8AC3E}">
        <p14:creationId xmlns:p14="http://schemas.microsoft.com/office/powerpoint/2010/main" val="2631096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9F1D2-DED7-7A13-3F10-C0DD0C51A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9554D-3252-2375-8D47-C656BBBF3BB6}"/>
              </a:ext>
            </a:extLst>
          </p:cNvPr>
          <p:cNvSpPr>
            <a:spLocks noGrp="1"/>
          </p:cNvSpPr>
          <p:nvPr>
            <p:ph type="title"/>
          </p:nvPr>
        </p:nvSpPr>
        <p:spPr/>
        <p:txBody>
          <a:bodyPr>
            <a:normAutofit/>
          </a:bodyPr>
          <a:lstStyle/>
          <a:p>
            <a:r>
              <a:rPr lang="en-US"/>
              <a:t>3.3A. Activities</a:t>
            </a:r>
          </a:p>
        </p:txBody>
      </p:sp>
      <p:sp>
        <p:nvSpPr>
          <p:cNvPr id="3" name="Content Placeholder 2">
            <a:extLst>
              <a:ext uri="{FF2B5EF4-FFF2-40B4-BE49-F238E27FC236}">
                <a16:creationId xmlns:a16="http://schemas.microsoft.com/office/drawing/2014/main" id="{F605D454-FB8E-153B-6772-EFEE08832B02}"/>
              </a:ext>
            </a:extLst>
          </p:cNvPr>
          <p:cNvSpPr>
            <a:spLocks noGrp="1"/>
          </p:cNvSpPr>
          <p:nvPr>
            <p:ph idx="1"/>
          </p:nvPr>
        </p:nvSpPr>
        <p:spPr/>
        <p:txBody>
          <a:bodyPr>
            <a:normAutofit/>
          </a:bodyPr>
          <a:lstStyle/>
          <a:p>
            <a:pPr marL="0" indent="0">
              <a:buNone/>
            </a:pPr>
            <a:r>
              <a:rPr lang="en-US" b="1"/>
              <a:t>Activities</a:t>
            </a:r>
          </a:p>
          <a:p>
            <a:pPr marL="914400" lvl="1" indent="-457200">
              <a:buFont typeface="+mj-lt"/>
              <a:buAutoNum type="arabicPeriod"/>
            </a:pPr>
            <a:r>
              <a:rPr lang="en-US"/>
              <a:t>Assess the Target Business Capability Maturity</a:t>
            </a:r>
          </a:p>
          <a:p>
            <a:pPr marL="914400" lvl="1" indent="-457200">
              <a:buFont typeface="+mj-lt"/>
              <a:buAutoNum type="arabicPeriod"/>
            </a:pPr>
            <a:r>
              <a:rPr lang="en-US"/>
              <a:t>Identify the target process(es) required to perform, including any measures, metrics and reports produced for the impacted capability(</a:t>
            </a:r>
            <a:r>
              <a:rPr lang="en-US" err="1"/>
              <a:t>ies</a:t>
            </a:r>
            <a:r>
              <a:rPr lang="en-US"/>
              <a:t>).</a:t>
            </a:r>
          </a:p>
          <a:p>
            <a:pPr marL="914400" lvl="1" indent="-457200">
              <a:buFont typeface="+mj-lt"/>
              <a:buAutoNum type="arabicPeriod"/>
            </a:pPr>
            <a:r>
              <a:rPr lang="en-US"/>
              <a:t>Identify the target activities required to support the process(es) for the impacted capability(</a:t>
            </a:r>
            <a:r>
              <a:rPr lang="en-US" err="1"/>
              <a:t>ies</a:t>
            </a:r>
            <a:r>
              <a:rPr lang="en-US"/>
              <a:t>).</a:t>
            </a:r>
          </a:p>
          <a:p>
            <a:pPr marL="914400" lvl="1" indent="-457200">
              <a:buFont typeface="+mj-lt"/>
              <a:buAutoNum type="arabicPeriod"/>
            </a:pPr>
            <a:r>
              <a:rPr lang="en-US"/>
              <a:t>Identify the target business process roles and stakeholders for each process.</a:t>
            </a:r>
          </a:p>
          <a:p>
            <a:pPr marL="914400" lvl="1" indent="-457200">
              <a:buFont typeface="+mj-lt"/>
              <a:buAutoNum type="arabicPeriod"/>
            </a:pPr>
            <a:r>
              <a:rPr lang="en-US"/>
              <a:t>Identify standards and regulations (state and federal) required for each target process.</a:t>
            </a:r>
          </a:p>
          <a:p>
            <a:pPr marL="914400" lvl="1" indent="-457200">
              <a:buFont typeface="+mj-lt"/>
              <a:buAutoNum type="arabicPeriod"/>
            </a:pPr>
            <a:r>
              <a:rPr lang="en-US"/>
              <a:t>Develop Target business architecture artifacts.</a:t>
            </a:r>
          </a:p>
          <a:p>
            <a:pPr marL="914400" lvl="1" indent="-457200">
              <a:buFont typeface="+mj-lt"/>
              <a:buAutoNum type="arabicPeriod"/>
            </a:pPr>
            <a:endParaRPr lang="en-US"/>
          </a:p>
        </p:txBody>
      </p:sp>
    </p:spTree>
    <p:extLst>
      <p:ext uri="{BB962C8B-B14F-4D97-AF65-F5344CB8AC3E}">
        <p14:creationId xmlns:p14="http://schemas.microsoft.com/office/powerpoint/2010/main" val="736971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53DA0-7917-719F-F11C-F3508BD58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B7F14-1AFF-5B07-7FC3-A0AC3D869BCB}"/>
              </a:ext>
            </a:extLst>
          </p:cNvPr>
          <p:cNvSpPr>
            <a:spLocks noGrp="1"/>
          </p:cNvSpPr>
          <p:nvPr>
            <p:ph type="title"/>
          </p:nvPr>
        </p:nvSpPr>
        <p:spPr/>
        <p:txBody>
          <a:bodyPr>
            <a:normAutofit/>
          </a:bodyPr>
          <a:lstStyle/>
          <a:p>
            <a:r>
              <a:rPr lang="en-US"/>
              <a:t>3.3b. Overview</a:t>
            </a:r>
          </a:p>
        </p:txBody>
      </p:sp>
      <p:sp>
        <p:nvSpPr>
          <p:cNvPr id="3" name="Content Placeholder 2">
            <a:extLst>
              <a:ext uri="{FF2B5EF4-FFF2-40B4-BE49-F238E27FC236}">
                <a16:creationId xmlns:a16="http://schemas.microsoft.com/office/drawing/2014/main" id="{9DE3E2C2-F3C6-4E38-80DE-6B5B27F9A1B6}"/>
              </a:ext>
            </a:extLst>
          </p:cNvPr>
          <p:cNvSpPr>
            <a:spLocks noGrp="1"/>
          </p:cNvSpPr>
          <p:nvPr>
            <p:ph idx="1"/>
          </p:nvPr>
        </p:nvSpPr>
        <p:spPr/>
        <p:txBody>
          <a:bodyPr>
            <a:normAutofit/>
          </a:bodyPr>
          <a:lstStyle/>
          <a:p>
            <a:pPr marL="0" indent="0">
              <a:buNone/>
            </a:pPr>
            <a:r>
              <a:rPr lang="en-US" b="1"/>
              <a:t>Purpose</a:t>
            </a:r>
          </a:p>
          <a:p>
            <a:pPr lvl="1"/>
            <a:r>
              <a:rPr lang="en-US"/>
              <a:t>Identify the data assets that are needed to be in place to support the targeted process.</a:t>
            </a:r>
          </a:p>
          <a:p>
            <a:pPr marL="0" indent="0">
              <a:buNone/>
            </a:pPr>
            <a:r>
              <a:rPr lang="en-US" b="1"/>
              <a:t>Goal</a:t>
            </a:r>
          </a:p>
          <a:p>
            <a:pPr lvl="1"/>
            <a:r>
              <a:rPr lang="en-US"/>
              <a:t>Define the target data assets that are needed to support the SMA’s desired outcomes.  </a:t>
            </a:r>
          </a:p>
          <a:p>
            <a:pPr marL="0" indent="0">
              <a:buNone/>
            </a:pPr>
            <a:r>
              <a:rPr lang="en-US" b="1"/>
              <a:t>Triggers</a:t>
            </a:r>
          </a:p>
          <a:p>
            <a:pPr lvl="1"/>
            <a:r>
              <a:rPr lang="en-US"/>
              <a:t>Target Business Process Defined</a:t>
            </a:r>
          </a:p>
          <a:p>
            <a:pPr lvl="1"/>
            <a:r>
              <a:rPr lang="en-US"/>
              <a:t>Information Architecture Viewpoints, Reference Models &amp; Tools Defined</a:t>
            </a:r>
          </a:p>
          <a:p>
            <a:pPr marL="0" indent="0">
              <a:buNone/>
            </a:pPr>
            <a:r>
              <a:rPr lang="en-US" b="1"/>
              <a:t>Output</a:t>
            </a:r>
          </a:p>
          <a:p>
            <a:pPr lvl="1"/>
            <a:r>
              <a:rPr lang="en-US"/>
              <a:t>Target Capability Information Architecture Views</a:t>
            </a:r>
          </a:p>
        </p:txBody>
      </p:sp>
    </p:spTree>
    <p:extLst>
      <p:ext uri="{BB962C8B-B14F-4D97-AF65-F5344CB8AC3E}">
        <p14:creationId xmlns:p14="http://schemas.microsoft.com/office/powerpoint/2010/main" val="20333222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7A92E-96D0-5E0B-BA30-7C52CBD26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DC5F5-5A86-0A0F-545A-C229EE8F54E9}"/>
              </a:ext>
            </a:extLst>
          </p:cNvPr>
          <p:cNvSpPr>
            <a:spLocks noGrp="1"/>
          </p:cNvSpPr>
          <p:nvPr>
            <p:ph type="title"/>
          </p:nvPr>
        </p:nvSpPr>
        <p:spPr/>
        <p:txBody>
          <a:bodyPr>
            <a:normAutofit/>
          </a:bodyPr>
          <a:lstStyle/>
          <a:p>
            <a:r>
              <a:rPr lang="en-US"/>
              <a:t>3.3b Activities</a:t>
            </a:r>
          </a:p>
        </p:txBody>
      </p:sp>
      <p:sp>
        <p:nvSpPr>
          <p:cNvPr id="3" name="Content Placeholder 2">
            <a:extLst>
              <a:ext uri="{FF2B5EF4-FFF2-40B4-BE49-F238E27FC236}">
                <a16:creationId xmlns:a16="http://schemas.microsoft.com/office/drawing/2014/main" id="{3F204F3A-9515-A7D2-EAAA-51690F2CC8B9}"/>
              </a:ext>
            </a:extLst>
          </p:cNvPr>
          <p:cNvSpPr>
            <a:spLocks noGrp="1"/>
          </p:cNvSpPr>
          <p:nvPr>
            <p:ph idx="1"/>
          </p:nvPr>
        </p:nvSpPr>
        <p:spPr/>
        <p:txBody>
          <a:bodyPr>
            <a:normAutofit/>
          </a:bodyPr>
          <a:lstStyle/>
          <a:p>
            <a:pPr marL="0" indent="0">
              <a:buNone/>
            </a:pPr>
            <a:r>
              <a:rPr lang="en-US" b="1"/>
              <a:t>Activities</a:t>
            </a:r>
          </a:p>
          <a:p>
            <a:pPr marL="914400" lvl="1" indent="-457200">
              <a:buFont typeface="+mj-lt"/>
              <a:buAutoNum type="arabicPeriod"/>
            </a:pPr>
            <a:r>
              <a:rPr lang="en-US"/>
              <a:t>Assess the target Information Architecture Maturity.</a:t>
            </a:r>
          </a:p>
          <a:p>
            <a:pPr marL="914400" lvl="1" indent="-457200">
              <a:buFont typeface="+mj-lt"/>
              <a:buAutoNum type="arabicPeriod"/>
            </a:pPr>
            <a:r>
              <a:rPr lang="en-US"/>
              <a:t>Identify the target data usage for each business process, including desired reports, dashboards and other business intelligence products.</a:t>
            </a:r>
          </a:p>
          <a:p>
            <a:pPr marL="914400" lvl="1" indent="-457200">
              <a:buFont typeface="+mj-lt"/>
              <a:buAutoNum type="arabicPeriod"/>
            </a:pPr>
            <a:r>
              <a:rPr lang="en-US"/>
              <a:t>Identify the type and source of data that is needed to support the targeted data usage. (Conceptual Data Model)</a:t>
            </a:r>
          </a:p>
          <a:p>
            <a:pPr marL="914400" lvl="1" indent="-457200">
              <a:buFont typeface="+mj-lt"/>
              <a:buAutoNum type="arabicPeriod"/>
            </a:pPr>
            <a:r>
              <a:rPr lang="en-US"/>
              <a:t>Identify the key relationships across the data that is needed to support the targeted data usage.</a:t>
            </a:r>
          </a:p>
          <a:p>
            <a:pPr marL="914400" lvl="1" indent="-457200">
              <a:buFont typeface="+mj-lt"/>
              <a:buAutoNum type="arabicPeriod"/>
            </a:pPr>
            <a:r>
              <a:rPr lang="en-US"/>
              <a:t>Identify the data governance roles for the targeted data.</a:t>
            </a:r>
          </a:p>
          <a:p>
            <a:pPr marL="914400" lvl="1" indent="-457200">
              <a:buFont typeface="+mj-lt"/>
              <a:buAutoNum type="arabicPeriod"/>
            </a:pPr>
            <a:r>
              <a:rPr lang="en-US"/>
              <a:t>Identify data standards needed for all targeted data.</a:t>
            </a:r>
          </a:p>
          <a:p>
            <a:pPr marL="914400" lvl="1" indent="-457200">
              <a:buFont typeface="+mj-lt"/>
              <a:buAutoNum type="arabicPeriod"/>
            </a:pPr>
            <a:r>
              <a:rPr lang="en-US"/>
              <a:t>Define the key data elements needed for all targeted data. (Logical Data Model)</a:t>
            </a:r>
          </a:p>
          <a:p>
            <a:pPr marL="914400" lvl="1" indent="-457200">
              <a:buFont typeface="+mj-lt"/>
              <a:buAutoNum type="arabicPeriod"/>
            </a:pPr>
            <a:r>
              <a:rPr lang="en-US"/>
              <a:t>Define the targeted data quality rules and metrics. </a:t>
            </a:r>
          </a:p>
          <a:p>
            <a:pPr marL="914400" lvl="1" indent="-457200">
              <a:buFont typeface="+mj-lt"/>
              <a:buAutoNum type="arabicPeriod"/>
            </a:pPr>
            <a:r>
              <a:rPr lang="en-US"/>
              <a:t>Use the information gathered to develop target information architecture views.</a:t>
            </a:r>
          </a:p>
        </p:txBody>
      </p:sp>
    </p:spTree>
    <p:extLst>
      <p:ext uri="{BB962C8B-B14F-4D97-AF65-F5344CB8AC3E}">
        <p14:creationId xmlns:p14="http://schemas.microsoft.com/office/powerpoint/2010/main" val="3462714932"/>
      </p:ext>
    </p:extLst>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6ED7-AB72-54D1-3878-4BB09152A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432C6-2138-72E6-FA9D-5CC6A2DA8388}"/>
              </a:ext>
            </a:extLst>
          </p:cNvPr>
          <p:cNvSpPr>
            <a:spLocks noGrp="1"/>
          </p:cNvSpPr>
          <p:nvPr>
            <p:ph type="title"/>
          </p:nvPr>
        </p:nvSpPr>
        <p:spPr/>
        <p:txBody>
          <a:bodyPr>
            <a:normAutofit/>
          </a:bodyPr>
          <a:lstStyle/>
          <a:p>
            <a:r>
              <a:rPr lang="en-US"/>
              <a:t>3.3C. Overview</a:t>
            </a:r>
          </a:p>
        </p:txBody>
      </p:sp>
      <p:sp>
        <p:nvSpPr>
          <p:cNvPr id="3" name="Content Placeholder 2">
            <a:extLst>
              <a:ext uri="{FF2B5EF4-FFF2-40B4-BE49-F238E27FC236}">
                <a16:creationId xmlns:a16="http://schemas.microsoft.com/office/drawing/2014/main" id="{01E7D9EA-E36C-2704-6478-76BBD0DE385D}"/>
              </a:ext>
            </a:extLst>
          </p:cNvPr>
          <p:cNvSpPr>
            <a:spLocks noGrp="1"/>
          </p:cNvSpPr>
          <p:nvPr>
            <p:ph idx="1"/>
          </p:nvPr>
        </p:nvSpPr>
        <p:spPr/>
        <p:txBody>
          <a:bodyPr vert="horz" lIns="91440" tIns="45720" rIns="91440" bIns="45720" rtlCol="0" anchor="t">
            <a:normAutofit/>
          </a:bodyPr>
          <a:lstStyle/>
          <a:p>
            <a:pPr marL="0" indent="0">
              <a:buNone/>
            </a:pPr>
            <a:r>
              <a:rPr lang="en-US" b="1"/>
              <a:t>Purpose</a:t>
            </a:r>
          </a:p>
          <a:p>
            <a:pPr lvl="1"/>
            <a:r>
              <a:rPr lang="en-US"/>
              <a:t>Identify the Technical assets that are needed to be in place to support the targeted process.</a:t>
            </a:r>
          </a:p>
          <a:p>
            <a:pPr marL="0" indent="0">
              <a:buNone/>
            </a:pPr>
            <a:r>
              <a:rPr lang="en-US" b="1"/>
              <a:t>Goal</a:t>
            </a:r>
          </a:p>
          <a:p>
            <a:pPr lvl="1"/>
            <a:r>
              <a:rPr lang="en-US"/>
              <a:t>Define the target Technical assets that are needed to support the SMA’s desired outcomes.  </a:t>
            </a:r>
          </a:p>
          <a:p>
            <a:pPr marL="0" indent="0">
              <a:buNone/>
            </a:pPr>
            <a:r>
              <a:rPr lang="en-US" b="1"/>
              <a:t>Triggers</a:t>
            </a:r>
          </a:p>
          <a:p>
            <a:pPr lvl="1"/>
            <a:r>
              <a:rPr lang="en-US"/>
              <a:t>Target Business Process and information assets defined</a:t>
            </a:r>
          </a:p>
          <a:p>
            <a:pPr lvl="1"/>
            <a:r>
              <a:rPr lang="en-US"/>
              <a:t>Technical Architecture Viewpoints, Reference Models &amp; Tools Defined</a:t>
            </a:r>
          </a:p>
          <a:p>
            <a:pPr marL="0" indent="0">
              <a:buNone/>
            </a:pPr>
            <a:r>
              <a:rPr lang="en-US" b="1"/>
              <a:t>Output</a:t>
            </a:r>
          </a:p>
          <a:p>
            <a:pPr lvl="1"/>
            <a:r>
              <a:rPr lang="en-US"/>
              <a:t>Target Capability Technical Architecture Views</a:t>
            </a:r>
          </a:p>
          <a:p>
            <a:pPr lvl="1">
              <a:buClr>
                <a:srgbClr val="9E3611"/>
              </a:buClr>
            </a:pPr>
            <a:r>
              <a:rPr lang="en-US"/>
              <a:t>Target Maturity results</a:t>
            </a:r>
          </a:p>
        </p:txBody>
      </p:sp>
    </p:spTree>
    <p:extLst>
      <p:ext uri="{BB962C8B-B14F-4D97-AF65-F5344CB8AC3E}">
        <p14:creationId xmlns:p14="http://schemas.microsoft.com/office/powerpoint/2010/main" val="34201518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C531C-D3F1-DB8E-0130-FB38620B6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C9095-C105-6640-4D89-12105A3DCFBE}"/>
              </a:ext>
            </a:extLst>
          </p:cNvPr>
          <p:cNvSpPr>
            <a:spLocks noGrp="1"/>
          </p:cNvSpPr>
          <p:nvPr>
            <p:ph type="title"/>
          </p:nvPr>
        </p:nvSpPr>
        <p:spPr/>
        <p:txBody>
          <a:bodyPr>
            <a:normAutofit/>
          </a:bodyPr>
          <a:lstStyle/>
          <a:p>
            <a:r>
              <a:rPr lang="en-US"/>
              <a:t>3.3C Activities</a:t>
            </a:r>
          </a:p>
        </p:txBody>
      </p:sp>
      <p:sp>
        <p:nvSpPr>
          <p:cNvPr id="3" name="Content Placeholder 2">
            <a:extLst>
              <a:ext uri="{FF2B5EF4-FFF2-40B4-BE49-F238E27FC236}">
                <a16:creationId xmlns:a16="http://schemas.microsoft.com/office/drawing/2014/main" id="{8011492A-2E0E-ABFD-895D-9708434DD6C6}"/>
              </a:ext>
            </a:extLst>
          </p:cNvPr>
          <p:cNvSpPr>
            <a:spLocks noGrp="1"/>
          </p:cNvSpPr>
          <p:nvPr>
            <p:ph idx="1"/>
          </p:nvPr>
        </p:nvSpPr>
        <p:spPr/>
        <p:txBody>
          <a:bodyPr vert="horz" lIns="91440" tIns="45720" rIns="91440" bIns="45720" rtlCol="0" anchor="t">
            <a:normAutofit lnSpcReduction="10000"/>
          </a:bodyPr>
          <a:lstStyle/>
          <a:p>
            <a:pPr marL="0" indent="0">
              <a:buNone/>
            </a:pPr>
            <a:r>
              <a:rPr lang="en-US" b="1"/>
              <a:t>Activities</a:t>
            </a:r>
          </a:p>
          <a:p>
            <a:pPr marL="914400" lvl="1" indent="-457200">
              <a:buAutoNum type="arabicPeriod"/>
            </a:pPr>
            <a:r>
              <a:rPr lang="en-US">
                <a:latin typeface="Rockwell"/>
                <a:cs typeface="Segoe UI"/>
              </a:rPr>
              <a:t>Define target Technology Architecture Maturity Level</a:t>
            </a:r>
            <a:endParaRPr lang="en-US">
              <a:latin typeface="Rockwell"/>
            </a:endParaRPr>
          </a:p>
          <a:p>
            <a:pPr marL="914400" lvl="1" indent="-457200">
              <a:buClr>
                <a:srgbClr val="9E3611"/>
              </a:buClr>
              <a:buAutoNum type="arabicPeriod"/>
            </a:pPr>
            <a:r>
              <a:rPr lang="en-US">
                <a:cs typeface="Segoe UI"/>
              </a:rPr>
              <a:t>Define the technology strategy and standards (module integration, security compliance, shared services)</a:t>
            </a:r>
          </a:p>
          <a:p>
            <a:pPr marL="914400" lvl="1" indent="-457200">
              <a:buClr>
                <a:srgbClr val="9E3611"/>
              </a:buClr>
              <a:buAutoNum type="arabicPeriod"/>
            </a:pPr>
            <a:r>
              <a:rPr lang="en-US"/>
              <a:t>Rationalize Application portfolio (retain, retire, replace, or consolidate)</a:t>
            </a:r>
          </a:p>
          <a:p>
            <a:pPr marL="914400" lvl="1" indent="-457200">
              <a:buClr>
                <a:srgbClr val="9E3611"/>
              </a:buClr>
              <a:buAutoNum type="arabicPeriod"/>
            </a:pPr>
            <a:r>
              <a:rPr lang="en-US"/>
              <a:t>Specify future technology components and hosting model (cloud, hybrid, SaaS, on-prem).</a:t>
            </a:r>
          </a:p>
          <a:p>
            <a:pPr marL="914400" lvl="1" indent="-457200">
              <a:buClr>
                <a:srgbClr val="9E3611"/>
              </a:buClr>
              <a:buAutoNum type="arabicPeriod"/>
            </a:pPr>
            <a:endParaRPr lang="en-US"/>
          </a:p>
          <a:p>
            <a:pPr marL="914400" lvl="1" indent="-457200">
              <a:buClr>
                <a:srgbClr val="9E3611"/>
              </a:buClr>
              <a:buAutoNum type="arabicPeriod"/>
            </a:pPr>
            <a:r>
              <a:rPr lang="en-US"/>
              <a:t>Incorporate regulatory mandates and security and compliance principles.</a:t>
            </a:r>
          </a:p>
          <a:p>
            <a:pPr marL="914400" lvl="1" indent="-457200">
              <a:buClr>
                <a:srgbClr val="9E3611"/>
              </a:buClr>
              <a:buAutoNum type="arabicPeriod"/>
            </a:pPr>
            <a:r>
              <a:rPr lang="en-US"/>
              <a:t>Create the target-state application and technology views and diagrams.</a:t>
            </a:r>
          </a:p>
          <a:p>
            <a:pPr marL="914400" lvl="1" indent="-457200">
              <a:buClr>
                <a:srgbClr val="9E3611"/>
              </a:buClr>
              <a:buAutoNum type="arabicPeriod"/>
            </a:pPr>
            <a:r>
              <a:rPr lang="en-US"/>
              <a:t>Establish target non-functional requirements (performance, availability, scalability, business continuity, security) and service level objectives (uptime, monitoring, alerting).</a:t>
            </a:r>
          </a:p>
          <a:p>
            <a:pPr marL="914400" lvl="1" indent="-457200">
              <a:buClr>
                <a:srgbClr val="9E3611"/>
              </a:buClr>
              <a:buAutoNum type="arabicPeriod"/>
            </a:pPr>
            <a:r>
              <a:rPr lang="en-US"/>
              <a:t>Plan technical debt remediation and modernization.</a:t>
            </a:r>
          </a:p>
          <a:p>
            <a:pPr marL="914400" lvl="1" indent="-457200">
              <a:buClr>
                <a:srgbClr val="9E3611"/>
              </a:buClr>
              <a:buAutoNum type="arabicPeriod"/>
            </a:pPr>
            <a:endParaRPr lang="en-US"/>
          </a:p>
          <a:p>
            <a:pPr marL="914400" lvl="1" indent="-457200">
              <a:buClr>
                <a:srgbClr val="9E3611"/>
              </a:buClr>
              <a:buAutoNum type="arabicPeriod"/>
            </a:pPr>
            <a:endParaRPr lang="en-US"/>
          </a:p>
        </p:txBody>
      </p:sp>
    </p:spTree>
    <p:extLst>
      <p:ext uri="{BB962C8B-B14F-4D97-AF65-F5344CB8AC3E}">
        <p14:creationId xmlns:p14="http://schemas.microsoft.com/office/powerpoint/2010/main" val="1718912858"/>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99C533-D9C5-E190-23E8-84725A803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D786D-EB50-70C5-04ED-D2E1DA07DCE1}"/>
              </a:ext>
            </a:extLst>
          </p:cNvPr>
          <p:cNvSpPr>
            <a:spLocks noGrp="1"/>
          </p:cNvSpPr>
          <p:nvPr>
            <p:ph type="title"/>
          </p:nvPr>
        </p:nvSpPr>
        <p:spPr/>
        <p:txBody>
          <a:bodyPr>
            <a:normAutofit/>
          </a:bodyPr>
          <a:lstStyle/>
          <a:p>
            <a:r>
              <a:rPr lang="en-US"/>
              <a:t>3.3C Activities</a:t>
            </a:r>
          </a:p>
        </p:txBody>
      </p:sp>
      <p:sp>
        <p:nvSpPr>
          <p:cNvPr id="3" name="Content Placeholder 2">
            <a:extLst>
              <a:ext uri="{FF2B5EF4-FFF2-40B4-BE49-F238E27FC236}">
                <a16:creationId xmlns:a16="http://schemas.microsoft.com/office/drawing/2014/main" id="{08B24A7A-5AD5-FFCF-3554-972C1E2F5787}"/>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b="1"/>
              <a:t>Activities</a:t>
            </a:r>
          </a:p>
          <a:p>
            <a:pPr marL="914400" lvl="1" indent="-457200">
              <a:buFont typeface="+mj-lt"/>
              <a:buAutoNum type="arabicPeriod"/>
            </a:pPr>
            <a:r>
              <a:rPr lang="en-US"/>
              <a:t>Assess the target Technical Architecture Maturity </a:t>
            </a:r>
          </a:p>
          <a:p>
            <a:pPr marL="914400" lvl="1" indent="-457200">
              <a:buClr>
                <a:srgbClr val="9E3611"/>
              </a:buClr>
              <a:buAutoNum type="arabicPeriod"/>
            </a:pPr>
            <a:r>
              <a:rPr lang="en-US"/>
              <a:t>Identify required application and technical components</a:t>
            </a:r>
          </a:p>
          <a:p>
            <a:pPr marL="914400" lvl="1" indent="-457200">
              <a:buClr>
                <a:srgbClr val="9E3611"/>
              </a:buClr>
              <a:buAutoNum type="arabicPeriod"/>
            </a:pPr>
            <a:r>
              <a:rPr lang="en-US">
                <a:ea typeface="+mn-lt"/>
                <a:cs typeface="+mn-lt"/>
              </a:rPr>
              <a:t>Identify the target technical roles involved the planning and delivery of applications and technical components.</a:t>
            </a:r>
          </a:p>
          <a:p>
            <a:pPr marL="914400" lvl="1" indent="-457200">
              <a:buClr>
                <a:srgbClr val="9E3611"/>
              </a:buClr>
              <a:buAutoNum type="arabicPeriod"/>
            </a:pPr>
            <a:r>
              <a:rPr lang="en-US">
                <a:ea typeface="+mn-lt"/>
                <a:cs typeface="+mn-lt"/>
              </a:rPr>
              <a:t>Map each target component to its associated business process.</a:t>
            </a:r>
            <a:endParaRPr lang="en-US"/>
          </a:p>
          <a:p>
            <a:pPr marL="914400" lvl="1" indent="-457200">
              <a:buClr>
                <a:srgbClr val="9E3611"/>
              </a:buClr>
              <a:buAutoNum type="arabicPeriod"/>
            </a:pPr>
            <a:r>
              <a:rPr lang="en-US"/>
              <a:t>Align target components with corresponding business and technical capabilities.</a:t>
            </a:r>
          </a:p>
          <a:p>
            <a:pPr marL="914400" lvl="1" indent="-457200">
              <a:buClr>
                <a:srgbClr val="9E3611"/>
              </a:buClr>
              <a:buAutoNum type="arabicPeriod"/>
            </a:pPr>
            <a:r>
              <a:rPr lang="en-US"/>
              <a:t>Link target components to relevant data assets.</a:t>
            </a:r>
          </a:p>
          <a:p>
            <a:pPr marL="914400" lvl="1" indent="-457200">
              <a:buFont typeface="+mj-lt"/>
              <a:buAutoNum type="arabicPeriod"/>
            </a:pPr>
            <a:r>
              <a:rPr lang="en-US"/>
              <a:t>Align target technical architecture with to-be business and information architectures</a:t>
            </a:r>
          </a:p>
          <a:p>
            <a:pPr marL="914400" lvl="1" indent="-457200">
              <a:buFont typeface="+mj-lt"/>
              <a:buAutoNum type="arabicPeriod"/>
            </a:pPr>
            <a:r>
              <a:rPr lang="en-US"/>
              <a:t>Identify any technical dependencies</a:t>
            </a:r>
          </a:p>
          <a:p>
            <a:pPr marL="914400" lvl="1" indent="-457200">
              <a:buFont typeface="+mj-lt"/>
              <a:buAutoNum type="arabicPeriod"/>
            </a:pPr>
            <a:r>
              <a:rPr lang="en-US"/>
              <a:t>Assess feasibility </a:t>
            </a:r>
          </a:p>
          <a:p>
            <a:pPr marL="914400" lvl="1" indent="-457200">
              <a:buFont typeface="+mj-lt"/>
              <a:buAutoNum type="arabicPeriod"/>
            </a:pPr>
            <a:r>
              <a:rPr lang="en-US"/>
              <a:t>Validate with governance bodies</a:t>
            </a:r>
          </a:p>
          <a:p>
            <a:pPr marL="914400" lvl="1" indent="-457200">
              <a:buClr>
                <a:srgbClr val="9E3611"/>
              </a:buClr>
              <a:buFont typeface="Rockwell Condensed" panose="02060603050405020104"/>
              <a:buAutoNum type="arabicPeriod"/>
            </a:pPr>
            <a:r>
              <a:rPr lang="en-US"/>
              <a:t>Analyze current technical environment for reusable components, those requiring enhancement, and replacement/retirement of assets</a:t>
            </a:r>
          </a:p>
          <a:p>
            <a:pPr marL="914400" lvl="1" indent="-457200">
              <a:buClr>
                <a:srgbClr val="9E3611"/>
              </a:buClr>
              <a:buFont typeface="Rockwell Condensed" panose="02060603050405020104"/>
              <a:buAutoNum type="arabicPeriod"/>
            </a:pPr>
            <a:r>
              <a:rPr lang="en-US"/>
              <a:t>Synthesize findings into baseline technical architecture artifacts</a:t>
            </a:r>
          </a:p>
        </p:txBody>
      </p:sp>
    </p:spTree>
    <p:extLst>
      <p:ext uri="{BB962C8B-B14F-4D97-AF65-F5344CB8AC3E}">
        <p14:creationId xmlns:p14="http://schemas.microsoft.com/office/powerpoint/2010/main" val="6287361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5E8DB-6E6F-48CE-D8E6-78B5BEAEE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16803-4CF7-9AB7-B3F2-BDED177F9350}"/>
              </a:ext>
            </a:extLst>
          </p:cNvPr>
          <p:cNvSpPr>
            <a:spLocks noGrp="1"/>
          </p:cNvSpPr>
          <p:nvPr>
            <p:ph type="title"/>
          </p:nvPr>
        </p:nvSpPr>
        <p:spPr/>
        <p:txBody>
          <a:bodyPr/>
          <a:lstStyle/>
          <a:p>
            <a:r>
              <a:rPr lang="en-US"/>
              <a:t>Define Capability Architecture</a:t>
            </a:r>
          </a:p>
        </p:txBody>
      </p:sp>
      <p:sp>
        <p:nvSpPr>
          <p:cNvPr id="3" name="Rounded Rectangle 2">
            <a:extLst>
              <a:ext uri="{FF2B5EF4-FFF2-40B4-BE49-F238E27FC236}">
                <a16:creationId xmlns:a16="http://schemas.microsoft.com/office/drawing/2014/main" id="{FB84DBD4-F185-6E65-CF91-96B74AE84E21}"/>
              </a:ext>
            </a:extLst>
          </p:cNvPr>
          <p:cNvSpPr/>
          <p:nvPr/>
        </p:nvSpPr>
        <p:spPr>
          <a:xfrm>
            <a:off x="3596720" y="3046248"/>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Capability Architecture</a:t>
            </a:r>
          </a:p>
        </p:txBody>
      </p:sp>
      <p:sp>
        <p:nvSpPr>
          <p:cNvPr id="4" name="Rounded Rectangle 3">
            <a:extLst>
              <a:ext uri="{FF2B5EF4-FFF2-40B4-BE49-F238E27FC236}">
                <a16:creationId xmlns:a16="http://schemas.microsoft.com/office/drawing/2014/main" id="{D55AE310-F6EB-AD76-B370-740FEF2252C1}"/>
              </a:ext>
            </a:extLst>
          </p:cNvPr>
          <p:cNvSpPr/>
          <p:nvPr/>
        </p:nvSpPr>
        <p:spPr>
          <a:xfrm>
            <a:off x="5354870" y="3028674"/>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Target Capability Architecture</a:t>
            </a:r>
          </a:p>
        </p:txBody>
      </p:sp>
      <p:sp>
        <p:nvSpPr>
          <p:cNvPr id="5" name="Rounded Rectangle 4">
            <a:extLst>
              <a:ext uri="{FF2B5EF4-FFF2-40B4-BE49-F238E27FC236}">
                <a16:creationId xmlns:a16="http://schemas.microsoft.com/office/drawing/2014/main" id="{F2F8251B-9F64-99C7-6E6D-069260AB8151}"/>
              </a:ext>
            </a:extLst>
          </p:cNvPr>
          <p:cNvSpPr/>
          <p:nvPr/>
        </p:nvSpPr>
        <p:spPr>
          <a:xfrm>
            <a:off x="8842403"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Perform Gap Analysis</a:t>
            </a:r>
            <a:endParaRPr lang="en-US" sz="900" i="1"/>
          </a:p>
        </p:txBody>
      </p:sp>
      <p:sp>
        <p:nvSpPr>
          <p:cNvPr id="35" name="Rounded Rectangle 34">
            <a:extLst>
              <a:ext uri="{FF2B5EF4-FFF2-40B4-BE49-F238E27FC236}">
                <a16:creationId xmlns:a16="http://schemas.microsoft.com/office/drawing/2014/main" id="{EE0C030D-A699-2B69-4216-949E0C859B78}"/>
              </a:ext>
            </a:extLst>
          </p:cNvPr>
          <p:cNvSpPr/>
          <p:nvPr/>
        </p:nvSpPr>
        <p:spPr>
          <a:xfrm>
            <a:off x="1838570" y="3059760"/>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Define Architectural Approach</a:t>
            </a:r>
            <a:endParaRPr lang="en-US" sz="900"/>
          </a:p>
        </p:txBody>
      </p:sp>
      <p:sp>
        <p:nvSpPr>
          <p:cNvPr id="53" name="Oval 52">
            <a:extLst>
              <a:ext uri="{FF2B5EF4-FFF2-40B4-BE49-F238E27FC236}">
                <a16:creationId xmlns:a16="http://schemas.microsoft.com/office/drawing/2014/main" id="{7B5E8427-C4AD-F23A-3E72-301400D68B13}"/>
              </a:ext>
            </a:extLst>
          </p:cNvPr>
          <p:cNvSpPr/>
          <p:nvPr/>
        </p:nvSpPr>
        <p:spPr>
          <a:xfrm>
            <a:off x="1311288" y="3805075"/>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09F48059-F5EC-306D-C6E1-0C1D4E69587E}"/>
              </a:ext>
            </a:extLst>
          </p:cNvPr>
          <p:cNvSpPr/>
          <p:nvPr/>
        </p:nvSpPr>
        <p:spPr>
          <a:xfrm>
            <a:off x="10585442" y="3773989"/>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865BE172-3C99-1D94-FF40-AE5803824424}"/>
              </a:ext>
            </a:extLst>
          </p:cNvPr>
          <p:cNvCxnSpPr>
            <a:cxnSpLocks/>
            <a:stCxn id="53" idx="6"/>
            <a:endCxn id="35" idx="1"/>
          </p:cNvCxnSpPr>
          <p:nvPr/>
        </p:nvCxnSpPr>
        <p:spPr>
          <a:xfrm>
            <a:off x="1561278" y="3931630"/>
            <a:ext cx="2772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A0161E0D-D43F-B272-08E6-B904BC4B882C}"/>
              </a:ext>
            </a:extLst>
          </p:cNvPr>
          <p:cNvCxnSpPr>
            <a:cxnSpLocks/>
            <a:stCxn id="5" idx="3"/>
            <a:endCxn id="54" idx="2"/>
          </p:cNvCxnSpPr>
          <p:nvPr/>
        </p:nvCxnSpPr>
        <p:spPr>
          <a:xfrm>
            <a:off x="10284541" y="3892155"/>
            <a:ext cx="300901" cy="8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161AF58-3BF1-DE6F-269E-5DDBE98F348E}"/>
              </a:ext>
            </a:extLst>
          </p:cNvPr>
          <p:cNvSpPr txBox="1"/>
          <p:nvPr/>
        </p:nvSpPr>
        <p:spPr>
          <a:xfrm>
            <a:off x="1910127" y="3066881"/>
            <a:ext cx="507017" cy="369332"/>
          </a:xfrm>
          <a:prstGeom prst="rect">
            <a:avLst/>
          </a:prstGeom>
          <a:noFill/>
        </p:spPr>
        <p:txBody>
          <a:bodyPr wrap="square" lIns="91440" tIns="45720" rIns="91440" bIns="45720" rtlCol="0" anchor="t">
            <a:spAutoFit/>
          </a:bodyPr>
          <a:lstStyle/>
          <a:p>
            <a:r>
              <a:rPr lang="en-US">
                <a:solidFill>
                  <a:schemeClr val="bg1"/>
                </a:solidFill>
              </a:rPr>
              <a:t>3.1</a:t>
            </a:r>
          </a:p>
        </p:txBody>
      </p:sp>
      <p:sp>
        <p:nvSpPr>
          <p:cNvPr id="8" name="TextBox 7">
            <a:extLst>
              <a:ext uri="{FF2B5EF4-FFF2-40B4-BE49-F238E27FC236}">
                <a16:creationId xmlns:a16="http://schemas.microsoft.com/office/drawing/2014/main" id="{F40BAA97-BB1F-BAC9-1AC0-C450811018FE}"/>
              </a:ext>
            </a:extLst>
          </p:cNvPr>
          <p:cNvSpPr txBox="1"/>
          <p:nvPr/>
        </p:nvSpPr>
        <p:spPr>
          <a:xfrm>
            <a:off x="3645744" y="3060490"/>
            <a:ext cx="571110" cy="369332"/>
          </a:xfrm>
          <a:prstGeom prst="rect">
            <a:avLst/>
          </a:prstGeom>
          <a:noFill/>
        </p:spPr>
        <p:txBody>
          <a:bodyPr wrap="square" lIns="91440" tIns="45720" rIns="91440" bIns="45720" rtlCol="0" anchor="t">
            <a:spAutoFit/>
          </a:bodyPr>
          <a:lstStyle/>
          <a:p>
            <a:r>
              <a:rPr lang="en-US">
                <a:solidFill>
                  <a:schemeClr val="bg1"/>
                </a:solidFill>
              </a:rPr>
              <a:t>3.2</a:t>
            </a:r>
          </a:p>
        </p:txBody>
      </p:sp>
      <p:sp>
        <p:nvSpPr>
          <p:cNvPr id="9" name="TextBox 8">
            <a:extLst>
              <a:ext uri="{FF2B5EF4-FFF2-40B4-BE49-F238E27FC236}">
                <a16:creationId xmlns:a16="http://schemas.microsoft.com/office/drawing/2014/main" id="{5E0D33CA-E32A-5583-F1F2-233B1D63532B}"/>
              </a:ext>
            </a:extLst>
          </p:cNvPr>
          <p:cNvSpPr txBox="1"/>
          <p:nvPr/>
        </p:nvSpPr>
        <p:spPr>
          <a:xfrm>
            <a:off x="5466111" y="3060490"/>
            <a:ext cx="535503" cy="369332"/>
          </a:xfrm>
          <a:prstGeom prst="rect">
            <a:avLst/>
          </a:prstGeom>
          <a:noFill/>
        </p:spPr>
        <p:txBody>
          <a:bodyPr wrap="square" lIns="91440" tIns="45720" rIns="91440" bIns="45720" rtlCol="0" anchor="t">
            <a:spAutoFit/>
          </a:bodyPr>
          <a:lstStyle/>
          <a:p>
            <a:r>
              <a:rPr lang="en-US">
                <a:solidFill>
                  <a:schemeClr val="bg1"/>
                </a:solidFill>
              </a:rPr>
              <a:t>3.3</a:t>
            </a:r>
          </a:p>
        </p:txBody>
      </p:sp>
      <p:sp>
        <p:nvSpPr>
          <p:cNvPr id="10" name="TextBox 9">
            <a:extLst>
              <a:ext uri="{FF2B5EF4-FFF2-40B4-BE49-F238E27FC236}">
                <a16:creationId xmlns:a16="http://schemas.microsoft.com/office/drawing/2014/main" id="{FF899D25-C9E6-4429-61FA-382C880D82EB}"/>
              </a:ext>
            </a:extLst>
          </p:cNvPr>
          <p:cNvSpPr txBox="1"/>
          <p:nvPr/>
        </p:nvSpPr>
        <p:spPr>
          <a:xfrm>
            <a:off x="8972586" y="3066881"/>
            <a:ext cx="592475" cy="369332"/>
          </a:xfrm>
          <a:prstGeom prst="rect">
            <a:avLst/>
          </a:prstGeom>
          <a:noFill/>
        </p:spPr>
        <p:txBody>
          <a:bodyPr wrap="square" lIns="91440" tIns="45720" rIns="91440" bIns="45720" rtlCol="0" anchor="t">
            <a:spAutoFit/>
          </a:bodyPr>
          <a:lstStyle/>
          <a:p>
            <a:r>
              <a:rPr lang="en-US">
                <a:solidFill>
                  <a:schemeClr val="bg1"/>
                </a:solidFill>
              </a:rPr>
              <a:t>3.5</a:t>
            </a:r>
          </a:p>
        </p:txBody>
      </p:sp>
      <p:sp>
        <p:nvSpPr>
          <p:cNvPr id="15" name="Rounded Rectangle 14">
            <a:extLst>
              <a:ext uri="{FF2B5EF4-FFF2-40B4-BE49-F238E27FC236}">
                <a16:creationId xmlns:a16="http://schemas.microsoft.com/office/drawing/2014/main" id="{36C09E86-F289-D6E8-BDE6-BEEE27A9FF29}"/>
              </a:ext>
            </a:extLst>
          </p:cNvPr>
          <p:cNvSpPr/>
          <p:nvPr/>
        </p:nvSpPr>
        <p:spPr>
          <a:xfrm>
            <a:off x="7099194" y="3020285"/>
            <a:ext cx="1442138"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Align Architecture and Compile Concept of Operations</a:t>
            </a:r>
            <a:endParaRPr lang="en-US" sz="900" i="1"/>
          </a:p>
        </p:txBody>
      </p:sp>
      <p:sp>
        <p:nvSpPr>
          <p:cNvPr id="16" name="TextBox 15">
            <a:extLst>
              <a:ext uri="{FF2B5EF4-FFF2-40B4-BE49-F238E27FC236}">
                <a16:creationId xmlns:a16="http://schemas.microsoft.com/office/drawing/2014/main" id="{DD78D78D-631E-65B7-7DDE-26A1BC108B10}"/>
              </a:ext>
            </a:extLst>
          </p:cNvPr>
          <p:cNvSpPr txBox="1"/>
          <p:nvPr/>
        </p:nvSpPr>
        <p:spPr>
          <a:xfrm>
            <a:off x="7102739" y="3064503"/>
            <a:ext cx="521260" cy="369332"/>
          </a:xfrm>
          <a:prstGeom prst="rect">
            <a:avLst/>
          </a:prstGeom>
          <a:noFill/>
        </p:spPr>
        <p:txBody>
          <a:bodyPr wrap="square" lIns="91440" tIns="45720" rIns="91440" bIns="45720" rtlCol="0" anchor="t">
            <a:spAutoFit/>
          </a:bodyPr>
          <a:lstStyle/>
          <a:p>
            <a:r>
              <a:rPr lang="en-US">
                <a:solidFill>
                  <a:schemeClr val="bg1"/>
                </a:solidFill>
              </a:rPr>
              <a:t>3.4</a:t>
            </a:r>
          </a:p>
        </p:txBody>
      </p:sp>
      <p:sp>
        <p:nvSpPr>
          <p:cNvPr id="17" name="Right Arrow 16">
            <a:extLst>
              <a:ext uri="{FF2B5EF4-FFF2-40B4-BE49-F238E27FC236}">
                <a16:creationId xmlns:a16="http://schemas.microsoft.com/office/drawing/2014/main" id="{2EE3623F-F9C0-ECFD-EA7E-B570B6708187}"/>
              </a:ext>
            </a:extLst>
          </p:cNvPr>
          <p:cNvSpPr/>
          <p:nvPr/>
        </p:nvSpPr>
        <p:spPr>
          <a:xfrm>
            <a:off x="8541502" y="3784116"/>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A9D6CC9A-4AB6-77CF-304C-ED1BBD5222E1}"/>
              </a:ext>
            </a:extLst>
          </p:cNvPr>
          <p:cNvSpPr/>
          <p:nvPr/>
        </p:nvSpPr>
        <p:spPr>
          <a:xfrm>
            <a:off x="6800098" y="3782589"/>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B181AB6D-EF98-75BE-CD25-1D8713B88B2F}"/>
              </a:ext>
            </a:extLst>
          </p:cNvPr>
          <p:cNvSpPr/>
          <p:nvPr/>
        </p:nvSpPr>
        <p:spPr>
          <a:xfrm>
            <a:off x="5038858" y="3794243"/>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DB9BD282-0395-82CA-791D-3ABF3702E3C0}"/>
              </a:ext>
            </a:extLst>
          </p:cNvPr>
          <p:cNvSpPr/>
          <p:nvPr/>
        </p:nvSpPr>
        <p:spPr>
          <a:xfrm>
            <a:off x="3285247" y="3804262"/>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Elbow Connector 10">
            <a:extLst>
              <a:ext uri="{FF2B5EF4-FFF2-40B4-BE49-F238E27FC236}">
                <a16:creationId xmlns:a16="http://schemas.microsoft.com/office/drawing/2014/main" id="{0B176E6D-014D-516C-069E-FAD3533DF59C}"/>
              </a:ext>
            </a:extLst>
          </p:cNvPr>
          <p:cNvCxnSpPr>
            <a:stCxn id="5" idx="0"/>
            <a:endCxn id="4" idx="0"/>
          </p:cNvCxnSpPr>
          <p:nvPr/>
        </p:nvCxnSpPr>
        <p:spPr>
          <a:xfrm rot="16200000" flipH="1" flipV="1">
            <a:off x="7815511" y="1280712"/>
            <a:ext cx="8389" cy="3487533"/>
          </a:xfrm>
          <a:prstGeom prst="bentConnector3">
            <a:avLst>
              <a:gd name="adj1" fmla="val -680627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8202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29229-A203-D3A6-2B97-AB3699477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43D93-6937-EC3B-D7E9-EEB900B2F9D5}"/>
              </a:ext>
            </a:extLst>
          </p:cNvPr>
          <p:cNvSpPr>
            <a:spLocks noGrp="1"/>
          </p:cNvSpPr>
          <p:nvPr>
            <p:ph type="title"/>
          </p:nvPr>
        </p:nvSpPr>
        <p:spPr/>
        <p:txBody>
          <a:bodyPr>
            <a:normAutofit/>
          </a:bodyPr>
          <a:lstStyle/>
          <a:p>
            <a:r>
              <a:rPr lang="en-US"/>
              <a:t>3.4 Overview</a:t>
            </a:r>
          </a:p>
        </p:txBody>
      </p:sp>
      <p:sp>
        <p:nvSpPr>
          <p:cNvPr id="3" name="Content Placeholder 2">
            <a:extLst>
              <a:ext uri="{FF2B5EF4-FFF2-40B4-BE49-F238E27FC236}">
                <a16:creationId xmlns:a16="http://schemas.microsoft.com/office/drawing/2014/main" id="{A332CF4D-95CA-1AFB-2062-2DC9326EF546}"/>
              </a:ext>
            </a:extLst>
          </p:cNvPr>
          <p:cNvSpPr>
            <a:spLocks noGrp="1"/>
          </p:cNvSpPr>
          <p:nvPr>
            <p:ph idx="1"/>
          </p:nvPr>
        </p:nvSpPr>
        <p:spPr/>
        <p:txBody>
          <a:bodyPr vert="horz" lIns="91440" tIns="45720" rIns="91440" bIns="45720" rtlCol="0" anchor="t">
            <a:normAutofit/>
          </a:bodyPr>
          <a:lstStyle/>
          <a:p>
            <a:pPr marL="0" indent="0">
              <a:buNone/>
            </a:pPr>
            <a:r>
              <a:rPr lang="en-US" b="1"/>
              <a:t>Purpose</a:t>
            </a:r>
          </a:p>
          <a:p>
            <a:pPr lvl="1"/>
            <a:r>
              <a:rPr lang="en-US"/>
              <a:t>Align the business, information and technical architecture to develop a comprehensive view of the SMA enterprise architecture. </a:t>
            </a:r>
          </a:p>
          <a:p>
            <a:pPr marL="0" indent="0">
              <a:buNone/>
            </a:pPr>
            <a:r>
              <a:rPr lang="en-US" b="1"/>
              <a:t>Goal</a:t>
            </a:r>
          </a:p>
          <a:p>
            <a:pPr lvl="1"/>
            <a:r>
              <a:rPr lang="en-US"/>
              <a:t>Ensure that the information and technical architecture supports the business architecture and the ability for the SMA to reach its desired goals and outcomes. </a:t>
            </a:r>
          </a:p>
          <a:p>
            <a:pPr marL="0" indent="0">
              <a:buNone/>
            </a:pPr>
            <a:r>
              <a:rPr lang="en-US" b="1"/>
              <a:t>Triggers</a:t>
            </a:r>
          </a:p>
          <a:p>
            <a:pPr lvl="1"/>
            <a:r>
              <a:rPr lang="en-US"/>
              <a:t>Business, Information and Technical Baseline and Target Architectures established.</a:t>
            </a:r>
          </a:p>
          <a:p>
            <a:pPr marL="0" indent="0">
              <a:buNone/>
            </a:pPr>
            <a:r>
              <a:rPr lang="en-US" b="1"/>
              <a:t>Output</a:t>
            </a:r>
          </a:p>
          <a:p>
            <a:pPr lvl="1"/>
            <a:r>
              <a:rPr lang="en-US"/>
              <a:t>Concept of Operations </a:t>
            </a:r>
          </a:p>
        </p:txBody>
      </p:sp>
    </p:spTree>
    <p:extLst>
      <p:ext uri="{BB962C8B-B14F-4D97-AF65-F5344CB8AC3E}">
        <p14:creationId xmlns:p14="http://schemas.microsoft.com/office/powerpoint/2010/main" val="23977978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4D813-2B8F-F404-90EF-B6E215D9F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2AA2C-7410-421F-9842-CC30522B7E4F}"/>
              </a:ext>
            </a:extLst>
          </p:cNvPr>
          <p:cNvSpPr>
            <a:spLocks noGrp="1"/>
          </p:cNvSpPr>
          <p:nvPr>
            <p:ph type="title"/>
          </p:nvPr>
        </p:nvSpPr>
        <p:spPr/>
        <p:txBody>
          <a:bodyPr>
            <a:normAutofit/>
          </a:bodyPr>
          <a:lstStyle/>
          <a:p>
            <a:r>
              <a:rPr lang="en-US"/>
              <a:t>3.4 Activities</a:t>
            </a:r>
          </a:p>
        </p:txBody>
      </p:sp>
      <p:sp>
        <p:nvSpPr>
          <p:cNvPr id="3" name="Content Placeholder 2">
            <a:extLst>
              <a:ext uri="{FF2B5EF4-FFF2-40B4-BE49-F238E27FC236}">
                <a16:creationId xmlns:a16="http://schemas.microsoft.com/office/drawing/2014/main" id="{B351BEF3-9F0E-0D52-3FB3-8580ADE558B8}"/>
              </a:ext>
            </a:extLst>
          </p:cNvPr>
          <p:cNvSpPr>
            <a:spLocks noGrp="1"/>
          </p:cNvSpPr>
          <p:nvPr>
            <p:ph idx="1"/>
          </p:nvPr>
        </p:nvSpPr>
        <p:spPr/>
        <p:txBody>
          <a:bodyPr vert="horz" lIns="91440" tIns="45720" rIns="91440" bIns="45720" rtlCol="0" anchor="t">
            <a:normAutofit/>
          </a:bodyPr>
          <a:lstStyle/>
          <a:p>
            <a:pPr marL="0" indent="0">
              <a:buNone/>
            </a:pPr>
            <a:r>
              <a:rPr lang="en-US" b="1"/>
              <a:t>Activities</a:t>
            </a:r>
          </a:p>
          <a:p>
            <a:pPr marL="914400" lvl="1" indent="-457200">
              <a:buFont typeface="+mj-lt"/>
              <a:buAutoNum type="arabicPeriod"/>
            </a:pPr>
            <a:r>
              <a:rPr lang="en-US"/>
              <a:t>Align information architecture to business processes and policies.</a:t>
            </a:r>
          </a:p>
          <a:p>
            <a:pPr marL="914400" lvl="1" indent="-457200">
              <a:buFont typeface="+mj-lt"/>
              <a:buAutoNum type="arabicPeriod"/>
            </a:pPr>
            <a:r>
              <a:rPr lang="en-US"/>
              <a:t>Align information architecture to applications.</a:t>
            </a:r>
          </a:p>
          <a:p>
            <a:pPr marL="914400" lvl="1" indent="-457200">
              <a:buClr>
                <a:srgbClr val="9E3611"/>
              </a:buClr>
              <a:buAutoNum type="arabicPeriod"/>
            </a:pPr>
            <a:r>
              <a:rPr lang="en-US">
                <a:ea typeface="+mn-lt"/>
                <a:cs typeface="+mn-lt"/>
              </a:rPr>
              <a:t>Map the technology components to technical capabilities</a:t>
            </a:r>
          </a:p>
          <a:p>
            <a:pPr marL="914400" lvl="1" indent="-457200">
              <a:buClr>
                <a:srgbClr val="9E3611"/>
              </a:buClr>
              <a:buAutoNum type="arabicPeriod"/>
            </a:pPr>
            <a:r>
              <a:rPr lang="en-US">
                <a:ea typeface="+mn-lt"/>
                <a:cs typeface="+mn-lt"/>
              </a:rPr>
              <a:t>Map the applications to Business capabilities and business processes</a:t>
            </a:r>
          </a:p>
          <a:p>
            <a:pPr marL="914400" lvl="1" indent="-457200">
              <a:buClr>
                <a:srgbClr val="9E3611"/>
              </a:buClr>
              <a:buAutoNum type="arabicPeriod"/>
            </a:pPr>
            <a:r>
              <a:rPr lang="en-US">
                <a:ea typeface="+mn-lt"/>
                <a:cs typeface="+mn-lt"/>
              </a:rPr>
              <a:t>Map the target data lineage to applications</a:t>
            </a:r>
          </a:p>
          <a:p>
            <a:pPr marL="914400" lvl="1" indent="-457200">
              <a:buClr>
                <a:srgbClr val="9E3611"/>
              </a:buClr>
              <a:buAutoNum type="arabicPeriod"/>
            </a:pPr>
            <a:r>
              <a:rPr lang="en-US">
                <a:ea typeface="+mn-lt"/>
                <a:cs typeface="+mn-lt"/>
              </a:rPr>
              <a:t>Define target integration architecture (API first, messaging)</a:t>
            </a:r>
          </a:p>
          <a:p>
            <a:pPr marL="914400" lvl="1" indent="-457200">
              <a:buClr>
                <a:srgbClr val="9E3611"/>
              </a:buClr>
              <a:buAutoNum type="arabicPeriod"/>
            </a:pPr>
            <a:r>
              <a:rPr lang="en-US">
                <a:ea typeface="+mn-lt"/>
                <a:cs typeface="+mn-lt"/>
              </a:rPr>
              <a:t>Define the architectural requirements for the capability to achieve the target maturity</a:t>
            </a:r>
          </a:p>
          <a:p>
            <a:pPr marL="914400" lvl="1" indent="-457200">
              <a:buClr>
                <a:srgbClr val="9E3611"/>
              </a:buClr>
              <a:buAutoNum type="arabicPeriod"/>
            </a:pPr>
            <a:r>
              <a:rPr lang="en-US">
                <a:ea typeface="+mn-lt"/>
                <a:cs typeface="+mn-lt"/>
              </a:rPr>
              <a:t>Develop Concept of Operations</a:t>
            </a:r>
          </a:p>
        </p:txBody>
      </p:sp>
    </p:spTree>
    <p:extLst>
      <p:ext uri="{BB962C8B-B14F-4D97-AF65-F5344CB8AC3E}">
        <p14:creationId xmlns:p14="http://schemas.microsoft.com/office/powerpoint/2010/main" val="37183224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8EF7A-2934-16FB-9FCC-E8BCB8A186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0F3C4-7A7E-93ED-B7CF-755D84E57BF2}"/>
              </a:ext>
            </a:extLst>
          </p:cNvPr>
          <p:cNvSpPr>
            <a:spLocks noGrp="1"/>
          </p:cNvSpPr>
          <p:nvPr>
            <p:ph type="title"/>
          </p:nvPr>
        </p:nvSpPr>
        <p:spPr/>
        <p:txBody>
          <a:bodyPr/>
          <a:lstStyle/>
          <a:p>
            <a:r>
              <a:rPr lang="en-US"/>
              <a:t>Define Capability Architecture</a:t>
            </a:r>
          </a:p>
        </p:txBody>
      </p:sp>
      <p:sp>
        <p:nvSpPr>
          <p:cNvPr id="3" name="Rounded Rectangle 2">
            <a:extLst>
              <a:ext uri="{FF2B5EF4-FFF2-40B4-BE49-F238E27FC236}">
                <a16:creationId xmlns:a16="http://schemas.microsoft.com/office/drawing/2014/main" id="{2D00D55D-3B5D-3030-A7B1-0D3268F86186}"/>
              </a:ext>
            </a:extLst>
          </p:cNvPr>
          <p:cNvSpPr/>
          <p:nvPr/>
        </p:nvSpPr>
        <p:spPr>
          <a:xfrm>
            <a:off x="3596720" y="3046248"/>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Capability Architecture</a:t>
            </a:r>
          </a:p>
        </p:txBody>
      </p:sp>
      <p:sp>
        <p:nvSpPr>
          <p:cNvPr id="4" name="Rounded Rectangle 3">
            <a:extLst>
              <a:ext uri="{FF2B5EF4-FFF2-40B4-BE49-F238E27FC236}">
                <a16:creationId xmlns:a16="http://schemas.microsoft.com/office/drawing/2014/main" id="{E3C65ABC-E9FA-FAA3-AC30-76C0EF2885FD}"/>
              </a:ext>
            </a:extLst>
          </p:cNvPr>
          <p:cNvSpPr/>
          <p:nvPr/>
        </p:nvSpPr>
        <p:spPr>
          <a:xfrm>
            <a:off x="5354870" y="3028674"/>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Target Capability Architecture</a:t>
            </a:r>
          </a:p>
        </p:txBody>
      </p:sp>
      <p:sp>
        <p:nvSpPr>
          <p:cNvPr id="5" name="Rounded Rectangle 4">
            <a:extLst>
              <a:ext uri="{FF2B5EF4-FFF2-40B4-BE49-F238E27FC236}">
                <a16:creationId xmlns:a16="http://schemas.microsoft.com/office/drawing/2014/main" id="{9057DBDB-48DF-68C2-7D87-66724AB7085C}"/>
              </a:ext>
            </a:extLst>
          </p:cNvPr>
          <p:cNvSpPr/>
          <p:nvPr/>
        </p:nvSpPr>
        <p:spPr>
          <a:xfrm>
            <a:off x="8842403" y="3020285"/>
            <a:ext cx="1442138"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Perform Gap Analysis</a:t>
            </a:r>
            <a:endParaRPr lang="en-US" sz="900" i="1"/>
          </a:p>
        </p:txBody>
      </p:sp>
      <p:sp>
        <p:nvSpPr>
          <p:cNvPr id="35" name="Rounded Rectangle 34">
            <a:extLst>
              <a:ext uri="{FF2B5EF4-FFF2-40B4-BE49-F238E27FC236}">
                <a16:creationId xmlns:a16="http://schemas.microsoft.com/office/drawing/2014/main" id="{67AD146A-3B95-B648-7FD5-BA039CBDC8A6}"/>
              </a:ext>
            </a:extLst>
          </p:cNvPr>
          <p:cNvSpPr/>
          <p:nvPr/>
        </p:nvSpPr>
        <p:spPr>
          <a:xfrm>
            <a:off x="1838570" y="3059760"/>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Define Architectural Approach</a:t>
            </a:r>
            <a:endParaRPr lang="en-US" sz="900"/>
          </a:p>
        </p:txBody>
      </p:sp>
      <p:sp>
        <p:nvSpPr>
          <p:cNvPr id="53" name="Oval 52">
            <a:extLst>
              <a:ext uri="{FF2B5EF4-FFF2-40B4-BE49-F238E27FC236}">
                <a16:creationId xmlns:a16="http://schemas.microsoft.com/office/drawing/2014/main" id="{56C63287-F960-B788-03A2-E84E352910D3}"/>
              </a:ext>
            </a:extLst>
          </p:cNvPr>
          <p:cNvSpPr/>
          <p:nvPr/>
        </p:nvSpPr>
        <p:spPr>
          <a:xfrm>
            <a:off x="1311288" y="3805075"/>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E812036-C72A-999F-025A-3F6397B7EB41}"/>
              </a:ext>
            </a:extLst>
          </p:cNvPr>
          <p:cNvSpPr/>
          <p:nvPr/>
        </p:nvSpPr>
        <p:spPr>
          <a:xfrm>
            <a:off x="10585442" y="3773989"/>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5E36F07B-153F-DA0E-BE2E-79E3842C4E97}"/>
              </a:ext>
            </a:extLst>
          </p:cNvPr>
          <p:cNvCxnSpPr>
            <a:cxnSpLocks/>
            <a:stCxn id="53" idx="6"/>
            <a:endCxn id="35" idx="1"/>
          </p:cNvCxnSpPr>
          <p:nvPr/>
        </p:nvCxnSpPr>
        <p:spPr>
          <a:xfrm>
            <a:off x="1561278" y="3931630"/>
            <a:ext cx="2772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9806CA14-DE70-E768-BDC2-5A1B467B4658}"/>
              </a:ext>
            </a:extLst>
          </p:cNvPr>
          <p:cNvCxnSpPr>
            <a:cxnSpLocks/>
            <a:stCxn id="5" idx="3"/>
            <a:endCxn id="54" idx="2"/>
          </p:cNvCxnSpPr>
          <p:nvPr/>
        </p:nvCxnSpPr>
        <p:spPr>
          <a:xfrm>
            <a:off x="10284541" y="3892155"/>
            <a:ext cx="300901" cy="8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F547EF4-3B57-B18D-0364-0FE2E0BE3938}"/>
              </a:ext>
            </a:extLst>
          </p:cNvPr>
          <p:cNvSpPr txBox="1"/>
          <p:nvPr/>
        </p:nvSpPr>
        <p:spPr>
          <a:xfrm>
            <a:off x="1910127" y="3066881"/>
            <a:ext cx="507017" cy="369332"/>
          </a:xfrm>
          <a:prstGeom prst="rect">
            <a:avLst/>
          </a:prstGeom>
          <a:noFill/>
        </p:spPr>
        <p:txBody>
          <a:bodyPr wrap="square" lIns="91440" tIns="45720" rIns="91440" bIns="45720" rtlCol="0" anchor="t">
            <a:spAutoFit/>
          </a:bodyPr>
          <a:lstStyle/>
          <a:p>
            <a:r>
              <a:rPr lang="en-US">
                <a:solidFill>
                  <a:schemeClr val="bg1"/>
                </a:solidFill>
              </a:rPr>
              <a:t>3.1</a:t>
            </a:r>
          </a:p>
        </p:txBody>
      </p:sp>
      <p:sp>
        <p:nvSpPr>
          <p:cNvPr id="8" name="TextBox 7">
            <a:extLst>
              <a:ext uri="{FF2B5EF4-FFF2-40B4-BE49-F238E27FC236}">
                <a16:creationId xmlns:a16="http://schemas.microsoft.com/office/drawing/2014/main" id="{AC39A9B8-2BB6-F203-6D81-907C40904703}"/>
              </a:ext>
            </a:extLst>
          </p:cNvPr>
          <p:cNvSpPr txBox="1"/>
          <p:nvPr/>
        </p:nvSpPr>
        <p:spPr>
          <a:xfrm>
            <a:off x="3645744" y="3060490"/>
            <a:ext cx="571110" cy="369332"/>
          </a:xfrm>
          <a:prstGeom prst="rect">
            <a:avLst/>
          </a:prstGeom>
          <a:noFill/>
        </p:spPr>
        <p:txBody>
          <a:bodyPr wrap="square" lIns="91440" tIns="45720" rIns="91440" bIns="45720" rtlCol="0" anchor="t">
            <a:spAutoFit/>
          </a:bodyPr>
          <a:lstStyle/>
          <a:p>
            <a:r>
              <a:rPr lang="en-US">
                <a:solidFill>
                  <a:schemeClr val="bg1"/>
                </a:solidFill>
              </a:rPr>
              <a:t>3.2</a:t>
            </a:r>
          </a:p>
        </p:txBody>
      </p:sp>
      <p:sp>
        <p:nvSpPr>
          <p:cNvPr id="9" name="TextBox 8">
            <a:extLst>
              <a:ext uri="{FF2B5EF4-FFF2-40B4-BE49-F238E27FC236}">
                <a16:creationId xmlns:a16="http://schemas.microsoft.com/office/drawing/2014/main" id="{DAF66DE5-7F2A-A59A-B6F4-031D26A25A25}"/>
              </a:ext>
            </a:extLst>
          </p:cNvPr>
          <p:cNvSpPr txBox="1"/>
          <p:nvPr/>
        </p:nvSpPr>
        <p:spPr>
          <a:xfrm>
            <a:off x="5466111" y="3060490"/>
            <a:ext cx="535503" cy="369332"/>
          </a:xfrm>
          <a:prstGeom prst="rect">
            <a:avLst/>
          </a:prstGeom>
          <a:noFill/>
        </p:spPr>
        <p:txBody>
          <a:bodyPr wrap="square" lIns="91440" tIns="45720" rIns="91440" bIns="45720" rtlCol="0" anchor="t">
            <a:spAutoFit/>
          </a:bodyPr>
          <a:lstStyle/>
          <a:p>
            <a:r>
              <a:rPr lang="en-US">
                <a:solidFill>
                  <a:schemeClr val="bg1"/>
                </a:solidFill>
              </a:rPr>
              <a:t>3.3</a:t>
            </a:r>
          </a:p>
        </p:txBody>
      </p:sp>
      <p:sp>
        <p:nvSpPr>
          <p:cNvPr id="10" name="TextBox 9">
            <a:extLst>
              <a:ext uri="{FF2B5EF4-FFF2-40B4-BE49-F238E27FC236}">
                <a16:creationId xmlns:a16="http://schemas.microsoft.com/office/drawing/2014/main" id="{9F4914E5-8785-3C1D-F7C6-24195A81E17B}"/>
              </a:ext>
            </a:extLst>
          </p:cNvPr>
          <p:cNvSpPr txBox="1"/>
          <p:nvPr/>
        </p:nvSpPr>
        <p:spPr>
          <a:xfrm>
            <a:off x="8972586" y="3066881"/>
            <a:ext cx="592475" cy="369332"/>
          </a:xfrm>
          <a:prstGeom prst="rect">
            <a:avLst/>
          </a:prstGeom>
          <a:noFill/>
        </p:spPr>
        <p:txBody>
          <a:bodyPr wrap="square" lIns="91440" tIns="45720" rIns="91440" bIns="45720" rtlCol="0" anchor="t">
            <a:spAutoFit/>
          </a:bodyPr>
          <a:lstStyle/>
          <a:p>
            <a:r>
              <a:rPr lang="en-US">
                <a:solidFill>
                  <a:schemeClr val="bg1"/>
                </a:solidFill>
              </a:rPr>
              <a:t>3.5</a:t>
            </a:r>
          </a:p>
        </p:txBody>
      </p:sp>
      <p:sp>
        <p:nvSpPr>
          <p:cNvPr id="15" name="Rounded Rectangle 14">
            <a:extLst>
              <a:ext uri="{FF2B5EF4-FFF2-40B4-BE49-F238E27FC236}">
                <a16:creationId xmlns:a16="http://schemas.microsoft.com/office/drawing/2014/main" id="{92E0B695-0B0C-3C24-F0C1-E281D166AF06}"/>
              </a:ext>
            </a:extLst>
          </p:cNvPr>
          <p:cNvSpPr/>
          <p:nvPr/>
        </p:nvSpPr>
        <p:spPr>
          <a:xfrm>
            <a:off x="7099194" y="3020285"/>
            <a:ext cx="1442138" cy="174374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Align Architecture and Compile Concept of Operations</a:t>
            </a:r>
            <a:endParaRPr lang="en-US" sz="900" i="1"/>
          </a:p>
        </p:txBody>
      </p:sp>
      <p:sp>
        <p:nvSpPr>
          <p:cNvPr id="16" name="TextBox 15">
            <a:extLst>
              <a:ext uri="{FF2B5EF4-FFF2-40B4-BE49-F238E27FC236}">
                <a16:creationId xmlns:a16="http://schemas.microsoft.com/office/drawing/2014/main" id="{9A626D0C-DBDA-4B80-2D96-306073F7D97A}"/>
              </a:ext>
            </a:extLst>
          </p:cNvPr>
          <p:cNvSpPr txBox="1"/>
          <p:nvPr/>
        </p:nvSpPr>
        <p:spPr>
          <a:xfrm>
            <a:off x="7102739" y="3064503"/>
            <a:ext cx="521260" cy="369332"/>
          </a:xfrm>
          <a:prstGeom prst="rect">
            <a:avLst/>
          </a:prstGeom>
          <a:noFill/>
        </p:spPr>
        <p:txBody>
          <a:bodyPr wrap="square" lIns="91440" tIns="45720" rIns="91440" bIns="45720" rtlCol="0" anchor="t">
            <a:spAutoFit/>
          </a:bodyPr>
          <a:lstStyle/>
          <a:p>
            <a:r>
              <a:rPr lang="en-US">
                <a:solidFill>
                  <a:schemeClr val="bg1"/>
                </a:solidFill>
              </a:rPr>
              <a:t>3.4</a:t>
            </a:r>
          </a:p>
        </p:txBody>
      </p:sp>
      <p:sp>
        <p:nvSpPr>
          <p:cNvPr id="17" name="Right Arrow 16">
            <a:extLst>
              <a:ext uri="{FF2B5EF4-FFF2-40B4-BE49-F238E27FC236}">
                <a16:creationId xmlns:a16="http://schemas.microsoft.com/office/drawing/2014/main" id="{88DC549A-0473-6F96-352B-5E883A222822}"/>
              </a:ext>
            </a:extLst>
          </p:cNvPr>
          <p:cNvSpPr/>
          <p:nvPr/>
        </p:nvSpPr>
        <p:spPr>
          <a:xfrm>
            <a:off x="8541502" y="3784116"/>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967D5687-8ECA-4C5C-C1FC-D9BD68628204}"/>
              </a:ext>
            </a:extLst>
          </p:cNvPr>
          <p:cNvSpPr/>
          <p:nvPr/>
        </p:nvSpPr>
        <p:spPr>
          <a:xfrm>
            <a:off x="6800098" y="3782589"/>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9B86C526-DAFB-6C79-22A6-0EF2C08E00D9}"/>
              </a:ext>
            </a:extLst>
          </p:cNvPr>
          <p:cNvSpPr/>
          <p:nvPr/>
        </p:nvSpPr>
        <p:spPr>
          <a:xfrm>
            <a:off x="5038858" y="3794243"/>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DF055FB6-8F03-000A-2CF3-35CF63DB1164}"/>
              </a:ext>
            </a:extLst>
          </p:cNvPr>
          <p:cNvSpPr/>
          <p:nvPr/>
        </p:nvSpPr>
        <p:spPr>
          <a:xfrm>
            <a:off x="3285247" y="3804262"/>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Elbow Connector 10">
            <a:extLst>
              <a:ext uri="{FF2B5EF4-FFF2-40B4-BE49-F238E27FC236}">
                <a16:creationId xmlns:a16="http://schemas.microsoft.com/office/drawing/2014/main" id="{6175C5EB-88C3-53B5-F541-026ECC37E3E5}"/>
              </a:ext>
            </a:extLst>
          </p:cNvPr>
          <p:cNvCxnSpPr>
            <a:stCxn id="5" idx="0"/>
            <a:endCxn id="4" idx="0"/>
          </p:cNvCxnSpPr>
          <p:nvPr/>
        </p:nvCxnSpPr>
        <p:spPr>
          <a:xfrm rot="16200000" flipH="1" flipV="1">
            <a:off x="7815511" y="1280712"/>
            <a:ext cx="8389" cy="3487533"/>
          </a:xfrm>
          <a:prstGeom prst="bentConnector3">
            <a:avLst>
              <a:gd name="adj1" fmla="val -680627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8917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F5A26-3EDC-C905-92BA-409996A05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75BB3-548A-A269-17D9-5E699D6D6A86}"/>
              </a:ext>
            </a:extLst>
          </p:cNvPr>
          <p:cNvSpPr>
            <a:spLocks noGrp="1"/>
          </p:cNvSpPr>
          <p:nvPr>
            <p:ph type="title"/>
          </p:nvPr>
        </p:nvSpPr>
        <p:spPr/>
        <p:txBody>
          <a:bodyPr/>
          <a:lstStyle/>
          <a:p>
            <a:r>
              <a:rPr lang="en-US"/>
              <a:t>3.5A Perform Gap Analysis Overview</a:t>
            </a:r>
          </a:p>
        </p:txBody>
      </p:sp>
      <p:sp>
        <p:nvSpPr>
          <p:cNvPr id="7" name="Content Placeholder 2">
            <a:extLst>
              <a:ext uri="{FF2B5EF4-FFF2-40B4-BE49-F238E27FC236}">
                <a16:creationId xmlns:a16="http://schemas.microsoft.com/office/drawing/2014/main" id="{98ABE5D0-950B-A984-E81F-A89E4B4128FE}"/>
              </a:ext>
            </a:extLst>
          </p:cNvPr>
          <p:cNvSpPr>
            <a:spLocks noGrp="1"/>
          </p:cNvSpPr>
          <p:nvPr>
            <p:ph idx="1"/>
          </p:nvPr>
        </p:nvSpPr>
        <p:spPr>
          <a:xfrm>
            <a:off x="1069848" y="2121408"/>
            <a:ext cx="10058400" cy="4050792"/>
          </a:xfrm>
        </p:spPr>
        <p:txBody>
          <a:bodyPr>
            <a:normAutofit/>
          </a:bodyPr>
          <a:lstStyle/>
          <a:p>
            <a:pPr marL="0" indent="0">
              <a:buNone/>
            </a:pPr>
            <a:r>
              <a:rPr lang="en-US" b="1"/>
              <a:t>Purpose</a:t>
            </a:r>
          </a:p>
          <a:p>
            <a:pPr lvl="1"/>
            <a:r>
              <a:rPr lang="en-US"/>
              <a:t>Identify gaps in the SMA architecture and identify opportunities for filling the gaps. </a:t>
            </a:r>
          </a:p>
          <a:p>
            <a:pPr marL="0" indent="0">
              <a:buNone/>
            </a:pPr>
            <a:r>
              <a:rPr lang="en-US" b="1"/>
              <a:t>Goal</a:t>
            </a:r>
          </a:p>
          <a:p>
            <a:pPr lvl="1"/>
            <a:r>
              <a:rPr lang="en-US"/>
              <a:t>Define requirements and expectations for the SMA to consider to achieve their desired outcomes. </a:t>
            </a:r>
          </a:p>
          <a:p>
            <a:pPr marL="0" indent="0">
              <a:buNone/>
            </a:pPr>
            <a:r>
              <a:rPr lang="en-US" b="1"/>
              <a:t>Triggers</a:t>
            </a:r>
          </a:p>
          <a:p>
            <a:pPr lvl="1"/>
            <a:r>
              <a:rPr lang="en-US"/>
              <a:t>Business, Information and Technical Architecture Alignment established</a:t>
            </a:r>
          </a:p>
          <a:p>
            <a:pPr marL="0" indent="0">
              <a:buNone/>
            </a:pPr>
            <a:r>
              <a:rPr lang="en-US" b="1"/>
              <a:t>Output</a:t>
            </a:r>
          </a:p>
          <a:p>
            <a:pPr lvl="1"/>
            <a:r>
              <a:rPr lang="en-US"/>
              <a:t>Gap Analysis</a:t>
            </a:r>
          </a:p>
          <a:p>
            <a:pPr lvl="1"/>
            <a:r>
              <a:rPr lang="en-US"/>
              <a:t>Architecture Requirements</a:t>
            </a:r>
          </a:p>
        </p:txBody>
      </p:sp>
    </p:spTree>
    <p:extLst>
      <p:ext uri="{BB962C8B-B14F-4D97-AF65-F5344CB8AC3E}">
        <p14:creationId xmlns:p14="http://schemas.microsoft.com/office/powerpoint/2010/main" val="15727256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00B2F-37E8-5599-D827-294A666A9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3026C-A9A2-9FD1-1E5A-9C4370D783A4}"/>
              </a:ext>
            </a:extLst>
          </p:cNvPr>
          <p:cNvSpPr>
            <a:spLocks noGrp="1"/>
          </p:cNvSpPr>
          <p:nvPr>
            <p:ph type="title"/>
          </p:nvPr>
        </p:nvSpPr>
        <p:spPr/>
        <p:txBody>
          <a:bodyPr>
            <a:normAutofit/>
          </a:bodyPr>
          <a:lstStyle/>
          <a:p>
            <a:r>
              <a:rPr lang="en-US"/>
              <a:t>3.5A Activities</a:t>
            </a:r>
          </a:p>
        </p:txBody>
      </p:sp>
      <p:sp>
        <p:nvSpPr>
          <p:cNvPr id="3" name="Content Placeholder 2">
            <a:extLst>
              <a:ext uri="{FF2B5EF4-FFF2-40B4-BE49-F238E27FC236}">
                <a16:creationId xmlns:a16="http://schemas.microsoft.com/office/drawing/2014/main" id="{F3750745-7E95-19DA-067A-B805DA12E2BC}"/>
              </a:ext>
            </a:extLst>
          </p:cNvPr>
          <p:cNvSpPr>
            <a:spLocks noGrp="1"/>
          </p:cNvSpPr>
          <p:nvPr>
            <p:ph idx="1"/>
          </p:nvPr>
        </p:nvSpPr>
        <p:spPr/>
        <p:txBody>
          <a:bodyPr vert="horz" lIns="91440" tIns="45720" rIns="91440" bIns="45720" rtlCol="0" anchor="t">
            <a:normAutofit/>
          </a:bodyPr>
          <a:lstStyle/>
          <a:p>
            <a:pPr marL="0" indent="0">
              <a:buNone/>
            </a:pPr>
            <a:r>
              <a:rPr lang="en-US" b="1"/>
              <a:t>Activities</a:t>
            </a:r>
          </a:p>
          <a:p>
            <a:pPr marL="914400" indent="-457200">
              <a:lnSpc>
                <a:spcPct val="80000"/>
              </a:lnSpc>
              <a:buClr>
                <a:srgbClr val="9E3611"/>
              </a:buClr>
              <a:buAutoNum type="arabicPeriod"/>
            </a:pPr>
            <a:r>
              <a:rPr lang="en-US" sz="2300"/>
              <a:t>Compare baseline process activities to target process activities and identify gaps and reuse opportunities.</a:t>
            </a:r>
          </a:p>
          <a:p>
            <a:pPr marL="914400" lvl="1" indent="-457200">
              <a:lnSpc>
                <a:spcPct val="80000"/>
              </a:lnSpc>
              <a:buClr>
                <a:srgbClr val="9E3611"/>
              </a:buClr>
              <a:buAutoNum type="arabicPeriod"/>
            </a:pPr>
            <a:r>
              <a:rPr lang="en-US" sz="2300"/>
              <a:t>Compare baseline business process roles to target business process roles and identify gaps and reuse opportunities.</a:t>
            </a:r>
            <a:endParaRPr lang="en-US"/>
          </a:p>
          <a:p>
            <a:pPr marL="914400" lvl="1" indent="-457200">
              <a:lnSpc>
                <a:spcPct val="80000"/>
              </a:lnSpc>
              <a:buClr>
                <a:srgbClr val="9E3611"/>
              </a:buClr>
              <a:buAutoNum type="arabicPeriod"/>
            </a:pPr>
            <a:r>
              <a:rPr lang="en-US" sz="2300"/>
              <a:t>Compare baseline business process metrics and measures to target business process metrics and measures and identify gaps.</a:t>
            </a:r>
            <a:endParaRPr lang="en-US"/>
          </a:p>
          <a:p>
            <a:pPr marL="914400" lvl="1" indent="-457200">
              <a:lnSpc>
                <a:spcPct val="80000"/>
              </a:lnSpc>
              <a:buClr>
                <a:srgbClr val="9E3611"/>
              </a:buClr>
              <a:buAutoNum type="arabicPeriod"/>
            </a:pPr>
            <a:r>
              <a:rPr lang="en-US" sz="2300"/>
              <a:t>Compare baseline standards and regulations compliance to target standards and regulations compliance and identify gaps</a:t>
            </a:r>
            <a:endParaRPr lang="en-US"/>
          </a:p>
          <a:p>
            <a:pPr marL="914400" lvl="1" indent="-457200">
              <a:lnSpc>
                <a:spcPct val="80000"/>
              </a:lnSpc>
              <a:buClr>
                <a:srgbClr val="9E3611"/>
              </a:buClr>
              <a:buAutoNum type="arabicPeriod"/>
            </a:pPr>
            <a:r>
              <a:rPr lang="en-US" sz="2300"/>
              <a:t>Compare baseline to target business architecture maturity and identify gaps and opportunities.</a:t>
            </a:r>
            <a:endParaRPr lang="en-US"/>
          </a:p>
          <a:p>
            <a:pPr marL="914400" lvl="1" indent="-457200">
              <a:lnSpc>
                <a:spcPct val="80000"/>
              </a:lnSpc>
              <a:buClr>
                <a:srgbClr val="9E3611"/>
              </a:buClr>
              <a:buAutoNum type="arabicPeriod"/>
            </a:pPr>
            <a:r>
              <a:rPr lang="en-US" sz="2300"/>
              <a:t>Develop requirements to fill gaps.</a:t>
            </a:r>
            <a:endParaRPr lang="en-US"/>
          </a:p>
          <a:p>
            <a:pPr marL="914400" lvl="1" indent="-457200">
              <a:buClr>
                <a:srgbClr val="D34817">
                  <a:lumMod val="75000"/>
                </a:srgbClr>
              </a:buClr>
              <a:buFont typeface="Rockwell Condensed" panose="02060603050405020104"/>
              <a:buAutoNum type="arabicPeriod"/>
            </a:pPr>
            <a:endParaRPr lang="en-US"/>
          </a:p>
        </p:txBody>
      </p:sp>
    </p:spTree>
    <p:extLst>
      <p:ext uri="{BB962C8B-B14F-4D97-AF65-F5344CB8AC3E}">
        <p14:creationId xmlns:p14="http://schemas.microsoft.com/office/powerpoint/2010/main" val="4061050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5CFCC-1FAC-6C8A-F989-D5B2000A8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AA258-290B-940A-C634-BBC2068DC293}"/>
              </a:ext>
            </a:extLst>
          </p:cNvPr>
          <p:cNvSpPr>
            <a:spLocks noGrp="1"/>
          </p:cNvSpPr>
          <p:nvPr>
            <p:ph type="title"/>
          </p:nvPr>
        </p:nvSpPr>
        <p:spPr/>
        <p:txBody>
          <a:bodyPr/>
          <a:lstStyle/>
          <a:p>
            <a:r>
              <a:rPr lang="en-US"/>
              <a:t>3.5b Perform Gap Analysis Overview</a:t>
            </a:r>
          </a:p>
        </p:txBody>
      </p:sp>
      <p:sp>
        <p:nvSpPr>
          <p:cNvPr id="3" name="Content Placeholder 2">
            <a:extLst>
              <a:ext uri="{FF2B5EF4-FFF2-40B4-BE49-F238E27FC236}">
                <a16:creationId xmlns:a16="http://schemas.microsoft.com/office/drawing/2014/main" id="{EBB1E32F-BC92-A602-7FA0-B7371FBB47A6}"/>
              </a:ext>
            </a:extLst>
          </p:cNvPr>
          <p:cNvSpPr>
            <a:spLocks noGrp="1"/>
          </p:cNvSpPr>
          <p:nvPr>
            <p:ph idx="1"/>
          </p:nvPr>
        </p:nvSpPr>
        <p:spPr/>
        <p:txBody>
          <a:bodyPr>
            <a:normAutofit/>
          </a:bodyPr>
          <a:lstStyle/>
          <a:p>
            <a:pPr marL="0" indent="0">
              <a:buNone/>
            </a:pPr>
            <a:r>
              <a:rPr lang="en-US" b="1"/>
              <a:t>Purpose</a:t>
            </a:r>
          </a:p>
          <a:p>
            <a:pPr lvl="1"/>
            <a:r>
              <a:rPr lang="en-US"/>
              <a:t>Identify gaps in the SMA architecture and identify opportunities for filling the gaps. </a:t>
            </a:r>
          </a:p>
          <a:p>
            <a:pPr marL="0" indent="0">
              <a:buNone/>
            </a:pPr>
            <a:r>
              <a:rPr lang="en-US" b="1"/>
              <a:t>Goal</a:t>
            </a:r>
          </a:p>
          <a:p>
            <a:pPr lvl="1"/>
            <a:r>
              <a:rPr lang="en-US"/>
              <a:t>Define requirements and expectations for the SMA to consider to achieve their desired outcomes. </a:t>
            </a:r>
          </a:p>
          <a:p>
            <a:pPr marL="0" indent="0">
              <a:buNone/>
            </a:pPr>
            <a:r>
              <a:rPr lang="en-US" b="1"/>
              <a:t>Triggers</a:t>
            </a:r>
          </a:p>
          <a:p>
            <a:pPr lvl="1"/>
            <a:r>
              <a:rPr lang="en-US"/>
              <a:t>Business, Information and Technical Architecture Alignment established</a:t>
            </a:r>
          </a:p>
          <a:p>
            <a:pPr marL="0" indent="0">
              <a:buNone/>
            </a:pPr>
            <a:r>
              <a:rPr lang="en-US" b="1"/>
              <a:t>Output</a:t>
            </a:r>
          </a:p>
          <a:p>
            <a:pPr lvl="1"/>
            <a:r>
              <a:rPr lang="en-US"/>
              <a:t>Gap Analysis</a:t>
            </a:r>
          </a:p>
          <a:p>
            <a:pPr lvl="1"/>
            <a:r>
              <a:rPr lang="en-US"/>
              <a:t>Architecture Requirements</a:t>
            </a:r>
          </a:p>
        </p:txBody>
      </p:sp>
    </p:spTree>
    <p:extLst>
      <p:ext uri="{BB962C8B-B14F-4D97-AF65-F5344CB8AC3E}">
        <p14:creationId xmlns:p14="http://schemas.microsoft.com/office/powerpoint/2010/main" val="3003859320"/>
      </p:ext>
    </p:extLst>
  </p:cSld>
  <p:clrMapOvr>
    <a:masterClrMapping/>
  </p:clrMapOvr>
  <p:extLst>
    <p:ext uri="{6950BFC3-D8DA-4A85-94F7-54DA5524770B}">
      <p188:commentRel xmlns:p188="http://schemas.microsoft.com/office/powerpoint/2018/8/main" r:id="rId2"/>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97939-BA6A-3E84-BE44-080163FBB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B7899-5BBE-2BE2-9F5B-2B41B8FC9FAD}"/>
              </a:ext>
            </a:extLst>
          </p:cNvPr>
          <p:cNvSpPr>
            <a:spLocks noGrp="1"/>
          </p:cNvSpPr>
          <p:nvPr>
            <p:ph type="title"/>
          </p:nvPr>
        </p:nvSpPr>
        <p:spPr/>
        <p:txBody>
          <a:bodyPr>
            <a:normAutofit/>
          </a:bodyPr>
          <a:lstStyle/>
          <a:p>
            <a:r>
              <a:rPr lang="en-US"/>
              <a:t>3.5b Activities</a:t>
            </a:r>
          </a:p>
        </p:txBody>
      </p:sp>
      <p:sp>
        <p:nvSpPr>
          <p:cNvPr id="3" name="Content Placeholder 2">
            <a:extLst>
              <a:ext uri="{FF2B5EF4-FFF2-40B4-BE49-F238E27FC236}">
                <a16:creationId xmlns:a16="http://schemas.microsoft.com/office/drawing/2014/main" id="{D801BDE4-A63C-46D4-786B-8CFA587D00AA}"/>
              </a:ext>
            </a:extLst>
          </p:cNvPr>
          <p:cNvSpPr>
            <a:spLocks noGrp="1"/>
          </p:cNvSpPr>
          <p:nvPr>
            <p:ph idx="1"/>
          </p:nvPr>
        </p:nvSpPr>
        <p:spPr/>
        <p:txBody>
          <a:bodyPr vert="horz" lIns="91440" tIns="45720" rIns="91440" bIns="45720" rtlCol="0" anchor="t">
            <a:normAutofit fontScale="92500"/>
          </a:bodyPr>
          <a:lstStyle/>
          <a:p>
            <a:pPr marL="0" indent="0">
              <a:buNone/>
            </a:pPr>
            <a:r>
              <a:rPr lang="en-US" b="1"/>
              <a:t>Activities</a:t>
            </a:r>
          </a:p>
          <a:p>
            <a:pPr marL="914400" lvl="1" indent="-457200">
              <a:buFont typeface="+mj-lt"/>
              <a:buAutoNum type="arabicPeriod"/>
            </a:pPr>
            <a:r>
              <a:rPr lang="en-US"/>
              <a:t>Compare baseline data dictionary to target data elements and identify gaps and reuse opportunities.</a:t>
            </a:r>
          </a:p>
          <a:p>
            <a:pPr marL="914400" lvl="1" indent="-457200">
              <a:buFont typeface="+mj-lt"/>
              <a:buAutoNum type="arabicPeriod"/>
            </a:pPr>
            <a:r>
              <a:rPr lang="en-US"/>
              <a:t>Compare baseline data governance roles to target data governance roles and identify gaps and reuse opportunities.</a:t>
            </a:r>
          </a:p>
          <a:p>
            <a:pPr marL="914400" lvl="1" indent="-457200">
              <a:buFont typeface="+mj-lt"/>
              <a:buAutoNum type="arabicPeriod"/>
            </a:pPr>
            <a:r>
              <a:rPr lang="en-US"/>
              <a:t>Compare baseline reports and measures to target reports and measures and identify gaps.</a:t>
            </a:r>
          </a:p>
          <a:p>
            <a:pPr marL="914400" lvl="1" indent="-457200">
              <a:buFont typeface="+mj-lt"/>
              <a:buAutoNum type="arabicPeriod"/>
            </a:pPr>
            <a:r>
              <a:rPr lang="en-US"/>
              <a:t>Compare baseline reference data to target reference data and identify gaps.</a:t>
            </a:r>
          </a:p>
          <a:p>
            <a:pPr marL="914400" lvl="1" indent="-457200">
              <a:buFont typeface="+mj-lt"/>
              <a:buAutoNum type="arabicPeriod"/>
            </a:pPr>
            <a:r>
              <a:rPr lang="en-US"/>
              <a:t>Compare baseline data validation rules to target data validation rules and identify gaps.</a:t>
            </a:r>
          </a:p>
          <a:p>
            <a:pPr marL="914400" lvl="1" indent="-457200">
              <a:buFont typeface="+mj-lt"/>
              <a:buAutoNum type="arabicPeriod"/>
            </a:pPr>
            <a:r>
              <a:rPr lang="en-US"/>
              <a:t>Use target data quality measures to assess the quality of the data and identify gaps.</a:t>
            </a:r>
          </a:p>
          <a:p>
            <a:pPr marL="914400" lvl="1" indent="-457200">
              <a:buFont typeface="+mj-lt"/>
              <a:buAutoNum type="arabicPeriod"/>
            </a:pPr>
            <a:r>
              <a:rPr lang="en-US"/>
              <a:t>Identify potential data sources and standards.</a:t>
            </a:r>
          </a:p>
          <a:p>
            <a:pPr marL="914400" lvl="1" indent="-457200">
              <a:buFont typeface="+mj-lt"/>
              <a:buAutoNum type="arabicPeriod"/>
            </a:pPr>
            <a:r>
              <a:rPr lang="en-US"/>
              <a:t>Compare baseline to target information architecture maturity and identify gaps and opportunities.</a:t>
            </a:r>
          </a:p>
          <a:p>
            <a:pPr marL="914400" lvl="1" indent="-457200">
              <a:buFont typeface="+mj-lt"/>
              <a:buAutoNum type="arabicPeriod"/>
            </a:pPr>
            <a:r>
              <a:rPr lang="en-US"/>
              <a:t>Develop requirements to fill gaps.</a:t>
            </a:r>
          </a:p>
          <a:p>
            <a:pPr marL="914400" lvl="1" indent="-457200">
              <a:buFont typeface="+mj-lt"/>
              <a:buAutoNum type="arabicPeriod"/>
            </a:pPr>
            <a:endParaRPr lang="en-US"/>
          </a:p>
          <a:p>
            <a:pPr marL="914400" lvl="1" indent="-457200">
              <a:buFont typeface="+mj-lt"/>
              <a:buAutoNum type="arabicPeriod"/>
            </a:pPr>
            <a:endParaRPr lang="en-US"/>
          </a:p>
        </p:txBody>
      </p:sp>
    </p:spTree>
    <p:extLst>
      <p:ext uri="{BB962C8B-B14F-4D97-AF65-F5344CB8AC3E}">
        <p14:creationId xmlns:p14="http://schemas.microsoft.com/office/powerpoint/2010/main" val="7416807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CF9B9-FB42-7B9D-3EC5-4C4641BE0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6EC03-F655-612F-5621-BE5AC61BF981}"/>
              </a:ext>
            </a:extLst>
          </p:cNvPr>
          <p:cNvSpPr>
            <a:spLocks noGrp="1"/>
          </p:cNvSpPr>
          <p:nvPr>
            <p:ph type="title"/>
          </p:nvPr>
        </p:nvSpPr>
        <p:spPr/>
        <p:txBody>
          <a:bodyPr/>
          <a:lstStyle/>
          <a:p>
            <a:r>
              <a:rPr lang="en-US"/>
              <a:t>3.5C Perform Gap Analysis Overview</a:t>
            </a:r>
          </a:p>
        </p:txBody>
      </p:sp>
      <p:sp>
        <p:nvSpPr>
          <p:cNvPr id="3" name="Content Placeholder 2">
            <a:extLst>
              <a:ext uri="{FF2B5EF4-FFF2-40B4-BE49-F238E27FC236}">
                <a16:creationId xmlns:a16="http://schemas.microsoft.com/office/drawing/2014/main" id="{CA148B04-8198-112C-CC05-13B3B671160E}"/>
              </a:ext>
            </a:extLst>
          </p:cNvPr>
          <p:cNvSpPr>
            <a:spLocks noGrp="1"/>
          </p:cNvSpPr>
          <p:nvPr>
            <p:ph idx="1"/>
          </p:nvPr>
        </p:nvSpPr>
        <p:spPr/>
        <p:txBody>
          <a:bodyPr>
            <a:normAutofit/>
          </a:bodyPr>
          <a:lstStyle/>
          <a:p>
            <a:pPr marL="0" indent="0">
              <a:buNone/>
            </a:pPr>
            <a:r>
              <a:rPr lang="en-US" b="1"/>
              <a:t>Purpose</a:t>
            </a:r>
          </a:p>
          <a:p>
            <a:pPr lvl="1"/>
            <a:r>
              <a:rPr lang="en-US"/>
              <a:t>Analyze baseline and target technical architecture to determine where current assets and standards fall short of meeting SMA’s desired capabilities and outcomes. </a:t>
            </a:r>
          </a:p>
          <a:p>
            <a:pPr marL="0" indent="0">
              <a:buNone/>
            </a:pPr>
            <a:r>
              <a:rPr lang="en-US" b="1"/>
              <a:t>Goal</a:t>
            </a:r>
          </a:p>
          <a:p>
            <a:pPr lvl="1"/>
            <a:r>
              <a:rPr lang="en-US"/>
              <a:t>Define specific technical gaps, limitations, risks, and dependencies that must be addressed to reach defined technical standards. </a:t>
            </a:r>
          </a:p>
          <a:p>
            <a:pPr marL="0" indent="0">
              <a:buNone/>
            </a:pPr>
            <a:r>
              <a:rPr lang="en-US" b="1"/>
              <a:t>Triggers</a:t>
            </a:r>
          </a:p>
          <a:p>
            <a:pPr lvl="1"/>
            <a:r>
              <a:rPr lang="en-US"/>
              <a:t>Business or information architecture gap analysis completed</a:t>
            </a:r>
          </a:p>
          <a:p>
            <a:pPr marL="0" indent="0">
              <a:buNone/>
            </a:pPr>
            <a:r>
              <a:rPr lang="en-US" b="1"/>
              <a:t>Output</a:t>
            </a:r>
          </a:p>
          <a:p>
            <a:pPr lvl="1"/>
            <a:r>
              <a:rPr lang="en-US"/>
              <a:t>Gap Analysis</a:t>
            </a:r>
          </a:p>
          <a:p>
            <a:pPr lvl="1"/>
            <a:r>
              <a:rPr lang="en-US"/>
              <a:t>Architecture Requirements</a:t>
            </a:r>
          </a:p>
        </p:txBody>
      </p:sp>
    </p:spTree>
    <p:extLst>
      <p:ext uri="{BB962C8B-B14F-4D97-AF65-F5344CB8AC3E}">
        <p14:creationId xmlns:p14="http://schemas.microsoft.com/office/powerpoint/2010/main" val="18056928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BE4B4-56D0-427E-00EA-E9C8F1600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7501E-105A-80A9-7761-1FFFA96C8AC5}"/>
              </a:ext>
            </a:extLst>
          </p:cNvPr>
          <p:cNvSpPr>
            <a:spLocks noGrp="1"/>
          </p:cNvSpPr>
          <p:nvPr>
            <p:ph type="title"/>
          </p:nvPr>
        </p:nvSpPr>
        <p:spPr/>
        <p:txBody>
          <a:bodyPr>
            <a:normAutofit/>
          </a:bodyPr>
          <a:lstStyle/>
          <a:p>
            <a:r>
              <a:rPr lang="en-US"/>
              <a:t>3.5C Activities</a:t>
            </a:r>
          </a:p>
        </p:txBody>
      </p:sp>
      <p:sp>
        <p:nvSpPr>
          <p:cNvPr id="3" name="Content Placeholder 2">
            <a:extLst>
              <a:ext uri="{FF2B5EF4-FFF2-40B4-BE49-F238E27FC236}">
                <a16:creationId xmlns:a16="http://schemas.microsoft.com/office/drawing/2014/main" id="{8825840E-6F30-B1BA-3199-2179A13019A3}"/>
              </a:ext>
            </a:extLst>
          </p:cNvPr>
          <p:cNvSpPr>
            <a:spLocks noGrp="1"/>
          </p:cNvSpPr>
          <p:nvPr>
            <p:ph idx="1"/>
          </p:nvPr>
        </p:nvSpPr>
        <p:spPr/>
        <p:txBody>
          <a:bodyPr vert="horz" lIns="91440" tIns="45720" rIns="91440" bIns="45720" rtlCol="0" anchor="t">
            <a:normAutofit/>
          </a:bodyPr>
          <a:lstStyle/>
          <a:p>
            <a:pPr marL="0" indent="0">
              <a:buNone/>
            </a:pPr>
            <a:r>
              <a:rPr lang="en-US" b="1"/>
              <a:t>Activities</a:t>
            </a:r>
          </a:p>
          <a:p>
            <a:pPr marL="914400" lvl="1" indent="-457200">
              <a:buFont typeface="+mj-lt"/>
              <a:buAutoNum type="arabicPeriod"/>
            </a:pPr>
            <a:r>
              <a:rPr lang="en-US"/>
              <a:t>Compare current and target technology architecture</a:t>
            </a:r>
          </a:p>
          <a:p>
            <a:pPr marL="914400" lvl="1" indent="-457200">
              <a:buClr>
                <a:srgbClr val="9E3611"/>
              </a:buClr>
              <a:buAutoNum type="arabicPeriod"/>
            </a:pPr>
            <a:r>
              <a:rPr lang="en-US"/>
              <a:t>Document Gaps</a:t>
            </a:r>
          </a:p>
          <a:p>
            <a:pPr marL="1188720" lvl="2" indent="-457200">
              <a:buClr>
                <a:srgbClr val="9E3611"/>
              </a:buClr>
              <a:buAutoNum type="arabicPeriod"/>
            </a:pPr>
            <a:r>
              <a:rPr lang="en-US"/>
              <a:t>Technology gaps</a:t>
            </a:r>
          </a:p>
          <a:p>
            <a:pPr marL="1188720" lvl="2" indent="-457200">
              <a:buClr>
                <a:srgbClr val="9E3611"/>
              </a:buClr>
              <a:buAutoNum type="arabicPeriod"/>
            </a:pPr>
            <a:r>
              <a:rPr lang="en-US"/>
              <a:t>Standards and compliance gaps</a:t>
            </a:r>
          </a:p>
          <a:p>
            <a:pPr marL="1188720" lvl="2" indent="-457200">
              <a:buClr>
                <a:srgbClr val="9E3611"/>
              </a:buClr>
              <a:buAutoNum type="arabicPeriod"/>
            </a:pPr>
            <a:r>
              <a:rPr lang="en-US"/>
              <a:t>Integration gaps</a:t>
            </a:r>
          </a:p>
          <a:p>
            <a:pPr marL="1188720" lvl="2" indent="-457200">
              <a:buClr>
                <a:srgbClr val="9E3611"/>
              </a:buClr>
              <a:buAutoNum type="arabicPeriod"/>
            </a:pPr>
            <a:r>
              <a:rPr lang="en-US"/>
              <a:t>Performance and resilience gaps (non-functional requirements)</a:t>
            </a:r>
          </a:p>
          <a:p>
            <a:pPr marL="1188720" lvl="2" indent="-457200">
              <a:buClr>
                <a:srgbClr val="9E3611"/>
              </a:buClr>
              <a:buAutoNum type="arabicPeriod"/>
            </a:pPr>
            <a:r>
              <a:rPr lang="en-US"/>
              <a:t>Capability gaps</a:t>
            </a:r>
          </a:p>
          <a:p>
            <a:pPr marL="914400" lvl="1" indent="-457200">
              <a:buFont typeface="+mj-lt"/>
              <a:buAutoNum type="arabicPeriod"/>
            </a:pPr>
            <a:r>
              <a:rPr lang="en-US"/>
              <a:t>Prioritize gaps to address based on business value and impact</a:t>
            </a:r>
          </a:p>
          <a:p>
            <a:pPr marL="914400" lvl="1" indent="-457200">
              <a:buFont typeface="+mj-lt"/>
              <a:buAutoNum type="arabicPeriod"/>
            </a:pPr>
            <a:r>
              <a:rPr lang="en-US"/>
              <a:t>Estimate effort and dependencies</a:t>
            </a:r>
          </a:p>
          <a:p>
            <a:pPr marL="914400" lvl="1" indent="-457200">
              <a:buFont typeface="+mj-lt"/>
              <a:buAutoNum type="arabicPeriod"/>
            </a:pPr>
            <a:r>
              <a:rPr lang="en-US"/>
              <a:t>Validate findings with stakeholders and develop the capability roadmap</a:t>
            </a:r>
          </a:p>
          <a:p>
            <a:pPr marL="914400" lvl="1" indent="-457200">
              <a:buClr>
                <a:srgbClr val="D34817">
                  <a:lumMod val="75000"/>
                </a:srgbClr>
              </a:buClr>
              <a:buFont typeface="Rockwell Condensed" panose="02060603050405020104"/>
              <a:buAutoNum type="arabicPeriod"/>
            </a:pPr>
            <a:endParaRPr lang="en-US"/>
          </a:p>
          <a:p>
            <a:pPr marL="914400" lvl="1" indent="-457200">
              <a:buFont typeface="+mj-lt"/>
              <a:buAutoNum type="arabicPeriod"/>
            </a:pPr>
            <a:endParaRPr lang="en-US"/>
          </a:p>
        </p:txBody>
      </p:sp>
    </p:spTree>
    <p:extLst>
      <p:ext uri="{BB962C8B-B14F-4D97-AF65-F5344CB8AC3E}">
        <p14:creationId xmlns:p14="http://schemas.microsoft.com/office/powerpoint/2010/main" val="1865477272"/>
      </p:ext>
    </p:extLst>
  </p:cSld>
  <p:clrMapOvr>
    <a:masterClrMapping/>
  </p:clrMapOvr>
  <p:extLst>
    <p:ext uri="{6950BFC3-D8DA-4A85-94F7-54DA5524770B}">
      <p188:commentRel xmlns:p188="http://schemas.microsoft.com/office/powerpoint/2018/8/main" r:id="rId2"/>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0F45-519F-FFAC-57D0-4A1D3A943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EB289-AA2F-CC0E-B268-97AF29F785D5}"/>
              </a:ext>
            </a:extLst>
          </p:cNvPr>
          <p:cNvSpPr>
            <a:spLocks noGrp="1"/>
          </p:cNvSpPr>
          <p:nvPr>
            <p:ph type="title"/>
          </p:nvPr>
        </p:nvSpPr>
        <p:spPr/>
        <p:txBody>
          <a:bodyPr/>
          <a:lstStyle/>
          <a:p>
            <a:r>
              <a:rPr lang="en-US"/>
              <a:t>Document State Self-Assessment</a:t>
            </a:r>
            <a:endParaRPr lang="en-US" strike="sngStrike"/>
          </a:p>
        </p:txBody>
      </p:sp>
    </p:spTree>
    <p:extLst>
      <p:ext uri="{BB962C8B-B14F-4D97-AF65-F5344CB8AC3E}">
        <p14:creationId xmlns:p14="http://schemas.microsoft.com/office/powerpoint/2010/main" val="9742982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F4EB6-1DB4-8623-AAFC-6910B4634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F46E6-921A-4E6B-F6BB-AEC33520DA09}"/>
              </a:ext>
            </a:extLst>
          </p:cNvPr>
          <p:cNvSpPr>
            <a:spLocks noGrp="1"/>
          </p:cNvSpPr>
          <p:nvPr>
            <p:ph type="title"/>
          </p:nvPr>
        </p:nvSpPr>
        <p:spPr/>
        <p:txBody>
          <a:bodyPr/>
          <a:lstStyle/>
          <a:p>
            <a:r>
              <a:rPr lang="en-US"/>
              <a:t>Document State Self-Assessment</a:t>
            </a:r>
            <a:endParaRPr lang="en-US" strike="sngStrike"/>
          </a:p>
        </p:txBody>
      </p:sp>
      <p:sp>
        <p:nvSpPr>
          <p:cNvPr id="6" name="Rounded Rectangle 5">
            <a:extLst>
              <a:ext uri="{FF2B5EF4-FFF2-40B4-BE49-F238E27FC236}">
                <a16:creationId xmlns:a16="http://schemas.microsoft.com/office/drawing/2014/main" id="{AFBB5C65-32DC-AE21-27B1-95421FC51DF2}"/>
              </a:ext>
            </a:extLst>
          </p:cNvPr>
          <p:cNvSpPr/>
          <p:nvPr/>
        </p:nvSpPr>
        <p:spPr>
          <a:xfrm>
            <a:off x="2162169" y="3020264"/>
            <a:ext cx="1399075"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t>Develop or update SS-A Executive Summary (ES) and Roadmap</a:t>
            </a:r>
            <a:endParaRPr lang="en-US" sz="900"/>
          </a:p>
        </p:txBody>
      </p:sp>
      <p:cxnSp>
        <p:nvCxnSpPr>
          <p:cNvPr id="59" name="Straight Arrow Connector 58">
            <a:extLst>
              <a:ext uri="{FF2B5EF4-FFF2-40B4-BE49-F238E27FC236}">
                <a16:creationId xmlns:a16="http://schemas.microsoft.com/office/drawing/2014/main" id="{2D4109D1-C42E-271E-D060-F18A5E2E9D0C}"/>
              </a:ext>
            </a:extLst>
          </p:cNvPr>
          <p:cNvCxnSpPr>
            <a:cxnSpLocks/>
          </p:cNvCxnSpPr>
          <p:nvPr/>
        </p:nvCxnSpPr>
        <p:spPr>
          <a:xfrm>
            <a:off x="6096000" y="4817180"/>
            <a:ext cx="0" cy="4720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D158BD2-DBBF-57EF-B2E9-D4507913D1D1}"/>
              </a:ext>
            </a:extLst>
          </p:cNvPr>
          <p:cNvSpPr txBox="1"/>
          <p:nvPr/>
        </p:nvSpPr>
        <p:spPr>
          <a:xfrm>
            <a:off x="4024835" y="3065850"/>
            <a:ext cx="286251" cy="369332"/>
          </a:xfrm>
          <a:prstGeom prst="rect">
            <a:avLst/>
          </a:prstGeom>
          <a:noFill/>
        </p:spPr>
        <p:txBody>
          <a:bodyPr wrap="square" rtlCol="0">
            <a:spAutoFit/>
          </a:bodyPr>
          <a:lstStyle/>
          <a:p>
            <a:r>
              <a:rPr lang="en-US">
                <a:solidFill>
                  <a:schemeClr val="bg1"/>
                </a:solidFill>
              </a:rPr>
              <a:t>3</a:t>
            </a:r>
          </a:p>
        </p:txBody>
      </p:sp>
      <p:sp>
        <p:nvSpPr>
          <p:cNvPr id="12" name="Rounded Rectangle 11">
            <a:extLst>
              <a:ext uri="{FF2B5EF4-FFF2-40B4-BE49-F238E27FC236}">
                <a16:creationId xmlns:a16="http://schemas.microsoft.com/office/drawing/2014/main" id="{05313B2E-8EE3-4E7E-2C12-6D95C135BCCA}"/>
              </a:ext>
            </a:extLst>
          </p:cNvPr>
          <p:cNvSpPr/>
          <p:nvPr/>
        </p:nvSpPr>
        <p:spPr>
          <a:xfrm>
            <a:off x="520546" y="3017973"/>
            <a:ext cx="1399075"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a:p>
            <a:pPr algn="ctr"/>
            <a:r>
              <a:rPr lang="en-US" sz="1200"/>
              <a:t>Document maturity assessment  results in Maturity Profile</a:t>
            </a:r>
            <a:endParaRPr lang="en-US" sz="900"/>
          </a:p>
        </p:txBody>
      </p:sp>
      <p:sp>
        <p:nvSpPr>
          <p:cNvPr id="14" name="TextBox 13">
            <a:extLst>
              <a:ext uri="{FF2B5EF4-FFF2-40B4-BE49-F238E27FC236}">
                <a16:creationId xmlns:a16="http://schemas.microsoft.com/office/drawing/2014/main" id="{CD19D9D1-50F8-2D19-469C-D559E81B72E4}"/>
              </a:ext>
            </a:extLst>
          </p:cNvPr>
          <p:cNvSpPr txBox="1"/>
          <p:nvPr/>
        </p:nvSpPr>
        <p:spPr>
          <a:xfrm>
            <a:off x="517317" y="3066789"/>
            <a:ext cx="557404" cy="369332"/>
          </a:xfrm>
          <a:prstGeom prst="rect">
            <a:avLst/>
          </a:prstGeom>
          <a:noFill/>
        </p:spPr>
        <p:txBody>
          <a:bodyPr wrap="square" lIns="91440" tIns="45720" rIns="91440" bIns="45720" rtlCol="0" anchor="t">
            <a:spAutoFit/>
          </a:bodyPr>
          <a:lstStyle/>
          <a:p>
            <a:r>
              <a:rPr lang="en-US">
                <a:solidFill>
                  <a:schemeClr val="bg1"/>
                </a:solidFill>
              </a:rPr>
              <a:t>4.1</a:t>
            </a:r>
          </a:p>
        </p:txBody>
      </p:sp>
      <p:sp>
        <p:nvSpPr>
          <p:cNvPr id="3" name="Right Arrow 21">
            <a:extLst>
              <a:ext uri="{FF2B5EF4-FFF2-40B4-BE49-F238E27FC236}">
                <a16:creationId xmlns:a16="http://schemas.microsoft.com/office/drawing/2014/main" id="{856CA767-BD5B-554E-9B42-1F14CB210592}"/>
              </a:ext>
            </a:extLst>
          </p:cNvPr>
          <p:cNvSpPr/>
          <p:nvPr/>
        </p:nvSpPr>
        <p:spPr>
          <a:xfrm>
            <a:off x="1952043" y="3793524"/>
            <a:ext cx="191692" cy="197707"/>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12E60221-E3DF-5B9C-3C91-ADE0524B6855}"/>
              </a:ext>
            </a:extLst>
          </p:cNvPr>
          <p:cNvCxnSpPr>
            <a:cxnSpLocks/>
            <a:stCxn id="12" idx="2"/>
          </p:cNvCxnSpPr>
          <p:nvPr/>
        </p:nvCxnSpPr>
        <p:spPr>
          <a:xfrm>
            <a:off x="1220084" y="4761713"/>
            <a:ext cx="0" cy="4574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A977383B-1FF7-5DC5-C700-4D5B7D7517D8}"/>
              </a:ext>
            </a:extLst>
          </p:cNvPr>
          <p:cNvSpPr txBox="1"/>
          <p:nvPr/>
        </p:nvSpPr>
        <p:spPr>
          <a:xfrm>
            <a:off x="280969" y="5542371"/>
            <a:ext cx="1789573" cy="461665"/>
          </a:xfrm>
          <a:prstGeom prst="rect">
            <a:avLst/>
          </a:prstGeom>
          <a:noFill/>
        </p:spPr>
        <p:txBody>
          <a:bodyPr wrap="square" rtlCol="0">
            <a:spAutoFit/>
          </a:bodyPr>
          <a:lstStyle/>
          <a:p>
            <a:pPr algn="ctr"/>
            <a:r>
              <a:rPr lang="en-US" sz="1200"/>
              <a:t>SS-A is completed for CMS compliance.</a:t>
            </a:r>
          </a:p>
        </p:txBody>
      </p:sp>
      <p:sp>
        <p:nvSpPr>
          <p:cNvPr id="19" name="TextBox 18">
            <a:extLst>
              <a:ext uri="{FF2B5EF4-FFF2-40B4-BE49-F238E27FC236}">
                <a16:creationId xmlns:a16="http://schemas.microsoft.com/office/drawing/2014/main" id="{645B5F68-4D11-C3A4-AC55-C07EC12B76C4}"/>
              </a:ext>
            </a:extLst>
          </p:cNvPr>
          <p:cNvSpPr txBox="1"/>
          <p:nvPr/>
        </p:nvSpPr>
        <p:spPr>
          <a:xfrm>
            <a:off x="4971061" y="5718651"/>
            <a:ext cx="2408679" cy="1015663"/>
          </a:xfrm>
          <a:prstGeom prst="rect">
            <a:avLst/>
          </a:prstGeom>
          <a:noFill/>
        </p:spPr>
        <p:txBody>
          <a:bodyPr wrap="square" rtlCol="0">
            <a:spAutoFit/>
          </a:bodyPr>
          <a:lstStyle/>
          <a:p>
            <a:pPr algn="ctr"/>
            <a:r>
              <a:rPr lang="en-US" sz="1200"/>
              <a:t>If required, conduct Analysis of Alternatives. Utilize information </a:t>
            </a:r>
          </a:p>
          <a:p>
            <a:pPr algn="ctr"/>
            <a:r>
              <a:rPr lang="en-US" sz="1200"/>
              <a:t>from SS-A ES, Roadmap, and OBP process to finalize and submit APD.</a:t>
            </a:r>
            <a:endParaRPr lang="en-US" sz="1000"/>
          </a:p>
        </p:txBody>
      </p:sp>
      <p:sp>
        <p:nvSpPr>
          <p:cNvPr id="7" name="Rounded Rectangle 6">
            <a:extLst>
              <a:ext uri="{FF2B5EF4-FFF2-40B4-BE49-F238E27FC236}">
                <a16:creationId xmlns:a16="http://schemas.microsoft.com/office/drawing/2014/main" id="{3A9430D4-09B9-7C9C-BFD4-CB98A489A8F7}"/>
              </a:ext>
            </a:extLst>
          </p:cNvPr>
          <p:cNvSpPr/>
          <p:nvPr/>
        </p:nvSpPr>
        <p:spPr>
          <a:xfrm>
            <a:off x="7123484" y="3089174"/>
            <a:ext cx="1399075"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Execute projects to achieve desired outcomes</a:t>
            </a:r>
          </a:p>
        </p:txBody>
      </p:sp>
      <p:sp>
        <p:nvSpPr>
          <p:cNvPr id="9" name="Rounded Rectangle 8">
            <a:extLst>
              <a:ext uri="{FF2B5EF4-FFF2-40B4-BE49-F238E27FC236}">
                <a16:creationId xmlns:a16="http://schemas.microsoft.com/office/drawing/2014/main" id="{55BE8AB0-04E1-8D9E-06CF-9E526C3C0512}"/>
              </a:ext>
            </a:extLst>
          </p:cNvPr>
          <p:cNvSpPr/>
          <p:nvPr/>
        </p:nvSpPr>
        <p:spPr>
          <a:xfrm>
            <a:off x="8808802" y="3048785"/>
            <a:ext cx="1482479" cy="1822446"/>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a:p>
            <a:pPr algn="ctr"/>
            <a:r>
              <a:rPr lang="en-US" sz="1200"/>
              <a:t>Refresh/Update SS-A and repeat process as necessary until desired outcomes are met</a:t>
            </a:r>
            <a:endParaRPr lang="en-US" sz="900"/>
          </a:p>
        </p:txBody>
      </p:sp>
      <p:sp>
        <p:nvSpPr>
          <p:cNvPr id="10" name="Oval 9">
            <a:extLst>
              <a:ext uri="{FF2B5EF4-FFF2-40B4-BE49-F238E27FC236}">
                <a16:creationId xmlns:a16="http://schemas.microsoft.com/office/drawing/2014/main" id="{805D8FE8-59C6-4802-5E93-0EB2D8E44ECA}"/>
              </a:ext>
            </a:extLst>
          </p:cNvPr>
          <p:cNvSpPr/>
          <p:nvPr/>
        </p:nvSpPr>
        <p:spPr>
          <a:xfrm>
            <a:off x="5971005" y="5360509"/>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FB07ABD-1F8C-499A-6DDB-7335839E0A32}"/>
              </a:ext>
            </a:extLst>
          </p:cNvPr>
          <p:cNvSpPr/>
          <p:nvPr/>
        </p:nvSpPr>
        <p:spPr>
          <a:xfrm>
            <a:off x="1095088" y="5289261"/>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1">
            <a:extLst>
              <a:ext uri="{FF2B5EF4-FFF2-40B4-BE49-F238E27FC236}">
                <a16:creationId xmlns:a16="http://schemas.microsoft.com/office/drawing/2014/main" id="{6198DC8D-87D1-44BA-90DC-9787D92EA07B}"/>
              </a:ext>
            </a:extLst>
          </p:cNvPr>
          <p:cNvSpPr/>
          <p:nvPr/>
        </p:nvSpPr>
        <p:spPr>
          <a:xfrm>
            <a:off x="3566745" y="3793524"/>
            <a:ext cx="224114" cy="197707"/>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B99D6F3-82EB-2D58-173B-F72372FC9E79}"/>
              </a:ext>
            </a:extLst>
          </p:cNvPr>
          <p:cNvSpPr txBox="1"/>
          <p:nvPr/>
        </p:nvSpPr>
        <p:spPr>
          <a:xfrm>
            <a:off x="3857988" y="3102547"/>
            <a:ext cx="286251" cy="369332"/>
          </a:xfrm>
          <a:prstGeom prst="rect">
            <a:avLst/>
          </a:prstGeom>
          <a:noFill/>
        </p:spPr>
        <p:txBody>
          <a:bodyPr wrap="square" rtlCol="0">
            <a:spAutoFit/>
          </a:bodyPr>
          <a:lstStyle/>
          <a:p>
            <a:r>
              <a:rPr lang="en-US">
                <a:solidFill>
                  <a:schemeClr val="bg1"/>
                </a:solidFill>
              </a:rPr>
              <a:t>3</a:t>
            </a:r>
          </a:p>
        </p:txBody>
      </p:sp>
      <p:sp>
        <p:nvSpPr>
          <p:cNvPr id="28" name="TextBox 27">
            <a:extLst>
              <a:ext uri="{FF2B5EF4-FFF2-40B4-BE49-F238E27FC236}">
                <a16:creationId xmlns:a16="http://schemas.microsoft.com/office/drawing/2014/main" id="{4719660A-217F-3093-D9A0-0BAFAC674AEE}"/>
              </a:ext>
            </a:extLst>
          </p:cNvPr>
          <p:cNvSpPr txBox="1"/>
          <p:nvPr/>
        </p:nvSpPr>
        <p:spPr>
          <a:xfrm>
            <a:off x="5680510" y="1909310"/>
            <a:ext cx="511283" cy="369332"/>
          </a:xfrm>
          <a:prstGeom prst="rect">
            <a:avLst/>
          </a:prstGeom>
          <a:noFill/>
        </p:spPr>
        <p:txBody>
          <a:bodyPr wrap="square" rtlCol="0">
            <a:spAutoFit/>
          </a:bodyPr>
          <a:lstStyle/>
          <a:p>
            <a:r>
              <a:rPr lang="en-US">
                <a:solidFill>
                  <a:schemeClr val="bg1"/>
                </a:solidFill>
              </a:rPr>
              <a:t>3A</a:t>
            </a:r>
          </a:p>
        </p:txBody>
      </p:sp>
      <p:sp>
        <p:nvSpPr>
          <p:cNvPr id="29" name="TextBox 28">
            <a:extLst>
              <a:ext uri="{FF2B5EF4-FFF2-40B4-BE49-F238E27FC236}">
                <a16:creationId xmlns:a16="http://schemas.microsoft.com/office/drawing/2014/main" id="{BD5CD1A7-0ACF-E1AB-F322-EFB404BA651B}"/>
              </a:ext>
            </a:extLst>
          </p:cNvPr>
          <p:cNvSpPr txBox="1"/>
          <p:nvPr/>
        </p:nvSpPr>
        <p:spPr>
          <a:xfrm>
            <a:off x="5632860" y="4379882"/>
            <a:ext cx="466489" cy="369332"/>
          </a:xfrm>
          <a:prstGeom prst="rect">
            <a:avLst/>
          </a:prstGeom>
          <a:noFill/>
        </p:spPr>
        <p:txBody>
          <a:bodyPr wrap="square" rtlCol="0">
            <a:spAutoFit/>
          </a:bodyPr>
          <a:lstStyle/>
          <a:p>
            <a:r>
              <a:rPr lang="en-US">
                <a:solidFill>
                  <a:schemeClr val="bg1"/>
                </a:solidFill>
              </a:rPr>
              <a:t>3B</a:t>
            </a:r>
          </a:p>
        </p:txBody>
      </p:sp>
      <p:sp>
        <p:nvSpPr>
          <p:cNvPr id="41" name="TextBox 40">
            <a:extLst>
              <a:ext uri="{FF2B5EF4-FFF2-40B4-BE49-F238E27FC236}">
                <a16:creationId xmlns:a16="http://schemas.microsoft.com/office/drawing/2014/main" id="{0F75A74D-6561-F966-1413-103FA5068803}"/>
              </a:ext>
            </a:extLst>
          </p:cNvPr>
          <p:cNvSpPr txBox="1"/>
          <p:nvPr/>
        </p:nvSpPr>
        <p:spPr>
          <a:xfrm>
            <a:off x="9573796" y="687696"/>
            <a:ext cx="768499" cy="369332"/>
          </a:xfrm>
          <a:prstGeom prst="rect">
            <a:avLst/>
          </a:prstGeom>
          <a:noFill/>
        </p:spPr>
        <p:txBody>
          <a:bodyPr wrap="square" rtlCol="0">
            <a:spAutoFit/>
          </a:bodyPr>
          <a:lstStyle/>
          <a:p>
            <a:r>
              <a:rPr lang="en-US">
                <a:solidFill>
                  <a:schemeClr val="bg1"/>
                </a:solidFill>
              </a:rPr>
              <a:t>3.A.2</a:t>
            </a:r>
          </a:p>
        </p:txBody>
      </p:sp>
      <p:sp>
        <p:nvSpPr>
          <p:cNvPr id="8" name="Rounded Rectangle 7">
            <a:extLst>
              <a:ext uri="{FF2B5EF4-FFF2-40B4-BE49-F238E27FC236}">
                <a16:creationId xmlns:a16="http://schemas.microsoft.com/office/drawing/2014/main" id="{435FF284-0D27-AECC-9463-E9FB3BA74AC8}"/>
              </a:ext>
            </a:extLst>
          </p:cNvPr>
          <p:cNvSpPr/>
          <p:nvPr/>
        </p:nvSpPr>
        <p:spPr>
          <a:xfrm>
            <a:off x="3807006" y="3050369"/>
            <a:ext cx="1399075"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Review SS-A</a:t>
            </a:r>
          </a:p>
          <a:p>
            <a:pPr algn="ctr"/>
            <a:r>
              <a:rPr lang="en-US" sz="1200"/>
              <a:t> ES with Leadership to finalize priorities to address</a:t>
            </a:r>
            <a:endParaRPr lang="en-US" sz="900"/>
          </a:p>
        </p:txBody>
      </p:sp>
      <p:sp>
        <p:nvSpPr>
          <p:cNvPr id="13" name="TextBox 12">
            <a:extLst>
              <a:ext uri="{FF2B5EF4-FFF2-40B4-BE49-F238E27FC236}">
                <a16:creationId xmlns:a16="http://schemas.microsoft.com/office/drawing/2014/main" id="{0B73E7AA-EF91-E3B0-D689-FE5B413C38BD}"/>
              </a:ext>
            </a:extLst>
          </p:cNvPr>
          <p:cNvSpPr txBox="1"/>
          <p:nvPr/>
        </p:nvSpPr>
        <p:spPr>
          <a:xfrm flipH="1">
            <a:off x="2218315" y="3017973"/>
            <a:ext cx="514039" cy="369332"/>
          </a:xfrm>
          <a:prstGeom prst="rect">
            <a:avLst/>
          </a:prstGeom>
          <a:noFill/>
        </p:spPr>
        <p:txBody>
          <a:bodyPr wrap="square" lIns="91440" tIns="45720" rIns="91440" bIns="45720" rtlCol="0" anchor="t">
            <a:spAutoFit/>
          </a:bodyPr>
          <a:lstStyle/>
          <a:p>
            <a:r>
              <a:rPr lang="en-US">
                <a:solidFill>
                  <a:schemeClr val="bg1"/>
                </a:solidFill>
              </a:rPr>
              <a:t>4.2</a:t>
            </a:r>
          </a:p>
        </p:txBody>
      </p:sp>
      <p:sp>
        <p:nvSpPr>
          <p:cNvPr id="15" name="Rounded Rectangle 14">
            <a:extLst>
              <a:ext uri="{FF2B5EF4-FFF2-40B4-BE49-F238E27FC236}">
                <a16:creationId xmlns:a16="http://schemas.microsoft.com/office/drawing/2014/main" id="{707E3913-3EB6-4FBC-B87E-FF5C747519C4}"/>
              </a:ext>
            </a:extLst>
          </p:cNvPr>
          <p:cNvSpPr/>
          <p:nvPr/>
        </p:nvSpPr>
        <p:spPr>
          <a:xfrm>
            <a:off x="5411841" y="3059668"/>
            <a:ext cx="1399075"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Update/define outcomes through OBP process for initial priorities</a:t>
            </a:r>
            <a:endParaRPr lang="en-US" sz="900"/>
          </a:p>
        </p:txBody>
      </p:sp>
      <p:sp>
        <p:nvSpPr>
          <p:cNvPr id="45" name="Right Arrow 21">
            <a:extLst>
              <a:ext uri="{FF2B5EF4-FFF2-40B4-BE49-F238E27FC236}">
                <a16:creationId xmlns:a16="http://schemas.microsoft.com/office/drawing/2014/main" id="{CE46B068-E198-7C25-7C86-496F4C524BBA}"/>
              </a:ext>
            </a:extLst>
          </p:cNvPr>
          <p:cNvSpPr/>
          <p:nvPr/>
        </p:nvSpPr>
        <p:spPr>
          <a:xfrm>
            <a:off x="6839713" y="3819086"/>
            <a:ext cx="224114" cy="197707"/>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ight Arrow 21">
            <a:extLst>
              <a:ext uri="{FF2B5EF4-FFF2-40B4-BE49-F238E27FC236}">
                <a16:creationId xmlns:a16="http://schemas.microsoft.com/office/drawing/2014/main" id="{5864C2B6-AE58-3753-BE6A-F317B2078781}"/>
              </a:ext>
            </a:extLst>
          </p:cNvPr>
          <p:cNvSpPr/>
          <p:nvPr/>
        </p:nvSpPr>
        <p:spPr>
          <a:xfrm>
            <a:off x="5187727" y="3824268"/>
            <a:ext cx="224114" cy="197707"/>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ight Arrow 21">
            <a:extLst>
              <a:ext uri="{FF2B5EF4-FFF2-40B4-BE49-F238E27FC236}">
                <a16:creationId xmlns:a16="http://schemas.microsoft.com/office/drawing/2014/main" id="{3F80FFD3-5B1F-586A-06F5-3EA111AE00A9}"/>
              </a:ext>
            </a:extLst>
          </p:cNvPr>
          <p:cNvSpPr/>
          <p:nvPr/>
        </p:nvSpPr>
        <p:spPr>
          <a:xfrm>
            <a:off x="8566659" y="3908468"/>
            <a:ext cx="224114" cy="197707"/>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CFA2A133-6B70-37AD-84AD-0C4FF5478A70}"/>
              </a:ext>
            </a:extLst>
          </p:cNvPr>
          <p:cNvSpPr txBox="1"/>
          <p:nvPr/>
        </p:nvSpPr>
        <p:spPr>
          <a:xfrm>
            <a:off x="3785142" y="3048785"/>
            <a:ext cx="530466" cy="369332"/>
          </a:xfrm>
          <a:prstGeom prst="rect">
            <a:avLst/>
          </a:prstGeom>
          <a:noFill/>
        </p:spPr>
        <p:txBody>
          <a:bodyPr wrap="square" lIns="91440" tIns="45720" rIns="91440" bIns="45720" rtlCol="0" anchor="t">
            <a:spAutoFit/>
          </a:bodyPr>
          <a:lstStyle/>
          <a:p>
            <a:r>
              <a:rPr lang="en-US">
                <a:solidFill>
                  <a:schemeClr val="bg1"/>
                </a:solidFill>
              </a:rPr>
              <a:t>4.3</a:t>
            </a:r>
          </a:p>
        </p:txBody>
      </p:sp>
      <p:sp>
        <p:nvSpPr>
          <p:cNvPr id="21" name="TextBox 20">
            <a:extLst>
              <a:ext uri="{FF2B5EF4-FFF2-40B4-BE49-F238E27FC236}">
                <a16:creationId xmlns:a16="http://schemas.microsoft.com/office/drawing/2014/main" id="{BD2ACF0F-B431-C587-AC33-D107E51A8305}"/>
              </a:ext>
            </a:extLst>
          </p:cNvPr>
          <p:cNvSpPr txBox="1"/>
          <p:nvPr/>
        </p:nvSpPr>
        <p:spPr>
          <a:xfrm>
            <a:off x="5326025" y="3070149"/>
            <a:ext cx="509305" cy="369332"/>
          </a:xfrm>
          <a:prstGeom prst="rect">
            <a:avLst/>
          </a:prstGeom>
          <a:noFill/>
        </p:spPr>
        <p:txBody>
          <a:bodyPr wrap="square" lIns="91440" tIns="45720" rIns="91440" bIns="45720" rtlCol="0" anchor="t">
            <a:spAutoFit/>
          </a:bodyPr>
          <a:lstStyle/>
          <a:p>
            <a:r>
              <a:rPr lang="en-US">
                <a:solidFill>
                  <a:schemeClr val="bg1"/>
                </a:solidFill>
              </a:rPr>
              <a:t>4.4</a:t>
            </a:r>
          </a:p>
        </p:txBody>
      </p:sp>
      <p:sp>
        <p:nvSpPr>
          <p:cNvPr id="22" name="TextBox 21">
            <a:extLst>
              <a:ext uri="{FF2B5EF4-FFF2-40B4-BE49-F238E27FC236}">
                <a16:creationId xmlns:a16="http://schemas.microsoft.com/office/drawing/2014/main" id="{D15EF7AD-403B-2915-2826-1E45CB984BE1}"/>
              </a:ext>
            </a:extLst>
          </p:cNvPr>
          <p:cNvSpPr txBox="1"/>
          <p:nvPr/>
        </p:nvSpPr>
        <p:spPr>
          <a:xfrm>
            <a:off x="7123052" y="3103416"/>
            <a:ext cx="513376" cy="369332"/>
          </a:xfrm>
          <a:prstGeom prst="rect">
            <a:avLst/>
          </a:prstGeom>
          <a:noFill/>
        </p:spPr>
        <p:txBody>
          <a:bodyPr wrap="square" lIns="91440" tIns="45720" rIns="91440" bIns="45720" rtlCol="0" anchor="t">
            <a:spAutoFit/>
          </a:bodyPr>
          <a:lstStyle/>
          <a:p>
            <a:r>
              <a:rPr lang="en-US">
                <a:solidFill>
                  <a:schemeClr val="bg1"/>
                </a:solidFill>
              </a:rPr>
              <a:t>4.5</a:t>
            </a:r>
          </a:p>
        </p:txBody>
      </p:sp>
      <p:sp>
        <p:nvSpPr>
          <p:cNvPr id="26" name="TextBox 25">
            <a:extLst>
              <a:ext uri="{FF2B5EF4-FFF2-40B4-BE49-F238E27FC236}">
                <a16:creationId xmlns:a16="http://schemas.microsoft.com/office/drawing/2014/main" id="{493242AE-09A1-98A3-88AE-2DABE396DFDD}"/>
              </a:ext>
            </a:extLst>
          </p:cNvPr>
          <p:cNvSpPr txBox="1"/>
          <p:nvPr/>
        </p:nvSpPr>
        <p:spPr>
          <a:xfrm>
            <a:off x="8806642" y="3066788"/>
            <a:ext cx="502564" cy="369332"/>
          </a:xfrm>
          <a:prstGeom prst="rect">
            <a:avLst/>
          </a:prstGeom>
          <a:noFill/>
        </p:spPr>
        <p:txBody>
          <a:bodyPr wrap="square" lIns="91440" tIns="45720" rIns="91440" bIns="45720" rtlCol="0" anchor="t">
            <a:spAutoFit/>
          </a:bodyPr>
          <a:lstStyle/>
          <a:p>
            <a:r>
              <a:rPr lang="en-US">
                <a:solidFill>
                  <a:schemeClr val="bg1"/>
                </a:solidFill>
              </a:rPr>
              <a:t>4.6</a:t>
            </a:r>
          </a:p>
        </p:txBody>
      </p:sp>
      <p:sp>
        <p:nvSpPr>
          <p:cNvPr id="30" name="TextBox 29">
            <a:extLst>
              <a:ext uri="{FF2B5EF4-FFF2-40B4-BE49-F238E27FC236}">
                <a16:creationId xmlns:a16="http://schemas.microsoft.com/office/drawing/2014/main" id="{55C552D0-AF70-F44E-24AD-7300B0CDB702}"/>
              </a:ext>
            </a:extLst>
          </p:cNvPr>
          <p:cNvSpPr txBox="1"/>
          <p:nvPr/>
        </p:nvSpPr>
        <p:spPr>
          <a:xfrm>
            <a:off x="10359282" y="2939267"/>
            <a:ext cx="338472" cy="369332"/>
          </a:xfrm>
          <a:prstGeom prst="rect">
            <a:avLst/>
          </a:prstGeom>
          <a:noFill/>
        </p:spPr>
        <p:txBody>
          <a:bodyPr wrap="square" rtlCol="0">
            <a:spAutoFit/>
          </a:bodyPr>
          <a:lstStyle/>
          <a:p>
            <a:r>
              <a:rPr lang="en-US">
                <a:solidFill>
                  <a:schemeClr val="bg1"/>
                </a:solidFill>
              </a:rPr>
              <a:t>7</a:t>
            </a:r>
          </a:p>
        </p:txBody>
      </p:sp>
    </p:spTree>
    <p:extLst>
      <p:ext uri="{BB962C8B-B14F-4D97-AF65-F5344CB8AC3E}">
        <p14:creationId xmlns:p14="http://schemas.microsoft.com/office/powerpoint/2010/main" val="23191014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167A6-CAD5-E2D3-1562-616F93EED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24DDC-74E5-5E48-D54B-5E60F1EE7A77}"/>
              </a:ext>
            </a:extLst>
          </p:cNvPr>
          <p:cNvSpPr>
            <a:spLocks noGrp="1"/>
          </p:cNvSpPr>
          <p:nvPr>
            <p:ph type="title"/>
          </p:nvPr>
        </p:nvSpPr>
        <p:spPr/>
        <p:txBody>
          <a:bodyPr/>
          <a:lstStyle/>
          <a:p>
            <a:r>
              <a:rPr lang="en-US"/>
              <a:t>4.1 Document Maturity Assessment Results in Maturity profile</a:t>
            </a:r>
          </a:p>
        </p:txBody>
      </p:sp>
      <p:sp>
        <p:nvSpPr>
          <p:cNvPr id="3" name="Content Placeholder 2">
            <a:extLst>
              <a:ext uri="{FF2B5EF4-FFF2-40B4-BE49-F238E27FC236}">
                <a16:creationId xmlns:a16="http://schemas.microsoft.com/office/drawing/2014/main" id="{5A747CE7-C460-8B50-407E-7194713D6A84}"/>
              </a:ext>
            </a:extLst>
          </p:cNvPr>
          <p:cNvSpPr>
            <a:spLocks noGrp="1"/>
          </p:cNvSpPr>
          <p:nvPr>
            <p:ph idx="1"/>
          </p:nvPr>
        </p:nvSpPr>
        <p:spPr/>
        <p:txBody>
          <a:bodyPr vert="horz" lIns="91440" tIns="45720" rIns="91440" bIns="45720" rtlCol="0" anchor="t">
            <a:normAutofit/>
          </a:bodyPr>
          <a:lstStyle/>
          <a:p>
            <a:pPr marL="0" indent="0">
              <a:buNone/>
            </a:pPr>
            <a:r>
              <a:rPr lang="en-US" b="1"/>
              <a:t>Purpose</a:t>
            </a:r>
          </a:p>
          <a:p>
            <a:pPr lvl="1">
              <a:buClr>
                <a:srgbClr val="9E3611"/>
              </a:buClr>
            </a:pPr>
            <a:r>
              <a:rPr lang="en-US"/>
              <a:t>Document the results of all maturity assessments in the Maturity Profile format to provide a concise, standardized view. Standard format will enable CMS to create a national view of maturity across all states and territories. </a:t>
            </a:r>
          </a:p>
          <a:p>
            <a:pPr marL="0" indent="0">
              <a:buNone/>
            </a:pPr>
            <a:r>
              <a:rPr lang="en-US" b="1"/>
              <a:t>Goal</a:t>
            </a:r>
          </a:p>
          <a:p>
            <a:pPr lvl="1"/>
            <a:r>
              <a:rPr lang="en-US"/>
              <a:t>The SMA and CMS understand the current and desired maturity levels for the SMA’s capability domains via a standardized format documenting maturity results. </a:t>
            </a:r>
          </a:p>
          <a:p>
            <a:pPr marL="0" indent="0">
              <a:buNone/>
            </a:pPr>
            <a:r>
              <a:rPr lang="en-US" b="1"/>
              <a:t>Triggers</a:t>
            </a:r>
          </a:p>
          <a:p>
            <a:pPr lvl="1"/>
            <a:r>
              <a:rPr lang="en-US"/>
              <a:t>All Maturity Assessments Completed.</a:t>
            </a:r>
          </a:p>
          <a:p>
            <a:pPr marL="0" indent="0">
              <a:buNone/>
            </a:pPr>
            <a:r>
              <a:rPr lang="en-US" b="1"/>
              <a:t>Output</a:t>
            </a:r>
          </a:p>
          <a:p>
            <a:pPr lvl="1"/>
            <a:r>
              <a:rPr lang="en-US"/>
              <a:t>Standardized Maturity Profile that conforms to CMS spreadsheet template format in a .csv file that can be uploaded into MESH. </a:t>
            </a:r>
          </a:p>
        </p:txBody>
      </p:sp>
    </p:spTree>
    <p:extLst>
      <p:ext uri="{BB962C8B-B14F-4D97-AF65-F5344CB8AC3E}">
        <p14:creationId xmlns:p14="http://schemas.microsoft.com/office/powerpoint/2010/main" val="40044500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33F2-08DA-B788-5C07-47E6EF3F0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5FBEE-ED42-63D4-768D-3E9AD9BBC487}"/>
              </a:ext>
            </a:extLst>
          </p:cNvPr>
          <p:cNvSpPr>
            <a:spLocks noGrp="1"/>
          </p:cNvSpPr>
          <p:nvPr>
            <p:ph type="title"/>
          </p:nvPr>
        </p:nvSpPr>
        <p:spPr/>
        <p:txBody>
          <a:bodyPr>
            <a:normAutofit/>
          </a:bodyPr>
          <a:lstStyle/>
          <a:p>
            <a:r>
              <a:rPr lang="en-US"/>
              <a:t>4.1. Activities</a:t>
            </a:r>
          </a:p>
        </p:txBody>
      </p:sp>
      <p:sp>
        <p:nvSpPr>
          <p:cNvPr id="3" name="Content Placeholder 2">
            <a:extLst>
              <a:ext uri="{FF2B5EF4-FFF2-40B4-BE49-F238E27FC236}">
                <a16:creationId xmlns:a16="http://schemas.microsoft.com/office/drawing/2014/main" id="{EABBD9A0-375E-3DB1-53E4-F8CBCAE6CD7F}"/>
              </a:ext>
            </a:extLst>
          </p:cNvPr>
          <p:cNvSpPr>
            <a:spLocks noGrp="1"/>
          </p:cNvSpPr>
          <p:nvPr>
            <p:ph idx="1"/>
          </p:nvPr>
        </p:nvSpPr>
        <p:spPr/>
        <p:txBody>
          <a:bodyPr vert="horz" lIns="91440" tIns="45720" rIns="91440" bIns="45720" rtlCol="0" anchor="t">
            <a:normAutofit/>
          </a:bodyPr>
          <a:lstStyle/>
          <a:p>
            <a:pPr marL="0" indent="0">
              <a:buNone/>
            </a:pPr>
            <a:r>
              <a:rPr lang="en-US" b="1"/>
              <a:t>Activities</a:t>
            </a:r>
          </a:p>
          <a:p>
            <a:pPr marL="457200" indent="-457200">
              <a:buFont typeface="+mj-lt"/>
              <a:buAutoNum type="arabicPeriod"/>
            </a:pPr>
            <a:r>
              <a:rPr lang="en-US" sz="1800"/>
              <a:t>Use the method of your choice to capture all maturity assessments performed in Step 3, Define/Enhance Capability Architecture, of the MITA 4.0 Process. CMS offers an optional proof-of-concept SS-A Tool for SMA use in capturing maturity assessments.</a:t>
            </a:r>
          </a:p>
          <a:p>
            <a:pPr marL="457200" indent="-457200">
              <a:buFont typeface="+mj-lt"/>
              <a:buAutoNum type="arabicPeriod"/>
            </a:pPr>
            <a:r>
              <a:rPr lang="en-US" sz="1800"/>
              <a:t>Use SS-A Tool function to generate a .csv file of the assessment results in the CMS required format, the Maturity Profile. If not using optional SS-A tool, compile maturity assessment results using CMS spreadsheet template and save as a .csv file.</a:t>
            </a:r>
          </a:p>
          <a:p>
            <a:pPr marL="457200" indent="-457200">
              <a:buFont typeface="+mj-lt"/>
              <a:buAutoNum type="arabicPeriod"/>
            </a:pPr>
            <a:r>
              <a:rPr lang="en-US" sz="1800"/>
              <a:t>Import Maturity </a:t>
            </a:r>
            <a:r>
              <a:rPr lang="en-US" sz="1800" err="1"/>
              <a:t>Profile.csv</a:t>
            </a:r>
            <a:r>
              <a:rPr lang="en-US" sz="1800"/>
              <a:t> file of maturity assessment results into MESH and notify State Officer that file is ready for review.  </a:t>
            </a:r>
          </a:p>
          <a:p>
            <a:pPr marL="457200" indent="-457200">
              <a:buFont typeface="+mj-lt"/>
              <a:buAutoNum type="arabicPeriod"/>
            </a:pPr>
            <a:endParaRPr lang="en-US" sz="1800"/>
          </a:p>
          <a:p>
            <a:pPr marL="0" indent="0">
              <a:buNone/>
            </a:pPr>
            <a:endParaRPr lang="en-US" sz="1800"/>
          </a:p>
          <a:p>
            <a:pPr marL="457200" indent="-457200">
              <a:buFont typeface="+mj-lt"/>
              <a:buAutoNum type="arabicPeriod"/>
            </a:pPr>
            <a:endParaRPr lang="en-US" b="1"/>
          </a:p>
          <a:p>
            <a:pPr marL="914400" lvl="1" indent="-457200">
              <a:buFont typeface="+mj-lt"/>
              <a:buAutoNum type="arabicPeriod"/>
            </a:pPr>
            <a:endParaRPr lang="en-US"/>
          </a:p>
        </p:txBody>
      </p:sp>
    </p:spTree>
    <p:extLst>
      <p:ext uri="{BB962C8B-B14F-4D97-AF65-F5344CB8AC3E}">
        <p14:creationId xmlns:p14="http://schemas.microsoft.com/office/powerpoint/2010/main" val="21998541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4EE86-A96E-E367-326B-54B6A0A7D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AC99D-5A91-368E-863F-4CFE92757164}"/>
              </a:ext>
            </a:extLst>
          </p:cNvPr>
          <p:cNvSpPr>
            <a:spLocks noGrp="1"/>
          </p:cNvSpPr>
          <p:nvPr>
            <p:ph type="title"/>
          </p:nvPr>
        </p:nvSpPr>
        <p:spPr/>
        <p:txBody>
          <a:bodyPr/>
          <a:lstStyle/>
          <a:p>
            <a:r>
              <a:rPr lang="en-US"/>
              <a:t>4.2 Develop or Update SS-A Executive Summary and Roadmap</a:t>
            </a:r>
          </a:p>
        </p:txBody>
      </p:sp>
      <p:sp>
        <p:nvSpPr>
          <p:cNvPr id="3" name="Content Placeholder 2">
            <a:extLst>
              <a:ext uri="{FF2B5EF4-FFF2-40B4-BE49-F238E27FC236}">
                <a16:creationId xmlns:a16="http://schemas.microsoft.com/office/drawing/2014/main" id="{327CC2DA-4347-E102-FD27-014C768717F1}"/>
              </a:ext>
            </a:extLst>
          </p:cNvPr>
          <p:cNvSpPr>
            <a:spLocks noGrp="1"/>
          </p:cNvSpPr>
          <p:nvPr>
            <p:ph idx="1"/>
          </p:nvPr>
        </p:nvSpPr>
        <p:spPr>
          <a:xfrm>
            <a:off x="1069848" y="2121408"/>
            <a:ext cx="10242586" cy="4251960"/>
          </a:xfrm>
        </p:spPr>
        <p:txBody>
          <a:bodyPr vert="horz" lIns="91440" tIns="45720" rIns="91440" bIns="45720" rtlCol="0" anchor="t">
            <a:normAutofit fontScale="85000" lnSpcReduction="10000"/>
          </a:bodyPr>
          <a:lstStyle/>
          <a:p>
            <a:pPr marL="0" indent="0">
              <a:buNone/>
            </a:pPr>
            <a:r>
              <a:rPr lang="en-US" b="1"/>
              <a:t>Purpose</a:t>
            </a:r>
            <a:endParaRPr lang="en-US"/>
          </a:p>
          <a:p>
            <a:pPr marL="342900" indent="-342900"/>
            <a:r>
              <a:rPr lang="en-US" sz="2100">
                <a:solidFill>
                  <a:srgbClr val="373737"/>
                </a:solidFill>
              </a:rPr>
              <a:t>Provide a visual of</a:t>
            </a:r>
            <a:r>
              <a:rPr lang="en-US" sz="2100">
                <a:solidFill>
                  <a:srgbClr val="373737"/>
                </a:solidFill>
                <a:ea typeface="+mn-lt"/>
                <a:cs typeface="+mn-lt"/>
              </a:rPr>
              <a:t> critical business needs and </a:t>
            </a:r>
            <a:r>
              <a:rPr lang="en-US"/>
              <a:t>and planned Medicaid enterprise initiatives</a:t>
            </a:r>
            <a:r>
              <a:rPr lang="en-US" sz="2100">
                <a:solidFill>
                  <a:srgbClr val="373737"/>
                </a:solidFill>
                <a:ea typeface="+mn-lt"/>
                <a:cs typeface="+mn-lt"/>
              </a:rPr>
              <a:t>.</a:t>
            </a:r>
            <a:endParaRPr lang="en-US" sz="2100"/>
          </a:p>
          <a:p>
            <a:pPr marL="0" indent="0">
              <a:buNone/>
            </a:pPr>
            <a:r>
              <a:rPr lang="en-US" b="1"/>
              <a:t>Goal</a:t>
            </a:r>
          </a:p>
          <a:p>
            <a:pPr marL="285750" indent="-285750">
              <a:buClr>
                <a:srgbClr val="9E3611"/>
              </a:buClr>
            </a:pPr>
            <a:r>
              <a:rPr lang="en-US" sz="2100">
                <a:ea typeface="+mn-lt"/>
                <a:cs typeface="+mn-lt"/>
              </a:rPr>
              <a:t>Establish clear priorities.</a:t>
            </a:r>
            <a:endParaRPr lang="en-US" sz="2100"/>
          </a:p>
          <a:p>
            <a:pPr marL="285750" indent="-285750">
              <a:buClr>
                <a:srgbClr val="9E3611"/>
              </a:buClr>
            </a:pPr>
            <a:r>
              <a:rPr lang="en-US" sz="2100">
                <a:ea typeface="+mn-lt"/>
                <a:cs typeface="+mn-lt"/>
              </a:rPr>
              <a:t>Align initiatives with strategic business objectives.</a:t>
            </a:r>
            <a:endParaRPr lang="en-US" sz="2100"/>
          </a:p>
          <a:p>
            <a:r>
              <a:rPr lang="en-US"/>
              <a:t>Develop a visual representation of the MES initiative(s) that enables CMS and SMA partner understanding of agencies MES priorities, their sequencing, and their key milestones. </a:t>
            </a:r>
          </a:p>
          <a:p>
            <a:pPr marL="0" indent="0">
              <a:buNone/>
            </a:pPr>
            <a:r>
              <a:rPr lang="en-US" b="1"/>
              <a:t>Triggers</a:t>
            </a:r>
          </a:p>
          <a:p>
            <a:r>
              <a:rPr lang="en-US" sz="2100"/>
              <a:t>Maturity assessment has been completed and documented; based on results, potential initiatives have been identified.</a:t>
            </a:r>
          </a:p>
          <a:p>
            <a:pPr marL="0" indent="0">
              <a:buNone/>
            </a:pPr>
            <a:r>
              <a:rPr lang="en-US" b="1"/>
              <a:t>Output</a:t>
            </a:r>
          </a:p>
          <a:p>
            <a:pPr marL="285750" indent="-285750"/>
            <a:r>
              <a:rPr lang="en-US" sz="2100"/>
              <a:t>A</a:t>
            </a:r>
            <a:r>
              <a:rPr lang="en-US" sz="2100">
                <a:ea typeface="+mn-lt"/>
                <a:cs typeface="+mn-lt"/>
              </a:rPr>
              <a:t> detailed roadmap outlining priorities, milestones, and timelines.</a:t>
            </a:r>
            <a:endParaRPr lang="en-US" sz="2100"/>
          </a:p>
          <a:p>
            <a:pPr marL="274320" lvl="1" indent="0">
              <a:buClr>
                <a:srgbClr val="9E3611"/>
              </a:buClr>
              <a:buNone/>
            </a:pPr>
            <a:endParaRPr lang="en-US" sz="1000">
              <a:solidFill>
                <a:srgbClr val="373737"/>
              </a:solidFill>
            </a:endParaRPr>
          </a:p>
        </p:txBody>
      </p:sp>
    </p:spTree>
    <p:extLst>
      <p:ext uri="{BB962C8B-B14F-4D97-AF65-F5344CB8AC3E}">
        <p14:creationId xmlns:p14="http://schemas.microsoft.com/office/powerpoint/2010/main" val="1139638330"/>
      </p:ext>
    </p:extLst>
  </p:cSld>
  <p:clrMapOvr>
    <a:masterClrMapping/>
  </p:clrMapOvr>
  <p:extLst>
    <p:ext uri="{6950BFC3-D8DA-4A85-94F7-54DA5524770B}">
      <p188:commentRel xmlns:p188="http://schemas.microsoft.com/office/powerpoint/2018/8/main" r:id="rId2"/>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E7195-A000-7411-F4A9-DFF45D6A8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43126-99E5-9263-D8B1-685E3DAC8711}"/>
              </a:ext>
            </a:extLst>
          </p:cNvPr>
          <p:cNvSpPr>
            <a:spLocks noGrp="1"/>
          </p:cNvSpPr>
          <p:nvPr>
            <p:ph type="title"/>
          </p:nvPr>
        </p:nvSpPr>
        <p:spPr/>
        <p:txBody>
          <a:bodyPr>
            <a:normAutofit/>
          </a:bodyPr>
          <a:lstStyle/>
          <a:p>
            <a:r>
              <a:rPr lang="en-US"/>
              <a:t>4.2 Activities</a:t>
            </a:r>
            <a:endParaRPr lang="en-US">
              <a:latin typeface="Rockwell Condensed"/>
            </a:endParaRPr>
          </a:p>
        </p:txBody>
      </p:sp>
      <p:sp>
        <p:nvSpPr>
          <p:cNvPr id="3" name="Content Placeholder 2">
            <a:extLst>
              <a:ext uri="{FF2B5EF4-FFF2-40B4-BE49-F238E27FC236}">
                <a16:creationId xmlns:a16="http://schemas.microsoft.com/office/drawing/2014/main" id="{1A478C46-969D-EE2C-B04C-FEF5C0FF3552}"/>
              </a:ext>
            </a:extLst>
          </p:cNvPr>
          <p:cNvSpPr>
            <a:spLocks noGrp="1"/>
          </p:cNvSpPr>
          <p:nvPr>
            <p:ph idx="1"/>
          </p:nvPr>
        </p:nvSpPr>
        <p:spPr/>
        <p:txBody>
          <a:bodyPr>
            <a:normAutofit/>
          </a:bodyPr>
          <a:lstStyle/>
          <a:p>
            <a:pPr marL="0" indent="0">
              <a:buNone/>
            </a:pPr>
            <a:r>
              <a:rPr lang="en-US" b="1"/>
              <a:t>Activities</a:t>
            </a:r>
          </a:p>
          <a:p>
            <a:pPr marL="914400" lvl="1" indent="-457200">
              <a:buFont typeface="+mj-lt"/>
              <a:buAutoNum type="arabicPeriod"/>
            </a:pPr>
            <a:r>
              <a:rPr lang="en-US"/>
              <a:t>Utilize the SS-A Executive Summary template and Roadmap visual to document the following: </a:t>
            </a:r>
          </a:p>
          <a:p>
            <a:pPr marL="1188720" lvl="2" indent="-457200"/>
            <a:r>
              <a:rPr lang="en-US"/>
              <a:t>Goals of the initiative of project.</a:t>
            </a:r>
          </a:p>
          <a:p>
            <a:pPr marL="1188720" lvl="2" indent="-457200"/>
            <a:r>
              <a:rPr lang="en-US"/>
              <a:t>Prioritized features and functionalities.</a:t>
            </a:r>
          </a:p>
          <a:p>
            <a:pPr marL="1188720" lvl="2" indent="-457200"/>
            <a:r>
              <a:rPr lang="en-US"/>
              <a:t>Potential risks identified. </a:t>
            </a:r>
          </a:p>
          <a:p>
            <a:pPr marL="1188720" lvl="2" indent="-457200"/>
            <a:r>
              <a:rPr lang="en-US"/>
              <a:t>Mitigation strategies to address identified risks. </a:t>
            </a:r>
          </a:p>
          <a:p>
            <a:pPr marL="1188720" lvl="2" indent="-457200"/>
            <a:r>
              <a:rPr lang="en-US"/>
              <a:t>A visual timeline (e.g., a Gantt chart or other roadmap format) of the SMA’s planned initiatives and projects.</a:t>
            </a:r>
          </a:p>
          <a:p>
            <a:pPr marL="1188720" lvl="2" indent="-457200"/>
            <a:r>
              <a:rPr lang="en-US"/>
              <a:t>Resources and/or support needed for the planned initiative or project.</a:t>
            </a:r>
          </a:p>
          <a:p>
            <a:pPr marL="914400" lvl="1" indent="-457200">
              <a:buFont typeface="+mj-lt"/>
              <a:buAutoNum type="arabicPeriod"/>
            </a:pPr>
            <a:endParaRPr lang="en-US"/>
          </a:p>
          <a:p>
            <a:pPr marL="914400" lvl="1" indent="-457200">
              <a:buFont typeface="+mj-lt"/>
              <a:buAutoNum type="arabicPeriod"/>
            </a:pPr>
            <a:endParaRPr lang="en-US"/>
          </a:p>
          <a:p>
            <a:pPr marL="914400" lvl="1" indent="-457200">
              <a:buFont typeface="+mj-lt"/>
              <a:buAutoNum type="arabicPeriod"/>
            </a:pPr>
            <a:endParaRPr lang="en-US"/>
          </a:p>
          <a:p>
            <a:pPr marL="914400" lvl="1" indent="-457200">
              <a:buFont typeface="+mj-lt"/>
              <a:buAutoNum type="arabicPeriod"/>
            </a:pPr>
            <a:endParaRPr lang="en-US"/>
          </a:p>
        </p:txBody>
      </p:sp>
    </p:spTree>
    <p:extLst>
      <p:ext uri="{BB962C8B-B14F-4D97-AF65-F5344CB8AC3E}">
        <p14:creationId xmlns:p14="http://schemas.microsoft.com/office/powerpoint/2010/main" val="1671494428"/>
      </p:ext>
    </p:extLst>
  </p:cSld>
  <p:clrMapOvr>
    <a:masterClrMapping/>
  </p:clrMapOvr>
  <p:extLst>
    <p:ext uri="{6950BFC3-D8DA-4A85-94F7-54DA5524770B}">
      <p188:commentRel xmlns:p188="http://schemas.microsoft.com/office/powerpoint/2018/8/main" r:id="rId2"/>
    </p:ext>
  </p:extLs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39F22-9374-42BF-70B3-0BEB0C7C8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0CE4E-47C5-1439-E8B2-6509B3527B5E}"/>
              </a:ext>
            </a:extLst>
          </p:cNvPr>
          <p:cNvSpPr>
            <a:spLocks noGrp="1"/>
          </p:cNvSpPr>
          <p:nvPr>
            <p:ph type="title"/>
          </p:nvPr>
        </p:nvSpPr>
        <p:spPr>
          <a:xfrm>
            <a:off x="1069848" y="484632"/>
            <a:ext cx="10988339" cy="1637829"/>
          </a:xfrm>
        </p:spPr>
        <p:txBody>
          <a:bodyPr>
            <a:normAutofit fontScale="90000"/>
          </a:bodyPr>
          <a:lstStyle/>
          <a:p>
            <a:r>
              <a:rPr lang="en-US"/>
              <a:t>4.3 Work with Leadership to review SS-A Executive Summary and determine priorities</a:t>
            </a:r>
            <a:br>
              <a:rPr lang="en-US" sz="3600"/>
            </a:br>
            <a:endParaRPr lang="en-US"/>
          </a:p>
        </p:txBody>
      </p:sp>
      <p:sp>
        <p:nvSpPr>
          <p:cNvPr id="3" name="Content Placeholder 2">
            <a:extLst>
              <a:ext uri="{FF2B5EF4-FFF2-40B4-BE49-F238E27FC236}">
                <a16:creationId xmlns:a16="http://schemas.microsoft.com/office/drawing/2014/main" id="{D8B49DF1-8993-9A2D-1F56-877C7AFAFDCF}"/>
              </a:ext>
            </a:extLst>
          </p:cNvPr>
          <p:cNvSpPr>
            <a:spLocks noGrp="1"/>
          </p:cNvSpPr>
          <p:nvPr>
            <p:ph idx="1"/>
          </p:nvPr>
        </p:nvSpPr>
        <p:spPr/>
        <p:txBody>
          <a:bodyPr vert="horz" lIns="91440" tIns="45720" rIns="91440" bIns="45720" rtlCol="0" anchor="t">
            <a:normAutofit/>
          </a:bodyPr>
          <a:lstStyle/>
          <a:p>
            <a:pPr marL="0" indent="0">
              <a:buNone/>
            </a:pPr>
            <a:r>
              <a:rPr lang="en-US" b="1"/>
              <a:t>Purpose</a:t>
            </a:r>
          </a:p>
          <a:p>
            <a:pPr lvl="1"/>
            <a:r>
              <a:rPr lang="en-US"/>
              <a:t>Review the SS-A Executive Summary that includes the Maturity Profile and a draft of a Roadmap with SMA leadership to determine areas of focus.</a:t>
            </a:r>
          </a:p>
          <a:p>
            <a:pPr marL="0" indent="0">
              <a:buNone/>
            </a:pPr>
            <a:r>
              <a:rPr lang="en-US" b="1"/>
              <a:t>Goal</a:t>
            </a:r>
          </a:p>
          <a:p>
            <a:pPr lvl="1"/>
            <a:r>
              <a:rPr lang="en-US"/>
              <a:t>SMA Leaders understand the current and desired future state of the SMA’s capability domains and agree on priorities to address for increasing maturity levels. </a:t>
            </a:r>
          </a:p>
          <a:p>
            <a:pPr marL="0" indent="0">
              <a:buNone/>
            </a:pPr>
            <a:r>
              <a:rPr lang="en-US" b="1"/>
              <a:t>Triggers</a:t>
            </a:r>
          </a:p>
          <a:p>
            <a:pPr lvl="1"/>
            <a:r>
              <a:rPr lang="en-US"/>
              <a:t>SS-A Executive Summary, Maturity Profile, and a draft of a Roadmap is completed.</a:t>
            </a:r>
          </a:p>
          <a:p>
            <a:pPr marL="0" indent="0">
              <a:buNone/>
            </a:pPr>
            <a:r>
              <a:rPr lang="en-US" b="1"/>
              <a:t>Output</a:t>
            </a:r>
          </a:p>
          <a:p>
            <a:pPr lvl="1"/>
            <a:r>
              <a:rPr lang="en-US"/>
              <a:t>A prioritized list of initiatives or projects for increasing maturity levels and an updated or finalized Roadmap. </a:t>
            </a:r>
          </a:p>
        </p:txBody>
      </p:sp>
    </p:spTree>
    <p:extLst>
      <p:ext uri="{BB962C8B-B14F-4D97-AF65-F5344CB8AC3E}">
        <p14:creationId xmlns:p14="http://schemas.microsoft.com/office/powerpoint/2010/main" val="8971928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697FF-DAE2-7100-274C-4E1D1599D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314A9-143B-119C-C2E9-F3ABC8A74EE6}"/>
              </a:ext>
            </a:extLst>
          </p:cNvPr>
          <p:cNvSpPr>
            <a:spLocks noGrp="1"/>
          </p:cNvSpPr>
          <p:nvPr>
            <p:ph type="title"/>
          </p:nvPr>
        </p:nvSpPr>
        <p:spPr/>
        <p:txBody>
          <a:bodyPr>
            <a:normAutofit/>
          </a:bodyPr>
          <a:lstStyle/>
          <a:p>
            <a:r>
              <a:rPr lang="en-US"/>
              <a:t>4.3. Activities</a:t>
            </a:r>
          </a:p>
        </p:txBody>
      </p:sp>
      <p:sp>
        <p:nvSpPr>
          <p:cNvPr id="3" name="Content Placeholder 2">
            <a:extLst>
              <a:ext uri="{FF2B5EF4-FFF2-40B4-BE49-F238E27FC236}">
                <a16:creationId xmlns:a16="http://schemas.microsoft.com/office/drawing/2014/main" id="{B0125ED9-0952-C237-9CCC-BB4D2E669987}"/>
              </a:ext>
            </a:extLst>
          </p:cNvPr>
          <p:cNvSpPr>
            <a:spLocks noGrp="1"/>
          </p:cNvSpPr>
          <p:nvPr>
            <p:ph idx="1"/>
          </p:nvPr>
        </p:nvSpPr>
        <p:spPr/>
        <p:txBody>
          <a:bodyPr vert="horz" lIns="91440" tIns="45720" rIns="91440" bIns="45720" rtlCol="0" anchor="t">
            <a:normAutofit/>
          </a:bodyPr>
          <a:lstStyle/>
          <a:p>
            <a:pPr marL="0" indent="0">
              <a:buNone/>
            </a:pPr>
            <a:r>
              <a:rPr lang="en-US" b="1"/>
              <a:t>Activities</a:t>
            </a:r>
          </a:p>
          <a:p>
            <a:pPr marL="457200" indent="-457200">
              <a:buFont typeface="+mj-lt"/>
              <a:buAutoNum type="arabicPeriod"/>
            </a:pPr>
            <a:r>
              <a:rPr lang="en-US" sz="1800"/>
              <a:t>Submit the SS-A Executive Summary that includes Maturity Profile and draft Roadmap to leadership and request to brief leadership on SS-A findings.</a:t>
            </a:r>
          </a:p>
          <a:p>
            <a:pPr marL="457200" indent="-457200">
              <a:buFont typeface="+mj-lt"/>
              <a:buAutoNum type="arabicPeriod"/>
            </a:pPr>
            <a:r>
              <a:rPr lang="en-US" sz="1800"/>
              <a:t>Review the Maturity Profile with SMA leadership and discuss the results of maturity assessments across Capability Domains. </a:t>
            </a:r>
          </a:p>
          <a:p>
            <a:pPr marL="457200" indent="-457200">
              <a:buFont typeface="+mj-lt"/>
              <a:buAutoNum type="arabicPeriod"/>
            </a:pPr>
            <a:r>
              <a:rPr lang="en-US" sz="1800"/>
              <a:t>Based on maturity scores or SMA specific needs, determine leadership’s priorities on what to address first. </a:t>
            </a:r>
          </a:p>
          <a:p>
            <a:pPr marL="457200" indent="-457200">
              <a:buFont typeface="+mj-lt"/>
              <a:buAutoNum type="arabicPeriod"/>
            </a:pPr>
            <a:r>
              <a:rPr lang="en-US" sz="1800"/>
              <a:t>Review leadership priorities with the initial draft of the Roadmap’s presentation of initiatives or projects to improve maturity.</a:t>
            </a:r>
          </a:p>
          <a:p>
            <a:pPr marL="457200" indent="-457200">
              <a:buFont typeface="+mj-lt"/>
              <a:buAutoNum type="arabicPeriod"/>
            </a:pPr>
            <a:r>
              <a:rPr lang="en-US" sz="1800"/>
              <a:t>If leadership priorities differ, update and finalize Roadmap to align with leadership’s direction. </a:t>
            </a:r>
          </a:p>
          <a:p>
            <a:pPr marL="457200" indent="-457200">
              <a:buFont typeface="+mj-lt"/>
              <a:buAutoNum type="arabicPeriod"/>
            </a:pPr>
            <a:endParaRPr lang="en-US" sz="1800"/>
          </a:p>
          <a:p>
            <a:pPr marL="457200" indent="-457200">
              <a:buFont typeface="+mj-lt"/>
              <a:buAutoNum type="arabicPeriod"/>
            </a:pPr>
            <a:endParaRPr lang="en-US" b="1"/>
          </a:p>
          <a:p>
            <a:pPr marL="914400" lvl="1" indent="-457200">
              <a:buFont typeface="+mj-lt"/>
              <a:buAutoNum type="arabicPeriod"/>
            </a:pPr>
            <a:endParaRPr lang="en-US"/>
          </a:p>
        </p:txBody>
      </p:sp>
    </p:spTree>
    <p:extLst>
      <p:ext uri="{BB962C8B-B14F-4D97-AF65-F5344CB8AC3E}">
        <p14:creationId xmlns:p14="http://schemas.microsoft.com/office/powerpoint/2010/main" val="28335264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4DC54-5C6E-8A98-4BE3-4BA8A22D6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66F6E4-9057-400F-67C4-BB916FF5CBAB}"/>
              </a:ext>
            </a:extLst>
          </p:cNvPr>
          <p:cNvSpPr>
            <a:spLocks noGrp="1"/>
          </p:cNvSpPr>
          <p:nvPr>
            <p:ph type="title"/>
          </p:nvPr>
        </p:nvSpPr>
        <p:spPr>
          <a:xfrm>
            <a:off x="971529" y="380129"/>
            <a:ext cx="10248941" cy="1609344"/>
          </a:xfrm>
        </p:spPr>
        <p:txBody>
          <a:bodyPr>
            <a:normAutofit fontScale="90000"/>
          </a:bodyPr>
          <a:lstStyle/>
          <a:p>
            <a:r>
              <a:rPr lang="en-US"/>
              <a:t>4.4 Update/Define Outcomes using Outcomes-Based process for initial priorities</a:t>
            </a:r>
          </a:p>
        </p:txBody>
      </p:sp>
      <p:sp>
        <p:nvSpPr>
          <p:cNvPr id="3" name="Content Placeholder 2">
            <a:extLst>
              <a:ext uri="{FF2B5EF4-FFF2-40B4-BE49-F238E27FC236}">
                <a16:creationId xmlns:a16="http://schemas.microsoft.com/office/drawing/2014/main" id="{B13B90CE-3116-D23F-53C7-5811DD1F67D9}"/>
              </a:ext>
            </a:extLst>
          </p:cNvPr>
          <p:cNvSpPr>
            <a:spLocks noGrp="1"/>
          </p:cNvSpPr>
          <p:nvPr>
            <p:ph idx="1"/>
          </p:nvPr>
        </p:nvSpPr>
        <p:spPr/>
        <p:txBody>
          <a:bodyPr vert="horz" lIns="91440" tIns="45720" rIns="91440" bIns="45720" rtlCol="0" anchor="t">
            <a:normAutofit lnSpcReduction="10000"/>
          </a:bodyPr>
          <a:lstStyle/>
          <a:p>
            <a:pPr marL="0" indent="0">
              <a:buNone/>
            </a:pPr>
            <a:r>
              <a:rPr lang="en-US" b="1"/>
              <a:t>Purpose</a:t>
            </a:r>
          </a:p>
          <a:p>
            <a:pPr lvl="1">
              <a:buClr>
                <a:srgbClr val="9E3611"/>
              </a:buClr>
            </a:pPr>
            <a:r>
              <a:rPr lang="en-US"/>
              <a:t>Initiate OBP process to develop outcomes or revisit previous OBP outcomes to assess progress toward success of projects to address initial priorities. Tracking and assessing outcomes should be a cyclical process to allow for continuous improvement and adaptation in response to changing goals and priorities.</a:t>
            </a:r>
          </a:p>
          <a:p>
            <a:pPr marL="0" indent="0">
              <a:buNone/>
            </a:pPr>
            <a:r>
              <a:rPr lang="en-US" b="1"/>
              <a:t>Goal</a:t>
            </a:r>
          </a:p>
          <a:p>
            <a:pPr lvl="1"/>
            <a:r>
              <a:rPr lang="en-US"/>
              <a:t>Develop or update outcomes and metrics that will assist the SMA in understanding whether they have successfully achieved the project goals. </a:t>
            </a:r>
          </a:p>
          <a:p>
            <a:pPr marL="0" indent="0">
              <a:buNone/>
            </a:pPr>
            <a:r>
              <a:rPr lang="en-US" b="1"/>
              <a:t>Triggers</a:t>
            </a:r>
          </a:p>
          <a:p>
            <a:pPr lvl="1"/>
            <a:r>
              <a:rPr lang="en-US"/>
              <a:t>SMA Leadership’s setting of priority areas of focus to help direct development or updating of outcomes and metrics.</a:t>
            </a:r>
          </a:p>
          <a:p>
            <a:pPr marL="0" indent="0">
              <a:buNone/>
            </a:pPr>
            <a:r>
              <a:rPr lang="en-US" b="1"/>
              <a:t>Output</a:t>
            </a:r>
          </a:p>
          <a:p>
            <a:pPr lvl="1"/>
            <a:r>
              <a:rPr lang="en-US"/>
              <a:t>Metric measurements that indicate whether outcomes were successfully met or not.</a:t>
            </a:r>
          </a:p>
        </p:txBody>
      </p:sp>
    </p:spTree>
    <p:extLst>
      <p:ext uri="{BB962C8B-B14F-4D97-AF65-F5344CB8AC3E}">
        <p14:creationId xmlns:p14="http://schemas.microsoft.com/office/powerpoint/2010/main" val="9076911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4DA75-57E5-4B16-25C2-252D52A84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3C5C4-2D4F-95C3-7855-3AD45D1EF86D}"/>
              </a:ext>
            </a:extLst>
          </p:cNvPr>
          <p:cNvSpPr>
            <a:spLocks noGrp="1"/>
          </p:cNvSpPr>
          <p:nvPr>
            <p:ph type="title"/>
          </p:nvPr>
        </p:nvSpPr>
        <p:spPr/>
        <p:txBody>
          <a:bodyPr>
            <a:normAutofit/>
          </a:bodyPr>
          <a:lstStyle/>
          <a:p>
            <a:r>
              <a:rPr lang="en-US"/>
              <a:t>4.4. Activities</a:t>
            </a:r>
          </a:p>
        </p:txBody>
      </p:sp>
      <p:sp>
        <p:nvSpPr>
          <p:cNvPr id="3" name="Content Placeholder 2">
            <a:extLst>
              <a:ext uri="{FF2B5EF4-FFF2-40B4-BE49-F238E27FC236}">
                <a16:creationId xmlns:a16="http://schemas.microsoft.com/office/drawing/2014/main" id="{7CFE52BE-4452-42D8-7806-08CA12F7013C}"/>
              </a:ext>
            </a:extLst>
          </p:cNvPr>
          <p:cNvSpPr>
            <a:spLocks noGrp="1"/>
          </p:cNvSpPr>
          <p:nvPr>
            <p:ph idx="1"/>
          </p:nvPr>
        </p:nvSpPr>
        <p:spPr/>
        <p:txBody>
          <a:bodyPr vert="horz" lIns="91440" tIns="45720" rIns="91440" bIns="45720" rtlCol="0" anchor="t">
            <a:normAutofit/>
          </a:bodyPr>
          <a:lstStyle/>
          <a:p>
            <a:pPr marL="0" indent="0">
              <a:buNone/>
            </a:pPr>
            <a:r>
              <a:rPr lang="en-US" b="1"/>
              <a:t>Activities</a:t>
            </a:r>
          </a:p>
          <a:p>
            <a:pPr marL="457200" indent="-457200">
              <a:buFont typeface="+mj-lt"/>
              <a:buAutoNum type="arabicPeriod"/>
            </a:pPr>
            <a:r>
              <a:rPr lang="en-US" sz="1800"/>
              <a:t>Work with Subject Matter Experts (SMEs) to define desired outcomes or update previously developed outcomes and develop associated metrics.</a:t>
            </a:r>
          </a:p>
          <a:p>
            <a:pPr marL="457200" indent="-457200">
              <a:buFont typeface="+mj-lt"/>
              <a:buAutoNum type="arabicPeriod"/>
            </a:pPr>
            <a:r>
              <a:rPr lang="en-US" sz="1800"/>
              <a:t>Use outcomes and related metrics to assess progress toward success. </a:t>
            </a:r>
          </a:p>
          <a:p>
            <a:pPr marL="731520" lvl="1" indent="-457200">
              <a:buFont typeface="+mj-lt"/>
              <a:buAutoNum type="alphaLcParenR"/>
            </a:pPr>
            <a:r>
              <a:rPr lang="en-US"/>
              <a:t>If goal is successfully achieved, restart the OBP process to define new goals for next identified priority and work toward continued growth.</a:t>
            </a:r>
          </a:p>
          <a:p>
            <a:pPr marL="731520" lvl="1" indent="-457200">
              <a:buFont typeface="+mj-lt"/>
              <a:buAutoNum type="alphaLcParenR"/>
            </a:pPr>
            <a:r>
              <a:rPr lang="en-US"/>
              <a:t>If no, continue tracking progress and reassess outcomes for initial priority.</a:t>
            </a:r>
          </a:p>
          <a:p>
            <a:pPr marL="731520" lvl="1" indent="-457200">
              <a:buFont typeface="+mj-lt"/>
              <a:buAutoNum type="alphaLcParenR"/>
            </a:pPr>
            <a:r>
              <a:rPr lang="en-US"/>
              <a:t>Routinely reassess and determine if goals have changed:</a:t>
            </a:r>
          </a:p>
          <a:p>
            <a:pPr marL="1005840" lvl="2" indent="-457200">
              <a:buFont typeface="+mj-lt"/>
              <a:buAutoNum type="arabicPeriod"/>
            </a:pPr>
            <a:r>
              <a:rPr lang="en-US" sz="1800"/>
              <a:t>If goals have changed, restart the process with new priorities.</a:t>
            </a:r>
          </a:p>
          <a:p>
            <a:pPr marL="1005840" lvl="2" indent="-457200">
              <a:buFont typeface="+mj-lt"/>
              <a:buAutoNum type="arabicPeriod"/>
            </a:pPr>
            <a:r>
              <a:rPr lang="en-US" sz="1800"/>
              <a:t>If goals have not changed, restart the process for continued growth.</a:t>
            </a:r>
          </a:p>
          <a:p>
            <a:pPr marL="1005840" lvl="2" indent="-457200">
              <a:buFont typeface="+mj-lt"/>
              <a:buAutoNum type="arabicPeriod"/>
            </a:pPr>
            <a:endParaRPr lang="en-US" sz="1400"/>
          </a:p>
          <a:p>
            <a:pPr marL="457200" indent="-457200">
              <a:buFont typeface="+mj-lt"/>
              <a:buAutoNum type="arabicPeriod"/>
            </a:pPr>
            <a:endParaRPr lang="en-US" b="1"/>
          </a:p>
          <a:p>
            <a:pPr marL="914400" lvl="1" indent="-457200">
              <a:buFont typeface="+mj-lt"/>
              <a:buAutoNum type="arabicPeriod"/>
            </a:pPr>
            <a:endParaRPr lang="en-US"/>
          </a:p>
        </p:txBody>
      </p:sp>
    </p:spTree>
    <p:extLst>
      <p:ext uri="{BB962C8B-B14F-4D97-AF65-F5344CB8AC3E}">
        <p14:creationId xmlns:p14="http://schemas.microsoft.com/office/powerpoint/2010/main" val="625733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5DD78-42E3-BCAB-BA35-3ECB183F6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42703-44A6-3374-454D-A3F483969E21}"/>
              </a:ext>
            </a:extLst>
          </p:cNvPr>
          <p:cNvSpPr>
            <a:spLocks noGrp="1"/>
          </p:cNvSpPr>
          <p:nvPr>
            <p:ph type="title"/>
          </p:nvPr>
        </p:nvSpPr>
        <p:spPr>
          <a:xfrm>
            <a:off x="1069847" y="484632"/>
            <a:ext cx="10248941" cy="1609344"/>
          </a:xfrm>
        </p:spPr>
        <p:txBody>
          <a:bodyPr>
            <a:normAutofit fontScale="90000"/>
          </a:bodyPr>
          <a:lstStyle/>
          <a:p>
            <a:r>
              <a:rPr lang="en-US"/>
              <a:t>4.5 Execute projects to achieve desired outcomes</a:t>
            </a:r>
            <a:br>
              <a:rPr lang="en-US"/>
            </a:br>
            <a:endParaRPr lang="en-US"/>
          </a:p>
        </p:txBody>
      </p:sp>
      <p:sp>
        <p:nvSpPr>
          <p:cNvPr id="3" name="Content Placeholder 2">
            <a:extLst>
              <a:ext uri="{FF2B5EF4-FFF2-40B4-BE49-F238E27FC236}">
                <a16:creationId xmlns:a16="http://schemas.microsoft.com/office/drawing/2014/main" id="{7F1959A7-F542-F14D-9067-43F79226345B}"/>
              </a:ext>
            </a:extLst>
          </p:cNvPr>
          <p:cNvSpPr>
            <a:spLocks noGrp="1"/>
          </p:cNvSpPr>
          <p:nvPr>
            <p:ph idx="1"/>
          </p:nvPr>
        </p:nvSpPr>
        <p:spPr/>
        <p:txBody>
          <a:bodyPr vert="horz" lIns="91440" tIns="45720" rIns="91440" bIns="45720" rtlCol="0" anchor="t">
            <a:normAutofit/>
          </a:bodyPr>
          <a:lstStyle/>
          <a:p>
            <a:pPr marL="0" indent="0">
              <a:buNone/>
            </a:pPr>
            <a:r>
              <a:rPr lang="en-US" b="1"/>
              <a:t>Purpose</a:t>
            </a:r>
          </a:p>
          <a:p>
            <a:pPr lvl="1">
              <a:buClr>
                <a:srgbClr val="9E3611"/>
              </a:buClr>
            </a:pPr>
            <a:r>
              <a:rPr lang="en-US"/>
              <a:t>Depending on the solution required, execute operational or technical projects to achieve desired outcome.</a:t>
            </a:r>
          </a:p>
          <a:p>
            <a:pPr>
              <a:buClr>
                <a:srgbClr val="9E3611"/>
              </a:buClr>
            </a:pPr>
            <a:r>
              <a:rPr lang="en-US" b="1"/>
              <a:t>Goal</a:t>
            </a:r>
          </a:p>
          <a:p>
            <a:pPr lvl="1"/>
            <a:r>
              <a:rPr lang="en-US"/>
              <a:t>The SMA initiates a project to address outcome(s) and begins to work toward a solution.</a:t>
            </a:r>
          </a:p>
          <a:p>
            <a:r>
              <a:rPr lang="en-US" b="1"/>
              <a:t>Triggers</a:t>
            </a:r>
          </a:p>
          <a:p>
            <a:pPr lvl="1"/>
            <a:r>
              <a:rPr lang="en-US"/>
              <a:t>Development of new outcomes related to the project to be initiated or an assessment of metrics on previously defined outcomes that indicates that the goal has not been achieved and a new project needs to be initiated to continue to work toward a solution.</a:t>
            </a:r>
          </a:p>
          <a:p>
            <a:r>
              <a:rPr lang="en-US" b="1"/>
              <a:t>Output</a:t>
            </a:r>
          </a:p>
          <a:p>
            <a:pPr lvl="1"/>
            <a:r>
              <a:rPr lang="en-US"/>
              <a:t>Project initiated. </a:t>
            </a:r>
          </a:p>
        </p:txBody>
      </p:sp>
    </p:spTree>
    <p:extLst>
      <p:ext uri="{BB962C8B-B14F-4D97-AF65-F5344CB8AC3E}">
        <p14:creationId xmlns:p14="http://schemas.microsoft.com/office/powerpoint/2010/main" val="3842404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3A28E-3CCA-59FF-0C75-EAEF10578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8D689-8C60-CC37-06F3-DDF14F0A0C14}"/>
              </a:ext>
            </a:extLst>
          </p:cNvPr>
          <p:cNvSpPr>
            <a:spLocks noGrp="1"/>
          </p:cNvSpPr>
          <p:nvPr>
            <p:ph type="title"/>
          </p:nvPr>
        </p:nvSpPr>
        <p:spPr/>
        <p:txBody>
          <a:bodyPr>
            <a:normAutofit/>
          </a:bodyPr>
          <a:lstStyle/>
          <a:p>
            <a:r>
              <a:rPr lang="en-US"/>
              <a:t>4.5 Activities</a:t>
            </a:r>
          </a:p>
        </p:txBody>
      </p:sp>
      <p:sp>
        <p:nvSpPr>
          <p:cNvPr id="3" name="Content Placeholder 2">
            <a:extLst>
              <a:ext uri="{FF2B5EF4-FFF2-40B4-BE49-F238E27FC236}">
                <a16:creationId xmlns:a16="http://schemas.microsoft.com/office/drawing/2014/main" id="{616EAC84-72CE-4478-46CA-60378EFB1B18}"/>
              </a:ext>
            </a:extLst>
          </p:cNvPr>
          <p:cNvSpPr>
            <a:spLocks noGrp="1"/>
          </p:cNvSpPr>
          <p:nvPr>
            <p:ph idx="1"/>
          </p:nvPr>
        </p:nvSpPr>
        <p:spPr/>
        <p:txBody>
          <a:bodyPr vert="horz" lIns="91440" tIns="45720" rIns="91440" bIns="45720" rtlCol="0" anchor="t">
            <a:normAutofit/>
          </a:bodyPr>
          <a:lstStyle/>
          <a:p>
            <a:pPr marL="0" indent="0">
              <a:buNone/>
            </a:pPr>
            <a:r>
              <a:rPr lang="en-US" b="1"/>
              <a:t>Activities</a:t>
            </a:r>
          </a:p>
          <a:p>
            <a:pPr marL="457200" indent="-457200">
              <a:buFont typeface="+mj-lt"/>
              <a:buAutoNum type="arabicPeriod"/>
            </a:pPr>
            <a:r>
              <a:rPr lang="en-US" sz="1800"/>
              <a:t>Initiate project and periodically assess progress using metrics.</a:t>
            </a:r>
          </a:p>
          <a:p>
            <a:pPr marL="457200" indent="-457200">
              <a:buFont typeface="+mj-lt"/>
              <a:buAutoNum type="arabicPeriod"/>
            </a:pPr>
            <a:endParaRPr lang="en-US" sz="1800"/>
          </a:p>
          <a:p>
            <a:pPr marL="914400" lvl="1" indent="-457200">
              <a:buFont typeface="+mj-lt"/>
              <a:buAutoNum type="arabicPeriod"/>
            </a:pPr>
            <a:endParaRPr lang="en-US"/>
          </a:p>
        </p:txBody>
      </p:sp>
    </p:spTree>
    <p:extLst>
      <p:ext uri="{BB962C8B-B14F-4D97-AF65-F5344CB8AC3E}">
        <p14:creationId xmlns:p14="http://schemas.microsoft.com/office/powerpoint/2010/main" val="6232537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E7DFF-8D3C-411D-E8AB-7D1DC19B7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0F055-A83E-EC48-B7F2-D62589B8903B}"/>
              </a:ext>
            </a:extLst>
          </p:cNvPr>
          <p:cNvSpPr>
            <a:spLocks noGrp="1"/>
          </p:cNvSpPr>
          <p:nvPr>
            <p:ph type="title"/>
          </p:nvPr>
        </p:nvSpPr>
        <p:spPr/>
        <p:txBody>
          <a:bodyPr/>
          <a:lstStyle/>
          <a:p>
            <a:r>
              <a:rPr lang="en-US"/>
              <a:t>Differences between MITA 3.0 and 4.0</a:t>
            </a:r>
          </a:p>
        </p:txBody>
      </p:sp>
      <p:sp>
        <p:nvSpPr>
          <p:cNvPr id="3" name="Text Placeholder 2">
            <a:extLst>
              <a:ext uri="{FF2B5EF4-FFF2-40B4-BE49-F238E27FC236}">
                <a16:creationId xmlns:a16="http://schemas.microsoft.com/office/drawing/2014/main" id="{FC4820F8-11C8-0D5D-6036-953336B913F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614584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762F887-1F56-7105-46BB-9D5AA5D7D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 y="0"/>
            <a:ext cx="10591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3847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97851-8B1A-7CEE-58D6-5BCDD0CC2F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73788E-4F32-8983-D6AE-7664743566D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999580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DEF7-0754-AC6E-B259-2953A8FC6192}"/>
              </a:ext>
            </a:extLst>
          </p:cNvPr>
          <p:cNvSpPr>
            <a:spLocks noGrp="1"/>
          </p:cNvSpPr>
          <p:nvPr>
            <p:ph type="title"/>
          </p:nvPr>
        </p:nvSpPr>
        <p:spPr/>
        <p:txBody>
          <a:bodyPr/>
          <a:lstStyle/>
          <a:p>
            <a:r>
              <a:rPr lang="en-US"/>
              <a:t>Example 1: Provider Enrollment</a:t>
            </a:r>
          </a:p>
        </p:txBody>
      </p:sp>
      <p:sp>
        <p:nvSpPr>
          <p:cNvPr id="3" name="Text Placeholder 2">
            <a:extLst>
              <a:ext uri="{FF2B5EF4-FFF2-40B4-BE49-F238E27FC236}">
                <a16:creationId xmlns:a16="http://schemas.microsoft.com/office/drawing/2014/main" id="{AD810E41-D15A-0BF9-3FDB-B22CA56E6E2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503177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65E54-F237-CB77-9918-9D17DDA40D81}"/>
              </a:ext>
            </a:extLst>
          </p:cNvPr>
          <p:cNvSpPr>
            <a:spLocks noGrp="1"/>
          </p:cNvSpPr>
          <p:nvPr>
            <p:ph type="title"/>
          </p:nvPr>
        </p:nvSpPr>
        <p:spPr/>
        <p:txBody>
          <a:bodyPr/>
          <a:lstStyle/>
          <a:p>
            <a:r>
              <a:rPr lang="en-US"/>
              <a:t>Example 1</a:t>
            </a:r>
          </a:p>
        </p:txBody>
      </p:sp>
      <p:sp>
        <p:nvSpPr>
          <p:cNvPr id="3" name="Content Placeholder 2">
            <a:extLst>
              <a:ext uri="{FF2B5EF4-FFF2-40B4-BE49-F238E27FC236}">
                <a16:creationId xmlns:a16="http://schemas.microsoft.com/office/drawing/2014/main" id="{3BCD8E1F-2CA9-7327-3123-AEF5B503046D}"/>
              </a:ext>
            </a:extLst>
          </p:cNvPr>
          <p:cNvSpPr>
            <a:spLocks noGrp="1"/>
          </p:cNvSpPr>
          <p:nvPr>
            <p:ph idx="1"/>
          </p:nvPr>
        </p:nvSpPr>
        <p:spPr/>
        <p:txBody>
          <a:bodyPr/>
          <a:lstStyle/>
          <a:p>
            <a:r>
              <a:rPr lang="en-US" b="1"/>
              <a:t>Outcome: </a:t>
            </a:r>
            <a:r>
              <a:rPr lang="en-US"/>
              <a:t>Improve efficiency of Provider Enrollment</a:t>
            </a:r>
          </a:p>
          <a:p>
            <a:r>
              <a:rPr lang="en-US" b="1"/>
              <a:t>Capability: </a:t>
            </a:r>
            <a:r>
              <a:rPr lang="en-US"/>
              <a:t>Provider Enrollment</a:t>
            </a:r>
          </a:p>
          <a:p>
            <a:pPr marL="0" indent="0">
              <a:buNone/>
            </a:pPr>
            <a:endParaRPr lang="en-US"/>
          </a:p>
        </p:txBody>
      </p:sp>
    </p:spTree>
    <p:extLst>
      <p:ext uri="{BB962C8B-B14F-4D97-AF65-F5344CB8AC3E}">
        <p14:creationId xmlns:p14="http://schemas.microsoft.com/office/powerpoint/2010/main" val="29851122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EDC09-0E5D-3428-99E4-B7398FE54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35F38-9FE5-3CB1-1CF8-D32B139026E9}"/>
              </a:ext>
            </a:extLst>
          </p:cNvPr>
          <p:cNvSpPr>
            <a:spLocks noGrp="1"/>
          </p:cNvSpPr>
          <p:nvPr>
            <p:ph type="title"/>
          </p:nvPr>
        </p:nvSpPr>
        <p:spPr/>
        <p:txBody>
          <a:bodyPr>
            <a:normAutofit/>
          </a:bodyPr>
          <a:lstStyle/>
          <a:p>
            <a:r>
              <a:rPr lang="en-US"/>
              <a:t>1. Identify IA Reference Models/Viewpoints </a:t>
            </a:r>
          </a:p>
        </p:txBody>
      </p:sp>
      <p:sp>
        <p:nvSpPr>
          <p:cNvPr id="9" name="Rectangle 8">
            <a:extLst>
              <a:ext uri="{FF2B5EF4-FFF2-40B4-BE49-F238E27FC236}">
                <a16:creationId xmlns:a16="http://schemas.microsoft.com/office/drawing/2014/main" id="{54257E0F-5838-E6D1-2AB9-173F7DF4A221}"/>
              </a:ext>
            </a:extLst>
          </p:cNvPr>
          <p:cNvSpPr/>
          <p:nvPr/>
        </p:nvSpPr>
        <p:spPr>
          <a:xfrm>
            <a:off x="1191491" y="2258290"/>
            <a:ext cx="3352800" cy="3117273"/>
          </a:xfrm>
          <a:prstGeom prst="rect">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a:t>IA Reference Models</a:t>
            </a:r>
          </a:p>
          <a:p>
            <a:pPr algn="ctr"/>
            <a:endParaRPr lang="en-US"/>
          </a:p>
          <a:p>
            <a:pPr marL="285750" indent="-285750">
              <a:buFont typeface="Arial" panose="020B0604020202020204" pitchFamily="34" charset="0"/>
              <a:buChar char="•"/>
            </a:pPr>
            <a:r>
              <a:rPr lang="en-US"/>
              <a:t>Data Reference Model</a:t>
            </a:r>
          </a:p>
          <a:p>
            <a:pPr marL="285750" indent="-285750">
              <a:buFont typeface="Arial" panose="020B0604020202020204" pitchFamily="34" charset="0"/>
              <a:buChar char="•"/>
            </a:pPr>
            <a:r>
              <a:rPr lang="en-US"/>
              <a:t>Capability Reference Model</a:t>
            </a:r>
          </a:p>
        </p:txBody>
      </p:sp>
      <p:sp>
        <p:nvSpPr>
          <p:cNvPr id="11" name="Rectangle 10">
            <a:extLst>
              <a:ext uri="{FF2B5EF4-FFF2-40B4-BE49-F238E27FC236}">
                <a16:creationId xmlns:a16="http://schemas.microsoft.com/office/drawing/2014/main" id="{31F0C71A-CEE8-57EA-555E-F41C25EE3215}"/>
              </a:ext>
            </a:extLst>
          </p:cNvPr>
          <p:cNvSpPr/>
          <p:nvPr/>
        </p:nvSpPr>
        <p:spPr>
          <a:xfrm>
            <a:off x="6428509" y="2258289"/>
            <a:ext cx="3352800" cy="3117273"/>
          </a:xfrm>
          <a:prstGeom prst="rect">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a:t>IA Viewpoints</a:t>
            </a:r>
          </a:p>
          <a:p>
            <a:pPr algn="ctr"/>
            <a:endParaRPr lang="en-US"/>
          </a:p>
          <a:p>
            <a:pPr marL="285750" indent="-285750">
              <a:buFont typeface="Arial" panose="020B0604020202020204" pitchFamily="34" charset="0"/>
              <a:buChar char="•"/>
            </a:pPr>
            <a:r>
              <a:rPr lang="en-US"/>
              <a:t>Conceptual Data Model</a:t>
            </a:r>
          </a:p>
          <a:p>
            <a:pPr marL="285750" indent="-285750">
              <a:buFont typeface="Arial" panose="020B0604020202020204" pitchFamily="34" charset="0"/>
              <a:buChar char="•"/>
            </a:pPr>
            <a:r>
              <a:rPr lang="en-US"/>
              <a:t>Data/Process Viewpoint</a:t>
            </a:r>
          </a:p>
          <a:p>
            <a:pPr marL="285750" indent="-285750">
              <a:buFont typeface="Arial" panose="020B0604020202020204" pitchFamily="34" charset="0"/>
              <a:buChar char="•"/>
            </a:pPr>
            <a:r>
              <a:rPr lang="en-US"/>
              <a:t>Data/Technology Viewpoint</a:t>
            </a: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14308138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80E62-9D34-8201-734E-9373FA7D1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27C88-89C5-77AA-A4ED-6596C116536D}"/>
              </a:ext>
            </a:extLst>
          </p:cNvPr>
          <p:cNvSpPr>
            <a:spLocks noGrp="1"/>
          </p:cNvSpPr>
          <p:nvPr>
            <p:ph type="title"/>
          </p:nvPr>
        </p:nvSpPr>
        <p:spPr/>
        <p:txBody>
          <a:bodyPr>
            <a:normAutofit/>
          </a:bodyPr>
          <a:lstStyle/>
          <a:p>
            <a:r>
              <a:rPr lang="en-US"/>
              <a:t>Example Capability: baseline Provider Enrollment Architecture</a:t>
            </a:r>
          </a:p>
        </p:txBody>
      </p:sp>
      <p:sp>
        <p:nvSpPr>
          <p:cNvPr id="3" name="Rounded Rectangle 2">
            <a:extLst>
              <a:ext uri="{FF2B5EF4-FFF2-40B4-BE49-F238E27FC236}">
                <a16:creationId xmlns:a16="http://schemas.microsoft.com/office/drawing/2014/main" id="{1909C129-BC9B-5580-B7F2-B7306E4A381A}"/>
              </a:ext>
            </a:extLst>
          </p:cNvPr>
          <p:cNvSpPr/>
          <p:nvPr/>
        </p:nvSpPr>
        <p:spPr>
          <a:xfrm>
            <a:off x="210002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Process</a:t>
            </a:r>
          </a:p>
          <a:p>
            <a:pPr algn="ctr"/>
            <a:r>
              <a:rPr lang="en-US" sz="800"/>
              <a:t>Enroll Medical Provider</a:t>
            </a:r>
          </a:p>
          <a:p>
            <a:pPr algn="ctr"/>
            <a:r>
              <a:rPr lang="en-US" sz="800"/>
              <a:t>Enroll Behavioral Health Provider</a:t>
            </a:r>
          </a:p>
        </p:txBody>
      </p:sp>
      <p:sp>
        <p:nvSpPr>
          <p:cNvPr id="4" name="Rounded Rectangle 3">
            <a:extLst>
              <a:ext uri="{FF2B5EF4-FFF2-40B4-BE49-F238E27FC236}">
                <a16:creationId xmlns:a16="http://schemas.microsoft.com/office/drawing/2014/main" id="{0A2D6C5C-96B7-3EC6-357A-DB30CF7D9966}"/>
              </a:ext>
            </a:extLst>
          </p:cNvPr>
          <p:cNvSpPr/>
          <p:nvPr/>
        </p:nvSpPr>
        <p:spPr>
          <a:xfrm>
            <a:off x="2100027"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a:t>Business Roles</a:t>
            </a:r>
          </a:p>
          <a:p>
            <a:pPr marL="171450" indent="-171450">
              <a:buFont typeface="Arial" panose="020B0604020202020204" pitchFamily="34" charset="0"/>
              <a:buChar char="•"/>
            </a:pPr>
            <a:r>
              <a:rPr lang="en-US" sz="800"/>
              <a:t>Business Owner</a:t>
            </a:r>
          </a:p>
          <a:p>
            <a:pPr marL="171450" indent="-171450">
              <a:buFont typeface="Arial" panose="020B0604020202020204" pitchFamily="34" charset="0"/>
              <a:buChar char="•"/>
            </a:pPr>
            <a:r>
              <a:rPr lang="en-US" sz="800"/>
              <a:t>Business Analyst</a:t>
            </a:r>
            <a:endParaRPr lang="en-US" sz="400"/>
          </a:p>
        </p:txBody>
      </p:sp>
      <p:sp>
        <p:nvSpPr>
          <p:cNvPr id="5" name="Rounded Rectangle 4">
            <a:extLst>
              <a:ext uri="{FF2B5EF4-FFF2-40B4-BE49-F238E27FC236}">
                <a16:creationId xmlns:a16="http://schemas.microsoft.com/office/drawing/2014/main" id="{1FA769B8-7EE2-6B0B-EDCA-6700A4AE0599}"/>
              </a:ext>
            </a:extLst>
          </p:cNvPr>
          <p:cNvSpPr/>
          <p:nvPr/>
        </p:nvSpPr>
        <p:spPr>
          <a:xfrm>
            <a:off x="469844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Information</a:t>
            </a:r>
          </a:p>
          <a:p>
            <a:pPr algn="ctr"/>
            <a:r>
              <a:rPr lang="en-US" sz="800"/>
              <a:t>Provider Enrollment Database</a:t>
            </a:r>
          </a:p>
          <a:p>
            <a:pPr algn="ctr"/>
            <a:r>
              <a:rPr lang="en-US" sz="800"/>
              <a:t>Provider Application Access Database</a:t>
            </a:r>
            <a:endParaRPr lang="en-US" sz="400"/>
          </a:p>
        </p:txBody>
      </p:sp>
      <p:sp>
        <p:nvSpPr>
          <p:cNvPr id="6" name="Rounded Rectangle 5">
            <a:extLst>
              <a:ext uri="{FF2B5EF4-FFF2-40B4-BE49-F238E27FC236}">
                <a16:creationId xmlns:a16="http://schemas.microsoft.com/office/drawing/2014/main" id="{68CCEF87-C7DC-2D36-8B1B-840F81D8D3FC}"/>
              </a:ext>
            </a:extLst>
          </p:cNvPr>
          <p:cNvSpPr/>
          <p:nvPr/>
        </p:nvSpPr>
        <p:spPr>
          <a:xfrm>
            <a:off x="4698448"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Information Roles</a:t>
            </a:r>
          </a:p>
          <a:p>
            <a:pPr marL="285750" indent="-285750">
              <a:buFont typeface="Arial" panose="020B0604020202020204" pitchFamily="34" charset="0"/>
              <a:buChar char="•"/>
            </a:pPr>
            <a:r>
              <a:rPr lang="en-US" sz="800"/>
              <a:t>Provider Data Owner</a:t>
            </a:r>
          </a:p>
        </p:txBody>
      </p:sp>
      <p:sp>
        <p:nvSpPr>
          <p:cNvPr id="7" name="Rounded Rectangle 6">
            <a:extLst>
              <a:ext uri="{FF2B5EF4-FFF2-40B4-BE49-F238E27FC236}">
                <a16:creationId xmlns:a16="http://schemas.microsoft.com/office/drawing/2014/main" id="{9111F521-9466-F4D7-F4C8-0A93A39ED082}"/>
              </a:ext>
            </a:extLst>
          </p:cNvPr>
          <p:cNvSpPr/>
          <p:nvPr/>
        </p:nvSpPr>
        <p:spPr>
          <a:xfrm>
            <a:off x="7570470"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Technical</a:t>
            </a:r>
          </a:p>
          <a:p>
            <a:pPr algn="ctr"/>
            <a:r>
              <a:rPr lang="en-US" sz="800"/>
              <a:t>Medical Provider Enrollment System</a:t>
            </a:r>
          </a:p>
          <a:p>
            <a:pPr algn="ctr"/>
            <a:r>
              <a:rPr lang="en-US" sz="800"/>
              <a:t>Manual Provider Application Email</a:t>
            </a:r>
          </a:p>
        </p:txBody>
      </p:sp>
      <p:sp>
        <p:nvSpPr>
          <p:cNvPr id="8" name="Rounded Rectangle 7">
            <a:extLst>
              <a:ext uri="{FF2B5EF4-FFF2-40B4-BE49-F238E27FC236}">
                <a16:creationId xmlns:a16="http://schemas.microsoft.com/office/drawing/2014/main" id="{B75391D0-5743-8574-2B84-8C85D538CD3B}"/>
              </a:ext>
            </a:extLst>
          </p:cNvPr>
          <p:cNvSpPr/>
          <p:nvPr/>
        </p:nvSpPr>
        <p:spPr>
          <a:xfrm>
            <a:off x="7570469"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a:t>Technical Roles</a:t>
            </a:r>
          </a:p>
          <a:p>
            <a:pPr marL="285750" indent="-285750">
              <a:buFont typeface="Arial" panose="020B0604020202020204" pitchFamily="34" charset="0"/>
              <a:buChar char="•"/>
            </a:pPr>
            <a:r>
              <a:rPr lang="en-US" sz="800"/>
              <a:t>Database Administrator</a:t>
            </a:r>
          </a:p>
          <a:p>
            <a:pPr marL="285750" indent="-285750">
              <a:buFont typeface="Arial" panose="020B0604020202020204" pitchFamily="34" charset="0"/>
              <a:buChar char="•"/>
            </a:pPr>
            <a:r>
              <a:rPr lang="en-US" sz="800"/>
              <a:t>Solution Architect</a:t>
            </a:r>
            <a:endParaRPr lang="en-US" sz="400"/>
          </a:p>
        </p:txBody>
      </p:sp>
      <p:cxnSp>
        <p:nvCxnSpPr>
          <p:cNvPr id="10" name="Straight Arrow Connector 9">
            <a:extLst>
              <a:ext uri="{FF2B5EF4-FFF2-40B4-BE49-F238E27FC236}">
                <a16:creationId xmlns:a16="http://schemas.microsoft.com/office/drawing/2014/main" id="{1864239A-7281-CD87-F377-CFD1EEAC5133}"/>
              </a:ext>
            </a:extLst>
          </p:cNvPr>
          <p:cNvCxnSpPr>
            <a:stCxn id="3" idx="2"/>
            <a:endCxn id="4" idx="0"/>
          </p:cNvCxnSpPr>
          <p:nvPr/>
        </p:nvCxnSpPr>
        <p:spPr>
          <a:xfrm flipH="1">
            <a:off x="2968224"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FD737F41-07DE-70FA-4FF8-508062B8CEC5}"/>
              </a:ext>
            </a:extLst>
          </p:cNvPr>
          <p:cNvCxnSpPr>
            <a:stCxn id="4" idx="3"/>
            <a:endCxn id="5" idx="1"/>
          </p:cNvCxnSpPr>
          <p:nvPr/>
        </p:nvCxnSpPr>
        <p:spPr>
          <a:xfrm flipV="1">
            <a:off x="3836420" y="3029034"/>
            <a:ext cx="862028" cy="231765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4EC922BC-1A1D-F5EE-2BFB-98B3B3007694}"/>
              </a:ext>
            </a:extLst>
          </p:cNvPr>
          <p:cNvCxnSpPr>
            <a:cxnSpLocks/>
            <a:stCxn id="6" idx="3"/>
            <a:endCxn id="7" idx="1"/>
          </p:cNvCxnSpPr>
          <p:nvPr/>
        </p:nvCxnSpPr>
        <p:spPr>
          <a:xfrm flipV="1">
            <a:off x="6434841" y="3029034"/>
            <a:ext cx="1135629" cy="231765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6301C9A-C75F-BC84-16EC-28CA2F720B1F}"/>
              </a:ext>
            </a:extLst>
          </p:cNvPr>
          <p:cNvCxnSpPr>
            <a:stCxn id="5" idx="2"/>
            <a:endCxn id="6" idx="0"/>
          </p:cNvCxnSpPr>
          <p:nvPr/>
        </p:nvCxnSpPr>
        <p:spPr>
          <a:xfrm>
            <a:off x="5566645" y="3900904"/>
            <a:ext cx="0"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6B03446-069C-F898-8CC8-32ABEC5B7D9B}"/>
              </a:ext>
            </a:extLst>
          </p:cNvPr>
          <p:cNvCxnSpPr>
            <a:cxnSpLocks/>
            <a:stCxn id="7" idx="2"/>
            <a:endCxn id="8" idx="0"/>
          </p:cNvCxnSpPr>
          <p:nvPr/>
        </p:nvCxnSpPr>
        <p:spPr>
          <a:xfrm flipH="1">
            <a:off x="8438666"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E6E82A1F-313A-F1F9-CFB1-3747853F9D90}"/>
              </a:ext>
            </a:extLst>
          </p:cNvPr>
          <p:cNvSpPr/>
          <p:nvPr/>
        </p:nvSpPr>
        <p:spPr>
          <a:xfrm>
            <a:off x="1006434" y="2754714"/>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DFC8A66-0C49-F08F-6D5F-FC8472D8A2DE}"/>
              </a:ext>
            </a:extLst>
          </p:cNvPr>
          <p:cNvSpPr/>
          <p:nvPr/>
        </p:nvSpPr>
        <p:spPr>
          <a:xfrm>
            <a:off x="9697044" y="5072365"/>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5845F16F-1BC4-060E-469E-52032343A7F6}"/>
              </a:ext>
            </a:extLst>
          </p:cNvPr>
          <p:cNvCxnSpPr>
            <a:cxnSpLocks/>
            <a:stCxn id="21" idx="6"/>
            <a:endCxn id="3" idx="1"/>
          </p:cNvCxnSpPr>
          <p:nvPr/>
        </p:nvCxnSpPr>
        <p:spPr>
          <a:xfrm>
            <a:off x="1532214" y="3029034"/>
            <a:ext cx="5678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6712793C-0369-0D5D-20D1-5CE8A9482348}"/>
              </a:ext>
            </a:extLst>
          </p:cNvPr>
          <p:cNvCxnSpPr>
            <a:cxnSpLocks/>
            <a:stCxn id="8" idx="3"/>
            <a:endCxn id="22" idx="2"/>
          </p:cNvCxnSpPr>
          <p:nvPr/>
        </p:nvCxnSpPr>
        <p:spPr>
          <a:xfrm>
            <a:off x="9306862" y="5346685"/>
            <a:ext cx="3901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4369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9AB9-A4A2-93F2-F3F6-D1BDD8D35DDD}"/>
              </a:ext>
            </a:extLst>
          </p:cNvPr>
          <p:cNvSpPr>
            <a:spLocks noGrp="1"/>
          </p:cNvSpPr>
          <p:nvPr>
            <p:ph type="title"/>
          </p:nvPr>
        </p:nvSpPr>
        <p:spPr/>
        <p:txBody>
          <a:bodyPr>
            <a:normAutofit/>
          </a:bodyPr>
          <a:lstStyle/>
          <a:p>
            <a:r>
              <a:rPr lang="en-US"/>
              <a:t>2A. Assess baseline Information Architecture Maturity</a:t>
            </a:r>
          </a:p>
        </p:txBody>
      </p:sp>
      <p:sp>
        <p:nvSpPr>
          <p:cNvPr id="3" name="Content Placeholder 2">
            <a:extLst>
              <a:ext uri="{FF2B5EF4-FFF2-40B4-BE49-F238E27FC236}">
                <a16:creationId xmlns:a16="http://schemas.microsoft.com/office/drawing/2014/main" id="{15E59D68-B00C-4F5D-4AF8-4B2CB7E3D03B}"/>
              </a:ext>
            </a:extLst>
          </p:cNvPr>
          <p:cNvSpPr>
            <a:spLocks noGrp="1"/>
          </p:cNvSpPr>
          <p:nvPr>
            <p:ph idx="1"/>
          </p:nvPr>
        </p:nvSpPr>
        <p:spPr/>
        <p:txBody>
          <a:bodyPr/>
          <a:lstStyle/>
          <a:p>
            <a:r>
              <a:rPr lang="en-US"/>
              <a:t>Assessment Subject: </a:t>
            </a:r>
          </a:p>
          <a:p>
            <a:pPr lvl="1"/>
            <a:r>
              <a:rPr lang="en-US"/>
              <a:t>Provider Enrollment Database</a:t>
            </a:r>
          </a:p>
          <a:p>
            <a:pPr lvl="1"/>
            <a:r>
              <a:rPr lang="en-US"/>
              <a:t>Provider Application Access Database</a:t>
            </a:r>
          </a:p>
          <a:p>
            <a:r>
              <a:rPr lang="en-US"/>
              <a:t>Assessment Performance:</a:t>
            </a:r>
          </a:p>
          <a:p>
            <a:pPr lvl="1"/>
            <a:r>
              <a:rPr lang="en-US"/>
              <a:t>Use the Information Architecture Criteria to assess the subjects. </a:t>
            </a:r>
          </a:p>
        </p:txBody>
      </p:sp>
    </p:spTree>
    <p:extLst>
      <p:ext uri="{BB962C8B-B14F-4D97-AF65-F5344CB8AC3E}">
        <p14:creationId xmlns:p14="http://schemas.microsoft.com/office/powerpoint/2010/main" val="37273898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38781-6515-80B0-510C-819374E4B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5599A-F311-C082-4727-693A8F2E67DE}"/>
              </a:ext>
            </a:extLst>
          </p:cNvPr>
          <p:cNvSpPr>
            <a:spLocks noGrp="1"/>
          </p:cNvSpPr>
          <p:nvPr>
            <p:ph type="title"/>
          </p:nvPr>
        </p:nvSpPr>
        <p:spPr/>
        <p:txBody>
          <a:bodyPr>
            <a:normAutofit/>
          </a:bodyPr>
          <a:lstStyle/>
          <a:p>
            <a:r>
              <a:rPr lang="en-US"/>
              <a:t>3. Define Target Capability Architecture</a:t>
            </a:r>
          </a:p>
        </p:txBody>
      </p:sp>
      <p:sp>
        <p:nvSpPr>
          <p:cNvPr id="3" name="Rounded Rectangle 2">
            <a:extLst>
              <a:ext uri="{FF2B5EF4-FFF2-40B4-BE49-F238E27FC236}">
                <a16:creationId xmlns:a16="http://schemas.microsoft.com/office/drawing/2014/main" id="{E4B98A22-B73B-1D21-1740-C540FCD7CF51}"/>
              </a:ext>
            </a:extLst>
          </p:cNvPr>
          <p:cNvSpPr/>
          <p:nvPr/>
        </p:nvSpPr>
        <p:spPr>
          <a:xfrm>
            <a:off x="377642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Identify Target Business Processes</a:t>
            </a:r>
            <a:endParaRPr lang="en-US" sz="1000"/>
          </a:p>
        </p:txBody>
      </p:sp>
      <p:sp>
        <p:nvSpPr>
          <p:cNvPr id="4" name="Rounded Rectangle 3">
            <a:extLst>
              <a:ext uri="{FF2B5EF4-FFF2-40B4-BE49-F238E27FC236}">
                <a16:creationId xmlns:a16="http://schemas.microsoft.com/office/drawing/2014/main" id="{95A1C560-AA2A-973A-4EDE-67AA56A1D500}"/>
              </a:ext>
            </a:extLst>
          </p:cNvPr>
          <p:cNvSpPr/>
          <p:nvPr/>
        </p:nvSpPr>
        <p:spPr>
          <a:xfrm>
            <a:off x="3776427"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Identify Impacted Target Business Processes Roles</a:t>
            </a:r>
            <a:endParaRPr lang="en-US" sz="1000"/>
          </a:p>
        </p:txBody>
      </p:sp>
      <p:sp>
        <p:nvSpPr>
          <p:cNvPr id="5" name="Rounded Rectangle 4">
            <a:extLst>
              <a:ext uri="{FF2B5EF4-FFF2-40B4-BE49-F238E27FC236}">
                <a16:creationId xmlns:a16="http://schemas.microsoft.com/office/drawing/2014/main" id="{BAA9282B-119F-C251-D7C7-AB8144764C69}"/>
              </a:ext>
            </a:extLst>
          </p:cNvPr>
          <p:cNvSpPr/>
          <p:nvPr/>
        </p:nvSpPr>
        <p:spPr>
          <a:xfrm>
            <a:off x="637484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Identify Target Data Assets</a:t>
            </a:r>
            <a:endParaRPr lang="en-US" sz="1000"/>
          </a:p>
        </p:txBody>
      </p:sp>
      <p:sp>
        <p:nvSpPr>
          <p:cNvPr id="6" name="Rounded Rectangle 5">
            <a:extLst>
              <a:ext uri="{FF2B5EF4-FFF2-40B4-BE49-F238E27FC236}">
                <a16:creationId xmlns:a16="http://schemas.microsoft.com/office/drawing/2014/main" id="{632785AC-62B7-3661-CCEB-24BCBDD5403D}"/>
              </a:ext>
            </a:extLst>
          </p:cNvPr>
          <p:cNvSpPr/>
          <p:nvPr/>
        </p:nvSpPr>
        <p:spPr>
          <a:xfrm>
            <a:off x="6374848"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Identify  Target Data Roles</a:t>
            </a:r>
            <a:endParaRPr lang="en-US" sz="1000"/>
          </a:p>
        </p:txBody>
      </p:sp>
      <p:sp>
        <p:nvSpPr>
          <p:cNvPr id="7" name="Rounded Rectangle 6">
            <a:extLst>
              <a:ext uri="{FF2B5EF4-FFF2-40B4-BE49-F238E27FC236}">
                <a16:creationId xmlns:a16="http://schemas.microsoft.com/office/drawing/2014/main" id="{8FC95EF8-C671-D700-90F2-634F931112DA}"/>
              </a:ext>
            </a:extLst>
          </p:cNvPr>
          <p:cNvSpPr/>
          <p:nvPr/>
        </p:nvSpPr>
        <p:spPr>
          <a:xfrm>
            <a:off x="9246870"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Identify Target Technology</a:t>
            </a:r>
            <a:endParaRPr lang="en-US" sz="1000"/>
          </a:p>
        </p:txBody>
      </p:sp>
      <p:sp>
        <p:nvSpPr>
          <p:cNvPr id="8" name="Rounded Rectangle 7">
            <a:extLst>
              <a:ext uri="{FF2B5EF4-FFF2-40B4-BE49-F238E27FC236}">
                <a16:creationId xmlns:a16="http://schemas.microsoft.com/office/drawing/2014/main" id="{2BDA871C-6928-BF0D-48A5-22C243F61F39}"/>
              </a:ext>
            </a:extLst>
          </p:cNvPr>
          <p:cNvSpPr/>
          <p:nvPr/>
        </p:nvSpPr>
        <p:spPr>
          <a:xfrm>
            <a:off x="9246869"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Identify Target Technology Roles</a:t>
            </a:r>
            <a:endParaRPr lang="en-US" sz="1000"/>
          </a:p>
        </p:txBody>
      </p:sp>
      <p:cxnSp>
        <p:nvCxnSpPr>
          <p:cNvPr id="10" name="Straight Arrow Connector 9">
            <a:extLst>
              <a:ext uri="{FF2B5EF4-FFF2-40B4-BE49-F238E27FC236}">
                <a16:creationId xmlns:a16="http://schemas.microsoft.com/office/drawing/2014/main" id="{1D70F064-496C-82CA-B908-1BA6E79C3308}"/>
              </a:ext>
            </a:extLst>
          </p:cNvPr>
          <p:cNvCxnSpPr>
            <a:stCxn id="3" idx="2"/>
            <a:endCxn id="4" idx="0"/>
          </p:cNvCxnSpPr>
          <p:nvPr/>
        </p:nvCxnSpPr>
        <p:spPr>
          <a:xfrm flipH="1">
            <a:off x="4644624"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B479220F-DC41-398A-7CC3-236E420D70A1}"/>
              </a:ext>
            </a:extLst>
          </p:cNvPr>
          <p:cNvCxnSpPr>
            <a:stCxn id="4" idx="3"/>
            <a:endCxn id="5" idx="1"/>
          </p:cNvCxnSpPr>
          <p:nvPr/>
        </p:nvCxnSpPr>
        <p:spPr>
          <a:xfrm flipV="1">
            <a:off x="5512820" y="3029034"/>
            <a:ext cx="862028" cy="231765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A49A596B-3637-D525-DFC9-9ABCC32D975E}"/>
              </a:ext>
            </a:extLst>
          </p:cNvPr>
          <p:cNvCxnSpPr>
            <a:cxnSpLocks/>
            <a:stCxn id="6" idx="3"/>
            <a:endCxn id="7" idx="1"/>
          </p:cNvCxnSpPr>
          <p:nvPr/>
        </p:nvCxnSpPr>
        <p:spPr>
          <a:xfrm flipV="1">
            <a:off x="8111241" y="3029034"/>
            <a:ext cx="1135629" cy="231765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2780DA2-E22D-F722-DFB5-38113F913A1A}"/>
              </a:ext>
            </a:extLst>
          </p:cNvPr>
          <p:cNvCxnSpPr>
            <a:stCxn id="5" idx="2"/>
            <a:endCxn id="6" idx="0"/>
          </p:cNvCxnSpPr>
          <p:nvPr/>
        </p:nvCxnSpPr>
        <p:spPr>
          <a:xfrm>
            <a:off x="7243045" y="3900904"/>
            <a:ext cx="0"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8BB7591-89CE-7FFA-DA3E-F663303DF107}"/>
              </a:ext>
            </a:extLst>
          </p:cNvPr>
          <p:cNvCxnSpPr>
            <a:cxnSpLocks/>
            <a:stCxn id="7" idx="2"/>
            <a:endCxn id="8" idx="0"/>
          </p:cNvCxnSpPr>
          <p:nvPr/>
        </p:nvCxnSpPr>
        <p:spPr>
          <a:xfrm flipH="1">
            <a:off x="10115066"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83C9D418-0F30-1B90-C6AA-BEC238197210}"/>
              </a:ext>
            </a:extLst>
          </p:cNvPr>
          <p:cNvSpPr/>
          <p:nvPr/>
        </p:nvSpPr>
        <p:spPr>
          <a:xfrm>
            <a:off x="322421" y="2754714"/>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83EE103-2611-1972-A499-C3943FAC4010}"/>
              </a:ext>
            </a:extLst>
          </p:cNvPr>
          <p:cNvSpPr/>
          <p:nvPr/>
        </p:nvSpPr>
        <p:spPr>
          <a:xfrm>
            <a:off x="11373444" y="5072365"/>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2A58863A-22EA-D410-8BE5-141F47E0D7BF}"/>
              </a:ext>
            </a:extLst>
          </p:cNvPr>
          <p:cNvCxnSpPr>
            <a:cxnSpLocks/>
            <a:stCxn id="21" idx="6"/>
            <a:endCxn id="16" idx="1"/>
          </p:cNvCxnSpPr>
          <p:nvPr/>
        </p:nvCxnSpPr>
        <p:spPr>
          <a:xfrm>
            <a:off x="848201" y="3029034"/>
            <a:ext cx="5822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E2997279-9388-6917-8DF4-978748383481}"/>
              </a:ext>
            </a:extLst>
          </p:cNvPr>
          <p:cNvCxnSpPr>
            <a:cxnSpLocks/>
            <a:stCxn id="8" idx="3"/>
            <a:endCxn id="22" idx="2"/>
          </p:cNvCxnSpPr>
          <p:nvPr/>
        </p:nvCxnSpPr>
        <p:spPr>
          <a:xfrm>
            <a:off x="10983262" y="5346685"/>
            <a:ext cx="3901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5D0C8883-3443-C129-0100-8C5C14013C93}"/>
              </a:ext>
            </a:extLst>
          </p:cNvPr>
          <p:cNvSpPr/>
          <p:nvPr/>
        </p:nvSpPr>
        <p:spPr>
          <a:xfrm>
            <a:off x="1430413"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Identify target maturity levels</a:t>
            </a:r>
            <a:endParaRPr lang="en-US" sz="1000"/>
          </a:p>
        </p:txBody>
      </p:sp>
      <p:cxnSp>
        <p:nvCxnSpPr>
          <p:cNvPr id="25" name="Straight Arrow Connector 24">
            <a:extLst>
              <a:ext uri="{FF2B5EF4-FFF2-40B4-BE49-F238E27FC236}">
                <a16:creationId xmlns:a16="http://schemas.microsoft.com/office/drawing/2014/main" id="{34E120D5-13C2-C521-01E6-252D0BFF22BE}"/>
              </a:ext>
            </a:extLst>
          </p:cNvPr>
          <p:cNvCxnSpPr>
            <a:cxnSpLocks/>
            <a:stCxn id="16" idx="3"/>
            <a:endCxn id="3" idx="1"/>
          </p:cNvCxnSpPr>
          <p:nvPr/>
        </p:nvCxnSpPr>
        <p:spPr>
          <a:xfrm>
            <a:off x="3166806" y="3029034"/>
            <a:ext cx="60962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56009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13BA6-3395-00B8-F149-8EF33B932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018E7-E0FD-3A70-0863-189177959027}"/>
              </a:ext>
            </a:extLst>
          </p:cNvPr>
          <p:cNvSpPr>
            <a:spLocks noGrp="1"/>
          </p:cNvSpPr>
          <p:nvPr>
            <p:ph type="title"/>
          </p:nvPr>
        </p:nvSpPr>
        <p:spPr/>
        <p:txBody>
          <a:bodyPr>
            <a:normAutofit/>
          </a:bodyPr>
          <a:lstStyle/>
          <a:p>
            <a:r>
              <a:rPr lang="en-US"/>
              <a:t>Target Provider Enrollment Architecture</a:t>
            </a:r>
          </a:p>
        </p:txBody>
      </p:sp>
      <p:sp>
        <p:nvSpPr>
          <p:cNvPr id="3" name="Rounded Rectangle 2">
            <a:extLst>
              <a:ext uri="{FF2B5EF4-FFF2-40B4-BE49-F238E27FC236}">
                <a16:creationId xmlns:a16="http://schemas.microsoft.com/office/drawing/2014/main" id="{94BD2DF9-D723-3B1E-27A5-3677FF41E093}"/>
              </a:ext>
            </a:extLst>
          </p:cNvPr>
          <p:cNvSpPr/>
          <p:nvPr/>
        </p:nvSpPr>
        <p:spPr>
          <a:xfrm>
            <a:off x="3231004"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Process</a:t>
            </a:r>
            <a:endParaRPr lang="en-US" sz="800" b="1"/>
          </a:p>
          <a:p>
            <a:pPr algn="ctr"/>
            <a:r>
              <a:rPr lang="en-US" sz="800"/>
              <a:t>Enroll Provider</a:t>
            </a:r>
          </a:p>
        </p:txBody>
      </p:sp>
      <p:sp>
        <p:nvSpPr>
          <p:cNvPr id="4" name="Rounded Rectangle 3">
            <a:extLst>
              <a:ext uri="{FF2B5EF4-FFF2-40B4-BE49-F238E27FC236}">
                <a16:creationId xmlns:a16="http://schemas.microsoft.com/office/drawing/2014/main" id="{73CF0457-79A4-1850-8B4D-15701DA47346}"/>
              </a:ext>
            </a:extLst>
          </p:cNvPr>
          <p:cNvSpPr/>
          <p:nvPr/>
        </p:nvSpPr>
        <p:spPr>
          <a:xfrm>
            <a:off x="3231003"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Business Roles</a:t>
            </a:r>
          </a:p>
          <a:p>
            <a:r>
              <a:rPr lang="en-US" sz="800"/>
              <a:t>Business Owner</a:t>
            </a:r>
          </a:p>
          <a:p>
            <a:r>
              <a:rPr lang="en-US" sz="800"/>
              <a:t>Business Analyst</a:t>
            </a:r>
            <a:endParaRPr lang="en-US" sz="400"/>
          </a:p>
        </p:txBody>
      </p:sp>
      <p:sp>
        <p:nvSpPr>
          <p:cNvPr id="5" name="Rounded Rectangle 4">
            <a:extLst>
              <a:ext uri="{FF2B5EF4-FFF2-40B4-BE49-F238E27FC236}">
                <a16:creationId xmlns:a16="http://schemas.microsoft.com/office/drawing/2014/main" id="{5B541E6C-1C85-D129-DAE3-144B51A4EC7F}"/>
              </a:ext>
            </a:extLst>
          </p:cNvPr>
          <p:cNvSpPr/>
          <p:nvPr/>
        </p:nvSpPr>
        <p:spPr>
          <a:xfrm>
            <a:off x="5829424"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Information</a:t>
            </a:r>
          </a:p>
          <a:p>
            <a:pPr algn="ctr"/>
            <a:r>
              <a:rPr lang="en-US" sz="800"/>
              <a:t>Provider  Operational Datastore</a:t>
            </a:r>
            <a:endParaRPr lang="en-US" sz="400"/>
          </a:p>
        </p:txBody>
      </p:sp>
      <p:sp>
        <p:nvSpPr>
          <p:cNvPr id="6" name="Rounded Rectangle 5">
            <a:extLst>
              <a:ext uri="{FF2B5EF4-FFF2-40B4-BE49-F238E27FC236}">
                <a16:creationId xmlns:a16="http://schemas.microsoft.com/office/drawing/2014/main" id="{A9A8ACB0-8145-4121-D649-4AE567C5B679}"/>
              </a:ext>
            </a:extLst>
          </p:cNvPr>
          <p:cNvSpPr/>
          <p:nvPr/>
        </p:nvSpPr>
        <p:spPr>
          <a:xfrm>
            <a:off x="5829424"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Information Roles</a:t>
            </a:r>
          </a:p>
          <a:p>
            <a:pPr marL="285750" indent="-285750">
              <a:buFont typeface="Arial" panose="020B0604020202020204" pitchFamily="34" charset="0"/>
              <a:buChar char="•"/>
            </a:pPr>
            <a:r>
              <a:rPr lang="en-US" sz="800"/>
              <a:t>Provider Data Steward</a:t>
            </a:r>
          </a:p>
          <a:p>
            <a:pPr marL="285750" indent="-285750">
              <a:buFont typeface="Arial" panose="020B0604020202020204" pitchFamily="34" charset="0"/>
              <a:buChar char="•"/>
            </a:pPr>
            <a:r>
              <a:rPr lang="en-US" sz="800"/>
              <a:t>Provider Data Owner</a:t>
            </a:r>
          </a:p>
          <a:p>
            <a:pPr marL="285750" indent="-285750">
              <a:buFont typeface="Arial" panose="020B0604020202020204" pitchFamily="34" charset="0"/>
              <a:buChar char="•"/>
            </a:pPr>
            <a:r>
              <a:rPr lang="en-US" sz="800"/>
              <a:t>Provider Operational Datastore Custodian</a:t>
            </a:r>
            <a:endParaRPr lang="en-US" sz="400"/>
          </a:p>
        </p:txBody>
      </p:sp>
      <p:sp>
        <p:nvSpPr>
          <p:cNvPr id="7" name="Rounded Rectangle 6">
            <a:extLst>
              <a:ext uri="{FF2B5EF4-FFF2-40B4-BE49-F238E27FC236}">
                <a16:creationId xmlns:a16="http://schemas.microsoft.com/office/drawing/2014/main" id="{4E34BC41-6357-1DCF-FD4A-F5F417C712C9}"/>
              </a:ext>
            </a:extLst>
          </p:cNvPr>
          <p:cNvSpPr/>
          <p:nvPr/>
        </p:nvSpPr>
        <p:spPr>
          <a:xfrm>
            <a:off x="8701446"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a:t>Technical </a:t>
            </a:r>
          </a:p>
          <a:p>
            <a:pPr algn="ctr"/>
            <a:r>
              <a:rPr lang="en-US" sz="800"/>
              <a:t>Provider Enrollment System</a:t>
            </a:r>
            <a:endParaRPr lang="en-US" sz="400"/>
          </a:p>
        </p:txBody>
      </p:sp>
      <p:sp>
        <p:nvSpPr>
          <p:cNvPr id="8" name="Rounded Rectangle 7">
            <a:extLst>
              <a:ext uri="{FF2B5EF4-FFF2-40B4-BE49-F238E27FC236}">
                <a16:creationId xmlns:a16="http://schemas.microsoft.com/office/drawing/2014/main" id="{378DC8D8-3938-4AFC-F947-45FB1085A2A2}"/>
              </a:ext>
            </a:extLst>
          </p:cNvPr>
          <p:cNvSpPr/>
          <p:nvPr/>
        </p:nvSpPr>
        <p:spPr>
          <a:xfrm>
            <a:off x="8701445"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Technical Roles</a:t>
            </a:r>
          </a:p>
          <a:p>
            <a:pPr marL="285750" indent="-285750">
              <a:buFont typeface="Arial" panose="020B0604020202020204" pitchFamily="34" charset="0"/>
              <a:buChar char="•"/>
            </a:pPr>
            <a:r>
              <a:rPr lang="en-US" sz="800"/>
              <a:t>Database Administrator</a:t>
            </a:r>
          </a:p>
          <a:p>
            <a:pPr marL="285750" indent="-285750">
              <a:buFont typeface="Arial" panose="020B0604020202020204" pitchFamily="34" charset="0"/>
              <a:buChar char="•"/>
            </a:pPr>
            <a:r>
              <a:rPr lang="en-US" sz="800"/>
              <a:t>Solution Architect</a:t>
            </a:r>
            <a:endParaRPr lang="en-US" sz="400"/>
          </a:p>
        </p:txBody>
      </p:sp>
      <p:cxnSp>
        <p:nvCxnSpPr>
          <p:cNvPr id="10" name="Straight Arrow Connector 9">
            <a:extLst>
              <a:ext uri="{FF2B5EF4-FFF2-40B4-BE49-F238E27FC236}">
                <a16:creationId xmlns:a16="http://schemas.microsoft.com/office/drawing/2014/main" id="{FD56A306-C349-F994-3D84-AD61C9346B25}"/>
              </a:ext>
            </a:extLst>
          </p:cNvPr>
          <p:cNvCxnSpPr>
            <a:stCxn id="3" idx="2"/>
            <a:endCxn id="4" idx="0"/>
          </p:cNvCxnSpPr>
          <p:nvPr/>
        </p:nvCxnSpPr>
        <p:spPr>
          <a:xfrm flipH="1">
            <a:off x="4099200"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323AC4D6-6F69-DDD3-6F9D-A3355DF782F7}"/>
              </a:ext>
            </a:extLst>
          </p:cNvPr>
          <p:cNvCxnSpPr>
            <a:stCxn id="4" idx="3"/>
            <a:endCxn id="5" idx="1"/>
          </p:cNvCxnSpPr>
          <p:nvPr/>
        </p:nvCxnSpPr>
        <p:spPr>
          <a:xfrm flipV="1">
            <a:off x="4967396" y="3029034"/>
            <a:ext cx="862028" cy="231765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67462AE1-CD44-B6A6-4313-84BC8C34279F}"/>
              </a:ext>
            </a:extLst>
          </p:cNvPr>
          <p:cNvCxnSpPr>
            <a:cxnSpLocks/>
            <a:stCxn id="6" idx="3"/>
            <a:endCxn id="7" idx="1"/>
          </p:cNvCxnSpPr>
          <p:nvPr/>
        </p:nvCxnSpPr>
        <p:spPr>
          <a:xfrm flipV="1">
            <a:off x="7565817" y="3029034"/>
            <a:ext cx="1135629" cy="231765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4BDC3F2-E8B7-A4BF-07BC-26581FBF01A9}"/>
              </a:ext>
            </a:extLst>
          </p:cNvPr>
          <p:cNvCxnSpPr>
            <a:stCxn id="5" idx="2"/>
            <a:endCxn id="6" idx="0"/>
          </p:cNvCxnSpPr>
          <p:nvPr/>
        </p:nvCxnSpPr>
        <p:spPr>
          <a:xfrm>
            <a:off x="6697621" y="3900904"/>
            <a:ext cx="0"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92626724-082A-99DE-68FE-9AE13B739C17}"/>
              </a:ext>
            </a:extLst>
          </p:cNvPr>
          <p:cNvCxnSpPr>
            <a:cxnSpLocks/>
            <a:stCxn id="7" idx="2"/>
            <a:endCxn id="8" idx="0"/>
          </p:cNvCxnSpPr>
          <p:nvPr/>
        </p:nvCxnSpPr>
        <p:spPr>
          <a:xfrm flipH="1">
            <a:off x="9569642"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D052E8B4-E60A-9FC8-13B5-6970E5A344F9}"/>
              </a:ext>
            </a:extLst>
          </p:cNvPr>
          <p:cNvSpPr/>
          <p:nvPr/>
        </p:nvSpPr>
        <p:spPr>
          <a:xfrm>
            <a:off x="0" y="2754714"/>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1188A25-0568-5C0C-FC41-EA75D4A6A85C}"/>
              </a:ext>
            </a:extLst>
          </p:cNvPr>
          <p:cNvSpPr/>
          <p:nvPr/>
        </p:nvSpPr>
        <p:spPr>
          <a:xfrm>
            <a:off x="10828020" y="5072365"/>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ED12DDC6-83B3-F7DC-B844-E7EA13526DAD}"/>
              </a:ext>
            </a:extLst>
          </p:cNvPr>
          <p:cNvCxnSpPr>
            <a:cxnSpLocks/>
            <a:stCxn id="21" idx="6"/>
            <a:endCxn id="3" idx="1"/>
          </p:cNvCxnSpPr>
          <p:nvPr/>
        </p:nvCxnSpPr>
        <p:spPr>
          <a:xfrm>
            <a:off x="525780" y="3029034"/>
            <a:ext cx="270522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A24AF7B-3600-E2BC-8A38-EE4FD7EE0016}"/>
              </a:ext>
            </a:extLst>
          </p:cNvPr>
          <p:cNvCxnSpPr>
            <a:cxnSpLocks/>
            <a:stCxn id="8" idx="3"/>
            <a:endCxn id="22" idx="2"/>
          </p:cNvCxnSpPr>
          <p:nvPr/>
        </p:nvCxnSpPr>
        <p:spPr>
          <a:xfrm>
            <a:off x="10437838" y="5346685"/>
            <a:ext cx="3901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a:extLst>
              <a:ext uri="{FF2B5EF4-FFF2-40B4-BE49-F238E27FC236}">
                <a16:creationId xmlns:a16="http://schemas.microsoft.com/office/drawing/2014/main" id="{84453618-129E-CD72-BB36-23BD828EA43E}"/>
              </a:ext>
            </a:extLst>
          </p:cNvPr>
          <p:cNvSpPr/>
          <p:nvPr/>
        </p:nvSpPr>
        <p:spPr>
          <a:xfrm>
            <a:off x="926796"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a:t>Target Maturity Levels</a:t>
            </a:r>
          </a:p>
          <a:p>
            <a:pPr marL="171450" indent="-171450">
              <a:buFont typeface="Arial" panose="020B0604020202020204" pitchFamily="34" charset="0"/>
              <a:buChar char="•"/>
            </a:pPr>
            <a:r>
              <a:rPr lang="en-US" sz="800" b="1"/>
              <a:t>BA – Level 3</a:t>
            </a:r>
          </a:p>
          <a:p>
            <a:pPr marL="171450" indent="-171450">
              <a:buFont typeface="Arial" panose="020B0604020202020204" pitchFamily="34" charset="0"/>
              <a:buChar char="•"/>
            </a:pPr>
            <a:r>
              <a:rPr lang="en-US" sz="800" b="1"/>
              <a:t>Role – Level 3</a:t>
            </a:r>
          </a:p>
          <a:p>
            <a:pPr marL="171450" indent="-171450">
              <a:buFont typeface="Arial" panose="020B0604020202020204" pitchFamily="34" charset="0"/>
              <a:buChar char="•"/>
            </a:pPr>
            <a:r>
              <a:rPr lang="en-US" sz="800" b="1"/>
              <a:t>IA – Level 3</a:t>
            </a:r>
          </a:p>
          <a:p>
            <a:pPr marL="171450" indent="-171450">
              <a:buFont typeface="Arial" panose="020B0604020202020204" pitchFamily="34" charset="0"/>
              <a:buChar char="•"/>
            </a:pPr>
            <a:r>
              <a:rPr lang="en-US" sz="800" b="1"/>
              <a:t>TA - Level 2</a:t>
            </a:r>
            <a:endParaRPr lang="en-US" sz="700" b="1"/>
          </a:p>
        </p:txBody>
      </p:sp>
    </p:spTree>
    <p:extLst>
      <p:ext uri="{BB962C8B-B14F-4D97-AF65-F5344CB8AC3E}">
        <p14:creationId xmlns:p14="http://schemas.microsoft.com/office/powerpoint/2010/main" val="36114595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F294-9FFE-690F-65A1-127B91CA4A03}"/>
              </a:ext>
            </a:extLst>
          </p:cNvPr>
          <p:cNvSpPr>
            <a:spLocks noGrp="1"/>
          </p:cNvSpPr>
          <p:nvPr>
            <p:ph type="title"/>
          </p:nvPr>
        </p:nvSpPr>
        <p:spPr/>
        <p:txBody>
          <a:bodyPr/>
          <a:lstStyle/>
          <a:p>
            <a:r>
              <a:rPr lang="en-US"/>
              <a:t>4. Perform Gap Analysis</a:t>
            </a:r>
          </a:p>
        </p:txBody>
      </p:sp>
      <p:sp>
        <p:nvSpPr>
          <p:cNvPr id="3" name="Content Placeholder 2">
            <a:extLst>
              <a:ext uri="{FF2B5EF4-FFF2-40B4-BE49-F238E27FC236}">
                <a16:creationId xmlns:a16="http://schemas.microsoft.com/office/drawing/2014/main" id="{B7A8A09C-137E-15C3-28C2-7C9EB4762377}"/>
              </a:ext>
            </a:extLst>
          </p:cNvPr>
          <p:cNvSpPr>
            <a:spLocks noGrp="1"/>
          </p:cNvSpPr>
          <p:nvPr>
            <p:ph idx="1"/>
          </p:nvPr>
        </p:nvSpPr>
        <p:spPr/>
        <p:txBody>
          <a:bodyPr/>
          <a:lstStyle/>
          <a:p>
            <a:r>
              <a:rPr lang="en-US"/>
              <a:t>Compare baseline Capability Criteria against target capability</a:t>
            </a:r>
          </a:p>
          <a:p>
            <a:r>
              <a:rPr lang="en-US"/>
              <a:t>Identify Gaps (e.g. Target criteria that are not met)</a:t>
            </a:r>
          </a:p>
          <a:p>
            <a:r>
              <a:rPr lang="en-US"/>
              <a:t>Identify opportunities for improvement</a:t>
            </a:r>
          </a:p>
        </p:txBody>
      </p:sp>
      <p:sp>
        <p:nvSpPr>
          <p:cNvPr id="4" name="Rounded Rectangle 3">
            <a:extLst>
              <a:ext uri="{FF2B5EF4-FFF2-40B4-BE49-F238E27FC236}">
                <a16:creationId xmlns:a16="http://schemas.microsoft.com/office/drawing/2014/main" id="{6301C4E5-E2EF-C1A4-CCDF-0400EE514A12}"/>
              </a:ext>
            </a:extLst>
          </p:cNvPr>
          <p:cNvSpPr/>
          <p:nvPr/>
        </p:nvSpPr>
        <p:spPr>
          <a:xfrm>
            <a:off x="209429" y="3583440"/>
            <a:ext cx="3567441" cy="55026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solidFill>
                  <a:schemeClr val="tx1"/>
                </a:solidFill>
              </a:rPr>
              <a:t>Baseline Criteria</a:t>
            </a:r>
          </a:p>
          <a:p>
            <a:pPr algn="ctr"/>
            <a:r>
              <a:rPr lang="en-US" sz="1400" b="1">
                <a:solidFill>
                  <a:schemeClr val="tx1"/>
                </a:solidFill>
              </a:rPr>
              <a:t>Level 1</a:t>
            </a:r>
          </a:p>
          <a:p>
            <a:endParaRPr lang="en-US" sz="400">
              <a:solidFill>
                <a:schemeClr val="tx1"/>
              </a:solidFill>
            </a:endParaRPr>
          </a:p>
        </p:txBody>
      </p:sp>
      <p:sp>
        <p:nvSpPr>
          <p:cNvPr id="5" name="Rounded Rectangle 4">
            <a:extLst>
              <a:ext uri="{FF2B5EF4-FFF2-40B4-BE49-F238E27FC236}">
                <a16:creationId xmlns:a16="http://schemas.microsoft.com/office/drawing/2014/main" id="{DFE72C81-EDB6-1EA1-CC3C-17815E27B710}"/>
              </a:ext>
            </a:extLst>
          </p:cNvPr>
          <p:cNvSpPr/>
          <p:nvPr/>
        </p:nvSpPr>
        <p:spPr>
          <a:xfrm>
            <a:off x="4405641" y="3583440"/>
            <a:ext cx="3567440" cy="550264"/>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solidFill>
                  <a:schemeClr val="tx1"/>
                </a:solidFill>
              </a:rPr>
              <a:t>Target Criteria</a:t>
            </a:r>
          </a:p>
          <a:p>
            <a:pPr algn="ctr"/>
            <a:r>
              <a:rPr lang="en-US" sz="1400" b="1">
                <a:solidFill>
                  <a:schemeClr val="tx1"/>
                </a:solidFill>
              </a:rPr>
              <a:t>Level 3</a:t>
            </a:r>
          </a:p>
        </p:txBody>
      </p:sp>
      <p:graphicFrame>
        <p:nvGraphicFramePr>
          <p:cNvPr id="10" name="Table 9">
            <a:extLst>
              <a:ext uri="{FF2B5EF4-FFF2-40B4-BE49-F238E27FC236}">
                <a16:creationId xmlns:a16="http://schemas.microsoft.com/office/drawing/2014/main" id="{E5C63E93-B514-D364-B001-F112F02647C3}"/>
              </a:ext>
            </a:extLst>
          </p:cNvPr>
          <p:cNvGraphicFramePr>
            <a:graphicFrameLocks noGrp="1"/>
          </p:cNvGraphicFramePr>
          <p:nvPr>
            <p:extLst>
              <p:ext uri="{D42A27DB-BD31-4B8C-83A1-F6EECF244321}">
                <p14:modId xmlns:p14="http://schemas.microsoft.com/office/powerpoint/2010/main" val="148371337"/>
              </p:ext>
            </p:extLst>
          </p:nvPr>
        </p:nvGraphicFramePr>
        <p:xfrm>
          <a:off x="209429" y="4268642"/>
          <a:ext cx="3567441" cy="978061"/>
        </p:xfrm>
        <a:graphic>
          <a:graphicData uri="http://schemas.openxmlformats.org/drawingml/2006/table">
            <a:tbl>
              <a:tblPr>
                <a:tableStyleId>{5C22544A-7EE6-4342-B048-85BDC9FD1C3A}</a:tableStyleId>
              </a:tblPr>
              <a:tblGrid>
                <a:gridCol w="3567441">
                  <a:extLst>
                    <a:ext uri="{9D8B030D-6E8A-4147-A177-3AD203B41FA5}">
                      <a16:colId xmlns:a16="http://schemas.microsoft.com/office/drawing/2014/main" val="2324417730"/>
                    </a:ext>
                  </a:extLst>
                </a:gridCol>
              </a:tblGrid>
              <a:tr h="391991">
                <a:tc>
                  <a:txBody>
                    <a:bodyPr/>
                    <a:lstStyle/>
                    <a:p>
                      <a:pPr algn="l" fontAlgn="t">
                        <a:buNone/>
                      </a:pPr>
                      <a:r>
                        <a:rPr lang="en-US" sz="800" u="none" strike="noStrike">
                          <a:effectLst/>
                        </a:rPr>
                        <a:t>1. The data assets that are used to support the capability have been profiled. </a:t>
                      </a:r>
                      <a:endParaRPr lang="en-US" sz="800" b="0" i="0" u="none" strike="noStrike">
                        <a:solidFill>
                          <a:srgbClr val="000000"/>
                        </a:solidFill>
                        <a:effectLst/>
                        <a:latin typeface="Aptos Narrow" panose="020B0004020202020204" pitchFamily="34" charset="0"/>
                      </a:endParaRPr>
                    </a:p>
                  </a:txBody>
                  <a:tcPr marL="9525" marR="9525" marT="9525" marB="0"/>
                </a:tc>
                <a:extLst>
                  <a:ext uri="{0D108BD9-81ED-4DB2-BD59-A6C34878D82A}">
                    <a16:rowId xmlns:a16="http://schemas.microsoft.com/office/drawing/2014/main" val="2079739872"/>
                  </a:ext>
                </a:extLst>
              </a:tr>
              <a:tr h="586070">
                <a:tc>
                  <a:txBody>
                    <a:bodyPr/>
                    <a:lstStyle/>
                    <a:p>
                      <a:pPr algn="l" fontAlgn="t">
                        <a:buNone/>
                      </a:pPr>
                      <a:r>
                        <a:rPr lang="en-US" sz="800" u="none" strike="noStrike">
                          <a:effectLst/>
                        </a:rPr>
                        <a:t>2. Known data anomalies and issues that impact the data assets have been identified, documented and are tracked.</a:t>
                      </a:r>
                      <a:endParaRPr lang="en-US" sz="800" b="0" i="0" u="none" strike="noStrike">
                        <a:solidFill>
                          <a:srgbClr val="000000"/>
                        </a:solidFill>
                        <a:effectLst/>
                        <a:latin typeface="Aptos Narrow" panose="020B0004020202020204" pitchFamily="34" charset="0"/>
                      </a:endParaRPr>
                    </a:p>
                  </a:txBody>
                  <a:tcPr marL="9525" marR="9525" marT="9525" marB="0"/>
                </a:tc>
                <a:extLst>
                  <a:ext uri="{0D108BD9-81ED-4DB2-BD59-A6C34878D82A}">
                    <a16:rowId xmlns:a16="http://schemas.microsoft.com/office/drawing/2014/main" val="2704756684"/>
                  </a:ext>
                </a:extLst>
              </a:tr>
            </a:tbl>
          </a:graphicData>
        </a:graphic>
      </p:graphicFrame>
      <p:graphicFrame>
        <p:nvGraphicFramePr>
          <p:cNvPr id="11" name="Table 10">
            <a:extLst>
              <a:ext uri="{FF2B5EF4-FFF2-40B4-BE49-F238E27FC236}">
                <a16:creationId xmlns:a16="http://schemas.microsoft.com/office/drawing/2014/main" id="{B4244DE5-CA50-F0E4-358A-952A9947DB26}"/>
              </a:ext>
            </a:extLst>
          </p:cNvPr>
          <p:cNvGraphicFramePr>
            <a:graphicFrameLocks noGrp="1"/>
          </p:cNvGraphicFramePr>
          <p:nvPr>
            <p:extLst>
              <p:ext uri="{D42A27DB-BD31-4B8C-83A1-F6EECF244321}">
                <p14:modId xmlns:p14="http://schemas.microsoft.com/office/powerpoint/2010/main" val="3737755834"/>
              </p:ext>
            </p:extLst>
          </p:nvPr>
        </p:nvGraphicFramePr>
        <p:xfrm>
          <a:off x="4429188" y="4268642"/>
          <a:ext cx="3376188" cy="2043259"/>
        </p:xfrm>
        <a:graphic>
          <a:graphicData uri="http://schemas.openxmlformats.org/drawingml/2006/table">
            <a:tbl>
              <a:tblPr>
                <a:tableStyleId>{5C22544A-7EE6-4342-B048-85BDC9FD1C3A}</a:tableStyleId>
              </a:tblPr>
              <a:tblGrid>
                <a:gridCol w="3376188">
                  <a:extLst>
                    <a:ext uri="{9D8B030D-6E8A-4147-A177-3AD203B41FA5}">
                      <a16:colId xmlns:a16="http://schemas.microsoft.com/office/drawing/2014/main" val="3987846663"/>
                    </a:ext>
                  </a:extLst>
                </a:gridCol>
              </a:tblGrid>
              <a:tr h="356243">
                <a:tc>
                  <a:txBody>
                    <a:bodyPr/>
                    <a:lstStyle/>
                    <a:p>
                      <a:pPr algn="l" fontAlgn="t">
                        <a:buNone/>
                      </a:pPr>
                      <a:r>
                        <a:rPr lang="en-US" sz="800" u="none" strike="noStrike">
                          <a:effectLst/>
                        </a:rPr>
                        <a:t>1. The data assets that are used to support the capability have been profiled. </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1822793919"/>
                  </a:ext>
                </a:extLst>
              </a:tr>
              <a:tr h="374892">
                <a:tc>
                  <a:txBody>
                    <a:bodyPr/>
                    <a:lstStyle/>
                    <a:p>
                      <a:pPr algn="l" fontAlgn="t">
                        <a:buNone/>
                      </a:pPr>
                      <a:r>
                        <a:rPr lang="en-US" sz="800" u="none" strike="noStrike">
                          <a:effectLst/>
                        </a:rPr>
                        <a:t>2. Known data anomalies and issues that impact the data assets have been identified, documented and are tracked.</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147770847"/>
                  </a:ext>
                </a:extLst>
              </a:tr>
              <a:tr h="374892">
                <a:tc>
                  <a:txBody>
                    <a:bodyPr/>
                    <a:lstStyle/>
                    <a:p>
                      <a:pPr algn="l" fontAlgn="t">
                        <a:buNone/>
                      </a:pPr>
                      <a:r>
                        <a:rPr lang="en-US" sz="800" u="none" strike="noStrike">
                          <a:effectLst/>
                        </a:rPr>
                        <a:t>3. Data validation rules have been defined and implemented for the associated data.</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3659394746"/>
                  </a:ext>
                </a:extLst>
              </a:tr>
              <a:tr h="562340">
                <a:tc>
                  <a:txBody>
                    <a:bodyPr/>
                    <a:lstStyle/>
                    <a:p>
                      <a:pPr algn="l" fontAlgn="t">
                        <a:buNone/>
                      </a:pPr>
                      <a:r>
                        <a:rPr lang="en-US" sz="800" u="none" strike="noStrike">
                          <a:effectLst/>
                        </a:rPr>
                        <a:t>4. Data performance measures and metrics (e.g. Data Quality, Data Accessibility) have been established to assess the performance of the associated data.</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3880677056"/>
                  </a:ext>
                </a:extLst>
              </a:tr>
              <a:tr h="374892">
                <a:tc>
                  <a:txBody>
                    <a:bodyPr/>
                    <a:lstStyle/>
                    <a:p>
                      <a:pPr algn="l" fontAlgn="t">
                        <a:buNone/>
                      </a:pPr>
                      <a:r>
                        <a:rPr lang="en-US" sz="800" u="none" strike="noStrike">
                          <a:effectLst/>
                        </a:rPr>
                        <a:t>5. The associated information has target data quality levels have been established. </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1475947117"/>
                  </a:ext>
                </a:extLst>
              </a:tr>
            </a:tbl>
          </a:graphicData>
        </a:graphic>
      </p:graphicFrame>
      <p:sp>
        <p:nvSpPr>
          <p:cNvPr id="12" name="Rounded Rectangle 11">
            <a:extLst>
              <a:ext uri="{FF2B5EF4-FFF2-40B4-BE49-F238E27FC236}">
                <a16:creationId xmlns:a16="http://schemas.microsoft.com/office/drawing/2014/main" id="{8F7EC4EA-BA0D-B668-6B79-BABC7A1FBE59}"/>
              </a:ext>
            </a:extLst>
          </p:cNvPr>
          <p:cNvSpPr/>
          <p:nvPr/>
        </p:nvSpPr>
        <p:spPr>
          <a:xfrm>
            <a:off x="8518809" y="3583440"/>
            <a:ext cx="3567440" cy="550264"/>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solidFill>
                  <a:schemeClr val="tx1"/>
                </a:solidFill>
              </a:rPr>
              <a:t>Gaps</a:t>
            </a:r>
          </a:p>
        </p:txBody>
      </p:sp>
      <p:graphicFrame>
        <p:nvGraphicFramePr>
          <p:cNvPr id="14" name="Table 13">
            <a:extLst>
              <a:ext uri="{FF2B5EF4-FFF2-40B4-BE49-F238E27FC236}">
                <a16:creationId xmlns:a16="http://schemas.microsoft.com/office/drawing/2014/main" id="{E24ECDC0-29A6-419C-2DEF-57DD5BE4173F}"/>
              </a:ext>
            </a:extLst>
          </p:cNvPr>
          <p:cNvGraphicFramePr>
            <a:graphicFrameLocks noGrp="1"/>
          </p:cNvGraphicFramePr>
          <p:nvPr>
            <p:extLst>
              <p:ext uri="{D42A27DB-BD31-4B8C-83A1-F6EECF244321}">
                <p14:modId xmlns:p14="http://schemas.microsoft.com/office/powerpoint/2010/main" val="3664813847"/>
              </p:ext>
            </p:extLst>
          </p:nvPr>
        </p:nvGraphicFramePr>
        <p:xfrm>
          <a:off x="8457694" y="4268642"/>
          <a:ext cx="3567440" cy="1312124"/>
        </p:xfrm>
        <a:graphic>
          <a:graphicData uri="http://schemas.openxmlformats.org/drawingml/2006/table">
            <a:tbl>
              <a:tblPr>
                <a:tableStyleId>{5C22544A-7EE6-4342-B048-85BDC9FD1C3A}</a:tableStyleId>
              </a:tblPr>
              <a:tblGrid>
                <a:gridCol w="3567440">
                  <a:extLst>
                    <a:ext uri="{9D8B030D-6E8A-4147-A177-3AD203B41FA5}">
                      <a16:colId xmlns:a16="http://schemas.microsoft.com/office/drawing/2014/main" val="3987846663"/>
                    </a:ext>
                  </a:extLst>
                </a:gridCol>
              </a:tblGrid>
              <a:tr h="374892">
                <a:tc>
                  <a:txBody>
                    <a:bodyPr/>
                    <a:lstStyle/>
                    <a:p>
                      <a:pPr algn="l" fontAlgn="t">
                        <a:buNone/>
                      </a:pPr>
                      <a:r>
                        <a:rPr lang="en-US" sz="800" u="none" strike="noStrike">
                          <a:effectLst/>
                        </a:rPr>
                        <a:t>3. Data validation rules have been defined and implemented for the associated data.</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3659394746"/>
                  </a:ext>
                </a:extLst>
              </a:tr>
              <a:tr h="562340">
                <a:tc>
                  <a:txBody>
                    <a:bodyPr/>
                    <a:lstStyle/>
                    <a:p>
                      <a:pPr algn="l" fontAlgn="t">
                        <a:buNone/>
                      </a:pPr>
                      <a:r>
                        <a:rPr lang="en-US" sz="800" u="none" strike="noStrike">
                          <a:effectLst/>
                        </a:rPr>
                        <a:t>4. Data performance measures and metrics (e.g. Data Quality, Data Accessibility) have been established to assess the performance of the associated data.</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3880677056"/>
                  </a:ext>
                </a:extLst>
              </a:tr>
              <a:tr h="374892">
                <a:tc>
                  <a:txBody>
                    <a:bodyPr/>
                    <a:lstStyle/>
                    <a:p>
                      <a:pPr algn="l" fontAlgn="t">
                        <a:buNone/>
                      </a:pPr>
                      <a:r>
                        <a:rPr lang="en-US" sz="800" u="none" strike="noStrike">
                          <a:effectLst/>
                        </a:rPr>
                        <a:t>5. The associated information has target data quality levels have been established. </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1475947117"/>
                  </a:ext>
                </a:extLst>
              </a:tr>
            </a:tbl>
          </a:graphicData>
        </a:graphic>
      </p:graphicFrame>
    </p:spTree>
    <p:extLst>
      <p:ext uri="{BB962C8B-B14F-4D97-AF65-F5344CB8AC3E}">
        <p14:creationId xmlns:p14="http://schemas.microsoft.com/office/powerpoint/2010/main" val="2382388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68879-C512-B613-EDD5-3D35A83E1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18E7A-04B8-E74F-8DFD-610644303741}"/>
              </a:ext>
            </a:extLst>
          </p:cNvPr>
          <p:cNvSpPr>
            <a:spLocks noGrp="1"/>
          </p:cNvSpPr>
          <p:nvPr>
            <p:ph type="title"/>
          </p:nvPr>
        </p:nvSpPr>
        <p:spPr/>
        <p:txBody>
          <a:bodyPr/>
          <a:lstStyle/>
          <a:p>
            <a:r>
              <a:rPr lang="en-US"/>
              <a:t>5. Identify Roadmap Components</a:t>
            </a:r>
          </a:p>
        </p:txBody>
      </p:sp>
      <p:sp>
        <p:nvSpPr>
          <p:cNvPr id="3" name="Content Placeholder 2">
            <a:extLst>
              <a:ext uri="{FF2B5EF4-FFF2-40B4-BE49-F238E27FC236}">
                <a16:creationId xmlns:a16="http://schemas.microsoft.com/office/drawing/2014/main" id="{87802CA7-4FD3-4B31-82C6-26FE525F23CC}"/>
              </a:ext>
            </a:extLst>
          </p:cNvPr>
          <p:cNvSpPr>
            <a:spLocks noGrp="1"/>
          </p:cNvSpPr>
          <p:nvPr>
            <p:ph idx="1"/>
          </p:nvPr>
        </p:nvSpPr>
        <p:spPr/>
        <p:txBody>
          <a:bodyPr/>
          <a:lstStyle/>
          <a:p>
            <a:r>
              <a:rPr lang="en-US"/>
              <a:t>Compare baseline Capability Criteria against target capability</a:t>
            </a:r>
          </a:p>
          <a:p>
            <a:r>
              <a:rPr lang="en-US"/>
              <a:t>Identify Gaps (e.g. Target criteria that are not met)</a:t>
            </a:r>
          </a:p>
          <a:p>
            <a:r>
              <a:rPr lang="en-US"/>
              <a:t>Identify opportunities for improvement</a:t>
            </a:r>
          </a:p>
        </p:txBody>
      </p:sp>
      <p:sp>
        <p:nvSpPr>
          <p:cNvPr id="12" name="Rounded Rectangle 11">
            <a:extLst>
              <a:ext uri="{FF2B5EF4-FFF2-40B4-BE49-F238E27FC236}">
                <a16:creationId xmlns:a16="http://schemas.microsoft.com/office/drawing/2014/main" id="{92F27511-B214-C44A-F80C-468428C317E6}"/>
              </a:ext>
            </a:extLst>
          </p:cNvPr>
          <p:cNvSpPr/>
          <p:nvPr/>
        </p:nvSpPr>
        <p:spPr>
          <a:xfrm>
            <a:off x="838200" y="3808728"/>
            <a:ext cx="3567440" cy="550264"/>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solidFill>
                  <a:schemeClr val="tx1"/>
                </a:solidFill>
              </a:rPr>
              <a:t>Gaps</a:t>
            </a:r>
          </a:p>
        </p:txBody>
      </p:sp>
      <p:graphicFrame>
        <p:nvGraphicFramePr>
          <p:cNvPr id="14" name="Table 13">
            <a:extLst>
              <a:ext uri="{FF2B5EF4-FFF2-40B4-BE49-F238E27FC236}">
                <a16:creationId xmlns:a16="http://schemas.microsoft.com/office/drawing/2014/main" id="{39CF400B-2B3B-BCB9-DDCF-BFBB7451C272}"/>
              </a:ext>
            </a:extLst>
          </p:cNvPr>
          <p:cNvGraphicFramePr>
            <a:graphicFrameLocks noGrp="1"/>
          </p:cNvGraphicFramePr>
          <p:nvPr>
            <p:extLst>
              <p:ext uri="{D42A27DB-BD31-4B8C-83A1-F6EECF244321}">
                <p14:modId xmlns:p14="http://schemas.microsoft.com/office/powerpoint/2010/main" val="60736370"/>
              </p:ext>
            </p:extLst>
          </p:nvPr>
        </p:nvGraphicFramePr>
        <p:xfrm>
          <a:off x="838200" y="4493929"/>
          <a:ext cx="3567440" cy="1312124"/>
        </p:xfrm>
        <a:graphic>
          <a:graphicData uri="http://schemas.openxmlformats.org/drawingml/2006/table">
            <a:tbl>
              <a:tblPr>
                <a:tableStyleId>{5C22544A-7EE6-4342-B048-85BDC9FD1C3A}</a:tableStyleId>
              </a:tblPr>
              <a:tblGrid>
                <a:gridCol w="3567440">
                  <a:extLst>
                    <a:ext uri="{9D8B030D-6E8A-4147-A177-3AD203B41FA5}">
                      <a16:colId xmlns:a16="http://schemas.microsoft.com/office/drawing/2014/main" val="3987846663"/>
                    </a:ext>
                  </a:extLst>
                </a:gridCol>
              </a:tblGrid>
              <a:tr h="374892">
                <a:tc>
                  <a:txBody>
                    <a:bodyPr/>
                    <a:lstStyle/>
                    <a:p>
                      <a:pPr algn="l" fontAlgn="t">
                        <a:buNone/>
                      </a:pPr>
                      <a:r>
                        <a:rPr lang="en-US" sz="800" u="none" strike="noStrike">
                          <a:effectLst/>
                        </a:rPr>
                        <a:t>3. Data validation rules have been defined and implemented for the associated data.</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3659394746"/>
                  </a:ext>
                </a:extLst>
              </a:tr>
              <a:tr h="562340">
                <a:tc>
                  <a:txBody>
                    <a:bodyPr/>
                    <a:lstStyle/>
                    <a:p>
                      <a:pPr algn="l" fontAlgn="t">
                        <a:buNone/>
                      </a:pPr>
                      <a:r>
                        <a:rPr lang="en-US" sz="800" u="none" strike="noStrike">
                          <a:effectLst/>
                        </a:rPr>
                        <a:t>4. Data performance measures and metrics (e.g. Data Quality, Data Accessibility) have been established to assess the performance of the associated data.</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3880677056"/>
                  </a:ext>
                </a:extLst>
              </a:tr>
              <a:tr h="374892">
                <a:tc>
                  <a:txBody>
                    <a:bodyPr/>
                    <a:lstStyle/>
                    <a:p>
                      <a:pPr algn="l" fontAlgn="t">
                        <a:buNone/>
                      </a:pPr>
                      <a:r>
                        <a:rPr lang="en-US" sz="800" u="none" strike="noStrike">
                          <a:effectLst/>
                        </a:rPr>
                        <a:t>5. The associated information has target data quality levels have been established. </a:t>
                      </a:r>
                      <a:endParaRPr lang="en-US" sz="800" b="0" i="0" u="none" strike="noStrike">
                        <a:solidFill>
                          <a:srgbClr val="000000"/>
                        </a:solidFill>
                        <a:effectLst/>
                        <a:latin typeface="Aptos Narrow" panose="020B0004020202020204" pitchFamily="34" charset="0"/>
                      </a:endParaRPr>
                    </a:p>
                  </a:txBody>
                  <a:tcPr marL="9525" marR="9525" marT="9525" marB="0">
                    <a:solidFill>
                      <a:schemeClr val="bg1">
                        <a:lumMod val="95000"/>
                      </a:schemeClr>
                    </a:solidFill>
                  </a:tcPr>
                </a:tc>
                <a:extLst>
                  <a:ext uri="{0D108BD9-81ED-4DB2-BD59-A6C34878D82A}">
                    <a16:rowId xmlns:a16="http://schemas.microsoft.com/office/drawing/2014/main" val="1475947117"/>
                  </a:ext>
                </a:extLst>
              </a:tr>
            </a:tbl>
          </a:graphicData>
        </a:graphic>
      </p:graphicFrame>
      <p:sp>
        <p:nvSpPr>
          <p:cNvPr id="6" name="Rounded Rectangle 5">
            <a:extLst>
              <a:ext uri="{FF2B5EF4-FFF2-40B4-BE49-F238E27FC236}">
                <a16:creationId xmlns:a16="http://schemas.microsoft.com/office/drawing/2014/main" id="{5B416F89-D4A4-4D5E-0DF1-79044B4E2426}"/>
              </a:ext>
            </a:extLst>
          </p:cNvPr>
          <p:cNvSpPr/>
          <p:nvPr/>
        </p:nvSpPr>
        <p:spPr>
          <a:xfrm>
            <a:off x="5858692" y="3808728"/>
            <a:ext cx="3567440" cy="550264"/>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solidFill>
                  <a:schemeClr val="tx1"/>
                </a:solidFill>
              </a:rPr>
              <a:t>Roadmap Components</a:t>
            </a:r>
          </a:p>
        </p:txBody>
      </p:sp>
      <p:graphicFrame>
        <p:nvGraphicFramePr>
          <p:cNvPr id="7" name="Table 6">
            <a:extLst>
              <a:ext uri="{FF2B5EF4-FFF2-40B4-BE49-F238E27FC236}">
                <a16:creationId xmlns:a16="http://schemas.microsoft.com/office/drawing/2014/main" id="{FFD6A451-A65D-7085-43CB-8BA40669999E}"/>
              </a:ext>
            </a:extLst>
          </p:cNvPr>
          <p:cNvGraphicFramePr>
            <a:graphicFrameLocks noGrp="1"/>
          </p:cNvGraphicFramePr>
          <p:nvPr>
            <p:extLst>
              <p:ext uri="{D42A27DB-BD31-4B8C-83A1-F6EECF244321}">
                <p14:modId xmlns:p14="http://schemas.microsoft.com/office/powerpoint/2010/main" val="3331292090"/>
              </p:ext>
            </p:extLst>
          </p:nvPr>
        </p:nvGraphicFramePr>
        <p:xfrm>
          <a:off x="5858692" y="4493929"/>
          <a:ext cx="3567440" cy="718185"/>
        </p:xfrm>
        <a:graphic>
          <a:graphicData uri="http://schemas.openxmlformats.org/drawingml/2006/table">
            <a:tbl>
              <a:tblPr>
                <a:tableStyleId>{5C22544A-7EE6-4342-B048-85BDC9FD1C3A}</a:tableStyleId>
              </a:tblPr>
              <a:tblGrid>
                <a:gridCol w="3567440">
                  <a:extLst>
                    <a:ext uri="{9D8B030D-6E8A-4147-A177-3AD203B41FA5}">
                      <a16:colId xmlns:a16="http://schemas.microsoft.com/office/drawing/2014/main" val="3987846663"/>
                    </a:ext>
                  </a:extLst>
                </a:gridCol>
              </a:tblGrid>
              <a:tr h="374892">
                <a:tc>
                  <a:txBody>
                    <a:bodyPr/>
                    <a:lstStyle/>
                    <a:p>
                      <a:pPr algn="l" fontAlgn="t">
                        <a:buNone/>
                      </a:pPr>
                      <a:r>
                        <a:rPr lang="en-US" sz="1050" u="none" strike="noStrike">
                          <a:effectLst/>
                        </a:rPr>
                        <a:t>Provider Data Quality Planning</a:t>
                      </a:r>
                    </a:p>
                    <a:p>
                      <a:pPr lvl="1" algn="l" fontAlgn="t">
                        <a:buNone/>
                      </a:pPr>
                      <a:r>
                        <a:rPr lang="en-US" sz="900" b="0" i="0" u="none" strike="noStrike">
                          <a:solidFill>
                            <a:srgbClr val="000000"/>
                          </a:solidFill>
                          <a:effectLst/>
                          <a:latin typeface="Aptos Narrow" panose="020B0004020202020204" pitchFamily="34" charset="0"/>
                        </a:rPr>
                        <a:t>-       Develop Provider Validation Rules</a:t>
                      </a:r>
                    </a:p>
                    <a:p>
                      <a:pPr marL="628650" lvl="1" indent="-171450" algn="l" fontAlgn="t">
                        <a:buFontTx/>
                        <a:buChar char="-"/>
                      </a:pPr>
                      <a:r>
                        <a:rPr lang="en-US" sz="900" b="0" i="0" u="none" strike="noStrike">
                          <a:solidFill>
                            <a:srgbClr val="000000"/>
                          </a:solidFill>
                          <a:effectLst/>
                          <a:latin typeface="Aptos Narrow" panose="020B0004020202020204" pitchFamily="34" charset="0"/>
                        </a:rPr>
                        <a:t>Develop Provider Data Quality Measures</a:t>
                      </a:r>
                    </a:p>
                    <a:p>
                      <a:pPr marL="628650" lvl="1" indent="-171450" algn="l" fontAlgn="t">
                        <a:buFontTx/>
                        <a:buChar char="-"/>
                      </a:pPr>
                      <a:r>
                        <a:rPr lang="en-US" sz="900" b="0" i="0" u="none" strike="noStrike">
                          <a:solidFill>
                            <a:srgbClr val="000000"/>
                          </a:solidFill>
                          <a:effectLst/>
                          <a:latin typeface="Aptos Narrow" panose="020B0004020202020204" pitchFamily="34" charset="0"/>
                        </a:rPr>
                        <a:t>Establish Provider Data Quality Dashboards</a:t>
                      </a:r>
                    </a:p>
                    <a:p>
                      <a:pPr marL="628650" lvl="1" indent="-171450" algn="l" fontAlgn="t">
                        <a:buFontTx/>
                        <a:buChar char="-"/>
                      </a:pPr>
                      <a:r>
                        <a:rPr lang="en-US" sz="900" b="0" i="0" u="none" strike="noStrike">
                          <a:solidFill>
                            <a:srgbClr val="000000"/>
                          </a:solidFill>
                          <a:effectLst/>
                          <a:latin typeface="Aptos Narrow" panose="020B0004020202020204" pitchFamily="34" charset="0"/>
                        </a:rPr>
                        <a:t>Define Provider Target Data Quality Standards</a:t>
                      </a:r>
                    </a:p>
                  </a:txBody>
                  <a:tcPr marL="9525" marR="9525" marT="9525" marB="0">
                    <a:solidFill>
                      <a:schemeClr val="bg1">
                        <a:lumMod val="95000"/>
                      </a:schemeClr>
                    </a:solidFill>
                  </a:tcPr>
                </a:tc>
                <a:extLst>
                  <a:ext uri="{0D108BD9-81ED-4DB2-BD59-A6C34878D82A}">
                    <a16:rowId xmlns:a16="http://schemas.microsoft.com/office/drawing/2014/main" val="3659394746"/>
                  </a:ext>
                </a:extLst>
              </a:tr>
            </a:tbl>
          </a:graphicData>
        </a:graphic>
      </p:graphicFrame>
    </p:spTree>
    <p:extLst>
      <p:ext uri="{BB962C8B-B14F-4D97-AF65-F5344CB8AC3E}">
        <p14:creationId xmlns:p14="http://schemas.microsoft.com/office/powerpoint/2010/main" val="17410139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4453F-28A5-2EC0-02BD-6D02051A5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E04B9-3B83-6409-811E-40C155A6403F}"/>
              </a:ext>
            </a:extLst>
          </p:cNvPr>
          <p:cNvSpPr>
            <a:spLocks noGrp="1"/>
          </p:cNvSpPr>
          <p:nvPr>
            <p:ph type="title"/>
          </p:nvPr>
        </p:nvSpPr>
        <p:spPr/>
        <p:txBody>
          <a:bodyPr/>
          <a:lstStyle/>
          <a:p>
            <a:r>
              <a:rPr lang="en-US"/>
              <a:t>Example 2: Data Quality</a:t>
            </a:r>
          </a:p>
        </p:txBody>
      </p:sp>
      <p:sp>
        <p:nvSpPr>
          <p:cNvPr id="3" name="Text Placeholder 2">
            <a:extLst>
              <a:ext uri="{FF2B5EF4-FFF2-40B4-BE49-F238E27FC236}">
                <a16:creationId xmlns:a16="http://schemas.microsoft.com/office/drawing/2014/main" id="{69523DDF-EEEA-261A-7550-F2B611750A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60865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DE3C3-52EA-6AD7-B7C0-C3308DB5A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3AF78-10B1-6AF8-90EC-B671F6469B5E}"/>
              </a:ext>
            </a:extLst>
          </p:cNvPr>
          <p:cNvSpPr>
            <a:spLocks noGrp="1"/>
          </p:cNvSpPr>
          <p:nvPr>
            <p:ph type="title"/>
          </p:nvPr>
        </p:nvSpPr>
        <p:spPr/>
        <p:txBody>
          <a:bodyPr/>
          <a:lstStyle/>
          <a:p>
            <a:r>
              <a:rPr lang="en-US"/>
              <a:t>Example 2</a:t>
            </a:r>
          </a:p>
        </p:txBody>
      </p:sp>
      <p:sp>
        <p:nvSpPr>
          <p:cNvPr id="3" name="Content Placeholder 2">
            <a:extLst>
              <a:ext uri="{FF2B5EF4-FFF2-40B4-BE49-F238E27FC236}">
                <a16:creationId xmlns:a16="http://schemas.microsoft.com/office/drawing/2014/main" id="{924EB6F7-BFE8-C1A1-FA04-00A26E4DB018}"/>
              </a:ext>
            </a:extLst>
          </p:cNvPr>
          <p:cNvSpPr>
            <a:spLocks noGrp="1"/>
          </p:cNvSpPr>
          <p:nvPr>
            <p:ph idx="1"/>
          </p:nvPr>
        </p:nvSpPr>
        <p:spPr/>
        <p:txBody>
          <a:bodyPr/>
          <a:lstStyle/>
          <a:p>
            <a:r>
              <a:rPr lang="en-US" b="1"/>
              <a:t>Outcome: </a:t>
            </a:r>
            <a:r>
              <a:rPr lang="en-US"/>
              <a:t>Improve overall quality of SMA data</a:t>
            </a:r>
          </a:p>
          <a:p>
            <a:r>
              <a:rPr lang="en-US" b="1"/>
              <a:t>Capability: </a:t>
            </a:r>
            <a:r>
              <a:rPr lang="en-US"/>
              <a:t>Data Quality</a:t>
            </a:r>
          </a:p>
          <a:p>
            <a:r>
              <a:rPr lang="en-US"/>
              <a:t>Assessment</a:t>
            </a:r>
          </a:p>
        </p:txBody>
      </p:sp>
    </p:spTree>
    <p:extLst>
      <p:ext uri="{BB962C8B-B14F-4D97-AF65-F5344CB8AC3E}">
        <p14:creationId xmlns:p14="http://schemas.microsoft.com/office/powerpoint/2010/main" val="19957042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1442C-98D5-7F67-D3ED-92433596B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1F409-EF54-55F7-A115-4AA1850EBE3F}"/>
              </a:ext>
            </a:extLst>
          </p:cNvPr>
          <p:cNvSpPr>
            <a:spLocks noGrp="1"/>
          </p:cNvSpPr>
          <p:nvPr>
            <p:ph type="title"/>
          </p:nvPr>
        </p:nvSpPr>
        <p:spPr/>
        <p:txBody>
          <a:bodyPr>
            <a:normAutofit/>
          </a:bodyPr>
          <a:lstStyle/>
          <a:p>
            <a:r>
              <a:rPr lang="en-US"/>
              <a:t>1. Identify IA Reference Models/Viewpoints </a:t>
            </a:r>
          </a:p>
        </p:txBody>
      </p:sp>
      <p:sp>
        <p:nvSpPr>
          <p:cNvPr id="9" name="Rectangle 8">
            <a:extLst>
              <a:ext uri="{FF2B5EF4-FFF2-40B4-BE49-F238E27FC236}">
                <a16:creationId xmlns:a16="http://schemas.microsoft.com/office/drawing/2014/main" id="{28B3ADC4-F7F5-F287-2B34-03A067D1A700}"/>
              </a:ext>
            </a:extLst>
          </p:cNvPr>
          <p:cNvSpPr/>
          <p:nvPr/>
        </p:nvSpPr>
        <p:spPr>
          <a:xfrm>
            <a:off x="1191491" y="2258290"/>
            <a:ext cx="3352800" cy="3117273"/>
          </a:xfrm>
          <a:prstGeom prst="rect">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a:t>Reference Models</a:t>
            </a:r>
          </a:p>
          <a:p>
            <a:pPr algn="ctr"/>
            <a:endParaRPr lang="en-US"/>
          </a:p>
          <a:p>
            <a:pPr marL="285750" indent="-285750">
              <a:buFont typeface="Arial" panose="020B0604020202020204" pitchFamily="34" charset="0"/>
              <a:buChar char="•"/>
            </a:pPr>
            <a:r>
              <a:rPr lang="en-US"/>
              <a:t>Business Process Reference Model</a:t>
            </a:r>
          </a:p>
          <a:p>
            <a:pPr marL="285750" indent="-285750">
              <a:buFont typeface="Arial" panose="020B0604020202020204" pitchFamily="34" charset="0"/>
              <a:buChar char="•"/>
            </a:pPr>
            <a:r>
              <a:rPr lang="en-US"/>
              <a:t>Data Reference Model</a:t>
            </a:r>
          </a:p>
          <a:p>
            <a:pPr marL="285750" indent="-285750">
              <a:buFont typeface="Arial" panose="020B0604020202020204" pitchFamily="34" charset="0"/>
              <a:buChar char="•"/>
            </a:pPr>
            <a:r>
              <a:rPr lang="en-US"/>
              <a:t>Technical Reference Model</a:t>
            </a:r>
          </a:p>
          <a:p>
            <a:pPr marL="285750" indent="-285750">
              <a:buFont typeface="Arial" panose="020B0604020202020204" pitchFamily="34" charset="0"/>
              <a:buChar char="•"/>
            </a:pPr>
            <a:r>
              <a:rPr lang="en-US"/>
              <a:t>Role Reference Model</a:t>
            </a:r>
          </a:p>
          <a:p>
            <a:pPr marL="285750" indent="-285750">
              <a:buFont typeface="Arial" panose="020B0604020202020204" pitchFamily="34" charset="0"/>
              <a:buChar char="•"/>
            </a:pPr>
            <a:r>
              <a:rPr lang="en-US"/>
              <a:t>Capability Reference Model</a:t>
            </a:r>
          </a:p>
        </p:txBody>
      </p:sp>
      <p:sp>
        <p:nvSpPr>
          <p:cNvPr id="11" name="Rectangle 10">
            <a:extLst>
              <a:ext uri="{FF2B5EF4-FFF2-40B4-BE49-F238E27FC236}">
                <a16:creationId xmlns:a16="http://schemas.microsoft.com/office/drawing/2014/main" id="{5A245618-A3E7-02F2-8506-7010093965DA}"/>
              </a:ext>
            </a:extLst>
          </p:cNvPr>
          <p:cNvSpPr/>
          <p:nvPr/>
        </p:nvSpPr>
        <p:spPr>
          <a:xfrm>
            <a:off x="6428509" y="2258289"/>
            <a:ext cx="3352800" cy="3117273"/>
          </a:xfrm>
          <a:prstGeom prst="rect">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a:t>Viewpoints</a:t>
            </a:r>
          </a:p>
          <a:p>
            <a:pPr algn="ctr"/>
            <a:endParaRPr lang="en-US"/>
          </a:p>
          <a:p>
            <a:pPr marL="285750" indent="-285750">
              <a:buFont typeface="Arial" panose="020B0604020202020204" pitchFamily="34" charset="0"/>
              <a:buChar char="•"/>
            </a:pPr>
            <a:r>
              <a:rPr lang="en-US"/>
              <a:t>BA Viewpoints</a:t>
            </a:r>
          </a:p>
          <a:p>
            <a:pPr marL="285750" indent="-285750">
              <a:buFont typeface="Arial" panose="020B0604020202020204" pitchFamily="34" charset="0"/>
              <a:buChar char="•"/>
            </a:pPr>
            <a:r>
              <a:rPr lang="en-US"/>
              <a:t>IA Viewpoints</a:t>
            </a:r>
          </a:p>
          <a:p>
            <a:pPr marL="285750" indent="-285750">
              <a:buFont typeface="Arial" panose="020B0604020202020204" pitchFamily="34" charset="0"/>
              <a:buChar char="•"/>
            </a:pPr>
            <a:r>
              <a:rPr lang="en-US"/>
              <a:t>TA Viewpoints</a:t>
            </a:r>
          </a:p>
          <a:p>
            <a:pPr marL="285750" indent="-285750">
              <a:buFont typeface="Arial" panose="020B0604020202020204" pitchFamily="34" charset="0"/>
              <a:buChar char="•"/>
            </a:pPr>
            <a:r>
              <a:rPr lang="en-US"/>
              <a:t>Role Viewpoints</a:t>
            </a: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17723395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7D39F-A37C-1C8B-38D4-9FAF40958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C859A-B9DD-450B-B5F5-796C54468ACE}"/>
              </a:ext>
            </a:extLst>
          </p:cNvPr>
          <p:cNvSpPr>
            <a:spLocks noGrp="1"/>
          </p:cNvSpPr>
          <p:nvPr>
            <p:ph type="title"/>
          </p:nvPr>
        </p:nvSpPr>
        <p:spPr/>
        <p:txBody>
          <a:bodyPr>
            <a:normAutofit/>
          </a:bodyPr>
          <a:lstStyle/>
          <a:p>
            <a:r>
              <a:rPr lang="en-US"/>
              <a:t>2. Baseline Data Quality Architecture</a:t>
            </a:r>
          </a:p>
        </p:txBody>
      </p:sp>
      <p:sp>
        <p:nvSpPr>
          <p:cNvPr id="3" name="Rounded Rectangle 2">
            <a:extLst>
              <a:ext uri="{FF2B5EF4-FFF2-40B4-BE49-F238E27FC236}">
                <a16:creationId xmlns:a16="http://schemas.microsoft.com/office/drawing/2014/main" id="{1654F8C5-3B34-B218-680A-640ECF26DB8F}"/>
              </a:ext>
            </a:extLst>
          </p:cNvPr>
          <p:cNvSpPr/>
          <p:nvPr/>
        </p:nvSpPr>
        <p:spPr>
          <a:xfrm>
            <a:off x="210002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Process</a:t>
            </a:r>
            <a:endParaRPr lang="en-US" sz="800" b="1"/>
          </a:p>
          <a:p>
            <a:pPr marL="171450" indent="-171450">
              <a:buFont typeface="Arial" panose="020B0604020202020204" pitchFamily="34" charset="0"/>
              <a:buChar char="•"/>
            </a:pPr>
            <a:r>
              <a:rPr lang="en-US" sz="800"/>
              <a:t>Define Provider Data Quality Rule</a:t>
            </a:r>
          </a:p>
        </p:txBody>
      </p:sp>
      <p:sp>
        <p:nvSpPr>
          <p:cNvPr id="4" name="Rounded Rectangle 3">
            <a:extLst>
              <a:ext uri="{FF2B5EF4-FFF2-40B4-BE49-F238E27FC236}">
                <a16:creationId xmlns:a16="http://schemas.microsoft.com/office/drawing/2014/main" id="{A12A0141-3C4D-B56D-17C9-2D2D6885E056}"/>
              </a:ext>
            </a:extLst>
          </p:cNvPr>
          <p:cNvSpPr/>
          <p:nvPr/>
        </p:nvSpPr>
        <p:spPr>
          <a:xfrm>
            <a:off x="2100027"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Business Roles</a:t>
            </a:r>
          </a:p>
        </p:txBody>
      </p:sp>
      <p:sp>
        <p:nvSpPr>
          <p:cNvPr id="5" name="Rounded Rectangle 4">
            <a:extLst>
              <a:ext uri="{FF2B5EF4-FFF2-40B4-BE49-F238E27FC236}">
                <a16:creationId xmlns:a16="http://schemas.microsoft.com/office/drawing/2014/main" id="{17EDF986-35DF-AC2E-DF50-0BB2BC2E1E77}"/>
              </a:ext>
            </a:extLst>
          </p:cNvPr>
          <p:cNvSpPr/>
          <p:nvPr/>
        </p:nvSpPr>
        <p:spPr>
          <a:xfrm>
            <a:off x="4698448"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Information</a:t>
            </a:r>
          </a:p>
          <a:p>
            <a:pPr marL="171450" indent="-171450">
              <a:buFont typeface="Arial" panose="020B0604020202020204" pitchFamily="34" charset="0"/>
              <a:buChar char="•"/>
            </a:pPr>
            <a:r>
              <a:rPr lang="en-US" sz="800"/>
              <a:t>T-</a:t>
            </a:r>
            <a:r>
              <a:rPr lang="en-US" sz="800" err="1"/>
              <a:t>MSiS</a:t>
            </a:r>
            <a:r>
              <a:rPr lang="en-US" sz="800"/>
              <a:t> Data Quality  OBA</a:t>
            </a:r>
          </a:p>
          <a:p>
            <a:pPr marL="171450" indent="-171450">
              <a:buFont typeface="Arial" panose="020B0604020202020204" pitchFamily="34" charset="0"/>
              <a:buChar char="•"/>
            </a:pPr>
            <a:r>
              <a:rPr lang="en-US" sz="800"/>
              <a:t>T-MSIS Data Quality Issues</a:t>
            </a:r>
            <a:endParaRPr lang="en-US" sz="400"/>
          </a:p>
        </p:txBody>
      </p:sp>
      <p:sp>
        <p:nvSpPr>
          <p:cNvPr id="6" name="Rounded Rectangle 5">
            <a:extLst>
              <a:ext uri="{FF2B5EF4-FFF2-40B4-BE49-F238E27FC236}">
                <a16:creationId xmlns:a16="http://schemas.microsoft.com/office/drawing/2014/main" id="{0B9460DE-1BD7-4423-4C71-9A686F24ED25}"/>
              </a:ext>
            </a:extLst>
          </p:cNvPr>
          <p:cNvSpPr/>
          <p:nvPr/>
        </p:nvSpPr>
        <p:spPr>
          <a:xfrm>
            <a:off x="4698448"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Information Roles</a:t>
            </a:r>
          </a:p>
          <a:p>
            <a:pPr marL="285750" indent="-285750">
              <a:buFont typeface="Arial" panose="020B0604020202020204" pitchFamily="34" charset="0"/>
              <a:buChar char="•"/>
            </a:pPr>
            <a:r>
              <a:rPr lang="en-US" sz="800"/>
              <a:t>N/A</a:t>
            </a:r>
            <a:endParaRPr lang="en-US" sz="400"/>
          </a:p>
        </p:txBody>
      </p:sp>
      <p:sp>
        <p:nvSpPr>
          <p:cNvPr id="7" name="Rounded Rectangle 6">
            <a:extLst>
              <a:ext uri="{FF2B5EF4-FFF2-40B4-BE49-F238E27FC236}">
                <a16:creationId xmlns:a16="http://schemas.microsoft.com/office/drawing/2014/main" id="{2844EA32-4DFA-7B66-1DF7-62A4DFE52672}"/>
              </a:ext>
            </a:extLst>
          </p:cNvPr>
          <p:cNvSpPr/>
          <p:nvPr/>
        </p:nvSpPr>
        <p:spPr>
          <a:xfrm>
            <a:off x="7570470"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a:t>Technical </a:t>
            </a:r>
          </a:p>
          <a:p>
            <a:pPr marL="171450" indent="-171450">
              <a:buFont typeface="Arial" panose="020B0604020202020204" pitchFamily="34" charset="0"/>
              <a:buChar char="•"/>
            </a:pPr>
            <a:r>
              <a:rPr lang="en-US" sz="800"/>
              <a:t>No System</a:t>
            </a:r>
            <a:endParaRPr lang="en-US" sz="400"/>
          </a:p>
        </p:txBody>
      </p:sp>
      <p:sp>
        <p:nvSpPr>
          <p:cNvPr id="8" name="Rounded Rectangle 7">
            <a:extLst>
              <a:ext uri="{FF2B5EF4-FFF2-40B4-BE49-F238E27FC236}">
                <a16:creationId xmlns:a16="http://schemas.microsoft.com/office/drawing/2014/main" id="{CABD883C-3A46-983B-DE48-F37ABA1575F5}"/>
              </a:ext>
            </a:extLst>
          </p:cNvPr>
          <p:cNvSpPr/>
          <p:nvPr/>
        </p:nvSpPr>
        <p:spPr>
          <a:xfrm>
            <a:off x="7570469"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Technical Roles</a:t>
            </a:r>
          </a:p>
          <a:p>
            <a:pPr marL="285750" indent="-285750">
              <a:buFont typeface="Arial" panose="020B0604020202020204" pitchFamily="34" charset="0"/>
              <a:buChar char="•"/>
            </a:pPr>
            <a:r>
              <a:rPr lang="en-US" sz="800"/>
              <a:t>No Technical Roles</a:t>
            </a:r>
            <a:endParaRPr lang="en-US" sz="400"/>
          </a:p>
        </p:txBody>
      </p:sp>
      <p:cxnSp>
        <p:nvCxnSpPr>
          <p:cNvPr id="10" name="Straight Arrow Connector 9">
            <a:extLst>
              <a:ext uri="{FF2B5EF4-FFF2-40B4-BE49-F238E27FC236}">
                <a16:creationId xmlns:a16="http://schemas.microsoft.com/office/drawing/2014/main" id="{2E89BD8E-2800-F132-4755-36CCD99B7740}"/>
              </a:ext>
            </a:extLst>
          </p:cNvPr>
          <p:cNvCxnSpPr>
            <a:stCxn id="3" idx="2"/>
            <a:endCxn id="4" idx="0"/>
          </p:cNvCxnSpPr>
          <p:nvPr/>
        </p:nvCxnSpPr>
        <p:spPr>
          <a:xfrm flipH="1">
            <a:off x="2968224"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9AA9D160-5E02-7504-200C-933D90C7E426}"/>
              </a:ext>
            </a:extLst>
          </p:cNvPr>
          <p:cNvCxnSpPr>
            <a:stCxn id="4" idx="3"/>
            <a:endCxn id="5" idx="1"/>
          </p:cNvCxnSpPr>
          <p:nvPr/>
        </p:nvCxnSpPr>
        <p:spPr>
          <a:xfrm flipV="1">
            <a:off x="3836420" y="3029034"/>
            <a:ext cx="862028" cy="231765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C9B210D2-B5CA-82CC-0ADE-27CE8038C1B6}"/>
              </a:ext>
            </a:extLst>
          </p:cNvPr>
          <p:cNvCxnSpPr>
            <a:cxnSpLocks/>
            <a:stCxn id="6" idx="3"/>
            <a:endCxn id="7" idx="1"/>
          </p:cNvCxnSpPr>
          <p:nvPr/>
        </p:nvCxnSpPr>
        <p:spPr>
          <a:xfrm flipV="1">
            <a:off x="6434841" y="3029034"/>
            <a:ext cx="1135629" cy="231765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65C25C2-8AB8-0753-9978-8B02DE069E8F}"/>
              </a:ext>
            </a:extLst>
          </p:cNvPr>
          <p:cNvCxnSpPr>
            <a:stCxn id="5" idx="2"/>
            <a:endCxn id="6" idx="0"/>
          </p:cNvCxnSpPr>
          <p:nvPr/>
        </p:nvCxnSpPr>
        <p:spPr>
          <a:xfrm>
            <a:off x="5566645" y="3900904"/>
            <a:ext cx="0"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A4587E0-0682-137A-911A-0BA69E4DF531}"/>
              </a:ext>
            </a:extLst>
          </p:cNvPr>
          <p:cNvCxnSpPr>
            <a:cxnSpLocks/>
            <a:stCxn id="7" idx="2"/>
            <a:endCxn id="8" idx="0"/>
          </p:cNvCxnSpPr>
          <p:nvPr/>
        </p:nvCxnSpPr>
        <p:spPr>
          <a:xfrm flipH="1">
            <a:off x="8438666"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1CD2D290-6B33-1802-C5F6-E63428BA88AC}"/>
              </a:ext>
            </a:extLst>
          </p:cNvPr>
          <p:cNvSpPr/>
          <p:nvPr/>
        </p:nvSpPr>
        <p:spPr>
          <a:xfrm>
            <a:off x="1006434" y="2754714"/>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A8A77DD-1E20-E9C5-C7A0-44286A00C2DF}"/>
              </a:ext>
            </a:extLst>
          </p:cNvPr>
          <p:cNvSpPr/>
          <p:nvPr/>
        </p:nvSpPr>
        <p:spPr>
          <a:xfrm>
            <a:off x="9697044" y="5072365"/>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D442237-C48B-E160-7A1B-4AB72A188EC4}"/>
              </a:ext>
            </a:extLst>
          </p:cNvPr>
          <p:cNvCxnSpPr>
            <a:cxnSpLocks/>
            <a:stCxn id="21" idx="6"/>
            <a:endCxn id="3" idx="1"/>
          </p:cNvCxnSpPr>
          <p:nvPr/>
        </p:nvCxnSpPr>
        <p:spPr>
          <a:xfrm>
            <a:off x="1532214" y="3029034"/>
            <a:ext cx="5678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A50F9BA-55C4-5D99-DF9A-BAF8F4D63D0F}"/>
              </a:ext>
            </a:extLst>
          </p:cNvPr>
          <p:cNvCxnSpPr>
            <a:cxnSpLocks/>
            <a:stCxn id="8" idx="3"/>
            <a:endCxn id="22" idx="2"/>
          </p:cNvCxnSpPr>
          <p:nvPr/>
        </p:nvCxnSpPr>
        <p:spPr>
          <a:xfrm>
            <a:off x="9306862" y="5346685"/>
            <a:ext cx="3901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24221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E52D-A2C2-C394-DA1C-688E17364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FE7B8-8DA1-6899-796D-55CEC2A29208}"/>
              </a:ext>
            </a:extLst>
          </p:cNvPr>
          <p:cNvSpPr>
            <a:spLocks noGrp="1"/>
          </p:cNvSpPr>
          <p:nvPr>
            <p:ph type="title"/>
          </p:nvPr>
        </p:nvSpPr>
        <p:spPr/>
        <p:txBody>
          <a:bodyPr>
            <a:normAutofit/>
          </a:bodyPr>
          <a:lstStyle/>
          <a:p>
            <a:r>
              <a:rPr lang="en-US"/>
              <a:t>2A. Assess Baseline Data Quality Maturity</a:t>
            </a:r>
          </a:p>
        </p:txBody>
      </p:sp>
      <p:sp>
        <p:nvSpPr>
          <p:cNvPr id="3" name="Content Placeholder 2">
            <a:extLst>
              <a:ext uri="{FF2B5EF4-FFF2-40B4-BE49-F238E27FC236}">
                <a16:creationId xmlns:a16="http://schemas.microsoft.com/office/drawing/2014/main" id="{382146FA-A2EE-E931-34AE-3C965C7B0395}"/>
              </a:ext>
            </a:extLst>
          </p:cNvPr>
          <p:cNvSpPr>
            <a:spLocks noGrp="1"/>
          </p:cNvSpPr>
          <p:nvPr>
            <p:ph idx="1"/>
          </p:nvPr>
        </p:nvSpPr>
        <p:spPr/>
        <p:txBody>
          <a:bodyPr/>
          <a:lstStyle/>
          <a:p>
            <a:r>
              <a:rPr lang="en-US"/>
              <a:t>Assessment Subject: </a:t>
            </a:r>
          </a:p>
          <a:p>
            <a:pPr lvl="1"/>
            <a:r>
              <a:rPr lang="en-US"/>
              <a:t>Data Quality</a:t>
            </a:r>
          </a:p>
          <a:p>
            <a:r>
              <a:rPr lang="en-US"/>
              <a:t>Assessment Performance:</a:t>
            </a:r>
          </a:p>
          <a:p>
            <a:pPr lvl="1"/>
            <a:r>
              <a:rPr lang="en-US"/>
              <a:t>Use Business Architecture Criteria to assess Data Quality Processes</a:t>
            </a:r>
          </a:p>
          <a:p>
            <a:pPr lvl="1"/>
            <a:r>
              <a:rPr lang="en-US"/>
              <a:t>Use Role Criteria to assess Data Quality Roles</a:t>
            </a:r>
          </a:p>
          <a:p>
            <a:pPr lvl="1"/>
            <a:r>
              <a:rPr lang="en-US"/>
              <a:t>Use Information Architecture Criteria to assess Data Quality Information</a:t>
            </a:r>
          </a:p>
          <a:p>
            <a:pPr lvl="1"/>
            <a:r>
              <a:rPr lang="en-US"/>
              <a:t>Use Technical Architecture Criteria to assess Data Quality Technology</a:t>
            </a:r>
          </a:p>
        </p:txBody>
      </p:sp>
    </p:spTree>
    <p:extLst>
      <p:ext uri="{BB962C8B-B14F-4D97-AF65-F5344CB8AC3E}">
        <p14:creationId xmlns:p14="http://schemas.microsoft.com/office/powerpoint/2010/main" val="23783494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6F2DB-6669-7344-F8C7-EF044E3B9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3AA91-B358-79B2-DCAF-C1245827A9DA}"/>
              </a:ext>
            </a:extLst>
          </p:cNvPr>
          <p:cNvSpPr>
            <a:spLocks noGrp="1"/>
          </p:cNvSpPr>
          <p:nvPr>
            <p:ph type="title"/>
          </p:nvPr>
        </p:nvSpPr>
        <p:spPr/>
        <p:txBody>
          <a:bodyPr>
            <a:normAutofit/>
          </a:bodyPr>
          <a:lstStyle/>
          <a:p>
            <a:r>
              <a:rPr lang="en-US"/>
              <a:t>3. Target Data Quality Architecture</a:t>
            </a:r>
          </a:p>
        </p:txBody>
      </p:sp>
      <p:sp>
        <p:nvSpPr>
          <p:cNvPr id="3" name="Rounded Rectangle 2">
            <a:extLst>
              <a:ext uri="{FF2B5EF4-FFF2-40B4-BE49-F238E27FC236}">
                <a16:creationId xmlns:a16="http://schemas.microsoft.com/office/drawing/2014/main" id="{E1A2B1D1-397A-D051-2571-A55E92C48F91}"/>
              </a:ext>
            </a:extLst>
          </p:cNvPr>
          <p:cNvSpPr/>
          <p:nvPr/>
        </p:nvSpPr>
        <p:spPr>
          <a:xfrm>
            <a:off x="3231004"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Process</a:t>
            </a:r>
            <a:endParaRPr lang="en-US" sz="800" b="1"/>
          </a:p>
          <a:p>
            <a:pPr marL="171450" indent="-171450">
              <a:buFont typeface="Arial" panose="020B0604020202020204" pitchFamily="34" charset="0"/>
              <a:buChar char="•"/>
            </a:pPr>
            <a:r>
              <a:rPr lang="en-US" sz="800"/>
              <a:t>Manage Data Quality Planning</a:t>
            </a:r>
          </a:p>
          <a:p>
            <a:pPr marL="171450" indent="-171450">
              <a:buFont typeface="Arial" panose="020B0604020202020204" pitchFamily="34" charset="0"/>
              <a:buChar char="•"/>
            </a:pPr>
            <a:r>
              <a:rPr lang="en-US" sz="800"/>
              <a:t>Assess Data Quality</a:t>
            </a:r>
          </a:p>
        </p:txBody>
      </p:sp>
      <p:sp>
        <p:nvSpPr>
          <p:cNvPr id="4" name="Rounded Rectangle 3">
            <a:extLst>
              <a:ext uri="{FF2B5EF4-FFF2-40B4-BE49-F238E27FC236}">
                <a16:creationId xmlns:a16="http://schemas.microsoft.com/office/drawing/2014/main" id="{C88DC685-29AA-845A-41B0-B136097F18D2}"/>
              </a:ext>
            </a:extLst>
          </p:cNvPr>
          <p:cNvSpPr/>
          <p:nvPr/>
        </p:nvSpPr>
        <p:spPr>
          <a:xfrm>
            <a:off x="3231003"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Business Roles</a:t>
            </a:r>
          </a:p>
          <a:p>
            <a:pPr marL="171450" indent="-171450">
              <a:buFont typeface="Arial" panose="020B0604020202020204" pitchFamily="34" charset="0"/>
              <a:buChar char="•"/>
            </a:pPr>
            <a:r>
              <a:rPr lang="en-US" sz="800"/>
              <a:t>Data Quality Specialist</a:t>
            </a:r>
            <a:endParaRPr lang="en-US" sz="400"/>
          </a:p>
        </p:txBody>
      </p:sp>
      <p:sp>
        <p:nvSpPr>
          <p:cNvPr id="5" name="Rounded Rectangle 4">
            <a:extLst>
              <a:ext uri="{FF2B5EF4-FFF2-40B4-BE49-F238E27FC236}">
                <a16:creationId xmlns:a16="http://schemas.microsoft.com/office/drawing/2014/main" id="{2A6B3AB3-29AF-B098-7933-C73431F5B65A}"/>
              </a:ext>
            </a:extLst>
          </p:cNvPr>
          <p:cNvSpPr/>
          <p:nvPr/>
        </p:nvSpPr>
        <p:spPr>
          <a:xfrm>
            <a:off x="5829424"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Information</a:t>
            </a:r>
          </a:p>
          <a:p>
            <a:pPr marL="171450" indent="-171450">
              <a:buFont typeface="Arial" panose="020B0604020202020204" pitchFamily="34" charset="0"/>
              <a:buChar char="•"/>
            </a:pPr>
            <a:r>
              <a:rPr lang="en-US" sz="800"/>
              <a:t>Data Quality Information</a:t>
            </a:r>
            <a:endParaRPr lang="en-US" sz="400"/>
          </a:p>
        </p:txBody>
      </p:sp>
      <p:sp>
        <p:nvSpPr>
          <p:cNvPr id="6" name="Rounded Rectangle 5">
            <a:extLst>
              <a:ext uri="{FF2B5EF4-FFF2-40B4-BE49-F238E27FC236}">
                <a16:creationId xmlns:a16="http://schemas.microsoft.com/office/drawing/2014/main" id="{00740DBD-478E-3EBB-5BFB-DAF17922752A}"/>
              </a:ext>
            </a:extLst>
          </p:cNvPr>
          <p:cNvSpPr/>
          <p:nvPr/>
        </p:nvSpPr>
        <p:spPr>
          <a:xfrm>
            <a:off x="5829424"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Information Roles</a:t>
            </a:r>
          </a:p>
          <a:p>
            <a:pPr marL="285750" indent="-285750">
              <a:buFont typeface="Arial" panose="020B0604020202020204" pitchFamily="34" charset="0"/>
              <a:buChar char="•"/>
            </a:pPr>
            <a:r>
              <a:rPr lang="en-US" sz="800"/>
              <a:t>Data Quality Steward</a:t>
            </a:r>
          </a:p>
          <a:p>
            <a:pPr marL="285750" indent="-285750">
              <a:buFont typeface="Arial" panose="020B0604020202020204" pitchFamily="34" charset="0"/>
              <a:buChar char="•"/>
            </a:pPr>
            <a:r>
              <a:rPr lang="en-US" sz="800"/>
              <a:t>Data Quality Owner</a:t>
            </a:r>
            <a:endParaRPr lang="en-US" sz="400"/>
          </a:p>
        </p:txBody>
      </p:sp>
      <p:sp>
        <p:nvSpPr>
          <p:cNvPr id="7" name="Rounded Rectangle 6">
            <a:extLst>
              <a:ext uri="{FF2B5EF4-FFF2-40B4-BE49-F238E27FC236}">
                <a16:creationId xmlns:a16="http://schemas.microsoft.com/office/drawing/2014/main" id="{8C322F80-0C73-964F-0C21-DD1BA704BED5}"/>
              </a:ext>
            </a:extLst>
          </p:cNvPr>
          <p:cNvSpPr/>
          <p:nvPr/>
        </p:nvSpPr>
        <p:spPr>
          <a:xfrm>
            <a:off x="8701446"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Technical </a:t>
            </a:r>
          </a:p>
          <a:p>
            <a:pPr marL="171450" indent="-171450">
              <a:buFont typeface="Arial" panose="020B0604020202020204" pitchFamily="34" charset="0"/>
              <a:buChar char="•"/>
            </a:pPr>
            <a:r>
              <a:rPr lang="en-US" sz="800"/>
              <a:t>Data Quality System</a:t>
            </a:r>
            <a:endParaRPr lang="en-US" sz="400"/>
          </a:p>
        </p:txBody>
      </p:sp>
      <p:sp>
        <p:nvSpPr>
          <p:cNvPr id="8" name="Rounded Rectangle 7">
            <a:extLst>
              <a:ext uri="{FF2B5EF4-FFF2-40B4-BE49-F238E27FC236}">
                <a16:creationId xmlns:a16="http://schemas.microsoft.com/office/drawing/2014/main" id="{101E3842-2B28-47E1-5416-40102C967E21}"/>
              </a:ext>
            </a:extLst>
          </p:cNvPr>
          <p:cNvSpPr/>
          <p:nvPr/>
        </p:nvSpPr>
        <p:spPr>
          <a:xfrm>
            <a:off x="8701445" y="4474815"/>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a:t>Technical Roles</a:t>
            </a:r>
          </a:p>
          <a:p>
            <a:pPr marL="285750" indent="-285750">
              <a:buFont typeface="Arial" panose="020B0604020202020204" pitchFamily="34" charset="0"/>
              <a:buChar char="•"/>
            </a:pPr>
            <a:r>
              <a:rPr lang="en-US" sz="800"/>
              <a:t>Database Administrator</a:t>
            </a:r>
          </a:p>
          <a:p>
            <a:pPr marL="285750" indent="-285750">
              <a:buFont typeface="Arial" panose="020B0604020202020204" pitchFamily="34" charset="0"/>
              <a:buChar char="•"/>
            </a:pPr>
            <a:r>
              <a:rPr lang="en-US" sz="800"/>
              <a:t>Solution Architect</a:t>
            </a:r>
            <a:endParaRPr lang="en-US" sz="400"/>
          </a:p>
        </p:txBody>
      </p:sp>
      <p:cxnSp>
        <p:nvCxnSpPr>
          <p:cNvPr id="10" name="Straight Arrow Connector 9">
            <a:extLst>
              <a:ext uri="{FF2B5EF4-FFF2-40B4-BE49-F238E27FC236}">
                <a16:creationId xmlns:a16="http://schemas.microsoft.com/office/drawing/2014/main" id="{AB863505-C64A-0067-98F3-FDF462F10AF6}"/>
              </a:ext>
            </a:extLst>
          </p:cNvPr>
          <p:cNvCxnSpPr>
            <a:stCxn id="3" idx="2"/>
            <a:endCxn id="4" idx="0"/>
          </p:cNvCxnSpPr>
          <p:nvPr/>
        </p:nvCxnSpPr>
        <p:spPr>
          <a:xfrm flipH="1">
            <a:off x="4099200"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79A0256F-3A30-7EF1-E13E-18D085C2C639}"/>
              </a:ext>
            </a:extLst>
          </p:cNvPr>
          <p:cNvCxnSpPr>
            <a:stCxn id="4" idx="3"/>
            <a:endCxn id="5" idx="1"/>
          </p:cNvCxnSpPr>
          <p:nvPr/>
        </p:nvCxnSpPr>
        <p:spPr>
          <a:xfrm flipV="1">
            <a:off x="4967396" y="3029034"/>
            <a:ext cx="862028" cy="231765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79406035-D3CC-48F2-BEA9-0765DEC78512}"/>
              </a:ext>
            </a:extLst>
          </p:cNvPr>
          <p:cNvCxnSpPr>
            <a:cxnSpLocks/>
            <a:stCxn id="6" idx="3"/>
            <a:endCxn id="7" idx="1"/>
          </p:cNvCxnSpPr>
          <p:nvPr/>
        </p:nvCxnSpPr>
        <p:spPr>
          <a:xfrm flipV="1">
            <a:off x="7565817" y="3029034"/>
            <a:ext cx="1135629" cy="231765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F010674-E0F7-2D8C-0E70-0ED037AF1140}"/>
              </a:ext>
            </a:extLst>
          </p:cNvPr>
          <p:cNvCxnSpPr>
            <a:stCxn id="5" idx="2"/>
            <a:endCxn id="6" idx="0"/>
          </p:cNvCxnSpPr>
          <p:nvPr/>
        </p:nvCxnSpPr>
        <p:spPr>
          <a:xfrm>
            <a:off x="6697621" y="3900904"/>
            <a:ext cx="0"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7131B81-377C-44BC-D66A-662DB77D1088}"/>
              </a:ext>
            </a:extLst>
          </p:cNvPr>
          <p:cNvCxnSpPr>
            <a:cxnSpLocks/>
            <a:stCxn id="7" idx="2"/>
            <a:endCxn id="8" idx="0"/>
          </p:cNvCxnSpPr>
          <p:nvPr/>
        </p:nvCxnSpPr>
        <p:spPr>
          <a:xfrm flipH="1">
            <a:off x="9569642" y="3900904"/>
            <a:ext cx="1" cy="573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65EC3429-CD40-D2F8-3200-2BD05AD28233}"/>
              </a:ext>
            </a:extLst>
          </p:cNvPr>
          <p:cNvSpPr/>
          <p:nvPr/>
        </p:nvSpPr>
        <p:spPr>
          <a:xfrm>
            <a:off x="0" y="2754714"/>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5EB8313-DFF3-32B6-7A78-777040A523B6}"/>
              </a:ext>
            </a:extLst>
          </p:cNvPr>
          <p:cNvSpPr/>
          <p:nvPr/>
        </p:nvSpPr>
        <p:spPr>
          <a:xfrm>
            <a:off x="10828020" y="5072365"/>
            <a:ext cx="525780" cy="54864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89DA5A0-41D1-143E-C578-5645BABEE8EA}"/>
              </a:ext>
            </a:extLst>
          </p:cNvPr>
          <p:cNvCxnSpPr>
            <a:cxnSpLocks/>
            <a:stCxn id="21" idx="6"/>
            <a:endCxn id="3" idx="1"/>
          </p:cNvCxnSpPr>
          <p:nvPr/>
        </p:nvCxnSpPr>
        <p:spPr>
          <a:xfrm>
            <a:off x="525780" y="3029034"/>
            <a:ext cx="270522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1FD2F81-F587-057C-A5B4-CC5D7CFDA17E}"/>
              </a:ext>
            </a:extLst>
          </p:cNvPr>
          <p:cNvCxnSpPr>
            <a:cxnSpLocks/>
            <a:stCxn id="8" idx="3"/>
            <a:endCxn id="22" idx="2"/>
          </p:cNvCxnSpPr>
          <p:nvPr/>
        </p:nvCxnSpPr>
        <p:spPr>
          <a:xfrm>
            <a:off x="10437838" y="5346685"/>
            <a:ext cx="3901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a:extLst>
              <a:ext uri="{FF2B5EF4-FFF2-40B4-BE49-F238E27FC236}">
                <a16:creationId xmlns:a16="http://schemas.microsoft.com/office/drawing/2014/main" id="{F2AF3ECF-7403-E5AF-7193-679EBA34D7E9}"/>
              </a:ext>
            </a:extLst>
          </p:cNvPr>
          <p:cNvSpPr/>
          <p:nvPr/>
        </p:nvSpPr>
        <p:spPr>
          <a:xfrm>
            <a:off x="926796" y="2157164"/>
            <a:ext cx="1736393"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a:t>Target Maturity Levels</a:t>
            </a:r>
          </a:p>
          <a:p>
            <a:pPr marL="171450" indent="-171450">
              <a:buFont typeface="Arial" panose="020B0604020202020204" pitchFamily="34" charset="0"/>
              <a:buChar char="•"/>
            </a:pPr>
            <a:r>
              <a:rPr lang="en-US" sz="800" b="1"/>
              <a:t>BA – Level 3</a:t>
            </a:r>
          </a:p>
          <a:p>
            <a:pPr marL="171450" indent="-171450">
              <a:buFont typeface="Arial" panose="020B0604020202020204" pitchFamily="34" charset="0"/>
              <a:buChar char="•"/>
            </a:pPr>
            <a:r>
              <a:rPr lang="en-US" sz="800" b="1"/>
              <a:t>Role – Level 3</a:t>
            </a:r>
          </a:p>
          <a:p>
            <a:pPr marL="171450" indent="-171450">
              <a:buFont typeface="Arial" panose="020B0604020202020204" pitchFamily="34" charset="0"/>
              <a:buChar char="•"/>
            </a:pPr>
            <a:r>
              <a:rPr lang="en-US" sz="800" b="1"/>
              <a:t>IA – Level 3</a:t>
            </a:r>
          </a:p>
          <a:p>
            <a:pPr marL="171450" indent="-171450">
              <a:buFont typeface="Arial" panose="020B0604020202020204" pitchFamily="34" charset="0"/>
              <a:buChar char="•"/>
            </a:pPr>
            <a:r>
              <a:rPr lang="en-US" sz="800" b="1"/>
              <a:t>TA - Level 3</a:t>
            </a:r>
            <a:endParaRPr lang="en-US" sz="700" b="1"/>
          </a:p>
        </p:txBody>
      </p:sp>
    </p:spTree>
    <p:extLst>
      <p:ext uri="{BB962C8B-B14F-4D97-AF65-F5344CB8AC3E}">
        <p14:creationId xmlns:p14="http://schemas.microsoft.com/office/powerpoint/2010/main" val="16365246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C43C8-1E69-DC3B-3F68-F76CC105B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53369-A157-5EBB-876F-F5DDF1FEE088}"/>
              </a:ext>
            </a:extLst>
          </p:cNvPr>
          <p:cNvSpPr>
            <a:spLocks noGrp="1"/>
          </p:cNvSpPr>
          <p:nvPr>
            <p:ph type="title"/>
          </p:nvPr>
        </p:nvSpPr>
        <p:spPr/>
        <p:txBody>
          <a:bodyPr/>
          <a:lstStyle/>
          <a:p>
            <a:r>
              <a:rPr lang="en-US"/>
              <a:t>Enterprise Strategic Planning</a:t>
            </a:r>
          </a:p>
        </p:txBody>
      </p:sp>
      <p:sp>
        <p:nvSpPr>
          <p:cNvPr id="3" name="Rounded Rectangle 2">
            <a:extLst>
              <a:ext uri="{FF2B5EF4-FFF2-40B4-BE49-F238E27FC236}">
                <a16:creationId xmlns:a16="http://schemas.microsoft.com/office/drawing/2014/main" id="{DD034988-292C-07BB-9315-E57D2F3802DD}"/>
              </a:ext>
            </a:extLst>
          </p:cNvPr>
          <p:cNvSpPr/>
          <p:nvPr/>
        </p:nvSpPr>
        <p:spPr>
          <a:xfrm>
            <a:off x="601371" y="3257730"/>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Scope your Assessment</a:t>
            </a:r>
          </a:p>
        </p:txBody>
      </p:sp>
      <p:sp>
        <p:nvSpPr>
          <p:cNvPr id="4" name="Rounded Rectangle 3">
            <a:extLst>
              <a:ext uri="{FF2B5EF4-FFF2-40B4-BE49-F238E27FC236}">
                <a16:creationId xmlns:a16="http://schemas.microsoft.com/office/drawing/2014/main" id="{8DA0D00C-A41F-6174-14E9-699749CD2388}"/>
              </a:ext>
            </a:extLst>
          </p:cNvPr>
          <p:cNvSpPr/>
          <p:nvPr/>
        </p:nvSpPr>
        <p:spPr>
          <a:xfrm>
            <a:off x="2590271" y="3249788"/>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Choose your capabilities</a:t>
            </a:r>
          </a:p>
        </p:txBody>
      </p:sp>
      <p:sp>
        <p:nvSpPr>
          <p:cNvPr id="5" name="Rounded Rectangle 4">
            <a:extLst>
              <a:ext uri="{FF2B5EF4-FFF2-40B4-BE49-F238E27FC236}">
                <a16:creationId xmlns:a16="http://schemas.microsoft.com/office/drawing/2014/main" id="{D702697F-AEF5-6D6B-F30A-A61097D80408}"/>
              </a:ext>
            </a:extLst>
          </p:cNvPr>
          <p:cNvSpPr/>
          <p:nvPr/>
        </p:nvSpPr>
        <p:spPr>
          <a:xfrm>
            <a:off x="4515756" y="3257730"/>
            <a:ext cx="1477602"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Define</a:t>
            </a:r>
            <a:br>
              <a:rPr lang="en-US" sz="1400"/>
            </a:br>
            <a:r>
              <a:rPr lang="en-US" sz="1400"/>
              <a:t>your architecture</a:t>
            </a:r>
            <a:endParaRPr lang="en-US" sz="1000" i="1"/>
          </a:p>
        </p:txBody>
      </p:sp>
      <p:sp>
        <p:nvSpPr>
          <p:cNvPr id="6" name="Rounded Rectangle 5">
            <a:extLst>
              <a:ext uri="{FF2B5EF4-FFF2-40B4-BE49-F238E27FC236}">
                <a16:creationId xmlns:a16="http://schemas.microsoft.com/office/drawing/2014/main" id="{41DBAC4D-B3E5-40E5-5863-AEB334BA1AB0}"/>
              </a:ext>
            </a:extLst>
          </p:cNvPr>
          <p:cNvSpPr/>
          <p:nvPr/>
        </p:nvSpPr>
        <p:spPr>
          <a:xfrm>
            <a:off x="6414710" y="3292705"/>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Document your State Self-Assessment</a:t>
            </a:r>
            <a:endParaRPr lang="en-US" sz="1000"/>
          </a:p>
        </p:txBody>
      </p:sp>
      <p:sp>
        <p:nvSpPr>
          <p:cNvPr id="7" name="TextBox 6">
            <a:extLst>
              <a:ext uri="{FF2B5EF4-FFF2-40B4-BE49-F238E27FC236}">
                <a16:creationId xmlns:a16="http://schemas.microsoft.com/office/drawing/2014/main" id="{B0CDD2FC-3B36-7FCE-AA87-C795AE0F7FDB}"/>
              </a:ext>
            </a:extLst>
          </p:cNvPr>
          <p:cNvSpPr txBox="1"/>
          <p:nvPr/>
        </p:nvSpPr>
        <p:spPr>
          <a:xfrm>
            <a:off x="601370" y="2341717"/>
            <a:ext cx="1494423" cy="553998"/>
          </a:xfrm>
          <a:prstGeom prst="rect">
            <a:avLst/>
          </a:prstGeom>
          <a:solidFill>
            <a:schemeClr val="bg1">
              <a:lumMod val="95000"/>
            </a:schemeClr>
          </a:solidFill>
          <a:ln>
            <a:solidFill>
              <a:schemeClr val="tx1"/>
            </a:solidFill>
          </a:ln>
        </p:spPr>
        <p:txBody>
          <a:bodyPr wrap="square" rtlCol="0">
            <a:spAutoFit/>
          </a:bodyPr>
          <a:lstStyle/>
          <a:p>
            <a:pPr algn="ctr"/>
            <a:r>
              <a:rPr lang="en-US" sz="1000"/>
              <a:t>MITA 4.0 Outcome Process </a:t>
            </a:r>
          </a:p>
          <a:p>
            <a:pPr algn="ctr"/>
            <a:r>
              <a:rPr lang="en-US" sz="1000"/>
              <a:t>&amp; Reference Models</a:t>
            </a:r>
          </a:p>
        </p:txBody>
      </p:sp>
      <p:sp>
        <p:nvSpPr>
          <p:cNvPr id="8" name="TextBox 7">
            <a:extLst>
              <a:ext uri="{FF2B5EF4-FFF2-40B4-BE49-F238E27FC236}">
                <a16:creationId xmlns:a16="http://schemas.microsoft.com/office/drawing/2014/main" id="{F86D811C-04EE-0426-C88F-3389E609F486}"/>
              </a:ext>
            </a:extLst>
          </p:cNvPr>
          <p:cNvSpPr txBox="1"/>
          <p:nvPr/>
        </p:nvSpPr>
        <p:spPr>
          <a:xfrm>
            <a:off x="2590272" y="2338163"/>
            <a:ext cx="1477601" cy="400110"/>
          </a:xfrm>
          <a:prstGeom prst="rect">
            <a:avLst/>
          </a:prstGeom>
          <a:solidFill>
            <a:schemeClr val="bg1">
              <a:lumMod val="95000"/>
            </a:schemeClr>
          </a:solidFill>
          <a:ln>
            <a:solidFill>
              <a:schemeClr val="tx1"/>
            </a:solidFill>
          </a:ln>
        </p:spPr>
        <p:txBody>
          <a:bodyPr wrap="square" rtlCol="0">
            <a:spAutoFit/>
          </a:bodyPr>
          <a:lstStyle/>
          <a:p>
            <a:pPr algn="ctr"/>
            <a:r>
              <a:rPr lang="en-US" sz="1000"/>
              <a:t>MITA 4.0 Capability </a:t>
            </a:r>
          </a:p>
          <a:p>
            <a:pPr algn="ctr"/>
            <a:r>
              <a:rPr lang="en-US" sz="1000"/>
              <a:t>Reference Model</a:t>
            </a:r>
          </a:p>
        </p:txBody>
      </p:sp>
      <p:sp>
        <p:nvSpPr>
          <p:cNvPr id="9" name="TextBox 8">
            <a:extLst>
              <a:ext uri="{FF2B5EF4-FFF2-40B4-BE49-F238E27FC236}">
                <a16:creationId xmlns:a16="http://schemas.microsoft.com/office/drawing/2014/main" id="{A7DE355A-6328-7507-B278-507AE73A0904}"/>
              </a:ext>
            </a:extLst>
          </p:cNvPr>
          <p:cNvSpPr txBox="1"/>
          <p:nvPr/>
        </p:nvSpPr>
        <p:spPr>
          <a:xfrm>
            <a:off x="4378186" y="2316310"/>
            <a:ext cx="1792575" cy="707886"/>
          </a:xfrm>
          <a:prstGeom prst="rect">
            <a:avLst/>
          </a:prstGeom>
          <a:solidFill>
            <a:schemeClr val="bg1">
              <a:lumMod val="95000"/>
            </a:schemeClr>
          </a:solidFill>
          <a:ln>
            <a:solidFill>
              <a:schemeClr val="tx1"/>
            </a:solidFill>
          </a:ln>
        </p:spPr>
        <p:txBody>
          <a:bodyPr wrap="square" rtlCol="0">
            <a:spAutoFit/>
          </a:bodyPr>
          <a:lstStyle/>
          <a:p>
            <a:pPr algn="ctr"/>
            <a:r>
              <a:rPr lang="en-US" sz="1000"/>
              <a:t>MITA 4.0 Role, Process, Data, Technical </a:t>
            </a:r>
          </a:p>
          <a:p>
            <a:pPr algn="ctr"/>
            <a:r>
              <a:rPr lang="en-US" sz="1000"/>
              <a:t>Reference Models &amp; Architecture Process</a:t>
            </a:r>
          </a:p>
        </p:txBody>
      </p:sp>
      <p:sp>
        <p:nvSpPr>
          <p:cNvPr id="10" name="TextBox 9">
            <a:extLst>
              <a:ext uri="{FF2B5EF4-FFF2-40B4-BE49-F238E27FC236}">
                <a16:creationId xmlns:a16="http://schemas.microsoft.com/office/drawing/2014/main" id="{35EB4E80-1472-9FB1-DCD4-702126B29B94}"/>
              </a:ext>
            </a:extLst>
          </p:cNvPr>
          <p:cNvSpPr txBox="1"/>
          <p:nvPr/>
        </p:nvSpPr>
        <p:spPr>
          <a:xfrm>
            <a:off x="6414712" y="2323691"/>
            <a:ext cx="1477601" cy="553998"/>
          </a:xfrm>
          <a:prstGeom prst="rect">
            <a:avLst/>
          </a:prstGeom>
          <a:solidFill>
            <a:schemeClr val="bg1">
              <a:lumMod val="95000"/>
            </a:schemeClr>
          </a:solidFill>
          <a:ln>
            <a:solidFill>
              <a:schemeClr val="tx1"/>
            </a:solidFill>
          </a:ln>
        </p:spPr>
        <p:txBody>
          <a:bodyPr wrap="square" rtlCol="0">
            <a:spAutoFit/>
          </a:bodyPr>
          <a:lstStyle/>
          <a:p>
            <a:pPr algn="ctr"/>
            <a:r>
              <a:rPr lang="en-US" sz="1000"/>
              <a:t>MITA 4.0 Maturity Criteria &amp; SS-A Process</a:t>
            </a:r>
          </a:p>
        </p:txBody>
      </p:sp>
      <p:sp>
        <p:nvSpPr>
          <p:cNvPr id="11" name="TextBox 10">
            <a:extLst>
              <a:ext uri="{FF2B5EF4-FFF2-40B4-BE49-F238E27FC236}">
                <a16:creationId xmlns:a16="http://schemas.microsoft.com/office/drawing/2014/main" id="{3D61882E-6324-DC1D-867E-79C6BB46FC07}"/>
              </a:ext>
            </a:extLst>
          </p:cNvPr>
          <p:cNvSpPr txBox="1"/>
          <p:nvPr/>
        </p:nvSpPr>
        <p:spPr>
          <a:xfrm>
            <a:off x="793326" y="5804553"/>
            <a:ext cx="1150907"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Outcomes &amp; Metrics</a:t>
            </a:r>
          </a:p>
        </p:txBody>
      </p:sp>
      <p:sp>
        <p:nvSpPr>
          <p:cNvPr id="12" name="TextBox 11">
            <a:extLst>
              <a:ext uri="{FF2B5EF4-FFF2-40B4-BE49-F238E27FC236}">
                <a16:creationId xmlns:a16="http://schemas.microsoft.com/office/drawing/2014/main" id="{13964238-A5BB-3D4C-286C-D86490F9AF05}"/>
              </a:ext>
            </a:extLst>
          </p:cNvPr>
          <p:cNvSpPr txBox="1"/>
          <p:nvPr/>
        </p:nvSpPr>
        <p:spPr>
          <a:xfrm>
            <a:off x="4637500" y="5823477"/>
            <a:ext cx="1265843"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Concept of Operations</a:t>
            </a:r>
          </a:p>
        </p:txBody>
      </p:sp>
      <p:sp>
        <p:nvSpPr>
          <p:cNvPr id="13" name="TextBox 12">
            <a:extLst>
              <a:ext uri="{FF2B5EF4-FFF2-40B4-BE49-F238E27FC236}">
                <a16:creationId xmlns:a16="http://schemas.microsoft.com/office/drawing/2014/main" id="{FA2ECE16-822A-9F1B-5A26-6D7AA491F24F}"/>
              </a:ext>
            </a:extLst>
          </p:cNvPr>
          <p:cNvSpPr txBox="1"/>
          <p:nvPr/>
        </p:nvSpPr>
        <p:spPr>
          <a:xfrm>
            <a:off x="6415028" y="5788128"/>
            <a:ext cx="1508629"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SS-A Scorecard &amp; Roadmap</a:t>
            </a:r>
          </a:p>
        </p:txBody>
      </p:sp>
      <p:cxnSp>
        <p:nvCxnSpPr>
          <p:cNvPr id="15" name="Straight Arrow Connector 14">
            <a:extLst>
              <a:ext uri="{FF2B5EF4-FFF2-40B4-BE49-F238E27FC236}">
                <a16:creationId xmlns:a16="http://schemas.microsoft.com/office/drawing/2014/main" id="{5600F697-2F35-79C9-10C4-8A302AE7F334}"/>
              </a:ext>
            </a:extLst>
          </p:cNvPr>
          <p:cNvCxnSpPr>
            <a:cxnSpLocks/>
            <a:stCxn id="7" idx="2"/>
            <a:endCxn id="3" idx="0"/>
          </p:cNvCxnSpPr>
          <p:nvPr/>
        </p:nvCxnSpPr>
        <p:spPr>
          <a:xfrm flipH="1">
            <a:off x="1340172" y="2895715"/>
            <a:ext cx="8410" cy="36201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16107B5-4837-2336-6A11-A61068FE6274}"/>
              </a:ext>
            </a:extLst>
          </p:cNvPr>
          <p:cNvCxnSpPr>
            <a:cxnSpLocks/>
            <a:stCxn id="8" idx="2"/>
            <a:endCxn id="4" idx="0"/>
          </p:cNvCxnSpPr>
          <p:nvPr/>
        </p:nvCxnSpPr>
        <p:spPr>
          <a:xfrm flipH="1">
            <a:off x="3329072" y="2738273"/>
            <a:ext cx="1" cy="51151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9C37D26-D1D0-941D-EEFE-225F2FD0F2C1}"/>
              </a:ext>
            </a:extLst>
          </p:cNvPr>
          <p:cNvCxnSpPr>
            <a:cxnSpLocks/>
            <a:stCxn id="9" idx="2"/>
            <a:endCxn id="5" idx="0"/>
          </p:cNvCxnSpPr>
          <p:nvPr/>
        </p:nvCxnSpPr>
        <p:spPr>
          <a:xfrm flipH="1">
            <a:off x="5254557" y="3024196"/>
            <a:ext cx="19917" cy="233534"/>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E783455-0979-651F-ABF0-BDC3CA0BD41F}"/>
              </a:ext>
            </a:extLst>
          </p:cNvPr>
          <p:cNvCxnSpPr>
            <a:cxnSpLocks/>
            <a:stCxn id="10" idx="2"/>
            <a:endCxn id="6" idx="0"/>
          </p:cNvCxnSpPr>
          <p:nvPr/>
        </p:nvCxnSpPr>
        <p:spPr>
          <a:xfrm flipH="1">
            <a:off x="7153511" y="2877689"/>
            <a:ext cx="2" cy="41501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4B5B5C5-B1B3-E106-AA19-D1176E0EC4D5}"/>
              </a:ext>
            </a:extLst>
          </p:cNvPr>
          <p:cNvCxnSpPr>
            <a:stCxn id="3" idx="2"/>
            <a:endCxn id="11" idx="0"/>
          </p:cNvCxnSpPr>
          <p:nvPr/>
        </p:nvCxnSpPr>
        <p:spPr>
          <a:xfrm>
            <a:off x="1340172" y="5001470"/>
            <a:ext cx="28608" cy="803083"/>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FF31024-38B6-264F-011A-087B4DB055BB}"/>
              </a:ext>
            </a:extLst>
          </p:cNvPr>
          <p:cNvCxnSpPr>
            <a:stCxn id="5" idx="2"/>
            <a:endCxn id="12" idx="0"/>
          </p:cNvCxnSpPr>
          <p:nvPr/>
        </p:nvCxnSpPr>
        <p:spPr>
          <a:xfrm>
            <a:off x="5254557" y="5001470"/>
            <a:ext cx="15865" cy="822007"/>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6B2F4C7-5EDA-1BA8-568C-9066DC052EA4}"/>
              </a:ext>
            </a:extLst>
          </p:cNvPr>
          <p:cNvCxnSpPr>
            <a:cxnSpLocks/>
            <a:stCxn id="6" idx="2"/>
            <a:endCxn id="13" idx="0"/>
          </p:cNvCxnSpPr>
          <p:nvPr/>
        </p:nvCxnSpPr>
        <p:spPr>
          <a:xfrm>
            <a:off x="7153511" y="5036445"/>
            <a:ext cx="15832" cy="751683"/>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A98E419E-2349-4ADB-47F3-6240E2ADA66E}"/>
              </a:ext>
            </a:extLst>
          </p:cNvPr>
          <p:cNvSpPr/>
          <p:nvPr/>
        </p:nvSpPr>
        <p:spPr>
          <a:xfrm>
            <a:off x="71147" y="4007007"/>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E8F411DD-8D98-CD18-2198-1BD6FBA0C6F7}"/>
              </a:ext>
            </a:extLst>
          </p:cNvPr>
          <p:cNvSpPr/>
          <p:nvPr/>
        </p:nvSpPr>
        <p:spPr>
          <a:xfrm>
            <a:off x="11789426" y="4051223"/>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D82BB54C-1AB0-4EC0-06D0-E0489984A966}"/>
              </a:ext>
            </a:extLst>
          </p:cNvPr>
          <p:cNvCxnSpPr>
            <a:cxnSpLocks/>
            <a:stCxn id="53" idx="6"/>
            <a:endCxn id="3" idx="1"/>
          </p:cNvCxnSpPr>
          <p:nvPr/>
        </p:nvCxnSpPr>
        <p:spPr>
          <a:xfrm flipV="1">
            <a:off x="321137" y="4129600"/>
            <a:ext cx="280234" cy="3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B51C3E7F-CFD7-F187-9374-207C3895B013}"/>
              </a:ext>
            </a:extLst>
          </p:cNvPr>
          <p:cNvCxnSpPr>
            <a:cxnSpLocks/>
            <a:endCxn id="54" idx="2"/>
          </p:cNvCxnSpPr>
          <p:nvPr/>
        </p:nvCxnSpPr>
        <p:spPr>
          <a:xfrm>
            <a:off x="11594871" y="4177778"/>
            <a:ext cx="1945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B5645114-8B38-0F55-130D-F63C19123FCA}"/>
              </a:ext>
            </a:extLst>
          </p:cNvPr>
          <p:cNvSpPr txBox="1"/>
          <p:nvPr/>
        </p:nvSpPr>
        <p:spPr>
          <a:xfrm>
            <a:off x="793326" y="6204662"/>
            <a:ext cx="1150907"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6" name="TextBox 65">
            <a:extLst>
              <a:ext uri="{FF2B5EF4-FFF2-40B4-BE49-F238E27FC236}">
                <a16:creationId xmlns:a16="http://schemas.microsoft.com/office/drawing/2014/main" id="{791A6AA2-8B65-60A9-FC7A-CB262DB314B6}"/>
              </a:ext>
            </a:extLst>
          </p:cNvPr>
          <p:cNvSpPr txBox="1"/>
          <p:nvPr/>
        </p:nvSpPr>
        <p:spPr>
          <a:xfrm>
            <a:off x="4637500" y="6204662"/>
            <a:ext cx="1273948"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7" name="TextBox 66">
            <a:extLst>
              <a:ext uri="{FF2B5EF4-FFF2-40B4-BE49-F238E27FC236}">
                <a16:creationId xmlns:a16="http://schemas.microsoft.com/office/drawing/2014/main" id="{114DD0C8-93B2-77C7-3471-A43CB90033FE}"/>
              </a:ext>
            </a:extLst>
          </p:cNvPr>
          <p:cNvSpPr txBox="1"/>
          <p:nvPr/>
        </p:nvSpPr>
        <p:spPr>
          <a:xfrm>
            <a:off x="6406124" y="6186781"/>
            <a:ext cx="1508629"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9" name="TextBox 68">
            <a:extLst>
              <a:ext uri="{FF2B5EF4-FFF2-40B4-BE49-F238E27FC236}">
                <a16:creationId xmlns:a16="http://schemas.microsoft.com/office/drawing/2014/main" id="{D62AD0B3-0FBB-C916-F41D-4C1921312EB3}"/>
              </a:ext>
            </a:extLst>
          </p:cNvPr>
          <p:cNvSpPr txBox="1"/>
          <p:nvPr/>
        </p:nvSpPr>
        <p:spPr>
          <a:xfrm>
            <a:off x="6414711" y="2077470"/>
            <a:ext cx="147760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Reference</a:t>
            </a:r>
          </a:p>
        </p:txBody>
      </p:sp>
      <p:sp>
        <p:nvSpPr>
          <p:cNvPr id="70" name="TextBox 69">
            <a:extLst>
              <a:ext uri="{FF2B5EF4-FFF2-40B4-BE49-F238E27FC236}">
                <a16:creationId xmlns:a16="http://schemas.microsoft.com/office/drawing/2014/main" id="{BF563E2F-CC0A-0BB3-5432-798CC6B890DA}"/>
              </a:ext>
            </a:extLst>
          </p:cNvPr>
          <p:cNvSpPr txBox="1"/>
          <p:nvPr/>
        </p:nvSpPr>
        <p:spPr>
          <a:xfrm>
            <a:off x="4378186" y="2091121"/>
            <a:ext cx="1792575"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Reference</a:t>
            </a:r>
          </a:p>
        </p:txBody>
      </p:sp>
      <p:sp>
        <p:nvSpPr>
          <p:cNvPr id="71" name="TextBox 70">
            <a:extLst>
              <a:ext uri="{FF2B5EF4-FFF2-40B4-BE49-F238E27FC236}">
                <a16:creationId xmlns:a16="http://schemas.microsoft.com/office/drawing/2014/main" id="{9808CD6E-FE04-A4C4-EEBA-CBA9A829060D}"/>
              </a:ext>
            </a:extLst>
          </p:cNvPr>
          <p:cNvSpPr txBox="1"/>
          <p:nvPr/>
        </p:nvSpPr>
        <p:spPr>
          <a:xfrm>
            <a:off x="2590272" y="2091942"/>
            <a:ext cx="147760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Reference</a:t>
            </a:r>
          </a:p>
        </p:txBody>
      </p:sp>
      <p:sp>
        <p:nvSpPr>
          <p:cNvPr id="72" name="TextBox 71">
            <a:extLst>
              <a:ext uri="{FF2B5EF4-FFF2-40B4-BE49-F238E27FC236}">
                <a16:creationId xmlns:a16="http://schemas.microsoft.com/office/drawing/2014/main" id="{DBA81FB6-A194-264D-8643-4C6649A0053D}"/>
              </a:ext>
            </a:extLst>
          </p:cNvPr>
          <p:cNvSpPr txBox="1"/>
          <p:nvPr/>
        </p:nvSpPr>
        <p:spPr>
          <a:xfrm>
            <a:off x="601368" y="2106992"/>
            <a:ext cx="149203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Reference</a:t>
            </a:r>
          </a:p>
        </p:txBody>
      </p:sp>
      <p:sp>
        <p:nvSpPr>
          <p:cNvPr id="18" name="Rectangle 17">
            <a:extLst>
              <a:ext uri="{FF2B5EF4-FFF2-40B4-BE49-F238E27FC236}">
                <a16:creationId xmlns:a16="http://schemas.microsoft.com/office/drawing/2014/main" id="{8BF41B5F-E8AE-F7A4-646D-838FB6559E91}"/>
              </a:ext>
            </a:extLst>
          </p:cNvPr>
          <p:cNvSpPr/>
          <p:nvPr/>
        </p:nvSpPr>
        <p:spPr>
          <a:xfrm>
            <a:off x="435935" y="1691011"/>
            <a:ext cx="7664456" cy="5028766"/>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D86A75B-69EA-6462-AC3C-BD2DDD5F561C}"/>
              </a:ext>
            </a:extLst>
          </p:cNvPr>
          <p:cNvSpPr txBox="1"/>
          <p:nvPr/>
        </p:nvSpPr>
        <p:spPr>
          <a:xfrm>
            <a:off x="3526247" y="1707517"/>
            <a:ext cx="1464183" cy="307777"/>
          </a:xfrm>
          <a:prstGeom prst="rect">
            <a:avLst/>
          </a:prstGeom>
          <a:noFill/>
        </p:spPr>
        <p:txBody>
          <a:bodyPr wrap="square" rtlCol="0">
            <a:spAutoFit/>
          </a:bodyPr>
          <a:lstStyle/>
          <a:p>
            <a:r>
              <a:rPr lang="en-US" sz="1400"/>
              <a:t>MITA 4.0 Scope</a:t>
            </a:r>
          </a:p>
        </p:txBody>
      </p:sp>
      <p:cxnSp>
        <p:nvCxnSpPr>
          <p:cNvPr id="14" name="Straight Arrow Connector 13">
            <a:extLst>
              <a:ext uri="{FF2B5EF4-FFF2-40B4-BE49-F238E27FC236}">
                <a16:creationId xmlns:a16="http://schemas.microsoft.com/office/drawing/2014/main" id="{71928D8C-2D93-2342-1C86-513EF7783F97}"/>
              </a:ext>
            </a:extLst>
          </p:cNvPr>
          <p:cNvCxnSpPr>
            <a:cxnSpLocks/>
          </p:cNvCxnSpPr>
          <p:nvPr/>
        </p:nvCxnSpPr>
        <p:spPr>
          <a:xfrm>
            <a:off x="3355501" y="5001470"/>
            <a:ext cx="28608" cy="829672"/>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9D90E772-D0B0-0D75-DF96-6419DA29581B}"/>
              </a:ext>
            </a:extLst>
          </p:cNvPr>
          <p:cNvSpPr txBox="1"/>
          <p:nvPr/>
        </p:nvSpPr>
        <p:spPr>
          <a:xfrm>
            <a:off x="2813688" y="6186781"/>
            <a:ext cx="1150907"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23" name="TextBox 22">
            <a:extLst>
              <a:ext uri="{FF2B5EF4-FFF2-40B4-BE49-F238E27FC236}">
                <a16:creationId xmlns:a16="http://schemas.microsoft.com/office/drawing/2014/main" id="{F13AB715-DB8A-C3E1-F7DC-7C18002BE0DE}"/>
              </a:ext>
            </a:extLst>
          </p:cNvPr>
          <p:cNvSpPr txBox="1"/>
          <p:nvPr/>
        </p:nvSpPr>
        <p:spPr>
          <a:xfrm>
            <a:off x="2813688" y="5823200"/>
            <a:ext cx="1150907"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Capabilities to Assess</a:t>
            </a:r>
          </a:p>
        </p:txBody>
      </p:sp>
      <p:sp>
        <p:nvSpPr>
          <p:cNvPr id="77" name="Right Arrow 28">
            <a:extLst>
              <a:ext uri="{FF2B5EF4-FFF2-40B4-BE49-F238E27FC236}">
                <a16:creationId xmlns:a16="http://schemas.microsoft.com/office/drawing/2014/main" id="{44A2E6C2-D290-0FAE-C623-CADE0EF36702}"/>
              </a:ext>
            </a:extLst>
          </p:cNvPr>
          <p:cNvSpPr/>
          <p:nvPr/>
        </p:nvSpPr>
        <p:spPr>
          <a:xfrm>
            <a:off x="2104395" y="4000721"/>
            <a:ext cx="4816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ight Arrow 29">
            <a:extLst>
              <a:ext uri="{FF2B5EF4-FFF2-40B4-BE49-F238E27FC236}">
                <a16:creationId xmlns:a16="http://schemas.microsoft.com/office/drawing/2014/main" id="{E00193B3-7108-ECF6-EDA7-F8E1BE4B607E}"/>
              </a:ext>
            </a:extLst>
          </p:cNvPr>
          <p:cNvSpPr/>
          <p:nvPr/>
        </p:nvSpPr>
        <p:spPr>
          <a:xfrm>
            <a:off x="4067873" y="3991990"/>
            <a:ext cx="462369"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ight Arrow 30">
            <a:extLst>
              <a:ext uri="{FF2B5EF4-FFF2-40B4-BE49-F238E27FC236}">
                <a16:creationId xmlns:a16="http://schemas.microsoft.com/office/drawing/2014/main" id="{8DE2A9DB-C52A-4ACF-C3E1-D62978E79CF6}"/>
              </a:ext>
            </a:extLst>
          </p:cNvPr>
          <p:cNvSpPr/>
          <p:nvPr/>
        </p:nvSpPr>
        <p:spPr>
          <a:xfrm>
            <a:off x="6029227" y="3998105"/>
            <a:ext cx="353056"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ight Arrow 35">
            <a:extLst>
              <a:ext uri="{FF2B5EF4-FFF2-40B4-BE49-F238E27FC236}">
                <a16:creationId xmlns:a16="http://schemas.microsoft.com/office/drawing/2014/main" id="{210C9B1B-EFE6-1849-4BEF-A014DF873FE4}"/>
              </a:ext>
            </a:extLst>
          </p:cNvPr>
          <p:cNvSpPr/>
          <p:nvPr/>
        </p:nvSpPr>
        <p:spPr>
          <a:xfrm>
            <a:off x="7898914" y="4008232"/>
            <a:ext cx="3719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ounded Rectangle 34">
            <a:extLst>
              <a:ext uri="{FF2B5EF4-FFF2-40B4-BE49-F238E27FC236}">
                <a16:creationId xmlns:a16="http://schemas.microsoft.com/office/drawing/2014/main" id="{EFC06495-2DC3-1659-F7E6-F9C8CA8CF8C0}"/>
              </a:ext>
            </a:extLst>
          </p:cNvPr>
          <p:cNvSpPr/>
          <p:nvPr/>
        </p:nvSpPr>
        <p:spPr>
          <a:xfrm>
            <a:off x="8260545" y="3295300"/>
            <a:ext cx="1477602" cy="1743740"/>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85000"/>
                    <a:lumOff val="15000"/>
                  </a:schemeClr>
                </a:solidFill>
              </a:rPr>
              <a:t>Develop Advanced Planning Document (APD)</a:t>
            </a:r>
            <a:endParaRPr lang="en-US" sz="1000">
              <a:solidFill>
                <a:schemeClr val="tx1">
                  <a:lumMod val="85000"/>
                  <a:lumOff val="15000"/>
                </a:schemeClr>
              </a:solidFill>
            </a:endParaRPr>
          </a:p>
        </p:txBody>
      </p:sp>
      <p:sp>
        <p:nvSpPr>
          <p:cNvPr id="89" name="Oval 88">
            <a:extLst>
              <a:ext uri="{FF2B5EF4-FFF2-40B4-BE49-F238E27FC236}">
                <a16:creationId xmlns:a16="http://schemas.microsoft.com/office/drawing/2014/main" id="{B393C779-9BBB-97ED-ED7F-3400E7F5FBC5}"/>
              </a:ext>
            </a:extLst>
          </p:cNvPr>
          <p:cNvSpPr/>
          <p:nvPr/>
        </p:nvSpPr>
        <p:spPr>
          <a:xfrm>
            <a:off x="11789426" y="4051223"/>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Arrow Connector 89">
            <a:extLst>
              <a:ext uri="{FF2B5EF4-FFF2-40B4-BE49-F238E27FC236}">
                <a16:creationId xmlns:a16="http://schemas.microsoft.com/office/drawing/2014/main" id="{8841BED3-97B6-8F4F-0EC0-6513ED831A5E}"/>
              </a:ext>
            </a:extLst>
          </p:cNvPr>
          <p:cNvCxnSpPr>
            <a:cxnSpLocks/>
            <a:stCxn id="91" idx="3"/>
            <a:endCxn id="89" idx="2"/>
          </p:cNvCxnSpPr>
          <p:nvPr/>
        </p:nvCxnSpPr>
        <p:spPr>
          <a:xfrm>
            <a:off x="11594871" y="4177778"/>
            <a:ext cx="1945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1" name="Rounded Rectangle 20">
            <a:extLst>
              <a:ext uri="{FF2B5EF4-FFF2-40B4-BE49-F238E27FC236}">
                <a16:creationId xmlns:a16="http://schemas.microsoft.com/office/drawing/2014/main" id="{A5930A37-5F52-6BBD-5CA1-D499E52988B8}"/>
              </a:ext>
            </a:extLst>
          </p:cNvPr>
          <p:cNvSpPr/>
          <p:nvPr/>
        </p:nvSpPr>
        <p:spPr>
          <a:xfrm>
            <a:off x="10117269" y="3305908"/>
            <a:ext cx="1477602" cy="1743740"/>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85000"/>
                    <a:lumOff val="15000"/>
                  </a:schemeClr>
                </a:solidFill>
              </a:rPr>
              <a:t>Perform MES Certification</a:t>
            </a:r>
            <a:endParaRPr lang="en-US" sz="1000">
              <a:solidFill>
                <a:schemeClr val="tx1">
                  <a:lumMod val="85000"/>
                  <a:lumOff val="15000"/>
                </a:schemeClr>
              </a:solidFill>
            </a:endParaRPr>
          </a:p>
        </p:txBody>
      </p:sp>
      <p:sp>
        <p:nvSpPr>
          <p:cNvPr id="92" name="Right Arrow 26">
            <a:extLst>
              <a:ext uri="{FF2B5EF4-FFF2-40B4-BE49-F238E27FC236}">
                <a16:creationId xmlns:a16="http://schemas.microsoft.com/office/drawing/2014/main" id="{23935293-077A-3E98-7A68-5402E0457BE5}"/>
              </a:ext>
            </a:extLst>
          </p:cNvPr>
          <p:cNvSpPr/>
          <p:nvPr/>
        </p:nvSpPr>
        <p:spPr>
          <a:xfrm>
            <a:off x="9738147" y="4061350"/>
            <a:ext cx="3719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3013885"/>
      </p:ext>
    </p:extLst>
  </p:cSld>
  <p:clrMapOvr>
    <a:masterClrMapping/>
  </p:clrMapOvr>
  <p:extLst>
    <p:ext uri="{6950BFC3-D8DA-4A85-94F7-54DA5524770B}">
      <p188:commentRel xmlns:p188="http://schemas.microsoft.com/office/powerpoint/2018/8/main" r:id="rId3"/>
    </p:ext>
  </p:extLs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3C0C8-09B4-5810-6AB9-8F2A9D263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E7B20-6725-02A1-0E97-89A44FDA015E}"/>
              </a:ext>
            </a:extLst>
          </p:cNvPr>
          <p:cNvSpPr>
            <a:spLocks noGrp="1"/>
          </p:cNvSpPr>
          <p:nvPr>
            <p:ph type="title"/>
          </p:nvPr>
        </p:nvSpPr>
        <p:spPr>
          <a:xfrm>
            <a:off x="309966" y="484632"/>
            <a:ext cx="11882034" cy="1609344"/>
          </a:xfrm>
        </p:spPr>
        <p:txBody>
          <a:bodyPr>
            <a:noAutofit/>
          </a:bodyPr>
          <a:lstStyle/>
          <a:p>
            <a:pPr algn="ctr"/>
            <a:r>
              <a:rPr lang="en-US" sz="4800"/>
              <a:t>Define</a:t>
            </a:r>
            <a:br>
              <a:rPr lang="en-US" sz="4800"/>
            </a:br>
            <a:r>
              <a:rPr lang="en-US" sz="4800"/>
              <a:t> Roles, Business Processes, Information &amp; Technology</a:t>
            </a:r>
            <a:endParaRPr lang="en-US" sz="2800" i="1"/>
          </a:p>
        </p:txBody>
      </p:sp>
      <p:sp>
        <p:nvSpPr>
          <p:cNvPr id="3" name="Rounded Rectangle 2">
            <a:extLst>
              <a:ext uri="{FF2B5EF4-FFF2-40B4-BE49-F238E27FC236}">
                <a16:creationId xmlns:a16="http://schemas.microsoft.com/office/drawing/2014/main" id="{2A680568-F3A8-72E1-5914-F484DE16D69D}"/>
              </a:ext>
            </a:extLst>
          </p:cNvPr>
          <p:cNvSpPr/>
          <p:nvPr/>
        </p:nvSpPr>
        <p:spPr>
          <a:xfrm>
            <a:off x="3596720" y="3046248"/>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Roles, Business Processes, Information and Technology</a:t>
            </a:r>
          </a:p>
        </p:txBody>
      </p:sp>
      <p:sp>
        <p:nvSpPr>
          <p:cNvPr id="4" name="Rounded Rectangle 3">
            <a:extLst>
              <a:ext uri="{FF2B5EF4-FFF2-40B4-BE49-F238E27FC236}">
                <a16:creationId xmlns:a16="http://schemas.microsoft.com/office/drawing/2014/main" id="{E9D8E8A3-BA00-DCFC-827C-20E338FE17B0}"/>
              </a:ext>
            </a:extLst>
          </p:cNvPr>
          <p:cNvSpPr/>
          <p:nvPr/>
        </p:nvSpPr>
        <p:spPr>
          <a:xfrm>
            <a:off x="5354870" y="3028674"/>
            <a:ext cx="1442138"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Target Roles, Business Processes, Information and Technology</a:t>
            </a:r>
          </a:p>
        </p:txBody>
      </p:sp>
      <p:sp>
        <p:nvSpPr>
          <p:cNvPr id="5" name="Rounded Rectangle 4">
            <a:extLst>
              <a:ext uri="{FF2B5EF4-FFF2-40B4-BE49-F238E27FC236}">
                <a16:creationId xmlns:a16="http://schemas.microsoft.com/office/drawing/2014/main" id="{0546C7E6-792E-D7CE-41E5-6390F717DBB0}"/>
              </a:ext>
            </a:extLst>
          </p:cNvPr>
          <p:cNvSpPr/>
          <p:nvPr/>
        </p:nvSpPr>
        <p:spPr>
          <a:xfrm>
            <a:off x="8842403"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Perform Gap Analysis</a:t>
            </a:r>
            <a:endParaRPr lang="en-US" sz="900" i="1"/>
          </a:p>
        </p:txBody>
      </p:sp>
      <p:sp>
        <p:nvSpPr>
          <p:cNvPr id="35" name="Rounded Rectangle 34">
            <a:extLst>
              <a:ext uri="{FF2B5EF4-FFF2-40B4-BE49-F238E27FC236}">
                <a16:creationId xmlns:a16="http://schemas.microsoft.com/office/drawing/2014/main" id="{B9C10DCA-360A-C479-AE56-D7ECDAAEC6B0}"/>
              </a:ext>
            </a:extLst>
          </p:cNvPr>
          <p:cNvSpPr/>
          <p:nvPr/>
        </p:nvSpPr>
        <p:spPr>
          <a:xfrm>
            <a:off x="1838570" y="3059760"/>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Architectural Approach</a:t>
            </a:r>
            <a:endParaRPr lang="en-US" sz="900"/>
          </a:p>
        </p:txBody>
      </p:sp>
      <p:sp>
        <p:nvSpPr>
          <p:cNvPr id="53" name="Oval 52">
            <a:extLst>
              <a:ext uri="{FF2B5EF4-FFF2-40B4-BE49-F238E27FC236}">
                <a16:creationId xmlns:a16="http://schemas.microsoft.com/office/drawing/2014/main" id="{98284724-87CA-5A07-E9E0-0D2320D44111}"/>
              </a:ext>
            </a:extLst>
          </p:cNvPr>
          <p:cNvSpPr/>
          <p:nvPr/>
        </p:nvSpPr>
        <p:spPr>
          <a:xfrm>
            <a:off x="1311288" y="3805075"/>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1BC5F8B-3800-905C-8F94-726B42EF808C}"/>
              </a:ext>
            </a:extLst>
          </p:cNvPr>
          <p:cNvSpPr/>
          <p:nvPr/>
        </p:nvSpPr>
        <p:spPr>
          <a:xfrm>
            <a:off x="10585442" y="3773989"/>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68665C4A-DBA5-D43A-B379-A00D40C9DA84}"/>
              </a:ext>
            </a:extLst>
          </p:cNvPr>
          <p:cNvCxnSpPr>
            <a:cxnSpLocks/>
            <a:stCxn id="53" idx="6"/>
            <a:endCxn id="35" idx="1"/>
          </p:cNvCxnSpPr>
          <p:nvPr/>
        </p:nvCxnSpPr>
        <p:spPr>
          <a:xfrm>
            <a:off x="1561278" y="3931630"/>
            <a:ext cx="2772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A774C871-29C5-7CC1-D28B-6459C47398CA}"/>
              </a:ext>
            </a:extLst>
          </p:cNvPr>
          <p:cNvCxnSpPr>
            <a:cxnSpLocks/>
            <a:stCxn id="5" idx="3"/>
            <a:endCxn id="54" idx="2"/>
          </p:cNvCxnSpPr>
          <p:nvPr/>
        </p:nvCxnSpPr>
        <p:spPr>
          <a:xfrm>
            <a:off x="10284541" y="3892155"/>
            <a:ext cx="300901" cy="8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1039A7F-F367-B986-EBA9-28B2A5C03A63}"/>
              </a:ext>
            </a:extLst>
          </p:cNvPr>
          <p:cNvSpPr txBox="1"/>
          <p:nvPr/>
        </p:nvSpPr>
        <p:spPr>
          <a:xfrm>
            <a:off x="1910127" y="3059760"/>
            <a:ext cx="286251" cy="369332"/>
          </a:xfrm>
          <a:prstGeom prst="rect">
            <a:avLst/>
          </a:prstGeom>
          <a:noFill/>
        </p:spPr>
        <p:txBody>
          <a:bodyPr wrap="square" rtlCol="0">
            <a:spAutoFit/>
          </a:bodyPr>
          <a:lstStyle/>
          <a:p>
            <a:r>
              <a:rPr lang="en-US">
                <a:solidFill>
                  <a:schemeClr val="bg1"/>
                </a:solidFill>
              </a:rPr>
              <a:t>1</a:t>
            </a:r>
          </a:p>
        </p:txBody>
      </p:sp>
      <p:sp>
        <p:nvSpPr>
          <p:cNvPr id="8" name="TextBox 7">
            <a:extLst>
              <a:ext uri="{FF2B5EF4-FFF2-40B4-BE49-F238E27FC236}">
                <a16:creationId xmlns:a16="http://schemas.microsoft.com/office/drawing/2014/main" id="{757ED15B-4B57-71E2-AD1B-B504EE88E0F9}"/>
              </a:ext>
            </a:extLst>
          </p:cNvPr>
          <p:cNvSpPr txBox="1"/>
          <p:nvPr/>
        </p:nvSpPr>
        <p:spPr>
          <a:xfrm>
            <a:off x="3841689" y="3046248"/>
            <a:ext cx="286251" cy="369332"/>
          </a:xfrm>
          <a:prstGeom prst="rect">
            <a:avLst/>
          </a:prstGeom>
          <a:noFill/>
        </p:spPr>
        <p:txBody>
          <a:bodyPr wrap="square" rtlCol="0">
            <a:spAutoFit/>
          </a:bodyPr>
          <a:lstStyle/>
          <a:p>
            <a:r>
              <a:rPr lang="en-US">
                <a:solidFill>
                  <a:schemeClr val="bg1"/>
                </a:solidFill>
              </a:rPr>
              <a:t>2</a:t>
            </a:r>
          </a:p>
        </p:txBody>
      </p:sp>
      <p:sp>
        <p:nvSpPr>
          <p:cNvPr id="9" name="TextBox 8">
            <a:extLst>
              <a:ext uri="{FF2B5EF4-FFF2-40B4-BE49-F238E27FC236}">
                <a16:creationId xmlns:a16="http://schemas.microsoft.com/office/drawing/2014/main" id="{9554B60C-5201-F0DD-7AD9-8EB77967220D}"/>
              </a:ext>
            </a:extLst>
          </p:cNvPr>
          <p:cNvSpPr txBox="1"/>
          <p:nvPr/>
        </p:nvSpPr>
        <p:spPr>
          <a:xfrm>
            <a:off x="5466111" y="3046248"/>
            <a:ext cx="286251" cy="369332"/>
          </a:xfrm>
          <a:prstGeom prst="rect">
            <a:avLst/>
          </a:prstGeom>
          <a:noFill/>
        </p:spPr>
        <p:txBody>
          <a:bodyPr wrap="square" rtlCol="0">
            <a:spAutoFit/>
          </a:bodyPr>
          <a:lstStyle/>
          <a:p>
            <a:r>
              <a:rPr lang="en-US">
                <a:solidFill>
                  <a:schemeClr val="bg1"/>
                </a:solidFill>
              </a:rPr>
              <a:t>3</a:t>
            </a:r>
          </a:p>
        </p:txBody>
      </p:sp>
      <p:sp>
        <p:nvSpPr>
          <p:cNvPr id="10" name="TextBox 9">
            <a:extLst>
              <a:ext uri="{FF2B5EF4-FFF2-40B4-BE49-F238E27FC236}">
                <a16:creationId xmlns:a16="http://schemas.microsoft.com/office/drawing/2014/main" id="{168A1505-FC42-B726-ABA9-4823825CE7F6}"/>
              </a:ext>
            </a:extLst>
          </p:cNvPr>
          <p:cNvSpPr txBox="1"/>
          <p:nvPr/>
        </p:nvSpPr>
        <p:spPr>
          <a:xfrm>
            <a:off x="8972586" y="3059760"/>
            <a:ext cx="286251" cy="369332"/>
          </a:xfrm>
          <a:prstGeom prst="rect">
            <a:avLst/>
          </a:prstGeom>
          <a:noFill/>
        </p:spPr>
        <p:txBody>
          <a:bodyPr wrap="square" rtlCol="0">
            <a:spAutoFit/>
          </a:bodyPr>
          <a:lstStyle/>
          <a:p>
            <a:r>
              <a:rPr lang="en-US">
                <a:solidFill>
                  <a:schemeClr val="bg1"/>
                </a:solidFill>
              </a:rPr>
              <a:t>5</a:t>
            </a:r>
          </a:p>
        </p:txBody>
      </p:sp>
      <p:sp>
        <p:nvSpPr>
          <p:cNvPr id="15" name="Rounded Rectangle 14">
            <a:extLst>
              <a:ext uri="{FF2B5EF4-FFF2-40B4-BE49-F238E27FC236}">
                <a16:creationId xmlns:a16="http://schemas.microsoft.com/office/drawing/2014/main" id="{C80C6CB6-6530-DAEB-4807-65C66B78C86F}"/>
              </a:ext>
            </a:extLst>
          </p:cNvPr>
          <p:cNvSpPr/>
          <p:nvPr/>
        </p:nvSpPr>
        <p:spPr>
          <a:xfrm>
            <a:off x="7099194" y="3020285"/>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Align Architecture and Compile Concept of Operations</a:t>
            </a:r>
            <a:endParaRPr lang="en-US" sz="900" i="1"/>
          </a:p>
        </p:txBody>
      </p:sp>
      <p:sp>
        <p:nvSpPr>
          <p:cNvPr id="16" name="TextBox 15">
            <a:extLst>
              <a:ext uri="{FF2B5EF4-FFF2-40B4-BE49-F238E27FC236}">
                <a16:creationId xmlns:a16="http://schemas.microsoft.com/office/drawing/2014/main" id="{385A58D0-CE9F-2BDB-BAE3-6DF782DE58BB}"/>
              </a:ext>
            </a:extLst>
          </p:cNvPr>
          <p:cNvSpPr txBox="1"/>
          <p:nvPr/>
        </p:nvSpPr>
        <p:spPr>
          <a:xfrm>
            <a:off x="7081375" y="3064503"/>
            <a:ext cx="286251" cy="369332"/>
          </a:xfrm>
          <a:prstGeom prst="rect">
            <a:avLst/>
          </a:prstGeom>
          <a:noFill/>
        </p:spPr>
        <p:txBody>
          <a:bodyPr wrap="square" rtlCol="0">
            <a:spAutoFit/>
          </a:bodyPr>
          <a:lstStyle/>
          <a:p>
            <a:r>
              <a:rPr lang="en-US">
                <a:solidFill>
                  <a:schemeClr val="bg1"/>
                </a:solidFill>
              </a:rPr>
              <a:t>4</a:t>
            </a:r>
          </a:p>
        </p:txBody>
      </p:sp>
      <p:sp>
        <p:nvSpPr>
          <p:cNvPr id="17" name="Right Arrow 16">
            <a:extLst>
              <a:ext uri="{FF2B5EF4-FFF2-40B4-BE49-F238E27FC236}">
                <a16:creationId xmlns:a16="http://schemas.microsoft.com/office/drawing/2014/main" id="{5E7DEF68-B3FB-900C-EA75-42DEC5120EED}"/>
              </a:ext>
            </a:extLst>
          </p:cNvPr>
          <p:cNvSpPr/>
          <p:nvPr/>
        </p:nvSpPr>
        <p:spPr>
          <a:xfrm>
            <a:off x="8541502" y="3784116"/>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106B8A98-D82B-0811-13BC-479619CFBA43}"/>
              </a:ext>
            </a:extLst>
          </p:cNvPr>
          <p:cNvSpPr/>
          <p:nvPr/>
        </p:nvSpPr>
        <p:spPr>
          <a:xfrm>
            <a:off x="6800098" y="3782589"/>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4C9C1E4E-40D1-0B6A-3249-B64E86736E72}"/>
              </a:ext>
            </a:extLst>
          </p:cNvPr>
          <p:cNvSpPr/>
          <p:nvPr/>
        </p:nvSpPr>
        <p:spPr>
          <a:xfrm>
            <a:off x="5038858" y="3794243"/>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0B552234-2427-0F07-C0E1-6F07F273B450}"/>
              </a:ext>
            </a:extLst>
          </p:cNvPr>
          <p:cNvSpPr/>
          <p:nvPr/>
        </p:nvSpPr>
        <p:spPr>
          <a:xfrm>
            <a:off x="3285247" y="3804262"/>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Elbow Connector 5">
            <a:extLst>
              <a:ext uri="{FF2B5EF4-FFF2-40B4-BE49-F238E27FC236}">
                <a16:creationId xmlns:a16="http://schemas.microsoft.com/office/drawing/2014/main" id="{AC91B7D0-C359-0D58-ADBD-6574FA3BF7D7}"/>
              </a:ext>
            </a:extLst>
          </p:cNvPr>
          <p:cNvCxnSpPr/>
          <p:nvPr/>
        </p:nvCxnSpPr>
        <p:spPr>
          <a:xfrm rot="16200000" flipH="1" flipV="1">
            <a:off x="7815511" y="1280712"/>
            <a:ext cx="8389" cy="3487533"/>
          </a:xfrm>
          <a:prstGeom prst="bentConnector3">
            <a:avLst>
              <a:gd name="adj1" fmla="val -680627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1231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4A23B-1104-D794-79C7-B1A61B0FA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59ECD-69FA-8A87-7266-5035B1FCB614}"/>
              </a:ext>
            </a:extLst>
          </p:cNvPr>
          <p:cNvSpPr>
            <a:spLocks noGrp="1"/>
          </p:cNvSpPr>
          <p:nvPr>
            <p:ph type="title"/>
          </p:nvPr>
        </p:nvSpPr>
        <p:spPr/>
        <p:txBody>
          <a:bodyPr/>
          <a:lstStyle/>
          <a:p>
            <a:r>
              <a:rPr lang="en-US"/>
              <a:t>Define Capability Architecture</a:t>
            </a:r>
          </a:p>
        </p:txBody>
      </p:sp>
      <p:sp>
        <p:nvSpPr>
          <p:cNvPr id="3" name="Rounded Rectangle 2">
            <a:extLst>
              <a:ext uri="{FF2B5EF4-FFF2-40B4-BE49-F238E27FC236}">
                <a16:creationId xmlns:a16="http://schemas.microsoft.com/office/drawing/2014/main" id="{E22E0CF7-BCBD-4176-4F3E-4C5E7C58D355}"/>
              </a:ext>
            </a:extLst>
          </p:cNvPr>
          <p:cNvSpPr/>
          <p:nvPr/>
        </p:nvSpPr>
        <p:spPr>
          <a:xfrm>
            <a:off x="3596720" y="3046248"/>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Information and Information Roles</a:t>
            </a:r>
          </a:p>
        </p:txBody>
      </p:sp>
      <p:sp>
        <p:nvSpPr>
          <p:cNvPr id="4" name="Rounded Rectangle 3">
            <a:extLst>
              <a:ext uri="{FF2B5EF4-FFF2-40B4-BE49-F238E27FC236}">
                <a16:creationId xmlns:a16="http://schemas.microsoft.com/office/drawing/2014/main" id="{6D1A0657-CC5F-2632-02AE-48AB5924AA5C}"/>
              </a:ext>
            </a:extLst>
          </p:cNvPr>
          <p:cNvSpPr/>
          <p:nvPr/>
        </p:nvSpPr>
        <p:spPr>
          <a:xfrm>
            <a:off x="5354870" y="3028674"/>
            <a:ext cx="1442138"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Technology &amp; Technical Roles</a:t>
            </a:r>
          </a:p>
        </p:txBody>
      </p:sp>
      <p:sp>
        <p:nvSpPr>
          <p:cNvPr id="35" name="Rounded Rectangle 34">
            <a:extLst>
              <a:ext uri="{FF2B5EF4-FFF2-40B4-BE49-F238E27FC236}">
                <a16:creationId xmlns:a16="http://schemas.microsoft.com/office/drawing/2014/main" id="{7E50DFF8-067D-3565-8AF0-92AF538920A0}"/>
              </a:ext>
            </a:extLst>
          </p:cNvPr>
          <p:cNvSpPr/>
          <p:nvPr/>
        </p:nvSpPr>
        <p:spPr>
          <a:xfrm>
            <a:off x="1838570" y="3059760"/>
            <a:ext cx="1442138"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Define Baseline Business Processes and Business Roles</a:t>
            </a:r>
            <a:endParaRPr lang="en-US" sz="900"/>
          </a:p>
        </p:txBody>
      </p:sp>
      <p:sp>
        <p:nvSpPr>
          <p:cNvPr id="53" name="Oval 52">
            <a:extLst>
              <a:ext uri="{FF2B5EF4-FFF2-40B4-BE49-F238E27FC236}">
                <a16:creationId xmlns:a16="http://schemas.microsoft.com/office/drawing/2014/main" id="{155BB062-EB99-E9E2-B48C-E1EDC3688043}"/>
              </a:ext>
            </a:extLst>
          </p:cNvPr>
          <p:cNvSpPr/>
          <p:nvPr/>
        </p:nvSpPr>
        <p:spPr>
          <a:xfrm>
            <a:off x="1311288" y="3805075"/>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B328DAE0-5DE3-6255-CA0A-3DC045BF8707}"/>
              </a:ext>
            </a:extLst>
          </p:cNvPr>
          <p:cNvCxnSpPr>
            <a:cxnSpLocks/>
            <a:stCxn id="53" idx="6"/>
            <a:endCxn id="35" idx="1"/>
          </p:cNvCxnSpPr>
          <p:nvPr/>
        </p:nvCxnSpPr>
        <p:spPr>
          <a:xfrm>
            <a:off x="1561278" y="3931630"/>
            <a:ext cx="2772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7820C4C-71AF-821C-C4FF-BB71FE2D1F4F}"/>
              </a:ext>
            </a:extLst>
          </p:cNvPr>
          <p:cNvSpPr txBox="1"/>
          <p:nvPr/>
        </p:nvSpPr>
        <p:spPr>
          <a:xfrm>
            <a:off x="1910126" y="3059760"/>
            <a:ext cx="641947" cy="369332"/>
          </a:xfrm>
          <a:prstGeom prst="rect">
            <a:avLst/>
          </a:prstGeom>
          <a:noFill/>
        </p:spPr>
        <p:txBody>
          <a:bodyPr wrap="square" rtlCol="0">
            <a:spAutoFit/>
          </a:bodyPr>
          <a:lstStyle/>
          <a:p>
            <a:r>
              <a:rPr lang="en-US">
                <a:solidFill>
                  <a:schemeClr val="bg1"/>
                </a:solidFill>
              </a:rPr>
              <a:t>2.1</a:t>
            </a:r>
          </a:p>
        </p:txBody>
      </p:sp>
      <p:sp>
        <p:nvSpPr>
          <p:cNvPr id="8" name="TextBox 7">
            <a:extLst>
              <a:ext uri="{FF2B5EF4-FFF2-40B4-BE49-F238E27FC236}">
                <a16:creationId xmlns:a16="http://schemas.microsoft.com/office/drawing/2014/main" id="{C2179349-B656-8EA3-5B77-C1E8EEC35540}"/>
              </a:ext>
            </a:extLst>
          </p:cNvPr>
          <p:cNvSpPr txBox="1"/>
          <p:nvPr/>
        </p:nvSpPr>
        <p:spPr>
          <a:xfrm>
            <a:off x="3841689" y="3046248"/>
            <a:ext cx="579776" cy="369332"/>
          </a:xfrm>
          <a:prstGeom prst="rect">
            <a:avLst/>
          </a:prstGeom>
          <a:noFill/>
        </p:spPr>
        <p:txBody>
          <a:bodyPr wrap="square" rtlCol="0">
            <a:spAutoFit/>
          </a:bodyPr>
          <a:lstStyle/>
          <a:p>
            <a:r>
              <a:rPr lang="en-US">
                <a:solidFill>
                  <a:schemeClr val="bg1"/>
                </a:solidFill>
              </a:rPr>
              <a:t>2.2</a:t>
            </a:r>
          </a:p>
        </p:txBody>
      </p:sp>
      <p:sp>
        <p:nvSpPr>
          <p:cNvPr id="9" name="TextBox 8">
            <a:extLst>
              <a:ext uri="{FF2B5EF4-FFF2-40B4-BE49-F238E27FC236}">
                <a16:creationId xmlns:a16="http://schemas.microsoft.com/office/drawing/2014/main" id="{F6196599-E215-8F8B-C548-2FF5A4899F8D}"/>
              </a:ext>
            </a:extLst>
          </p:cNvPr>
          <p:cNvSpPr txBox="1"/>
          <p:nvPr/>
        </p:nvSpPr>
        <p:spPr>
          <a:xfrm>
            <a:off x="5466111" y="3046248"/>
            <a:ext cx="617394" cy="369332"/>
          </a:xfrm>
          <a:prstGeom prst="rect">
            <a:avLst/>
          </a:prstGeom>
          <a:noFill/>
        </p:spPr>
        <p:txBody>
          <a:bodyPr wrap="square" rtlCol="0">
            <a:spAutoFit/>
          </a:bodyPr>
          <a:lstStyle/>
          <a:p>
            <a:r>
              <a:rPr lang="en-US">
                <a:solidFill>
                  <a:schemeClr val="bg1"/>
                </a:solidFill>
              </a:rPr>
              <a:t>2.3</a:t>
            </a:r>
          </a:p>
        </p:txBody>
      </p:sp>
      <p:sp>
        <p:nvSpPr>
          <p:cNvPr id="19" name="Right Arrow 18">
            <a:extLst>
              <a:ext uri="{FF2B5EF4-FFF2-40B4-BE49-F238E27FC236}">
                <a16:creationId xmlns:a16="http://schemas.microsoft.com/office/drawing/2014/main" id="{149A2A6D-DF35-E803-A88E-498C156C1431}"/>
              </a:ext>
            </a:extLst>
          </p:cNvPr>
          <p:cNvSpPr/>
          <p:nvPr/>
        </p:nvSpPr>
        <p:spPr>
          <a:xfrm>
            <a:off x="5038858" y="3794243"/>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343E8BDA-D54F-60FB-4DD5-B80255F2DD92}"/>
              </a:ext>
            </a:extLst>
          </p:cNvPr>
          <p:cNvSpPr/>
          <p:nvPr/>
        </p:nvSpPr>
        <p:spPr>
          <a:xfrm>
            <a:off x="3285247" y="3804262"/>
            <a:ext cx="297292"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37985D6-8DFB-CF83-2C4C-5B32B1C1B8CB}"/>
              </a:ext>
            </a:extLst>
          </p:cNvPr>
          <p:cNvSpPr/>
          <p:nvPr/>
        </p:nvSpPr>
        <p:spPr>
          <a:xfrm>
            <a:off x="7043610" y="3789106"/>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1C7E930F-9903-96B7-D97E-A21249ED71BD}"/>
              </a:ext>
            </a:extLst>
          </p:cNvPr>
          <p:cNvCxnSpPr>
            <a:cxnSpLocks/>
          </p:cNvCxnSpPr>
          <p:nvPr/>
        </p:nvCxnSpPr>
        <p:spPr>
          <a:xfrm>
            <a:off x="6797008" y="3895605"/>
            <a:ext cx="2772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72929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5F211-292D-C964-E49F-4EF4F2AAFB25}"/>
              </a:ext>
            </a:extLst>
          </p:cNvPr>
          <p:cNvSpPr>
            <a:spLocks noGrp="1"/>
          </p:cNvSpPr>
          <p:nvPr>
            <p:ph type="title"/>
          </p:nvPr>
        </p:nvSpPr>
        <p:spPr>
          <a:xfrm>
            <a:off x="366464" y="0"/>
            <a:ext cx="10058400" cy="1609344"/>
          </a:xfrm>
        </p:spPr>
        <p:txBody>
          <a:bodyPr/>
          <a:lstStyle/>
          <a:p>
            <a:r>
              <a:rPr lang="en-US"/>
              <a:t>Identify Required Capabilities</a:t>
            </a:r>
          </a:p>
        </p:txBody>
      </p:sp>
      <p:sp>
        <p:nvSpPr>
          <p:cNvPr id="3" name="Content Placeholder 2">
            <a:extLst>
              <a:ext uri="{FF2B5EF4-FFF2-40B4-BE49-F238E27FC236}">
                <a16:creationId xmlns:a16="http://schemas.microsoft.com/office/drawing/2014/main" id="{35E72126-124F-C53C-C3CF-C36B5E2600F9}"/>
              </a:ext>
            </a:extLst>
          </p:cNvPr>
          <p:cNvSpPr>
            <a:spLocks noGrp="1"/>
          </p:cNvSpPr>
          <p:nvPr>
            <p:ph idx="1"/>
          </p:nvPr>
        </p:nvSpPr>
        <p:spPr>
          <a:xfrm>
            <a:off x="492369" y="1195754"/>
            <a:ext cx="10635879" cy="4976446"/>
          </a:xfrm>
        </p:spPr>
        <p:txBody>
          <a:bodyPr>
            <a:normAutofit/>
          </a:bodyPr>
          <a:lstStyle/>
          <a:p>
            <a:pPr marL="342900" lvl="0" indent="-342900">
              <a:buFont typeface="+mj-lt"/>
              <a:buAutoNum type="arabicPeriod" startAt="7"/>
            </a:pPr>
            <a:r>
              <a:rPr lang="en-US" sz="1500"/>
              <a:t>Map outcomes to MITA capability areas.</a:t>
            </a:r>
          </a:p>
          <a:p>
            <a:pPr lvl="1"/>
            <a:r>
              <a:rPr lang="en-US" sz="1500"/>
              <a:t>Use the MITA 4.0 Capability Map to determine the capabilities that impact the achievement of the goal. Aligning information and technology resources and processes to goals should improve insight into how to address needed changes and improvements to achieve success.</a:t>
            </a:r>
          </a:p>
          <a:p>
            <a:pPr marL="342900" lvl="0" indent="-342900">
              <a:buFont typeface="+mj-lt"/>
              <a:buAutoNum type="arabicPeriod" startAt="8"/>
            </a:pPr>
            <a:r>
              <a:rPr lang="en-US" sz="1500"/>
              <a:t>Revisit the MITA capability areas, if not completed prior to the outcomes process, and conduct the maturity assessment for those capabilities identified by mapping. The capability maturity assessment scores may help to define the projects needed to achieve outcomes. The assessment may also help shape the initial identified outcomes and add more information.</a:t>
            </a:r>
          </a:p>
          <a:p>
            <a:pPr marL="342900" lvl="0" indent="-342900">
              <a:buFont typeface="+mj-lt"/>
              <a:buAutoNum type="arabicPeriod" startAt="9"/>
            </a:pPr>
            <a:r>
              <a:rPr lang="en-US" sz="1500"/>
              <a:t>Identify tasks associated with producing the desired outcome and organize tasks into projects to manage the work.</a:t>
            </a:r>
          </a:p>
          <a:p>
            <a:pPr marL="342900" lvl="0" indent="-342900">
              <a:buFont typeface="+mj-lt"/>
              <a:buAutoNum type="arabicPeriod" startAt="10"/>
            </a:pPr>
            <a:r>
              <a:rPr lang="en-US" sz="1500"/>
              <a:t>Periodically track and assess progress toward success. This process is cyclical and allows for continuous improvement and adaptation in response to changing goals and priorities.</a:t>
            </a:r>
          </a:p>
          <a:p>
            <a:pPr lvl="1"/>
            <a:r>
              <a:rPr lang="en-US" sz="1500"/>
              <a:t>If goal is successfully achieved, restart the OBP process to define new goals and work toward continued growth.</a:t>
            </a:r>
          </a:p>
          <a:p>
            <a:pPr lvl="1"/>
            <a:r>
              <a:rPr lang="en-US" sz="1500"/>
              <a:t>If no, continue tracking progress and reassess.</a:t>
            </a:r>
          </a:p>
          <a:p>
            <a:pPr lvl="1"/>
            <a:r>
              <a:rPr lang="en-US" sz="1500"/>
              <a:t>Routinely reassess and determine if goals have changed:</a:t>
            </a:r>
          </a:p>
          <a:p>
            <a:pPr lvl="2"/>
            <a:r>
              <a:rPr lang="en-US" sz="1500"/>
              <a:t>If goals have changed, restart the process with new priorities.</a:t>
            </a:r>
          </a:p>
          <a:p>
            <a:pPr lvl="2"/>
            <a:r>
              <a:rPr lang="en-US" sz="1500"/>
              <a:t>If goals have not changed, restart the process for continued growth.</a:t>
            </a:r>
          </a:p>
          <a:p>
            <a:endParaRPr lang="en-US"/>
          </a:p>
        </p:txBody>
      </p:sp>
    </p:spTree>
    <p:extLst>
      <p:ext uri="{BB962C8B-B14F-4D97-AF65-F5344CB8AC3E}">
        <p14:creationId xmlns:p14="http://schemas.microsoft.com/office/powerpoint/2010/main" val="13554078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EF9E-BB34-E0F4-AD55-64B4EC14D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92B45-67B2-9D3F-7EF5-6E9221C3E68A}"/>
              </a:ext>
            </a:extLst>
          </p:cNvPr>
          <p:cNvSpPr>
            <a:spLocks noGrp="1"/>
          </p:cNvSpPr>
          <p:nvPr>
            <p:ph type="title"/>
          </p:nvPr>
        </p:nvSpPr>
        <p:spPr/>
        <p:txBody>
          <a:bodyPr/>
          <a:lstStyle/>
          <a:p>
            <a:r>
              <a:rPr lang="en-US"/>
              <a:t>Enterprise Strategic Planning</a:t>
            </a:r>
          </a:p>
        </p:txBody>
      </p:sp>
      <p:sp>
        <p:nvSpPr>
          <p:cNvPr id="3" name="Rounded Rectangle 2">
            <a:extLst>
              <a:ext uri="{FF2B5EF4-FFF2-40B4-BE49-F238E27FC236}">
                <a16:creationId xmlns:a16="http://schemas.microsoft.com/office/drawing/2014/main" id="{CB24577D-488A-46AB-0F09-1C17AAA7F5B4}"/>
              </a:ext>
            </a:extLst>
          </p:cNvPr>
          <p:cNvSpPr/>
          <p:nvPr/>
        </p:nvSpPr>
        <p:spPr>
          <a:xfrm>
            <a:off x="601371" y="3257730"/>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1. Define / Update </a:t>
            </a:r>
            <a:br>
              <a:rPr lang="en-US" sz="1400"/>
            </a:br>
            <a:r>
              <a:rPr lang="en-US" sz="1400"/>
              <a:t> Outcomes</a:t>
            </a:r>
            <a:endParaRPr lang="en-US"/>
          </a:p>
        </p:txBody>
      </p:sp>
      <p:sp>
        <p:nvSpPr>
          <p:cNvPr id="4" name="Rounded Rectangle 3">
            <a:extLst>
              <a:ext uri="{FF2B5EF4-FFF2-40B4-BE49-F238E27FC236}">
                <a16:creationId xmlns:a16="http://schemas.microsoft.com/office/drawing/2014/main" id="{AC40DDE3-23BF-0DE0-5D6A-77821886D4F7}"/>
              </a:ext>
            </a:extLst>
          </p:cNvPr>
          <p:cNvSpPr/>
          <p:nvPr/>
        </p:nvSpPr>
        <p:spPr>
          <a:xfrm>
            <a:off x="2597139" y="3270125"/>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2. Identify Required Capabilities</a:t>
            </a:r>
          </a:p>
        </p:txBody>
      </p:sp>
      <p:sp>
        <p:nvSpPr>
          <p:cNvPr id="5" name="Rounded Rectangle 4">
            <a:extLst>
              <a:ext uri="{FF2B5EF4-FFF2-40B4-BE49-F238E27FC236}">
                <a16:creationId xmlns:a16="http://schemas.microsoft.com/office/drawing/2014/main" id="{C244F9BD-E3C3-8F65-8FBA-5BC21D0C3D13}"/>
              </a:ext>
            </a:extLst>
          </p:cNvPr>
          <p:cNvSpPr/>
          <p:nvPr/>
        </p:nvSpPr>
        <p:spPr>
          <a:xfrm>
            <a:off x="4557972" y="3288151"/>
            <a:ext cx="1477602" cy="17437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3. Define</a:t>
            </a:r>
            <a:br>
              <a:rPr lang="en-US" sz="1400"/>
            </a:br>
            <a:r>
              <a:rPr lang="en-US" sz="1400"/>
              <a:t> Capability Architecture</a:t>
            </a:r>
          </a:p>
          <a:p>
            <a:pPr algn="ctr"/>
            <a:r>
              <a:rPr lang="en-US" sz="1000" i="1"/>
              <a:t>(Roles, Process, Information Technology)</a:t>
            </a:r>
          </a:p>
        </p:txBody>
      </p:sp>
      <p:sp>
        <p:nvSpPr>
          <p:cNvPr id="6" name="Rounded Rectangle 5">
            <a:extLst>
              <a:ext uri="{FF2B5EF4-FFF2-40B4-BE49-F238E27FC236}">
                <a16:creationId xmlns:a16="http://schemas.microsoft.com/office/drawing/2014/main" id="{FEC9D496-51B2-85F6-48F0-D658DE64C385}"/>
              </a:ext>
            </a:extLst>
          </p:cNvPr>
          <p:cNvSpPr/>
          <p:nvPr/>
        </p:nvSpPr>
        <p:spPr>
          <a:xfrm>
            <a:off x="6414712" y="3270125"/>
            <a:ext cx="1477602" cy="174374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4. Document State Self-Assessment</a:t>
            </a:r>
            <a:endParaRPr lang="en-US" sz="1000"/>
          </a:p>
        </p:txBody>
      </p:sp>
      <p:sp>
        <p:nvSpPr>
          <p:cNvPr id="7" name="TextBox 6">
            <a:extLst>
              <a:ext uri="{FF2B5EF4-FFF2-40B4-BE49-F238E27FC236}">
                <a16:creationId xmlns:a16="http://schemas.microsoft.com/office/drawing/2014/main" id="{AC22EA54-AB19-FCE2-37C1-136DB92F8275}"/>
              </a:ext>
            </a:extLst>
          </p:cNvPr>
          <p:cNvSpPr txBox="1"/>
          <p:nvPr/>
        </p:nvSpPr>
        <p:spPr>
          <a:xfrm>
            <a:off x="601370" y="2341717"/>
            <a:ext cx="1494423" cy="553998"/>
          </a:xfrm>
          <a:prstGeom prst="rect">
            <a:avLst/>
          </a:prstGeom>
          <a:solidFill>
            <a:schemeClr val="bg1">
              <a:lumMod val="95000"/>
            </a:schemeClr>
          </a:solidFill>
          <a:ln>
            <a:solidFill>
              <a:schemeClr val="tx1"/>
            </a:solidFill>
          </a:ln>
        </p:spPr>
        <p:txBody>
          <a:bodyPr wrap="square" rtlCol="0">
            <a:spAutoFit/>
          </a:bodyPr>
          <a:lstStyle/>
          <a:p>
            <a:pPr algn="ctr"/>
            <a:r>
              <a:rPr lang="en-US" sz="1000"/>
              <a:t>MITA 4.0 Outcome Process </a:t>
            </a:r>
          </a:p>
          <a:p>
            <a:pPr algn="ctr"/>
            <a:r>
              <a:rPr lang="en-US" sz="1000"/>
              <a:t>&amp; Reference Models</a:t>
            </a:r>
          </a:p>
        </p:txBody>
      </p:sp>
      <p:sp>
        <p:nvSpPr>
          <p:cNvPr id="8" name="TextBox 7">
            <a:extLst>
              <a:ext uri="{FF2B5EF4-FFF2-40B4-BE49-F238E27FC236}">
                <a16:creationId xmlns:a16="http://schemas.microsoft.com/office/drawing/2014/main" id="{133904B2-5E34-193B-4D7C-FA7C8CB9D532}"/>
              </a:ext>
            </a:extLst>
          </p:cNvPr>
          <p:cNvSpPr txBox="1"/>
          <p:nvPr/>
        </p:nvSpPr>
        <p:spPr>
          <a:xfrm>
            <a:off x="2590272" y="2338163"/>
            <a:ext cx="1477601" cy="400110"/>
          </a:xfrm>
          <a:prstGeom prst="rect">
            <a:avLst/>
          </a:prstGeom>
          <a:solidFill>
            <a:schemeClr val="bg1">
              <a:lumMod val="95000"/>
            </a:schemeClr>
          </a:solidFill>
          <a:ln>
            <a:solidFill>
              <a:schemeClr val="tx1"/>
            </a:solidFill>
          </a:ln>
        </p:spPr>
        <p:txBody>
          <a:bodyPr wrap="square" rtlCol="0">
            <a:spAutoFit/>
          </a:bodyPr>
          <a:lstStyle/>
          <a:p>
            <a:pPr algn="ctr"/>
            <a:r>
              <a:rPr lang="en-US" sz="1000"/>
              <a:t>MITA 4.0 Capability </a:t>
            </a:r>
          </a:p>
          <a:p>
            <a:pPr algn="ctr"/>
            <a:r>
              <a:rPr lang="en-US" sz="1000"/>
              <a:t>Reference Model</a:t>
            </a:r>
          </a:p>
        </p:txBody>
      </p:sp>
      <p:sp>
        <p:nvSpPr>
          <p:cNvPr id="9" name="TextBox 8">
            <a:extLst>
              <a:ext uri="{FF2B5EF4-FFF2-40B4-BE49-F238E27FC236}">
                <a16:creationId xmlns:a16="http://schemas.microsoft.com/office/drawing/2014/main" id="{E70AEC04-694D-24F9-2FC9-9473DC1534C3}"/>
              </a:ext>
            </a:extLst>
          </p:cNvPr>
          <p:cNvSpPr txBox="1"/>
          <p:nvPr/>
        </p:nvSpPr>
        <p:spPr>
          <a:xfrm>
            <a:off x="4378186" y="2316310"/>
            <a:ext cx="1792575" cy="707886"/>
          </a:xfrm>
          <a:prstGeom prst="rect">
            <a:avLst/>
          </a:prstGeom>
          <a:solidFill>
            <a:schemeClr val="bg1">
              <a:lumMod val="95000"/>
            </a:schemeClr>
          </a:solidFill>
          <a:ln>
            <a:solidFill>
              <a:schemeClr val="tx1"/>
            </a:solidFill>
          </a:ln>
        </p:spPr>
        <p:txBody>
          <a:bodyPr wrap="square" rtlCol="0">
            <a:spAutoFit/>
          </a:bodyPr>
          <a:lstStyle/>
          <a:p>
            <a:pPr algn="ctr"/>
            <a:r>
              <a:rPr lang="en-US" sz="1000"/>
              <a:t>MITA 4.0 Role, Process, Data, Technical </a:t>
            </a:r>
          </a:p>
          <a:p>
            <a:pPr algn="ctr"/>
            <a:r>
              <a:rPr lang="en-US" sz="1000"/>
              <a:t>Reference Models &amp; Architecture Process</a:t>
            </a:r>
          </a:p>
        </p:txBody>
      </p:sp>
      <p:sp>
        <p:nvSpPr>
          <p:cNvPr id="10" name="TextBox 9">
            <a:extLst>
              <a:ext uri="{FF2B5EF4-FFF2-40B4-BE49-F238E27FC236}">
                <a16:creationId xmlns:a16="http://schemas.microsoft.com/office/drawing/2014/main" id="{69B90848-2EB3-BAC2-C972-6752F0B0CEC8}"/>
              </a:ext>
            </a:extLst>
          </p:cNvPr>
          <p:cNvSpPr txBox="1"/>
          <p:nvPr/>
        </p:nvSpPr>
        <p:spPr>
          <a:xfrm>
            <a:off x="6414712" y="2323691"/>
            <a:ext cx="1477601" cy="553998"/>
          </a:xfrm>
          <a:prstGeom prst="rect">
            <a:avLst/>
          </a:prstGeom>
          <a:solidFill>
            <a:schemeClr val="bg1">
              <a:lumMod val="95000"/>
            </a:schemeClr>
          </a:solidFill>
          <a:ln>
            <a:solidFill>
              <a:schemeClr val="tx1"/>
            </a:solidFill>
          </a:ln>
        </p:spPr>
        <p:txBody>
          <a:bodyPr wrap="square" lIns="91440" tIns="45720" rIns="91440" bIns="45720" rtlCol="0" anchor="t">
            <a:spAutoFit/>
          </a:bodyPr>
          <a:lstStyle/>
          <a:p>
            <a:pPr algn="ctr"/>
            <a:r>
              <a:rPr lang="en-US" sz="1000"/>
              <a:t>MITA 4.0 Maturity Results &amp; SS-A Process</a:t>
            </a:r>
          </a:p>
        </p:txBody>
      </p:sp>
      <p:sp>
        <p:nvSpPr>
          <p:cNvPr id="11" name="TextBox 10">
            <a:extLst>
              <a:ext uri="{FF2B5EF4-FFF2-40B4-BE49-F238E27FC236}">
                <a16:creationId xmlns:a16="http://schemas.microsoft.com/office/drawing/2014/main" id="{6F26DA09-BCB7-F937-4E55-7D386073EC21}"/>
              </a:ext>
            </a:extLst>
          </p:cNvPr>
          <p:cNvSpPr txBox="1"/>
          <p:nvPr/>
        </p:nvSpPr>
        <p:spPr>
          <a:xfrm>
            <a:off x="793326" y="5804553"/>
            <a:ext cx="1150907"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Outcomes &amp; Metrics</a:t>
            </a:r>
          </a:p>
        </p:txBody>
      </p:sp>
      <p:sp>
        <p:nvSpPr>
          <p:cNvPr id="12" name="TextBox 11">
            <a:extLst>
              <a:ext uri="{FF2B5EF4-FFF2-40B4-BE49-F238E27FC236}">
                <a16:creationId xmlns:a16="http://schemas.microsoft.com/office/drawing/2014/main" id="{49CEB271-8E9C-C4FF-CDBE-8885424CDDEE}"/>
              </a:ext>
            </a:extLst>
          </p:cNvPr>
          <p:cNvSpPr txBox="1"/>
          <p:nvPr/>
        </p:nvSpPr>
        <p:spPr>
          <a:xfrm>
            <a:off x="4669705" y="5823478"/>
            <a:ext cx="1265843"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Concept of Operations</a:t>
            </a:r>
          </a:p>
        </p:txBody>
      </p:sp>
      <p:sp>
        <p:nvSpPr>
          <p:cNvPr id="13" name="TextBox 12">
            <a:extLst>
              <a:ext uri="{FF2B5EF4-FFF2-40B4-BE49-F238E27FC236}">
                <a16:creationId xmlns:a16="http://schemas.microsoft.com/office/drawing/2014/main" id="{228B4EAA-99D9-1AD4-8D87-6192E55D3996}"/>
              </a:ext>
            </a:extLst>
          </p:cNvPr>
          <p:cNvSpPr txBox="1"/>
          <p:nvPr/>
        </p:nvSpPr>
        <p:spPr>
          <a:xfrm>
            <a:off x="6416764" y="5835330"/>
            <a:ext cx="1508629" cy="400110"/>
          </a:xfrm>
          <a:prstGeom prst="rect">
            <a:avLst/>
          </a:prstGeom>
          <a:solidFill>
            <a:schemeClr val="tx2">
              <a:lumMod val="10000"/>
              <a:lumOff val="90000"/>
            </a:schemeClr>
          </a:solidFill>
          <a:ln>
            <a:solidFill>
              <a:schemeClr val="tx1"/>
            </a:solidFill>
          </a:ln>
        </p:spPr>
        <p:txBody>
          <a:bodyPr wrap="square" rtlCol="0">
            <a:spAutoFit/>
          </a:bodyPr>
          <a:lstStyle/>
          <a:p>
            <a:pPr algn="ctr"/>
            <a:r>
              <a:rPr lang="en-US" sz="1000"/>
              <a:t>Maturity Profile &amp; Roadmap</a:t>
            </a:r>
          </a:p>
        </p:txBody>
      </p:sp>
      <p:cxnSp>
        <p:nvCxnSpPr>
          <p:cNvPr id="15" name="Straight Arrow Connector 14">
            <a:extLst>
              <a:ext uri="{FF2B5EF4-FFF2-40B4-BE49-F238E27FC236}">
                <a16:creationId xmlns:a16="http://schemas.microsoft.com/office/drawing/2014/main" id="{83FA6BB4-49A4-2033-EC6E-EDBD101F020D}"/>
              </a:ext>
            </a:extLst>
          </p:cNvPr>
          <p:cNvCxnSpPr>
            <a:cxnSpLocks/>
            <a:stCxn id="7" idx="2"/>
            <a:endCxn id="3" idx="0"/>
          </p:cNvCxnSpPr>
          <p:nvPr/>
        </p:nvCxnSpPr>
        <p:spPr>
          <a:xfrm flipH="1">
            <a:off x="1340172" y="2895715"/>
            <a:ext cx="8410" cy="36201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7593FCA-AC1A-F6EB-F8F1-8712E263B39A}"/>
              </a:ext>
            </a:extLst>
          </p:cNvPr>
          <p:cNvCxnSpPr>
            <a:cxnSpLocks/>
            <a:stCxn id="8" idx="2"/>
            <a:endCxn id="4" idx="0"/>
          </p:cNvCxnSpPr>
          <p:nvPr/>
        </p:nvCxnSpPr>
        <p:spPr>
          <a:xfrm>
            <a:off x="3329073" y="2738273"/>
            <a:ext cx="6867" cy="531852"/>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3AFDA76-5D59-A802-7AC3-B47D1ED893E3}"/>
              </a:ext>
            </a:extLst>
          </p:cNvPr>
          <p:cNvCxnSpPr>
            <a:cxnSpLocks/>
            <a:stCxn id="9" idx="2"/>
            <a:endCxn id="5" idx="0"/>
          </p:cNvCxnSpPr>
          <p:nvPr/>
        </p:nvCxnSpPr>
        <p:spPr>
          <a:xfrm>
            <a:off x="5293211" y="3024196"/>
            <a:ext cx="3562" cy="26395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B3B25D7-4E3B-238B-9142-5B7E7793AB91}"/>
              </a:ext>
            </a:extLst>
          </p:cNvPr>
          <p:cNvCxnSpPr>
            <a:cxnSpLocks/>
            <a:stCxn id="10" idx="2"/>
            <a:endCxn id="6" idx="0"/>
          </p:cNvCxnSpPr>
          <p:nvPr/>
        </p:nvCxnSpPr>
        <p:spPr>
          <a:xfrm>
            <a:off x="7153513" y="2877689"/>
            <a:ext cx="0" cy="39243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61FDFB3-7FDA-C7DD-3678-FB6FB092C1E4}"/>
              </a:ext>
            </a:extLst>
          </p:cNvPr>
          <p:cNvCxnSpPr>
            <a:stCxn id="3" idx="2"/>
            <a:endCxn id="11" idx="0"/>
          </p:cNvCxnSpPr>
          <p:nvPr/>
        </p:nvCxnSpPr>
        <p:spPr>
          <a:xfrm>
            <a:off x="1340172" y="5001470"/>
            <a:ext cx="28608" cy="803083"/>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9F5923B-A9BD-0630-B95A-022F8748A2BF}"/>
              </a:ext>
            </a:extLst>
          </p:cNvPr>
          <p:cNvCxnSpPr>
            <a:stCxn id="5" idx="2"/>
            <a:endCxn id="12" idx="0"/>
          </p:cNvCxnSpPr>
          <p:nvPr/>
        </p:nvCxnSpPr>
        <p:spPr>
          <a:xfrm>
            <a:off x="5296773" y="5031891"/>
            <a:ext cx="5854" cy="791587"/>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07EAE948-F275-8824-17FE-98EEA2F45B36}"/>
              </a:ext>
            </a:extLst>
          </p:cNvPr>
          <p:cNvCxnSpPr>
            <a:cxnSpLocks/>
            <a:stCxn id="6" idx="2"/>
            <a:endCxn id="13" idx="0"/>
          </p:cNvCxnSpPr>
          <p:nvPr/>
        </p:nvCxnSpPr>
        <p:spPr>
          <a:xfrm>
            <a:off x="7153513" y="5013865"/>
            <a:ext cx="17566" cy="82146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29" name="Right Arrow 28">
            <a:extLst>
              <a:ext uri="{FF2B5EF4-FFF2-40B4-BE49-F238E27FC236}">
                <a16:creationId xmlns:a16="http://schemas.microsoft.com/office/drawing/2014/main" id="{88C2432F-B835-B196-CB0A-96CD40BB660C}"/>
              </a:ext>
            </a:extLst>
          </p:cNvPr>
          <p:cNvSpPr/>
          <p:nvPr/>
        </p:nvSpPr>
        <p:spPr>
          <a:xfrm>
            <a:off x="2096100" y="4043200"/>
            <a:ext cx="4816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Arrow 29">
            <a:extLst>
              <a:ext uri="{FF2B5EF4-FFF2-40B4-BE49-F238E27FC236}">
                <a16:creationId xmlns:a16="http://schemas.microsoft.com/office/drawing/2014/main" id="{8FC2E427-0228-AC16-4D21-30989723A32D}"/>
              </a:ext>
            </a:extLst>
          </p:cNvPr>
          <p:cNvSpPr/>
          <p:nvPr/>
        </p:nvSpPr>
        <p:spPr>
          <a:xfrm>
            <a:off x="4089916" y="4031625"/>
            <a:ext cx="462369"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C834DF70-5E72-C24C-6E3C-00189806E3BB}"/>
              </a:ext>
            </a:extLst>
          </p:cNvPr>
          <p:cNvSpPr/>
          <p:nvPr/>
        </p:nvSpPr>
        <p:spPr>
          <a:xfrm>
            <a:off x="6050749" y="4040584"/>
            <a:ext cx="353056"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D22AD623-6F39-6DD9-3BF1-F234D9C2FB4C}"/>
              </a:ext>
            </a:extLst>
          </p:cNvPr>
          <p:cNvSpPr/>
          <p:nvPr/>
        </p:nvSpPr>
        <p:spPr>
          <a:xfrm>
            <a:off x="8260545" y="3295300"/>
            <a:ext cx="1477602" cy="1743740"/>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85000"/>
                    <a:lumOff val="15000"/>
                  </a:schemeClr>
                </a:solidFill>
              </a:rPr>
              <a:t>Develop Advanced Planning Document (APD)</a:t>
            </a:r>
            <a:endParaRPr lang="en-US" sz="1000">
              <a:solidFill>
                <a:schemeClr val="tx1">
                  <a:lumMod val="85000"/>
                  <a:lumOff val="15000"/>
                </a:schemeClr>
              </a:solidFill>
            </a:endParaRPr>
          </a:p>
        </p:txBody>
      </p:sp>
      <p:sp>
        <p:nvSpPr>
          <p:cNvPr id="36" name="Right Arrow 35">
            <a:extLst>
              <a:ext uri="{FF2B5EF4-FFF2-40B4-BE49-F238E27FC236}">
                <a16:creationId xmlns:a16="http://schemas.microsoft.com/office/drawing/2014/main" id="{47BD5DEF-385E-6591-6695-9CE49F5BCFAB}"/>
              </a:ext>
            </a:extLst>
          </p:cNvPr>
          <p:cNvSpPr/>
          <p:nvPr/>
        </p:nvSpPr>
        <p:spPr>
          <a:xfrm>
            <a:off x="7890619" y="4050711"/>
            <a:ext cx="3719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353D2AEE-A239-ECCA-45B0-4E74620BBDF1}"/>
              </a:ext>
            </a:extLst>
          </p:cNvPr>
          <p:cNvSpPr/>
          <p:nvPr/>
        </p:nvSpPr>
        <p:spPr>
          <a:xfrm>
            <a:off x="71147" y="4007007"/>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B598F8EB-BB20-A131-4FEB-968CC2335722}"/>
              </a:ext>
            </a:extLst>
          </p:cNvPr>
          <p:cNvSpPr/>
          <p:nvPr/>
        </p:nvSpPr>
        <p:spPr>
          <a:xfrm>
            <a:off x="11789426" y="4051223"/>
            <a:ext cx="249990" cy="25311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ADA708BB-EAF2-1F8A-CF82-F06D82E63AFA}"/>
              </a:ext>
            </a:extLst>
          </p:cNvPr>
          <p:cNvCxnSpPr>
            <a:cxnSpLocks/>
            <a:stCxn id="53" idx="6"/>
            <a:endCxn id="3" idx="1"/>
          </p:cNvCxnSpPr>
          <p:nvPr/>
        </p:nvCxnSpPr>
        <p:spPr>
          <a:xfrm flipV="1">
            <a:off x="321137" y="4129600"/>
            <a:ext cx="280234" cy="3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20E1C7C8-8648-954E-1B5B-438DA8F3D580}"/>
              </a:ext>
            </a:extLst>
          </p:cNvPr>
          <p:cNvCxnSpPr>
            <a:cxnSpLocks/>
            <a:stCxn id="21" idx="3"/>
            <a:endCxn id="54" idx="2"/>
          </p:cNvCxnSpPr>
          <p:nvPr/>
        </p:nvCxnSpPr>
        <p:spPr>
          <a:xfrm>
            <a:off x="11594871" y="4177778"/>
            <a:ext cx="1945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06D47DA6-88B5-5DF4-19F1-18D69ACB7C23}"/>
              </a:ext>
            </a:extLst>
          </p:cNvPr>
          <p:cNvSpPr txBox="1"/>
          <p:nvPr/>
        </p:nvSpPr>
        <p:spPr>
          <a:xfrm>
            <a:off x="793326" y="6204662"/>
            <a:ext cx="1150907"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6" name="TextBox 65">
            <a:extLst>
              <a:ext uri="{FF2B5EF4-FFF2-40B4-BE49-F238E27FC236}">
                <a16:creationId xmlns:a16="http://schemas.microsoft.com/office/drawing/2014/main" id="{C14D5DCC-E34C-26FF-F5F2-BBAC802B4FAB}"/>
              </a:ext>
            </a:extLst>
          </p:cNvPr>
          <p:cNvSpPr txBox="1"/>
          <p:nvPr/>
        </p:nvSpPr>
        <p:spPr>
          <a:xfrm>
            <a:off x="4669705" y="6204663"/>
            <a:ext cx="1273948"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7" name="TextBox 66">
            <a:extLst>
              <a:ext uri="{FF2B5EF4-FFF2-40B4-BE49-F238E27FC236}">
                <a16:creationId xmlns:a16="http://schemas.microsoft.com/office/drawing/2014/main" id="{9E06FAD5-8419-EE38-6C43-14EDF1B226D5}"/>
              </a:ext>
            </a:extLst>
          </p:cNvPr>
          <p:cNvSpPr txBox="1"/>
          <p:nvPr/>
        </p:nvSpPr>
        <p:spPr>
          <a:xfrm>
            <a:off x="6414711" y="6234541"/>
            <a:ext cx="1508629" cy="246221"/>
          </a:xfrm>
          <a:prstGeom prst="rect">
            <a:avLst/>
          </a:prstGeom>
          <a:solidFill>
            <a:schemeClr val="tx2">
              <a:lumMod val="90000"/>
              <a:lumOff val="10000"/>
            </a:schemeClr>
          </a:solidFill>
          <a:ln>
            <a:solidFill>
              <a:schemeClr val="tx1"/>
            </a:solidFill>
          </a:ln>
        </p:spPr>
        <p:txBody>
          <a:bodyPr wrap="square" rtlCol="0">
            <a:spAutoFit/>
          </a:bodyPr>
          <a:lstStyle/>
          <a:p>
            <a:pPr algn="ctr"/>
            <a:r>
              <a:rPr lang="en-US" sz="1000">
                <a:solidFill>
                  <a:schemeClr val="bg1"/>
                </a:solidFill>
              </a:rPr>
              <a:t>OUTPUT</a:t>
            </a:r>
          </a:p>
        </p:txBody>
      </p:sp>
      <p:sp>
        <p:nvSpPr>
          <p:cNvPr id="69" name="TextBox 68">
            <a:extLst>
              <a:ext uri="{FF2B5EF4-FFF2-40B4-BE49-F238E27FC236}">
                <a16:creationId xmlns:a16="http://schemas.microsoft.com/office/drawing/2014/main" id="{6E8C3EDC-F452-3432-1CF7-1F50CFD8E646}"/>
              </a:ext>
            </a:extLst>
          </p:cNvPr>
          <p:cNvSpPr txBox="1"/>
          <p:nvPr/>
        </p:nvSpPr>
        <p:spPr>
          <a:xfrm>
            <a:off x="6414711" y="2077470"/>
            <a:ext cx="147760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INPUT</a:t>
            </a:r>
          </a:p>
        </p:txBody>
      </p:sp>
      <p:sp>
        <p:nvSpPr>
          <p:cNvPr id="70" name="TextBox 69">
            <a:extLst>
              <a:ext uri="{FF2B5EF4-FFF2-40B4-BE49-F238E27FC236}">
                <a16:creationId xmlns:a16="http://schemas.microsoft.com/office/drawing/2014/main" id="{8828EA14-3979-54F6-C12D-A6EDF9434A9C}"/>
              </a:ext>
            </a:extLst>
          </p:cNvPr>
          <p:cNvSpPr txBox="1"/>
          <p:nvPr/>
        </p:nvSpPr>
        <p:spPr>
          <a:xfrm>
            <a:off x="4378186" y="2091121"/>
            <a:ext cx="1792575"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INPUT</a:t>
            </a:r>
          </a:p>
        </p:txBody>
      </p:sp>
      <p:sp>
        <p:nvSpPr>
          <p:cNvPr id="71" name="TextBox 70">
            <a:extLst>
              <a:ext uri="{FF2B5EF4-FFF2-40B4-BE49-F238E27FC236}">
                <a16:creationId xmlns:a16="http://schemas.microsoft.com/office/drawing/2014/main" id="{EA4D106B-66F7-81DA-4039-33641AAEF6A9}"/>
              </a:ext>
            </a:extLst>
          </p:cNvPr>
          <p:cNvSpPr txBox="1"/>
          <p:nvPr/>
        </p:nvSpPr>
        <p:spPr>
          <a:xfrm>
            <a:off x="2590272" y="2091942"/>
            <a:ext cx="147760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INPUT</a:t>
            </a:r>
          </a:p>
        </p:txBody>
      </p:sp>
      <p:sp>
        <p:nvSpPr>
          <p:cNvPr id="72" name="TextBox 71">
            <a:extLst>
              <a:ext uri="{FF2B5EF4-FFF2-40B4-BE49-F238E27FC236}">
                <a16:creationId xmlns:a16="http://schemas.microsoft.com/office/drawing/2014/main" id="{DC9D5BBE-1ABE-AF65-C7A3-09E3A6DA71BC}"/>
              </a:ext>
            </a:extLst>
          </p:cNvPr>
          <p:cNvSpPr txBox="1"/>
          <p:nvPr/>
        </p:nvSpPr>
        <p:spPr>
          <a:xfrm>
            <a:off x="601368" y="2106992"/>
            <a:ext cx="1492031" cy="246221"/>
          </a:xfrm>
          <a:prstGeom prst="rect">
            <a:avLst/>
          </a:prstGeom>
          <a:solidFill>
            <a:schemeClr val="bg1">
              <a:lumMod val="50000"/>
            </a:schemeClr>
          </a:solidFill>
          <a:ln>
            <a:solidFill>
              <a:schemeClr val="tx1"/>
            </a:solidFill>
          </a:ln>
        </p:spPr>
        <p:txBody>
          <a:bodyPr wrap="square" rtlCol="0">
            <a:spAutoFit/>
          </a:bodyPr>
          <a:lstStyle/>
          <a:p>
            <a:pPr algn="ctr"/>
            <a:r>
              <a:rPr lang="en-US" sz="1000">
                <a:solidFill>
                  <a:schemeClr val="bg1"/>
                </a:solidFill>
              </a:rPr>
              <a:t>INPUT</a:t>
            </a:r>
          </a:p>
        </p:txBody>
      </p:sp>
      <p:sp>
        <p:nvSpPr>
          <p:cNvPr id="21" name="Rounded Rectangle 20">
            <a:extLst>
              <a:ext uri="{FF2B5EF4-FFF2-40B4-BE49-F238E27FC236}">
                <a16:creationId xmlns:a16="http://schemas.microsoft.com/office/drawing/2014/main" id="{F3F02F82-49F4-53A7-92A3-CB415B619EAB}"/>
              </a:ext>
            </a:extLst>
          </p:cNvPr>
          <p:cNvSpPr/>
          <p:nvPr/>
        </p:nvSpPr>
        <p:spPr>
          <a:xfrm>
            <a:off x="10117269" y="3305908"/>
            <a:ext cx="1477602" cy="1743740"/>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85000"/>
                    <a:lumOff val="15000"/>
                  </a:schemeClr>
                </a:solidFill>
              </a:rPr>
              <a:t>Perform MES Certification</a:t>
            </a:r>
            <a:endParaRPr lang="en-US" sz="1000">
              <a:solidFill>
                <a:schemeClr val="tx1">
                  <a:lumMod val="85000"/>
                  <a:lumOff val="15000"/>
                </a:schemeClr>
              </a:solidFill>
            </a:endParaRPr>
          </a:p>
        </p:txBody>
      </p:sp>
      <p:sp>
        <p:nvSpPr>
          <p:cNvPr id="27" name="Right Arrow 26">
            <a:extLst>
              <a:ext uri="{FF2B5EF4-FFF2-40B4-BE49-F238E27FC236}">
                <a16:creationId xmlns:a16="http://schemas.microsoft.com/office/drawing/2014/main" id="{DB19119B-1DE6-C992-28F6-7F42CABD4B31}"/>
              </a:ext>
            </a:extLst>
          </p:cNvPr>
          <p:cNvSpPr/>
          <p:nvPr/>
        </p:nvSpPr>
        <p:spPr>
          <a:xfrm>
            <a:off x="9738147" y="4061350"/>
            <a:ext cx="371903" cy="232856"/>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F9D4A63-7F78-8219-F5DD-714CA771FD4D}"/>
              </a:ext>
            </a:extLst>
          </p:cNvPr>
          <p:cNvSpPr/>
          <p:nvPr/>
        </p:nvSpPr>
        <p:spPr>
          <a:xfrm>
            <a:off x="435935" y="1691011"/>
            <a:ext cx="7644809" cy="5028766"/>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ADC026A-139E-DC99-5F54-A2949890A4E4}"/>
              </a:ext>
            </a:extLst>
          </p:cNvPr>
          <p:cNvSpPr txBox="1"/>
          <p:nvPr/>
        </p:nvSpPr>
        <p:spPr>
          <a:xfrm>
            <a:off x="3526247" y="1707517"/>
            <a:ext cx="1464183" cy="307777"/>
          </a:xfrm>
          <a:prstGeom prst="rect">
            <a:avLst/>
          </a:prstGeom>
          <a:noFill/>
        </p:spPr>
        <p:txBody>
          <a:bodyPr wrap="square" rtlCol="0">
            <a:spAutoFit/>
          </a:bodyPr>
          <a:lstStyle/>
          <a:p>
            <a:r>
              <a:rPr lang="en-US" sz="1400"/>
              <a:t>MITA 4.0 Scope</a:t>
            </a:r>
          </a:p>
        </p:txBody>
      </p:sp>
    </p:spTree>
    <p:extLst>
      <p:ext uri="{BB962C8B-B14F-4D97-AF65-F5344CB8AC3E}">
        <p14:creationId xmlns:p14="http://schemas.microsoft.com/office/powerpoint/2010/main" val="11601987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0</TotalTime>
  <Words>6481</Words>
  <Application>Microsoft Macintosh PowerPoint</Application>
  <PresentationFormat>Widescreen</PresentationFormat>
  <Paragraphs>951</Paragraphs>
  <Slides>88</Slides>
  <Notes>21</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88</vt:i4>
      </vt:variant>
    </vt:vector>
  </HeadingPairs>
  <TitlesOfParts>
    <vt:vector size="98" baseType="lpstr">
      <vt:lpstr>Aptos</vt:lpstr>
      <vt:lpstr>Aptos Narrow</vt:lpstr>
      <vt:lpstr>Arial</vt:lpstr>
      <vt:lpstr>Calibri</vt:lpstr>
      <vt:lpstr>Rockwell</vt:lpstr>
      <vt:lpstr>Rockwell Condensed</vt:lpstr>
      <vt:lpstr>Rockwell Extra Bold</vt:lpstr>
      <vt:lpstr>Segoe UI</vt:lpstr>
      <vt:lpstr>Wingdings</vt:lpstr>
      <vt:lpstr>Wood Type</vt:lpstr>
      <vt:lpstr>MITA 4.0</vt:lpstr>
      <vt:lpstr>Topics</vt:lpstr>
      <vt:lpstr>MITA 3.0 Process</vt:lpstr>
      <vt:lpstr>MITA 3.0 BA Process</vt:lpstr>
      <vt:lpstr>MITA 3.0 IA Process</vt:lpstr>
      <vt:lpstr>MITA 3.0 TA Process</vt:lpstr>
      <vt:lpstr>Proposed MITA 4.0 Process</vt:lpstr>
      <vt:lpstr>Solution Planning Lifecycle</vt:lpstr>
      <vt:lpstr>Enterprise Strategic Planning</vt:lpstr>
      <vt:lpstr>Define/Update Outcomes</vt:lpstr>
      <vt:lpstr>Define/Update Outcomes</vt:lpstr>
      <vt:lpstr>1. Define/Update Outcomes</vt:lpstr>
      <vt:lpstr>Identify Required Capabilities</vt:lpstr>
      <vt:lpstr>Identify Required Capabilities</vt:lpstr>
      <vt:lpstr>2. Identify Required Capabilities</vt:lpstr>
      <vt:lpstr>Define Capability Architecture</vt:lpstr>
      <vt:lpstr>Define Capability Architecture (repeat for each Architecture)</vt:lpstr>
      <vt:lpstr>3.1A. Define BA Approach</vt:lpstr>
      <vt:lpstr>3.1A. Define BA Activities</vt:lpstr>
      <vt:lpstr>3.1b. Define IA Approach</vt:lpstr>
      <vt:lpstr>3.1b. Define IA Activities</vt:lpstr>
      <vt:lpstr>3.1C. Define TA Approach</vt:lpstr>
      <vt:lpstr>3.1C. Define TA Activities</vt:lpstr>
      <vt:lpstr>Outdated 3.1C activities to move</vt:lpstr>
      <vt:lpstr>Define Capability Architecture</vt:lpstr>
      <vt:lpstr>3.2. Define Baseline Capability Architecture</vt:lpstr>
      <vt:lpstr>3.2A. Define Baseline Capability Overview</vt:lpstr>
      <vt:lpstr>3.2A. Activities</vt:lpstr>
      <vt:lpstr>3.2b. Define Baseline Capability Overview</vt:lpstr>
      <vt:lpstr>3.2B. Activities</vt:lpstr>
      <vt:lpstr>PowerPoint Presentation</vt:lpstr>
      <vt:lpstr>3.2C. Define Baseline Capability Overview</vt:lpstr>
      <vt:lpstr>3.2C. Activities</vt:lpstr>
      <vt:lpstr>3.2. Combined Activities</vt:lpstr>
      <vt:lpstr>Define Capability Architecture</vt:lpstr>
      <vt:lpstr>3.3. Define Target Capability Architecture</vt:lpstr>
      <vt:lpstr>3.3A. Overview</vt:lpstr>
      <vt:lpstr>3.3A. Activities</vt:lpstr>
      <vt:lpstr>3.3b. Overview</vt:lpstr>
      <vt:lpstr>3.3b Activities</vt:lpstr>
      <vt:lpstr>3.3C. Overview</vt:lpstr>
      <vt:lpstr>3.3C Activities</vt:lpstr>
      <vt:lpstr>3.3C Activities</vt:lpstr>
      <vt:lpstr>Define Capability Architecture</vt:lpstr>
      <vt:lpstr>3.4 Overview</vt:lpstr>
      <vt:lpstr>3.4 Activities</vt:lpstr>
      <vt:lpstr>Define Capability Architecture</vt:lpstr>
      <vt:lpstr>3.5A Perform Gap Analysis Overview</vt:lpstr>
      <vt:lpstr>3.5A Activities</vt:lpstr>
      <vt:lpstr>3.5b Perform Gap Analysis Overview</vt:lpstr>
      <vt:lpstr>3.5b Activities</vt:lpstr>
      <vt:lpstr>3.5C Perform Gap Analysis Overview</vt:lpstr>
      <vt:lpstr>3.5C Activities</vt:lpstr>
      <vt:lpstr>Document State Self-Assessment</vt:lpstr>
      <vt:lpstr>Document State Self-Assessment</vt:lpstr>
      <vt:lpstr>4.1 Document Maturity Assessment Results in Maturity profile</vt:lpstr>
      <vt:lpstr>4.1. Activities</vt:lpstr>
      <vt:lpstr>4.2 Develop or Update SS-A Executive Summary and Roadmap</vt:lpstr>
      <vt:lpstr>4.2 Activities</vt:lpstr>
      <vt:lpstr>4.3 Work with Leadership to review SS-A Executive Summary and determine priorities </vt:lpstr>
      <vt:lpstr>4.3. Activities</vt:lpstr>
      <vt:lpstr>4.4 Update/Define Outcomes using Outcomes-Based process for initial priorities</vt:lpstr>
      <vt:lpstr>4.4. Activities</vt:lpstr>
      <vt:lpstr>4.5 Execute projects to achieve desired outcomes </vt:lpstr>
      <vt:lpstr>4.5 Activities</vt:lpstr>
      <vt:lpstr>Differences between MITA 3.0 and 4.0</vt:lpstr>
      <vt:lpstr>PowerPoint Presentation</vt:lpstr>
      <vt:lpstr>PowerPoint Presentation</vt:lpstr>
      <vt:lpstr>Example 1: Provider Enrollment</vt:lpstr>
      <vt:lpstr>Example 1</vt:lpstr>
      <vt:lpstr>1. Identify IA Reference Models/Viewpoints </vt:lpstr>
      <vt:lpstr>Example Capability: baseline Provider Enrollment Architecture</vt:lpstr>
      <vt:lpstr>2A. Assess baseline Information Architecture Maturity</vt:lpstr>
      <vt:lpstr>3. Define Target Capability Architecture</vt:lpstr>
      <vt:lpstr>Target Provider Enrollment Architecture</vt:lpstr>
      <vt:lpstr>4. Perform Gap Analysis</vt:lpstr>
      <vt:lpstr>5. Identify Roadmap Components</vt:lpstr>
      <vt:lpstr>Example 2: Data Quality</vt:lpstr>
      <vt:lpstr>Example 2</vt:lpstr>
      <vt:lpstr>1. Identify IA Reference Models/Viewpoints </vt:lpstr>
      <vt:lpstr>2. Baseline Data Quality Architecture</vt:lpstr>
      <vt:lpstr>2A. Assess Baseline Data Quality Maturity</vt:lpstr>
      <vt:lpstr>3. Target Data Quality Architecture</vt:lpstr>
      <vt:lpstr>Enterprise Strategic Planning</vt:lpstr>
      <vt:lpstr>Define  Roles, Business Processes, Information &amp; Technology</vt:lpstr>
      <vt:lpstr>Define Capability Architecture</vt:lpstr>
      <vt:lpstr>Identify Required Capabilities</vt:lpstr>
      <vt:lpstr>Enterprise Strategic Planning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Carter, Dwayne@HCAI</dc:creator>
  <cp:lastModifiedBy>Dwayne Carter</cp:lastModifiedBy>
  <cp:revision>6</cp:revision>
  <dcterms:created xsi:type="dcterms:W3CDTF">2025-09-12T02:19:56Z</dcterms:created>
  <dcterms:modified xsi:type="dcterms:W3CDTF">2026-02-07T00:41:03Z</dcterms:modified>
</cp:coreProperties>
</file>