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3E_3A591944.xml" ContentType="application/vnd.ms-powerpoint.comments+xml"/>
  <Override PartName="/ppt/comments/modernComment_151_BBE1BF5A.xml" ContentType="application/vnd.ms-powerpoint.comments+xml"/>
  <Override PartName="/ppt/comments/modernComment_150_6A3C7E4F.xml" ContentType="application/vnd.ms-powerpoint.comments+xml"/>
  <Override PartName="/ppt/comments/modernComment_140_FAD63900.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2" r:id="rId1"/>
  </p:sldMasterIdLst>
  <p:notesMasterIdLst>
    <p:notesMasterId r:id="rId53"/>
  </p:notesMasterIdLst>
  <p:sldIdLst>
    <p:sldId id="302" r:id="rId2"/>
    <p:sldId id="303" r:id="rId3"/>
    <p:sldId id="372" r:id="rId4"/>
    <p:sldId id="366" r:id="rId5"/>
    <p:sldId id="369" r:id="rId6"/>
    <p:sldId id="367" r:id="rId7"/>
    <p:sldId id="373" r:id="rId8"/>
    <p:sldId id="368" r:id="rId9"/>
    <p:sldId id="370" r:id="rId10"/>
    <p:sldId id="351" r:id="rId11"/>
    <p:sldId id="344" r:id="rId12"/>
    <p:sldId id="345" r:id="rId13"/>
    <p:sldId id="347" r:id="rId14"/>
    <p:sldId id="348" r:id="rId15"/>
    <p:sldId id="317" r:id="rId16"/>
    <p:sldId id="341" r:id="rId17"/>
    <p:sldId id="342" r:id="rId18"/>
    <p:sldId id="335" r:id="rId19"/>
    <p:sldId id="343" r:id="rId20"/>
    <p:sldId id="338" r:id="rId21"/>
    <p:sldId id="318" r:id="rId22"/>
    <p:sldId id="337" r:id="rId23"/>
    <p:sldId id="336" r:id="rId24"/>
    <p:sldId id="320" r:id="rId25"/>
    <p:sldId id="352" r:id="rId26"/>
    <p:sldId id="353" r:id="rId27"/>
    <p:sldId id="354" r:id="rId28"/>
    <p:sldId id="375" r:id="rId29"/>
    <p:sldId id="376" r:id="rId30"/>
    <p:sldId id="377" r:id="rId31"/>
    <p:sldId id="355" r:id="rId32"/>
    <p:sldId id="356" r:id="rId33"/>
    <p:sldId id="378" r:id="rId34"/>
    <p:sldId id="357" r:id="rId35"/>
    <p:sldId id="358" r:id="rId36"/>
    <p:sldId id="359" r:id="rId37"/>
    <p:sldId id="360" r:id="rId38"/>
    <p:sldId id="379" r:id="rId39"/>
    <p:sldId id="361" r:id="rId40"/>
    <p:sldId id="362" r:id="rId41"/>
    <p:sldId id="363" r:id="rId42"/>
    <p:sldId id="364" r:id="rId43"/>
    <p:sldId id="365" r:id="rId44"/>
    <p:sldId id="380" r:id="rId45"/>
    <p:sldId id="374" r:id="rId46"/>
    <p:sldId id="371" r:id="rId47"/>
    <p:sldId id="350" r:id="rId48"/>
    <p:sldId id="339" r:id="rId49"/>
    <p:sldId id="340" r:id="rId50"/>
    <p:sldId id="349" r:id="rId51"/>
    <p:sldId id="381"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20045927-CC6C-6D43-A905-298EB3D213FA}">
          <p14:sldIdLst>
            <p14:sldId id="302"/>
            <p14:sldId id="303"/>
            <p14:sldId id="372"/>
            <p14:sldId id="366"/>
            <p14:sldId id="369"/>
            <p14:sldId id="367"/>
            <p14:sldId id="373"/>
            <p14:sldId id="368"/>
          </p14:sldIdLst>
        </p14:section>
        <p14:section name="Capability Architecture Components" id="{8C42FD46-2B3B-6449-94D4-A4B78062A789}">
          <p14:sldIdLst>
            <p14:sldId id="370"/>
            <p14:sldId id="351"/>
            <p14:sldId id="344"/>
            <p14:sldId id="345"/>
            <p14:sldId id="347"/>
            <p14:sldId id="348"/>
          </p14:sldIdLst>
        </p14:section>
        <p14:section name="Capability Architecture Artiacts" id="{AEFD8C25-9491-A945-B96B-D3E80C0C6FB7}">
          <p14:sldIdLst>
            <p14:sldId id="317"/>
            <p14:sldId id="341"/>
            <p14:sldId id="342"/>
            <p14:sldId id="335"/>
            <p14:sldId id="343"/>
            <p14:sldId id="338"/>
          </p14:sldIdLst>
        </p14:section>
        <p14:section name="Capability Architecture Viewpoints" id="{38F75D06-EE87-9E48-AF73-D2777A41F0C4}">
          <p14:sldIdLst>
            <p14:sldId id="318"/>
            <p14:sldId id="337"/>
            <p14:sldId id="336"/>
            <p14:sldId id="320"/>
            <p14:sldId id="352"/>
            <p14:sldId id="353"/>
            <p14:sldId id="354"/>
            <p14:sldId id="375"/>
            <p14:sldId id="376"/>
            <p14:sldId id="377"/>
            <p14:sldId id="355"/>
            <p14:sldId id="356"/>
            <p14:sldId id="378"/>
            <p14:sldId id="357"/>
            <p14:sldId id="358"/>
            <p14:sldId id="359"/>
            <p14:sldId id="360"/>
            <p14:sldId id="379"/>
            <p14:sldId id="361"/>
            <p14:sldId id="362"/>
            <p14:sldId id="363"/>
            <p14:sldId id="364"/>
            <p14:sldId id="365"/>
            <p14:sldId id="380"/>
          </p14:sldIdLst>
        </p14:section>
        <p14:section name="Concept Of Operations" id="{66BDEC3E-E6DC-254E-A2A7-E44610DEF6A6}">
          <p14:sldIdLst/>
        </p14:section>
        <p14:section name="Draft" id="{100058B6-6324-8B4E-B718-58808B238C55}">
          <p14:sldIdLst>
            <p14:sldId id="374"/>
            <p14:sldId id="371"/>
            <p14:sldId id="350"/>
            <p14:sldId id="339"/>
            <p14:sldId id="340"/>
            <p14:sldId id="349"/>
            <p14:sldId id="38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DB9073F-72A2-0F5E-BB29-E72BDA558ABE}" name="Carter, Dwayne@HCAI" initials="CD" userId="S::Dwayne.Carter@hcai.ca.gov::c79fe0b4-40ba-47f7-bd10-85328c63d034" providerId="AD"/>
  <p188:author id="{2028F353-66B6-AA9E-8086-9C7BCDBF31F8}" name="Jeff Strand" initials="JS" userId="gfsxnwEK3caHjCoqaD64d7x3RmcM3dlZky8daM9EnTY=" providerId="None"/>
  <p188:author id="{65450887-0CDF-F71C-8B9F-BF754EB5BABA}" name="Chris Hopkins" initials="CH" userId="Wm4+JxdYB1WSzeOzhimG4Hq2SQQE9wsBCDA7LNSTtog=" providerId="None"/>
  <p188:author id="{5866A9CE-2BDE-58FC-EA9E-E5DE4C04B746}" name="Dwayne Carter" initials="DC" userId="S::dcarter@blustrategies.com::afae4223-83f8-402e-8fab-9fc6e84b0e2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B79B68-128E-4A7F-832E-9E1AF487E8B6}" v="50" dt="2026-02-17T14:44:13.1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58"/>
    <p:restoredTop sz="94375"/>
  </p:normalViewPr>
  <p:slideViewPr>
    <p:cSldViewPr snapToGrid="0">
      <p:cViewPr>
        <p:scale>
          <a:sx n="169" d="100"/>
          <a:sy n="169" d="100"/>
        </p:scale>
        <p:origin x="46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Hopkins" userId="Wm4+JxdYB1WSzeOzhimG4Hq2SQQE9wsBCDA7LNSTtog=" providerId="None" clId="Web-{55B79B68-128E-4A7F-832E-9E1AF487E8B6}"/>
    <pc:docChg chg="addSld modSld modSection">
      <pc:chgData name="Chris Hopkins" userId="Wm4+JxdYB1WSzeOzhimG4Hq2SQQE9wsBCDA7LNSTtog=" providerId="None" clId="Web-{55B79B68-128E-4A7F-832E-9E1AF487E8B6}" dt="2026-02-17T14:44:12.987" v="43" actId="20577"/>
      <pc:docMkLst>
        <pc:docMk/>
      </pc:docMkLst>
      <pc:sldChg chg="modSp add replId">
        <pc:chgData name="Chris Hopkins" userId="Wm4+JxdYB1WSzeOzhimG4Hq2SQQE9wsBCDA7LNSTtog=" providerId="None" clId="Web-{55B79B68-128E-4A7F-832E-9E1AF487E8B6}" dt="2026-02-17T14:44:12.987" v="43" actId="20577"/>
        <pc:sldMkLst>
          <pc:docMk/>
          <pc:sldMk cId="2017223626" sldId="381"/>
        </pc:sldMkLst>
        <pc:spChg chg="mod">
          <ac:chgData name="Chris Hopkins" userId="Wm4+JxdYB1WSzeOzhimG4Hq2SQQE9wsBCDA7LNSTtog=" providerId="None" clId="Web-{55B79B68-128E-4A7F-832E-9E1AF487E8B6}" dt="2026-02-17T14:44:12.987" v="43" actId="20577"/>
          <ac:spMkLst>
            <pc:docMk/>
            <pc:sldMk cId="2017223626" sldId="381"/>
            <ac:spMk id="4" creationId="{1354DCDA-7D4E-8A2F-DA6E-56B7B9960456}"/>
          </ac:spMkLst>
        </pc:spChg>
        <pc:spChg chg="mod">
          <ac:chgData name="Chris Hopkins" userId="Wm4+JxdYB1WSzeOzhimG4Hq2SQQE9wsBCDA7LNSTtog=" providerId="None" clId="Web-{55B79B68-128E-4A7F-832E-9E1AF487E8B6}" dt="2026-02-17T14:44:04.175" v="39" actId="20577"/>
          <ac:spMkLst>
            <pc:docMk/>
            <pc:sldMk cId="2017223626" sldId="381"/>
            <ac:spMk id="5" creationId="{0E112F98-11B9-E3C1-450F-DCBF02CFAFAE}"/>
          </ac:spMkLst>
        </pc:spChg>
        <pc:spChg chg="mod">
          <ac:chgData name="Chris Hopkins" userId="Wm4+JxdYB1WSzeOzhimG4Hq2SQQE9wsBCDA7LNSTtog=" providerId="None" clId="Web-{55B79B68-128E-4A7F-832E-9E1AF487E8B6}" dt="2026-02-17T14:43:35.831" v="31" actId="20577"/>
          <ac:spMkLst>
            <pc:docMk/>
            <pc:sldMk cId="2017223626" sldId="381"/>
            <ac:spMk id="13" creationId="{47B6F986-B1CB-285F-F5B6-3717443DB1AF}"/>
          </ac:spMkLst>
        </pc:spChg>
        <pc:spChg chg="mod">
          <ac:chgData name="Chris Hopkins" userId="Wm4+JxdYB1WSzeOzhimG4Hq2SQQE9wsBCDA7LNSTtog=" providerId="None" clId="Web-{55B79B68-128E-4A7F-832E-9E1AF487E8B6}" dt="2026-02-17T14:43:14.409" v="23" actId="20577"/>
          <ac:spMkLst>
            <pc:docMk/>
            <pc:sldMk cId="2017223626" sldId="381"/>
            <ac:spMk id="17" creationId="{600FA4E5-CC00-B5D8-DEFC-C1109174DB04}"/>
          </ac:spMkLst>
        </pc:spChg>
        <pc:spChg chg="mod">
          <ac:chgData name="Chris Hopkins" userId="Wm4+JxdYB1WSzeOzhimG4Hq2SQQE9wsBCDA7LNSTtog=" providerId="None" clId="Web-{55B79B68-128E-4A7F-832E-9E1AF487E8B6}" dt="2026-02-17T14:43:26.769" v="28" actId="20577"/>
          <ac:spMkLst>
            <pc:docMk/>
            <pc:sldMk cId="2017223626" sldId="381"/>
            <ac:spMk id="25" creationId="{5451815E-EEF2-8111-C8E1-AD59D28F793D}"/>
          </ac:spMkLst>
        </pc:spChg>
      </pc:sldChg>
    </pc:docChg>
  </pc:docChgLst>
</pc:chgInfo>
</file>

<file path=ppt/comments/modernComment_13E_3A591944.xml><?xml version="1.0" encoding="utf-8"?>
<p188:cmLst xmlns:a="http://schemas.openxmlformats.org/drawingml/2006/main" xmlns:r="http://schemas.openxmlformats.org/officeDocument/2006/relationships" xmlns:p188="http://schemas.microsoft.com/office/powerpoint/2018/8/main">
  <p188:cm id="{24453492-16E0-3A4F-AC26-C56E966098DA}" authorId="{5866A9CE-2BDE-58FC-EA9E-E5DE4C04B746}" created="2025-11-11T19:48:25.770">
    <pc:sldMkLst xmlns:pc="http://schemas.microsoft.com/office/powerpoint/2013/main/command">
      <pc:docMk/>
      <pc:sldMk cId="978917700" sldId="318"/>
    </pc:sldMkLst>
    <p188:txBody>
      <a:bodyPr/>
      <a:lstStyle/>
      <a:p>
        <a:r>
          <a:rPr lang="en-US"/>
          <a:t>Jeff - Consider:
An Architecture View is a formal representation or perspective of a software system’s architecture, focusing on specific concerns or interests of particular stakeholders. When building a software solution, an architecture view provides a structured way to visualize, describe, and communicate different aspects of the system—such as its structure, behavior, interactions, or deployment—using models, diagrams, and documentation. Each view highlights relevant components, relationships, and constraints to address requirements and ensure that the solution aligns with business goals, technical standards, and stakeholder needs</a:t>
        </a:r>
      </a:p>
    </p188:txBody>
  </p188:cm>
</p188:cmLst>
</file>

<file path=ppt/comments/modernComment_140_FAD63900.xml><?xml version="1.0" encoding="utf-8"?>
<p188:cmLst xmlns:a="http://schemas.openxmlformats.org/drawingml/2006/main" xmlns:r="http://schemas.openxmlformats.org/officeDocument/2006/relationships" xmlns:p188="http://schemas.microsoft.com/office/powerpoint/2018/8/main">
  <p188:cm id="{7E61B6B6-A0D1-44B2-AC60-9FAC7A13504C}" authorId="{65450887-0CDF-F71C-8B9F-BF754EB5BABA}" created="2025-11-05T16:58:13.862">
    <ac:txMkLst xmlns:ac="http://schemas.microsoft.com/office/drawing/2013/main/command">
      <pc:docMk xmlns:pc="http://schemas.microsoft.com/office/powerpoint/2013/main/command"/>
      <pc:sldMk xmlns:pc="http://schemas.microsoft.com/office/powerpoint/2013/main/command" cId="4208343296" sldId="320"/>
      <ac:spMk id="3" creationId="{7DAC3BDE-4079-058E-2C8B-B6E56A188252}"/>
      <ac:txMk cp="282" len="6">
        <ac:context len="487" hash="4003554852"/>
      </ac:txMk>
    </ac:txMkLst>
    <p188:pos x="1573850" y="1481271"/>
    <p188:txBody>
      <a:bodyPr/>
      <a:lstStyle/>
      <a:p>
        <a:r>
          <a:rPr lang="en-US"/>
          <a:t>add a picture example here</a:t>
        </a:r>
      </a:p>
    </p188:txBody>
  </p188:cm>
</p188:cmLst>
</file>

<file path=ppt/comments/modernComment_150_6A3C7E4F.xml><?xml version="1.0" encoding="utf-8"?>
<p188:cmLst xmlns:a="http://schemas.openxmlformats.org/drawingml/2006/main" xmlns:r="http://schemas.openxmlformats.org/officeDocument/2006/relationships" xmlns:p188="http://schemas.microsoft.com/office/powerpoint/2018/8/main">
  <p188:cm id="{658EE5E8-8720-D54A-9A45-28EA6FE221C0}" authorId="{5866A9CE-2BDE-58FC-EA9E-E5DE4C04B746}" created="2025-11-11T19:48:53.944">
    <pc:sldMkLst xmlns:pc="http://schemas.microsoft.com/office/powerpoint/2013/main/command">
      <pc:docMk/>
      <pc:sldMk cId="1782349391" sldId="336"/>
    </pc:sldMkLst>
    <p188:txBody>
      <a:bodyPr/>
      <a:lstStyle/>
      <a:p>
        <a:r>
          <a:rPr lang="en-US"/>
          <a:t>Jeff - Here is an expansion, in case we need it in the written document.
View vs. Viewpoint
A view is what you actually see—an explicit representation of a specific aspect of the architecture, such as a diagram, catalog, or matrix that illustrates how particular elements relate to one another. It is the tangible output that results from applying a viewpoint to the architecture, tailored to address the concerns of particular stakeholders or answer specific questions about the system.
A viewpoint, on the other hand, is the vantage point or perspective from which you look at the architecture. It is a specification that defines the conventions, rules, and concerns to be addressed in a view. The viewpoint determines what information is relevant, which stakeholders it serves, and what modeling techniques or notations should be used. For example, a security viewpoint focuses on risks, controls, and compliance, while a business process viewpoint focuses on workflows and roles.
Viewpoints are generic and reusable—they describe a standard way to look at architectural issues, independent of any particular system. In contrast, a view is always specific to a particular architecture and is constructed by applying a viewpoint to that architecture’s details.
Every view has an associated viewpoint that describes it. The viewpoint provides the template or guidelines, and the view is the resulting realization for the system at hand. This relationship ensures that architectural documentation is both consistent (by following established viewpoints) and relevant (by producing tailored views for each system’s stakeholders and needs).
Example:
If you imagine a building, the “floor plan” is a view, while “architectural blueprint” is a viewpoint that defines how to create floor plans for any building. The same applies to software architecture: a deployment view (what servers and network nodes are used for your system) is created by applying the deployment viewpoint (which defines how to model and document deployment for any system).</a:t>
        </a:r>
      </a:p>
    </p188:txBody>
  </p188:cm>
</p188:cmLst>
</file>

<file path=ppt/comments/modernComment_151_BBE1BF5A.xml><?xml version="1.0" encoding="utf-8"?>
<p188:cmLst xmlns:a="http://schemas.openxmlformats.org/drawingml/2006/main" xmlns:r="http://schemas.openxmlformats.org/officeDocument/2006/relationships" xmlns:p188="http://schemas.microsoft.com/office/powerpoint/2018/8/main">
  <p188:cm id="{14B698AD-F3AC-473C-8A78-96013BCA8F19}" authorId="{2028F353-66B6-AA9E-8086-9C7BCDBF31F8}" created="2025-11-11T22:47:56.061">
    <pc:sldMkLst xmlns:pc="http://schemas.microsoft.com/office/powerpoint/2013/main/command">
      <pc:docMk/>
      <pc:sldMk cId="3152133978" sldId="337"/>
    </pc:sldMkLst>
    <p188:txBody>
      <a:bodyPr/>
      <a:lstStyle/>
      <a:p>
        <a:r>
          <a:rPr lang="en-US"/>
          <a:t>§Catalog Views
 Structured lists that present key architectural elements within a system. These elements can include business functions, applications, data entities, roles, technologies, or any other components relevant to the architecture. Catalog views help stakeholders understand the scope and content of the architecture, supporting activities such as gap analysis, impact assessment, and governance.
§Matrice Views
 A tabular format illustrating relationships or mappings between different architectural elements. For example, a matrix can show how business processes relate to applications, which roles access specific data, or how requirements are addressed by different components. These views are valuable for identifying dependencies, overlaps, or gaps, and for supporting decision-making regarding integration, compliance, and optimization.
§Diagram Views
 Graphical representations that visually depict the structure, relationships, and interactions among various architectural elements. Diagrams can take many forms, such as flowcharts, network diagrams, entity-relationship diagrams, or component diagrams. These views are especially useful for communicating complex concepts in an accessible and intuitive manner, facilitating shared understanding among technical and non-technical stakeholders.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08B464-2430-C740-B178-22A5449D3CA3}" type="datetimeFigureOut">
              <a:rPr lang="en-US" smtClean="0"/>
              <a:t>2/17/2026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2AFCCA-FE45-064F-A4CA-4E9DAD75C615}" type="slidenum">
              <a:rPr lang="en-US" smtClean="0"/>
              <a:t>‹#›</a:t>
            </a:fld>
            <a:endParaRPr lang="en-US"/>
          </a:p>
        </p:txBody>
      </p:sp>
    </p:spTree>
    <p:extLst>
      <p:ext uri="{BB962C8B-B14F-4D97-AF65-F5344CB8AC3E}">
        <p14:creationId xmlns:p14="http://schemas.microsoft.com/office/powerpoint/2010/main" val="3228783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2AFCCA-FE45-064F-A4CA-4E9DAD75C615}" type="slidenum">
              <a:rPr lang="en-US" smtClean="0"/>
              <a:t>9</a:t>
            </a:fld>
            <a:endParaRPr lang="en-US"/>
          </a:p>
        </p:txBody>
      </p:sp>
    </p:spTree>
    <p:extLst>
      <p:ext uri="{BB962C8B-B14F-4D97-AF65-F5344CB8AC3E}">
        <p14:creationId xmlns:p14="http://schemas.microsoft.com/office/powerpoint/2010/main" val="173444213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61DBC73-005C-7F40-958E-96A3366196E8}"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00FA76B9-92C5-1640-90AD-8A5D59AD8425}" type="slidenum">
              <a:rPr lang="en-US" smtClean="0"/>
              <a:t>‹#›</a:t>
            </a:fld>
            <a:endParaRPr lang="en-US"/>
          </a:p>
        </p:txBody>
      </p:sp>
    </p:spTree>
    <p:extLst>
      <p:ext uri="{BB962C8B-B14F-4D97-AF65-F5344CB8AC3E}">
        <p14:creationId xmlns:p14="http://schemas.microsoft.com/office/powerpoint/2010/main" val="2874994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1DBC73-005C-7F40-958E-96A3366196E8}"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FA76B9-92C5-1640-90AD-8A5D59AD8425}" type="slidenum">
              <a:rPr lang="en-US" smtClean="0"/>
              <a:t>‹#›</a:t>
            </a:fld>
            <a:endParaRPr lang="en-US"/>
          </a:p>
        </p:txBody>
      </p:sp>
    </p:spTree>
    <p:extLst>
      <p:ext uri="{BB962C8B-B14F-4D97-AF65-F5344CB8AC3E}">
        <p14:creationId xmlns:p14="http://schemas.microsoft.com/office/powerpoint/2010/main" val="1854934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861DBC73-005C-7F40-958E-96A3366196E8}" type="datetimeFigureOut">
              <a:rPr lang="en-US" smtClean="0"/>
              <a:t>2/17/2026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00FA76B9-92C5-1640-90AD-8A5D59AD8425}" type="slidenum">
              <a:rPr lang="en-US" smtClean="0"/>
              <a:t>‹#›</a:t>
            </a:fld>
            <a:endParaRPr lang="en-US"/>
          </a:p>
        </p:txBody>
      </p:sp>
    </p:spTree>
    <p:extLst>
      <p:ext uri="{BB962C8B-B14F-4D97-AF65-F5344CB8AC3E}">
        <p14:creationId xmlns:p14="http://schemas.microsoft.com/office/powerpoint/2010/main" val="4133756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1DBC73-005C-7F40-958E-96A3366196E8}"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FA76B9-92C5-1640-90AD-8A5D59AD8425}" type="slidenum">
              <a:rPr lang="en-US" smtClean="0"/>
              <a:t>‹#›</a:t>
            </a:fld>
            <a:endParaRPr lang="en-US"/>
          </a:p>
        </p:txBody>
      </p:sp>
    </p:spTree>
    <p:extLst>
      <p:ext uri="{BB962C8B-B14F-4D97-AF65-F5344CB8AC3E}">
        <p14:creationId xmlns:p14="http://schemas.microsoft.com/office/powerpoint/2010/main" val="1786391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1DBC73-005C-7F40-958E-96A3366196E8}" type="datetimeFigureOut">
              <a:rPr lang="en-US" smtClean="0"/>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FA76B9-92C5-1640-90AD-8A5D59AD8425}"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530735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61DBC73-005C-7F40-958E-96A3366196E8}" type="datetimeFigureOut">
              <a:rPr lang="en-US" smtClean="0"/>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FA76B9-92C5-1640-90AD-8A5D59AD8425}"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58479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1DBC73-005C-7F40-958E-96A3366196E8}" type="datetimeFigureOut">
              <a:rPr lang="en-US" smtClean="0"/>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FA76B9-92C5-1640-90AD-8A5D59AD8425}" type="slidenum">
              <a:rPr lang="en-US" smtClean="0"/>
              <a:t>‹#›</a:t>
            </a:fld>
            <a:endParaRPr lang="en-US"/>
          </a:p>
        </p:txBody>
      </p:sp>
    </p:spTree>
    <p:extLst>
      <p:ext uri="{BB962C8B-B14F-4D97-AF65-F5344CB8AC3E}">
        <p14:creationId xmlns:p14="http://schemas.microsoft.com/office/powerpoint/2010/main" val="4197481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1DBC73-005C-7F40-958E-96A3366196E8}"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00FA76B9-92C5-1640-90AD-8A5D59AD8425}" type="slidenum">
              <a:rPr lang="en-US" smtClean="0"/>
              <a:t>‹#›</a:t>
            </a:fld>
            <a:endParaRPr lang="en-US"/>
          </a:p>
        </p:txBody>
      </p:sp>
    </p:spTree>
    <p:extLst>
      <p:ext uri="{BB962C8B-B14F-4D97-AF65-F5344CB8AC3E}">
        <p14:creationId xmlns:p14="http://schemas.microsoft.com/office/powerpoint/2010/main" val="1251601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1DBC73-005C-7F40-958E-96A3366196E8}" type="datetimeFigureOut">
              <a:rPr lang="en-US" smtClean="0"/>
              <a:t>2/17/2026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00FA76B9-92C5-1640-90AD-8A5D59AD8425}" type="slidenum">
              <a:rPr lang="en-US" smtClean="0"/>
              <a:t>‹#›</a:t>
            </a:fld>
            <a:endParaRPr lang="en-US"/>
          </a:p>
        </p:txBody>
      </p:sp>
    </p:spTree>
    <p:extLst>
      <p:ext uri="{BB962C8B-B14F-4D97-AF65-F5344CB8AC3E}">
        <p14:creationId xmlns:p14="http://schemas.microsoft.com/office/powerpoint/2010/main" val="4008322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1DBC73-005C-7F40-958E-96A3366196E8}"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FA76B9-92C5-1640-90AD-8A5D59AD8425}" type="slidenum">
              <a:rPr lang="en-US" smtClean="0"/>
              <a:t>‹#›</a:t>
            </a:fld>
            <a:endParaRPr lang="en-US"/>
          </a:p>
        </p:txBody>
      </p:sp>
    </p:spTree>
    <p:extLst>
      <p:ext uri="{BB962C8B-B14F-4D97-AF65-F5344CB8AC3E}">
        <p14:creationId xmlns:p14="http://schemas.microsoft.com/office/powerpoint/2010/main" val="3446156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1DBC73-005C-7F40-958E-96A3366196E8}"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FA76B9-92C5-1640-90AD-8A5D59AD8425}" type="slidenum">
              <a:rPr lang="en-US" smtClean="0"/>
              <a:t>‹#›</a:t>
            </a:fld>
            <a:endParaRPr lang="en-US"/>
          </a:p>
        </p:txBody>
      </p:sp>
    </p:spTree>
    <p:extLst>
      <p:ext uri="{BB962C8B-B14F-4D97-AF65-F5344CB8AC3E}">
        <p14:creationId xmlns:p14="http://schemas.microsoft.com/office/powerpoint/2010/main" val="3841053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1DBC73-005C-7F40-958E-96A3366196E8}" type="datetimeFigureOut">
              <a:rPr lang="en-US" smtClean="0"/>
              <a:t>2/17/2026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00FA76B9-92C5-1640-90AD-8A5D59AD8425}" type="slidenum">
              <a:rPr lang="en-US" smtClean="0"/>
              <a:t>‹#›</a:t>
            </a:fld>
            <a:endParaRPr lang="en-US"/>
          </a:p>
        </p:txBody>
      </p:sp>
    </p:spTree>
    <p:extLst>
      <p:ext uri="{BB962C8B-B14F-4D97-AF65-F5344CB8AC3E}">
        <p14:creationId xmlns:p14="http://schemas.microsoft.com/office/powerpoint/2010/main" val="3000674387"/>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microsoft.com/office/2018/10/relationships/comments" Target="../comments/modernComment_13E_3A59194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microsoft.com/office/2018/10/relationships/comments" Target="../comments/modernComment_151_BBE1BF5A.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microsoft.com/office/2018/10/relationships/comments" Target="../comments/modernComment_150_6A3C7E4F.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microsoft.com/office/2018/10/relationships/comments" Target="../comments/modernComment_140_FAD6390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DC9AE-EA7B-40FC-DFD6-A02AA9F375AA}"/>
              </a:ext>
            </a:extLst>
          </p:cNvPr>
          <p:cNvSpPr>
            <a:spLocks noGrp="1"/>
          </p:cNvSpPr>
          <p:nvPr>
            <p:ph type="ctrTitle"/>
          </p:nvPr>
        </p:nvSpPr>
        <p:spPr/>
        <p:txBody>
          <a:bodyPr/>
          <a:lstStyle/>
          <a:p>
            <a:r>
              <a:rPr lang="en-US" dirty="0"/>
              <a:t>MITA 4.0 Artifacts &amp; Viewpoints</a:t>
            </a:r>
          </a:p>
        </p:txBody>
      </p:sp>
      <p:sp>
        <p:nvSpPr>
          <p:cNvPr id="3" name="Subtitle 2">
            <a:extLst>
              <a:ext uri="{FF2B5EF4-FFF2-40B4-BE49-F238E27FC236}">
                <a16:creationId xmlns:a16="http://schemas.microsoft.com/office/drawing/2014/main" id="{2AAE1A8A-8E0E-C03C-62CC-F8E0234973BA}"/>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321431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7D892-186D-DDA6-3C90-3AB7932C142D}"/>
              </a:ext>
            </a:extLst>
          </p:cNvPr>
          <p:cNvSpPr>
            <a:spLocks noGrp="1"/>
          </p:cNvSpPr>
          <p:nvPr>
            <p:ph type="title"/>
          </p:nvPr>
        </p:nvSpPr>
        <p:spPr/>
        <p:txBody>
          <a:bodyPr/>
          <a:lstStyle/>
          <a:p>
            <a:r>
              <a:rPr lang="en-US" dirty="0"/>
              <a:t>Topics</a:t>
            </a:r>
          </a:p>
        </p:txBody>
      </p:sp>
      <p:sp>
        <p:nvSpPr>
          <p:cNvPr id="3" name="Content Placeholder 2">
            <a:extLst>
              <a:ext uri="{FF2B5EF4-FFF2-40B4-BE49-F238E27FC236}">
                <a16:creationId xmlns:a16="http://schemas.microsoft.com/office/drawing/2014/main" id="{4275D434-B1F9-6686-5537-C1E6D5C1168B}"/>
              </a:ext>
            </a:extLst>
          </p:cNvPr>
          <p:cNvSpPr>
            <a:spLocks noGrp="1"/>
          </p:cNvSpPr>
          <p:nvPr>
            <p:ph idx="1"/>
          </p:nvPr>
        </p:nvSpPr>
        <p:spPr/>
        <p:txBody>
          <a:bodyPr/>
          <a:lstStyle/>
          <a:p>
            <a:r>
              <a:rPr lang="en-US" dirty="0"/>
              <a:t>Capability Architecture Overview</a:t>
            </a:r>
          </a:p>
          <a:p>
            <a:r>
              <a:rPr lang="en-US" dirty="0"/>
              <a:t>Capability Architecture Components</a:t>
            </a:r>
          </a:p>
          <a:p>
            <a:r>
              <a:rPr lang="en-US" dirty="0"/>
              <a:t>Capability Architecture Artifacts</a:t>
            </a:r>
          </a:p>
          <a:p>
            <a:r>
              <a:rPr lang="en-US" dirty="0"/>
              <a:t>Capability Architecture Viewpoints</a:t>
            </a:r>
          </a:p>
          <a:p>
            <a:r>
              <a:rPr lang="en-US" dirty="0"/>
              <a:t>Concept of Operations</a:t>
            </a:r>
          </a:p>
        </p:txBody>
      </p:sp>
    </p:spTree>
    <p:extLst>
      <p:ext uri="{BB962C8B-B14F-4D97-AF65-F5344CB8AC3E}">
        <p14:creationId xmlns:p14="http://schemas.microsoft.com/office/powerpoint/2010/main" val="4091919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BB617-B1ED-A71B-2BD7-51B51143FB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3BE5AF-6E36-C16D-8DA4-2CE74E61095F}"/>
              </a:ext>
            </a:extLst>
          </p:cNvPr>
          <p:cNvSpPr>
            <a:spLocks noGrp="1"/>
          </p:cNvSpPr>
          <p:nvPr>
            <p:ph type="title"/>
          </p:nvPr>
        </p:nvSpPr>
        <p:spPr/>
        <p:txBody>
          <a:bodyPr/>
          <a:lstStyle/>
          <a:p>
            <a:r>
              <a:rPr lang="en-US" dirty="0"/>
              <a:t>Capability Architecture Overview</a:t>
            </a:r>
          </a:p>
        </p:txBody>
      </p:sp>
      <p:sp>
        <p:nvSpPr>
          <p:cNvPr id="3" name="Content Placeholder 2">
            <a:extLst>
              <a:ext uri="{FF2B5EF4-FFF2-40B4-BE49-F238E27FC236}">
                <a16:creationId xmlns:a16="http://schemas.microsoft.com/office/drawing/2014/main" id="{A13CBCF8-7845-4EA7-9850-E16E66F0DCE0}"/>
              </a:ext>
            </a:extLst>
          </p:cNvPr>
          <p:cNvSpPr>
            <a:spLocks noGrp="1"/>
          </p:cNvSpPr>
          <p:nvPr>
            <p:ph idx="1"/>
          </p:nvPr>
        </p:nvSpPr>
        <p:spPr/>
        <p:txBody>
          <a:bodyPr>
            <a:normAutofit/>
          </a:bodyPr>
          <a:lstStyle/>
          <a:p>
            <a:r>
              <a:rPr lang="en-US" b="1" dirty="0"/>
              <a:t>What is enterprise architecture?</a:t>
            </a:r>
          </a:p>
          <a:p>
            <a:pPr lvl="1"/>
            <a:r>
              <a:rPr lang="en-US" dirty="0"/>
              <a:t>A framework that helps organizations align the roles, business processes, information and technology to achieve their desired outcomes. </a:t>
            </a:r>
          </a:p>
          <a:p>
            <a:r>
              <a:rPr lang="en-US" b="1" dirty="0"/>
              <a:t>How is the enterprise architecture built in MITA 4.0?</a:t>
            </a:r>
          </a:p>
          <a:p>
            <a:pPr lvl="1"/>
            <a:r>
              <a:rPr lang="en-US" dirty="0"/>
              <a:t>The MITA 4.0 is focused on building the enterprise architecture for an SMA incrementally by capability</a:t>
            </a:r>
          </a:p>
          <a:p>
            <a:pPr lvl="1"/>
            <a:r>
              <a:rPr lang="en-US" dirty="0"/>
              <a:t>Each capability architecture represents a view of the enterprise architecture for the SMA</a:t>
            </a:r>
          </a:p>
        </p:txBody>
      </p:sp>
    </p:spTree>
    <p:extLst>
      <p:ext uri="{BB962C8B-B14F-4D97-AF65-F5344CB8AC3E}">
        <p14:creationId xmlns:p14="http://schemas.microsoft.com/office/powerpoint/2010/main" val="2197664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F263F-AAFD-9F6B-C5A7-6FBB49998ABD}"/>
              </a:ext>
            </a:extLst>
          </p:cNvPr>
          <p:cNvSpPr>
            <a:spLocks noGrp="1"/>
          </p:cNvSpPr>
          <p:nvPr>
            <p:ph type="title"/>
          </p:nvPr>
        </p:nvSpPr>
        <p:spPr/>
        <p:txBody>
          <a:bodyPr/>
          <a:lstStyle/>
          <a:p>
            <a:r>
              <a:rPr lang="en-US" dirty="0"/>
              <a:t>Capability Architecture Overview</a:t>
            </a:r>
          </a:p>
        </p:txBody>
      </p:sp>
      <p:sp>
        <p:nvSpPr>
          <p:cNvPr id="3" name="Content Placeholder 2">
            <a:extLst>
              <a:ext uri="{FF2B5EF4-FFF2-40B4-BE49-F238E27FC236}">
                <a16:creationId xmlns:a16="http://schemas.microsoft.com/office/drawing/2014/main" id="{8460662B-0225-C6CD-1BCB-CECA2A4D7533}"/>
              </a:ext>
            </a:extLst>
          </p:cNvPr>
          <p:cNvSpPr>
            <a:spLocks noGrp="1"/>
          </p:cNvSpPr>
          <p:nvPr>
            <p:ph idx="1"/>
          </p:nvPr>
        </p:nvSpPr>
        <p:spPr/>
        <p:txBody>
          <a:bodyPr>
            <a:normAutofit/>
          </a:bodyPr>
          <a:lstStyle/>
          <a:p>
            <a:r>
              <a:rPr lang="en-US" b="1" dirty="0"/>
              <a:t>What is a capability architecture?</a:t>
            </a:r>
          </a:p>
          <a:p>
            <a:pPr lvl="1"/>
            <a:r>
              <a:rPr lang="en-US" dirty="0"/>
              <a:t>A framework that helps organizations align the roles, business processes, information and technology that support a capability to achieve their desired outcomes. ORBIT model in practice.</a:t>
            </a:r>
          </a:p>
          <a:p>
            <a:r>
              <a:rPr lang="en-US" b="1" dirty="0"/>
              <a:t>Why is a capability architecture important?</a:t>
            </a:r>
          </a:p>
          <a:p>
            <a:pPr lvl="1"/>
            <a:r>
              <a:rPr lang="en-US" dirty="0"/>
              <a:t>Ensures IT strategies align with business goals and outcomes</a:t>
            </a:r>
          </a:p>
          <a:p>
            <a:pPr lvl="1"/>
            <a:r>
              <a:rPr lang="en-US" dirty="0"/>
              <a:t>Enhances decision-making and helps solve organizational problems</a:t>
            </a:r>
          </a:p>
          <a:p>
            <a:pPr lvl="1"/>
            <a:r>
              <a:rPr lang="en-US" dirty="0"/>
              <a:t>Streamline processes, making organizations more agile in responding to changes</a:t>
            </a:r>
          </a:p>
          <a:p>
            <a:pPr lvl="1"/>
            <a:r>
              <a:rPr lang="en-US" dirty="0"/>
              <a:t>Reduces IT complexity by standardizing systems and eliminating redundancies</a:t>
            </a:r>
          </a:p>
          <a:p>
            <a:pPr lvl="1"/>
            <a:r>
              <a:rPr lang="en-US" dirty="0"/>
              <a:t>Improves efficiency leading to better resource allocation and reduced operational costs</a:t>
            </a:r>
          </a:p>
          <a:p>
            <a:pPr lvl="1"/>
            <a:r>
              <a:rPr lang="en-US" dirty="0"/>
              <a:t>Fosters collaboration across departments by providing a shared vision of the organization</a:t>
            </a:r>
          </a:p>
          <a:p>
            <a:pPr lvl="1"/>
            <a:r>
              <a:rPr lang="en-US" dirty="0"/>
              <a:t>Establishes governance frameworks that ensure compliance with industry standards</a:t>
            </a:r>
          </a:p>
        </p:txBody>
      </p:sp>
    </p:spTree>
    <p:extLst>
      <p:ext uri="{BB962C8B-B14F-4D97-AF65-F5344CB8AC3E}">
        <p14:creationId xmlns:p14="http://schemas.microsoft.com/office/powerpoint/2010/main" val="4291841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32E59-2C0A-F857-C0A3-5FFBD9E1D0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A77011-B76F-F10C-A197-CEE3E3DC601F}"/>
              </a:ext>
            </a:extLst>
          </p:cNvPr>
          <p:cNvSpPr>
            <a:spLocks noGrp="1"/>
          </p:cNvSpPr>
          <p:nvPr>
            <p:ph type="title"/>
          </p:nvPr>
        </p:nvSpPr>
        <p:spPr/>
        <p:txBody>
          <a:bodyPr/>
          <a:lstStyle/>
          <a:p>
            <a:r>
              <a:rPr lang="en-US" dirty="0"/>
              <a:t>Capability Architecture Overview</a:t>
            </a:r>
          </a:p>
        </p:txBody>
      </p:sp>
      <p:sp>
        <p:nvSpPr>
          <p:cNvPr id="3" name="Content Placeholder 2">
            <a:extLst>
              <a:ext uri="{FF2B5EF4-FFF2-40B4-BE49-F238E27FC236}">
                <a16:creationId xmlns:a16="http://schemas.microsoft.com/office/drawing/2014/main" id="{BD9A7F38-C7DC-81EA-8366-04CA8D8311D0}"/>
              </a:ext>
            </a:extLst>
          </p:cNvPr>
          <p:cNvSpPr>
            <a:spLocks noGrp="1"/>
          </p:cNvSpPr>
          <p:nvPr>
            <p:ph idx="1"/>
          </p:nvPr>
        </p:nvSpPr>
        <p:spPr/>
        <p:txBody>
          <a:bodyPr>
            <a:normAutofit/>
          </a:bodyPr>
          <a:lstStyle/>
          <a:p>
            <a:r>
              <a:rPr lang="en-US" b="1" dirty="0"/>
              <a:t>What is in a capability architecture? </a:t>
            </a:r>
          </a:p>
          <a:p>
            <a:pPr lvl="1"/>
            <a:r>
              <a:rPr lang="en-US" dirty="0"/>
              <a:t>The key components that are included in the capability architecture include:</a:t>
            </a:r>
          </a:p>
          <a:p>
            <a:pPr lvl="2"/>
            <a:r>
              <a:rPr lang="en-US" dirty="0"/>
              <a:t>O: Outcome – The desired goals and outcomes that the organization would like to achieve.</a:t>
            </a:r>
          </a:p>
          <a:p>
            <a:pPr lvl="2"/>
            <a:r>
              <a:rPr lang="en-US" dirty="0"/>
              <a:t>R: Role – The roles and skills that are responsible for delivering a capability.</a:t>
            </a:r>
          </a:p>
          <a:p>
            <a:pPr lvl="2"/>
            <a:r>
              <a:rPr lang="en-US" dirty="0"/>
              <a:t>B: Business Process – The processes and activities that are performed to deliver a capability. </a:t>
            </a:r>
          </a:p>
          <a:p>
            <a:pPr lvl="2"/>
            <a:r>
              <a:rPr lang="en-US" dirty="0"/>
              <a:t>I: Information – The data and information that are accessed and used in order to deliver a capability. </a:t>
            </a:r>
          </a:p>
          <a:p>
            <a:pPr lvl="2"/>
            <a:r>
              <a:rPr lang="en-US" dirty="0"/>
              <a:t>T: Technology – The applications and technology that are used to automate the delivery of a capability. </a:t>
            </a:r>
          </a:p>
        </p:txBody>
      </p:sp>
    </p:spTree>
    <p:extLst>
      <p:ext uri="{BB962C8B-B14F-4D97-AF65-F5344CB8AC3E}">
        <p14:creationId xmlns:p14="http://schemas.microsoft.com/office/powerpoint/2010/main" val="3579514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BE9FE-DAFC-D41A-F5EF-3523707F8F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A7F31-8E96-FF02-A21A-17D10796906E}"/>
              </a:ext>
            </a:extLst>
          </p:cNvPr>
          <p:cNvSpPr>
            <a:spLocks noGrp="1"/>
          </p:cNvSpPr>
          <p:nvPr>
            <p:ph type="title"/>
          </p:nvPr>
        </p:nvSpPr>
        <p:spPr/>
        <p:txBody>
          <a:bodyPr/>
          <a:lstStyle/>
          <a:p>
            <a:r>
              <a:rPr lang="en-US" dirty="0"/>
              <a:t>Capability Architecture Overview</a:t>
            </a:r>
          </a:p>
        </p:txBody>
      </p:sp>
      <p:sp>
        <p:nvSpPr>
          <p:cNvPr id="3" name="Content Placeholder 2">
            <a:extLst>
              <a:ext uri="{FF2B5EF4-FFF2-40B4-BE49-F238E27FC236}">
                <a16:creationId xmlns:a16="http://schemas.microsoft.com/office/drawing/2014/main" id="{0D65769D-F0F6-49E8-6E8D-D9C3A53DD454}"/>
              </a:ext>
            </a:extLst>
          </p:cNvPr>
          <p:cNvSpPr>
            <a:spLocks noGrp="1"/>
          </p:cNvSpPr>
          <p:nvPr>
            <p:ph idx="1"/>
          </p:nvPr>
        </p:nvSpPr>
        <p:spPr/>
        <p:txBody>
          <a:bodyPr>
            <a:normAutofit/>
          </a:bodyPr>
          <a:lstStyle/>
          <a:p>
            <a:r>
              <a:rPr lang="en-US" b="1" dirty="0"/>
              <a:t>How is a capability architecture organized?</a:t>
            </a:r>
          </a:p>
          <a:p>
            <a:pPr lvl="1"/>
            <a:r>
              <a:rPr lang="en-US" dirty="0"/>
              <a:t>Capability architecture is organized into segments that represent different perspectives of the capability architecture</a:t>
            </a:r>
          </a:p>
          <a:p>
            <a:pPr lvl="1"/>
            <a:r>
              <a:rPr lang="en-US" dirty="0"/>
              <a:t>Capability architecture includes the following segments:</a:t>
            </a:r>
          </a:p>
          <a:p>
            <a:pPr lvl="2"/>
            <a:r>
              <a:rPr lang="en-US" dirty="0"/>
              <a:t>Business Architecture – Provides a view of the enterprise from the business perspective. Responsible for defining and managing the business processes and business roles. </a:t>
            </a:r>
          </a:p>
          <a:p>
            <a:pPr lvl="2"/>
            <a:r>
              <a:rPr lang="en-US" dirty="0"/>
              <a:t>Information Architecture- Provides a view of the enterprise from the information perspective. Responsible for defining and managing the information and data governance roles.</a:t>
            </a:r>
          </a:p>
          <a:p>
            <a:pPr lvl="2"/>
            <a:r>
              <a:rPr lang="en-US" dirty="0"/>
              <a:t>Technical Architecture – Provides a view of the enterprise from the technical perspective. Responsible for defining and managing the applications, technology and technical roles.</a:t>
            </a:r>
          </a:p>
          <a:p>
            <a:pPr lvl="2"/>
            <a:r>
              <a:rPr lang="en-US" dirty="0"/>
              <a:t>Enterprise Architecture – Provides an integrated view of the enterprise that brings together business, information and technical architectures. Responsible for defining and managing items that impact all architectures including the outcomes, requirements, etc. </a:t>
            </a:r>
          </a:p>
          <a:p>
            <a:endParaRPr lang="en-US" dirty="0"/>
          </a:p>
          <a:p>
            <a:endParaRPr lang="en-US" dirty="0"/>
          </a:p>
          <a:p>
            <a:endParaRPr lang="en-US" dirty="0"/>
          </a:p>
        </p:txBody>
      </p:sp>
    </p:spTree>
    <p:extLst>
      <p:ext uri="{BB962C8B-B14F-4D97-AF65-F5344CB8AC3E}">
        <p14:creationId xmlns:p14="http://schemas.microsoft.com/office/powerpoint/2010/main" val="652270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79138-C07D-FD34-BA45-43A83E0B62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FFF6AD-03A9-B480-B5EB-C96D64948F5A}"/>
              </a:ext>
            </a:extLst>
          </p:cNvPr>
          <p:cNvSpPr>
            <a:spLocks noGrp="1"/>
          </p:cNvSpPr>
          <p:nvPr>
            <p:ph type="title"/>
          </p:nvPr>
        </p:nvSpPr>
        <p:spPr/>
        <p:txBody>
          <a:bodyPr/>
          <a:lstStyle/>
          <a:p>
            <a:r>
              <a:rPr lang="en-US" dirty="0"/>
              <a:t>Capability Architecture Overview</a:t>
            </a:r>
          </a:p>
        </p:txBody>
      </p:sp>
      <p:sp>
        <p:nvSpPr>
          <p:cNvPr id="3" name="Content Placeholder 2">
            <a:extLst>
              <a:ext uri="{FF2B5EF4-FFF2-40B4-BE49-F238E27FC236}">
                <a16:creationId xmlns:a16="http://schemas.microsoft.com/office/drawing/2014/main" id="{1A2C6BC7-76EE-5F68-2CCE-4A99EFAE8AA9}"/>
              </a:ext>
            </a:extLst>
          </p:cNvPr>
          <p:cNvSpPr>
            <a:spLocks noGrp="1"/>
          </p:cNvSpPr>
          <p:nvPr>
            <p:ph idx="1"/>
          </p:nvPr>
        </p:nvSpPr>
        <p:spPr/>
        <p:txBody>
          <a:bodyPr>
            <a:normAutofit/>
          </a:bodyPr>
          <a:lstStyle/>
          <a:p>
            <a:r>
              <a:rPr lang="en-US" b="1" dirty="0"/>
              <a:t>How is a capability architecture communicated?</a:t>
            </a:r>
          </a:p>
          <a:p>
            <a:pPr lvl="1"/>
            <a:r>
              <a:rPr lang="en-US" dirty="0"/>
              <a:t>Capability architecture is usually represented by means of one or more architecture models that together provide a coherent description of the full capability architecture.</a:t>
            </a:r>
          </a:p>
          <a:p>
            <a:pPr lvl="1"/>
            <a:r>
              <a:rPr lang="en-US" dirty="0"/>
              <a:t>A single, comprehensive model is often too complex to be understood and communicated in its most detailed form, showing all the relationships between the various components. </a:t>
            </a:r>
          </a:p>
          <a:p>
            <a:pPr lvl="1"/>
            <a:r>
              <a:rPr lang="en-US" dirty="0"/>
              <a:t>As with the architecture of a building, it is normally necessary to develop multiple </a:t>
            </a:r>
            <a:r>
              <a:rPr lang="en-US" i="1" dirty="0"/>
              <a:t>views</a:t>
            </a:r>
            <a:r>
              <a:rPr lang="en-US" dirty="0"/>
              <a:t> of the architecture, to enable the architecture to be communicated to, and understood by, the different stakeholders in the system.</a:t>
            </a:r>
          </a:p>
          <a:p>
            <a:r>
              <a:rPr lang="en-US" b="1" dirty="0"/>
              <a:t>How is the capability architecture defined?</a:t>
            </a:r>
          </a:p>
          <a:p>
            <a:pPr lvl="1"/>
            <a:r>
              <a:rPr lang="en-US" dirty="0"/>
              <a:t>Capability architecture are defined through a collection of artifacts</a:t>
            </a:r>
          </a:p>
          <a:p>
            <a:pPr lvl="1"/>
            <a:r>
              <a:rPr lang="en-US" dirty="0"/>
              <a:t>Each artifact may represent either a catalog, matrix or diagram</a:t>
            </a:r>
          </a:p>
          <a:p>
            <a:endParaRPr lang="en-US" dirty="0"/>
          </a:p>
          <a:p>
            <a:endParaRPr lang="en-US" dirty="0"/>
          </a:p>
          <a:p>
            <a:endParaRPr lang="en-US" dirty="0"/>
          </a:p>
        </p:txBody>
      </p:sp>
    </p:spTree>
    <p:extLst>
      <p:ext uri="{BB962C8B-B14F-4D97-AF65-F5344CB8AC3E}">
        <p14:creationId xmlns:p14="http://schemas.microsoft.com/office/powerpoint/2010/main" val="3356025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342FB-26D7-CFCA-E995-654C95870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A68199-588F-6B81-0284-AB39103DE306}"/>
              </a:ext>
            </a:extLst>
          </p:cNvPr>
          <p:cNvSpPr>
            <a:spLocks noGrp="1"/>
          </p:cNvSpPr>
          <p:nvPr>
            <p:ph type="title"/>
          </p:nvPr>
        </p:nvSpPr>
        <p:spPr/>
        <p:txBody>
          <a:bodyPr/>
          <a:lstStyle/>
          <a:p>
            <a:r>
              <a:rPr lang="en-US" dirty="0"/>
              <a:t>Capability Architecture Overview</a:t>
            </a:r>
          </a:p>
        </p:txBody>
      </p:sp>
      <p:sp>
        <p:nvSpPr>
          <p:cNvPr id="3" name="Content Placeholder 2">
            <a:extLst>
              <a:ext uri="{FF2B5EF4-FFF2-40B4-BE49-F238E27FC236}">
                <a16:creationId xmlns:a16="http://schemas.microsoft.com/office/drawing/2014/main" id="{7AB903BC-318B-B383-F2CE-DA95028D595E}"/>
              </a:ext>
            </a:extLst>
          </p:cNvPr>
          <p:cNvSpPr>
            <a:spLocks noGrp="1"/>
          </p:cNvSpPr>
          <p:nvPr>
            <p:ph idx="1"/>
          </p:nvPr>
        </p:nvSpPr>
        <p:spPr/>
        <p:txBody>
          <a:bodyPr>
            <a:normAutofit/>
          </a:bodyPr>
          <a:lstStyle/>
          <a:p>
            <a:r>
              <a:rPr lang="en-US" b="1" dirty="0"/>
              <a:t>What is the Concept of Operations (COO)?</a:t>
            </a:r>
          </a:p>
          <a:p>
            <a:pPr lvl="1"/>
            <a:r>
              <a:rPr lang="en-US" dirty="0"/>
              <a:t>COO consolidates key architectural artifacts in a comprehensive document to provide the audience with an understanding of the organization's operations.</a:t>
            </a:r>
          </a:p>
          <a:p>
            <a:pPr lvl="1"/>
            <a:r>
              <a:rPr lang="en-US" dirty="0"/>
              <a:t>COO can be developed at different levels of granularity including:</a:t>
            </a:r>
          </a:p>
          <a:p>
            <a:pPr lvl="2"/>
            <a:r>
              <a:rPr lang="en-US" dirty="0"/>
              <a:t>Capability COO – Consolidates the architectural artifacts in a comprehensive document to provide the audience with an understanding of how the organization delivers a specific capability to meet desired goals and outcomes. </a:t>
            </a:r>
          </a:p>
          <a:p>
            <a:pPr lvl="2"/>
            <a:r>
              <a:rPr lang="en-US" dirty="0"/>
              <a:t>Enterprise COO – Consolidates the architectural artifacts in a comprehensive document to provide the audience with an understanding of how the organization is structured to meet desired goals and outcomes.  </a:t>
            </a:r>
          </a:p>
          <a:p>
            <a:endParaRPr lang="en-US" dirty="0"/>
          </a:p>
          <a:p>
            <a:endParaRPr lang="en-US" dirty="0"/>
          </a:p>
          <a:p>
            <a:endParaRPr lang="en-US" dirty="0"/>
          </a:p>
        </p:txBody>
      </p:sp>
    </p:spTree>
    <p:extLst>
      <p:ext uri="{BB962C8B-B14F-4D97-AF65-F5344CB8AC3E}">
        <p14:creationId xmlns:p14="http://schemas.microsoft.com/office/powerpoint/2010/main" val="952431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85422-C575-8B59-974C-50531B21BB5A}"/>
              </a:ext>
            </a:extLst>
          </p:cNvPr>
          <p:cNvSpPr>
            <a:spLocks noGrp="1"/>
          </p:cNvSpPr>
          <p:nvPr>
            <p:ph type="title"/>
          </p:nvPr>
        </p:nvSpPr>
        <p:spPr/>
        <p:txBody>
          <a:bodyPr/>
          <a:lstStyle/>
          <a:p>
            <a:r>
              <a:rPr lang="en-US" dirty="0"/>
              <a:t>Capability Architecture Components</a:t>
            </a:r>
          </a:p>
        </p:txBody>
      </p:sp>
      <p:sp>
        <p:nvSpPr>
          <p:cNvPr id="3" name="Rounded Rectangle 2">
            <a:extLst>
              <a:ext uri="{FF2B5EF4-FFF2-40B4-BE49-F238E27FC236}">
                <a16:creationId xmlns:a16="http://schemas.microsoft.com/office/drawing/2014/main" id="{9823BDEE-2D81-451B-5203-C102690BC600}"/>
              </a:ext>
            </a:extLst>
          </p:cNvPr>
          <p:cNvSpPr/>
          <p:nvPr/>
        </p:nvSpPr>
        <p:spPr>
          <a:xfrm>
            <a:off x="656962" y="2965912"/>
            <a:ext cx="2479431" cy="1669067"/>
          </a:xfrm>
          <a:prstGeom prst="roundRect">
            <a:avLst/>
          </a:prstGeom>
          <a:solidFill>
            <a:schemeClr val="accent1">
              <a:lumMod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Business Process</a:t>
            </a:r>
          </a:p>
        </p:txBody>
      </p:sp>
      <p:sp>
        <p:nvSpPr>
          <p:cNvPr id="4" name="Rounded Rectangle 3">
            <a:extLst>
              <a:ext uri="{FF2B5EF4-FFF2-40B4-BE49-F238E27FC236}">
                <a16:creationId xmlns:a16="http://schemas.microsoft.com/office/drawing/2014/main" id="{BFB0F6AA-AB2A-14A9-F9F9-7A23B0E095FC}"/>
              </a:ext>
            </a:extLst>
          </p:cNvPr>
          <p:cNvSpPr/>
          <p:nvPr/>
        </p:nvSpPr>
        <p:spPr>
          <a:xfrm>
            <a:off x="4498224" y="3994796"/>
            <a:ext cx="2479431" cy="640131"/>
          </a:xfrm>
          <a:prstGeom prst="roundRect">
            <a:avLst/>
          </a:prstGeom>
          <a:solidFill>
            <a:schemeClr val="accent1">
              <a:lumMod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Information Asset</a:t>
            </a:r>
          </a:p>
        </p:txBody>
      </p:sp>
      <p:sp>
        <p:nvSpPr>
          <p:cNvPr id="5" name="Rounded Rectangle 4">
            <a:extLst>
              <a:ext uri="{FF2B5EF4-FFF2-40B4-BE49-F238E27FC236}">
                <a16:creationId xmlns:a16="http://schemas.microsoft.com/office/drawing/2014/main" id="{6CF7C37D-0936-5B2D-4EDE-73705C361BC4}"/>
              </a:ext>
            </a:extLst>
          </p:cNvPr>
          <p:cNvSpPr/>
          <p:nvPr/>
        </p:nvSpPr>
        <p:spPr>
          <a:xfrm>
            <a:off x="8187087" y="2965861"/>
            <a:ext cx="1593426" cy="1669067"/>
          </a:xfrm>
          <a:prstGeom prst="roundRect">
            <a:avLst/>
          </a:prstGeom>
          <a:solidFill>
            <a:schemeClr val="accent1">
              <a:lumMod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Application Component</a:t>
            </a:r>
          </a:p>
        </p:txBody>
      </p:sp>
      <p:sp>
        <p:nvSpPr>
          <p:cNvPr id="6" name="Rounded Rectangle 5">
            <a:extLst>
              <a:ext uri="{FF2B5EF4-FFF2-40B4-BE49-F238E27FC236}">
                <a16:creationId xmlns:a16="http://schemas.microsoft.com/office/drawing/2014/main" id="{A45C6713-F8E7-8104-16A9-287B5E3D4FD2}"/>
              </a:ext>
            </a:extLst>
          </p:cNvPr>
          <p:cNvSpPr/>
          <p:nvPr/>
        </p:nvSpPr>
        <p:spPr>
          <a:xfrm>
            <a:off x="650866" y="1900872"/>
            <a:ext cx="2479431" cy="580408"/>
          </a:xfrm>
          <a:prstGeom prst="roundRect">
            <a:avLst/>
          </a:prstGeom>
          <a:solidFill>
            <a:schemeClr val="accent1">
              <a:lumMod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Outcome</a:t>
            </a:r>
          </a:p>
        </p:txBody>
      </p:sp>
      <p:sp>
        <p:nvSpPr>
          <p:cNvPr id="7" name="Rounded Rectangle 6">
            <a:extLst>
              <a:ext uri="{FF2B5EF4-FFF2-40B4-BE49-F238E27FC236}">
                <a16:creationId xmlns:a16="http://schemas.microsoft.com/office/drawing/2014/main" id="{4DC86138-3A6A-ACE4-7D5A-4C93710F1968}"/>
              </a:ext>
            </a:extLst>
          </p:cNvPr>
          <p:cNvSpPr/>
          <p:nvPr/>
        </p:nvSpPr>
        <p:spPr>
          <a:xfrm>
            <a:off x="650867" y="5604140"/>
            <a:ext cx="11117497" cy="640132"/>
          </a:xfrm>
          <a:prstGeom prst="roundRect">
            <a:avLst/>
          </a:prstGeom>
          <a:solidFill>
            <a:schemeClr val="accent1">
              <a:lumMod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Role</a:t>
            </a:r>
          </a:p>
        </p:txBody>
      </p:sp>
      <p:cxnSp>
        <p:nvCxnSpPr>
          <p:cNvPr id="9" name="Straight Connector 8">
            <a:extLst>
              <a:ext uri="{FF2B5EF4-FFF2-40B4-BE49-F238E27FC236}">
                <a16:creationId xmlns:a16="http://schemas.microsoft.com/office/drawing/2014/main" id="{AD173F90-BC15-BC31-047C-30FDBC055F83}"/>
              </a:ext>
            </a:extLst>
          </p:cNvPr>
          <p:cNvCxnSpPr>
            <a:cxnSpLocks/>
            <a:stCxn id="3" idx="0"/>
          </p:cNvCxnSpPr>
          <p:nvPr/>
        </p:nvCxnSpPr>
        <p:spPr>
          <a:xfrm flipV="1">
            <a:off x="1896678" y="2481280"/>
            <a:ext cx="0" cy="4846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5A4140D-F027-3449-3633-A24A3B6A32E3}"/>
              </a:ext>
            </a:extLst>
          </p:cNvPr>
          <p:cNvCxnSpPr>
            <a:cxnSpLocks/>
          </p:cNvCxnSpPr>
          <p:nvPr/>
        </p:nvCxnSpPr>
        <p:spPr>
          <a:xfrm flipV="1">
            <a:off x="8820638" y="4634877"/>
            <a:ext cx="3049" cy="9692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48F3A7D-E845-5769-82E1-B057F18EA43A}"/>
              </a:ext>
            </a:extLst>
          </p:cNvPr>
          <p:cNvCxnSpPr>
            <a:cxnSpLocks/>
            <a:endCxn id="3" idx="2"/>
          </p:cNvCxnSpPr>
          <p:nvPr/>
        </p:nvCxnSpPr>
        <p:spPr>
          <a:xfrm flipV="1">
            <a:off x="1893629" y="4634979"/>
            <a:ext cx="3049" cy="9691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E912A7-A28D-CC78-CA72-FA8F964DCEF9}"/>
              </a:ext>
            </a:extLst>
          </p:cNvPr>
          <p:cNvCxnSpPr>
            <a:cxnSpLocks/>
            <a:endCxn id="4" idx="2"/>
          </p:cNvCxnSpPr>
          <p:nvPr/>
        </p:nvCxnSpPr>
        <p:spPr>
          <a:xfrm flipV="1">
            <a:off x="5737940" y="4634927"/>
            <a:ext cx="0" cy="9691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4AA58D1-E71A-5FD8-B4DF-3369B8859650}"/>
              </a:ext>
            </a:extLst>
          </p:cNvPr>
          <p:cNvCxnSpPr>
            <a:cxnSpLocks/>
            <a:stCxn id="4" idx="1"/>
          </p:cNvCxnSpPr>
          <p:nvPr/>
        </p:nvCxnSpPr>
        <p:spPr>
          <a:xfrm flipH="1">
            <a:off x="3133346" y="4314862"/>
            <a:ext cx="136487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9892808-D878-8783-2CB4-AD8D1B63B2A0}"/>
              </a:ext>
            </a:extLst>
          </p:cNvPr>
          <p:cNvCxnSpPr>
            <a:cxnSpLocks/>
            <a:endCxn id="4" idx="3"/>
          </p:cNvCxnSpPr>
          <p:nvPr/>
        </p:nvCxnSpPr>
        <p:spPr>
          <a:xfrm flipH="1">
            <a:off x="6977655" y="4314862"/>
            <a:ext cx="120638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B91A03A-09DE-2B50-49B6-469C4C31B76C}"/>
              </a:ext>
            </a:extLst>
          </p:cNvPr>
          <p:cNvCxnSpPr>
            <a:cxnSpLocks/>
          </p:cNvCxnSpPr>
          <p:nvPr/>
        </p:nvCxnSpPr>
        <p:spPr>
          <a:xfrm flipH="1">
            <a:off x="3130297" y="3542702"/>
            <a:ext cx="50537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9">
            <a:extLst>
              <a:ext uri="{FF2B5EF4-FFF2-40B4-BE49-F238E27FC236}">
                <a16:creationId xmlns:a16="http://schemas.microsoft.com/office/drawing/2014/main" id="{9C2BB41A-6FCA-3D19-D88C-0D2F3437E8B9}"/>
              </a:ext>
            </a:extLst>
          </p:cNvPr>
          <p:cNvSpPr/>
          <p:nvPr/>
        </p:nvSpPr>
        <p:spPr>
          <a:xfrm>
            <a:off x="10193232" y="2965810"/>
            <a:ext cx="1593426" cy="1669067"/>
          </a:xfrm>
          <a:prstGeom prst="roundRect">
            <a:avLst/>
          </a:prstGeom>
          <a:solidFill>
            <a:schemeClr val="accent1">
              <a:lumMod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Technical Component</a:t>
            </a:r>
          </a:p>
        </p:txBody>
      </p:sp>
      <p:cxnSp>
        <p:nvCxnSpPr>
          <p:cNvPr id="11" name="Straight Connector 10">
            <a:extLst>
              <a:ext uri="{FF2B5EF4-FFF2-40B4-BE49-F238E27FC236}">
                <a16:creationId xmlns:a16="http://schemas.microsoft.com/office/drawing/2014/main" id="{DD8CFE52-FB7D-55D9-16FD-BFFB2272FBB4}"/>
              </a:ext>
            </a:extLst>
          </p:cNvPr>
          <p:cNvCxnSpPr>
            <a:cxnSpLocks/>
            <a:stCxn id="10" idx="1"/>
            <a:endCxn id="5" idx="3"/>
          </p:cNvCxnSpPr>
          <p:nvPr/>
        </p:nvCxnSpPr>
        <p:spPr>
          <a:xfrm flipH="1">
            <a:off x="9780513" y="3800344"/>
            <a:ext cx="412719" cy="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EC4790D-FE67-3176-EAE7-0D0B7D13F4DB}"/>
              </a:ext>
            </a:extLst>
          </p:cNvPr>
          <p:cNvCxnSpPr>
            <a:cxnSpLocks/>
          </p:cNvCxnSpPr>
          <p:nvPr/>
        </p:nvCxnSpPr>
        <p:spPr>
          <a:xfrm flipV="1">
            <a:off x="10951966" y="4634877"/>
            <a:ext cx="0" cy="9691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3940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EFCC5-C2F6-6D9D-AD0A-B72CC9B024C0}"/>
              </a:ext>
            </a:extLst>
          </p:cNvPr>
          <p:cNvSpPr>
            <a:spLocks noGrp="1"/>
          </p:cNvSpPr>
          <p:nvPr>
            <p:ph type="title"/>
          </p:nvPr>
        </p:nvSpPr>
        <p:spPr/>
        <p:txBody>
          <a:bodyPr/>
          <a:lstStyle/>
          <a:p>
            <a:r>
              <a:rPr lang="en-US" dirty="0"/>
              <a:t>Information Asset Overview</a:t>
            </a:r>
          </a:p>
        </p:txBody>
      </p:sp>
      <p:sp>
        <p:nvSpPr>
          <p:cNvPr id="3" name="Content Placeholder 2">
            <a:extLst>
              <a:ext uri="{FF2B5EF4-FFF2-40B4-BE49-F238E27FC236}">
                <a16:creationId xmlns:a16="http://schemas.microsoft.com/office/drawing/2014/main" id="{E9E505A1-3294-A171-F2A1-95C23F83F6D5}"/>
              </a:ext>
            </a:extLst>
          </p:cNvPr>
          <p:cNvSpPr>
            <a:spLocks noGrp="1"/>
          </p:cNvSpPr>
          <p:nvPr>
            <p:ph idx="1"/>
          </p:nvPr>
        </p:nvSpPr>
        <p:spPr/>
        <p:txBody>
          <a:bodyPr/>
          <a:lstStyle/>
          <a:p>
            <a:r>
              <a:rPr lang="en-US" dirty="0"/>
              <a:t>Information Asset - A valuable piece of information that is organized and managed by a company or organization. The information assets will include the following: </a:t>
            </a:r>
          </a:p>
          <a:p>
            <a:pPr lvl="1"/>
            <a:r>
              <a:rPr lang="en-US" b="1" dirty="0"/>
              <a:t>Baseline Information Asset </a:t>
            </a:r>
            <a:r>
              <a:rPr lang="en-US" dirty="0"/>
              <a:t>– A valuable piece of information that is currently used by an organization to support their current business processes. These assets are used by the organization for decision-making and operational efficiency. Examples include: </a:t>
            </a:r>
          </a:p>
          <a:p>
            <a:pPr lvl="2"/>
            <a:r>
              <a:rPr lang="en-US" dirty="0"/>
              <a:t>Database</a:t>
            </a:r>
          </a:p>
          <a:p>
            <a:pPr lvl="2"/>
            <a:r>
              <a:rPr lang="en-US" dirty="0"/>
              <a:t>Data Warehouse/Data Lake</a:t>
            </a:r>
          </a:p>
          <a:p>
            <a:pPr lvl="2"/>
            <a:r>
              <a:rPr lang="en-US" dirty="0"/>
              <a:t>Data File</a:t>
            </a:r>
          </a:p>
          <a:p>
            <a:pPr lvl="2"/>
            <a:r>
              <a:rPr lang="en-US" dirty="0"/>
              <a:t>Report</a:t>
            </a:r>
          </a:p>
          <a:p>
            <a:pPr lvl="2"/>
            <a:r>
              <a:rPr lang="en-US" dirty="0"/>
              <a:t>Table/Column</a:t>
            </a:r>
          </a:p>
          <a:p>
            <a:pPr lvl="1"/>
            <a:r>
              <a:rPr lang="en-US" b="1" dirty="0"/>
              <a:t>Target Information Asset </a:t>
            </a:r>
            <a:r>
              <a:rPr lang="en-US" dirty="0"/>
              <a:t>– A valuable piece of information that is needed to support target business processes and will enable the organization to make decisions that meet their desired outcomes. The target information asset is conceptual and support the ability to identify data needs and requirements. </a:t>
            </a:r>
          </a:p>
        </p:txBody>
      </p:sp>
    </p:spTree>
    <p:extLst>
      <p:ext uri="{BB962C8B-B14F-4D97-AF65-F5344CB8AC3E}">
        <p14:creationId xmlns:p14="http://schemas.microsoft.com/office/powerpoint/2010/main" val="2704111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1FE82-E1E5-20B0-D398-80651D318E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C9933-BCE7-3694-D1C6-4B4AD8672FD4}"/>
              </a:ext>
            </a:extLst>
          </p:cNvPr>
          <p:cNvSpPr>
            <a:spLocks noGrp="1"/>
          </p:cNvSpPr>
          <p:nvPr>
            <p:ph type="title"/>
          </p:nvPr>
        </p:nvSpPr>
        <p:spPr>
          <a:xfrm>
            <a:off x="1066800" y="177944"/>
            <a:ext cx="10058400" cy="1609344"/>
          </a:xfrm>
        </p:spPr>
        <p:txBody>
          <a:bodyPr/>
          <a:lstStyle/>
          <a:p>
            <a:r>
              <a:rPr lang="en-US" dirty="0"/>
              <a:t>IA Metamodel</a:t>
            </a:r>
          </a:p>
        </p:txBody>
      </p:sp>
      <p:sp>
        <p:nvSpPr>
          <p:cNvPr id="3" name="Rounded Rectangle 2">
            <a:extLst>
              <a:ext uri="{FF2B5EF4-FFF2-40B4-BE49-F238E27FC236}">
                <a16:creationId xmlns:a16="http://schemas.microsoft.com/office/drawing/2014/main" id="{43105A94-79CA-88D1-4900-3BE80078696C}"/>
              </a:ext>
            </a:extLst>
          </p:cNvPr>
          <p:cNvSpPr/>
          <p:nvPr/>
        </p:nvSpPr>
        <p:spPr>
          <a:xfrm>
            <a:off x="6443003" y="2304288"/>
            <a:ext cx="2479431" cy="4256884"/>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t>Information</a:t>
            </a:r>
          </a:p>
        </p:txBody>
      </p:sp>
      <p:sp>
        <p:nvSpPr>
          <p:cNvPr id="4" name="Rounded Rectangle 3">
            <a:extLst>
              <a:ext uri="{FF2B5EF4-FFF2-40B4-BE49-F238E27FC236}">
                <a16:creationId xmlns:a16="http://schemas.microsoft.com/office/drawing/2014/main" id="{76CECACB-75DD-4486-7AAF-3309D126739C}"/>
              </a:ext>
            </a:extLst>
          </p:cNvPr>
          <p:cNvSpPr/>
          <p:nvPr/>
        </p:nvSpPr>
        <p:spPr>
          <a:xfrm>
            <a:off x="6841587" y="2909822"/>
            <a:ext cx="1617785" cy="1371907"/>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i="1" dirty="0">
                <a:solidFill>
                  <a:schemeClr val="accent1">
                    <a:lumMod val="75000"/>
                  </a:schemeClr>
                </a:solidFill>
              </a:rPr>
              <a:t>Baseline Information Asset</a:t>
            </a:r>
          </a:p>
        </p:txBody>
      </p:sp>
      <p:sp>
        <p:nvSpPr>
          <p:cNvPr id="5" name="Rounded Rectangle 4">
            <a:extLst>
              <a:ext uri="{FF2B5EF4-FFF2-40B4-BE49-F238E27FC236}">
                <a16:creationId xmlns:a16="http://schemas.microsoft.com/office/drawing/2014/main" id="{6BF80663-9583-258D-E5E9-54B3A36D321E}"/>
              </a:ext>
            </a:extLst>
          </p:cNvPr>
          <p:cNvSpPr/>
          <p:nvPr/>
        </p:nvSpPr>
        <p:spPr>
          <a:xfrm>
            <a:off x="6873825" y="4798736"/>
            <a:ext cx="1617785" cy="1544417"/>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i="1" dirty="0">
                <a:solidFill>
                  <a:schemeClr val="accent1">
                    <a:lumMod val="75000"/>
                  </a:schemeClr>
                </a:solidFill>
              </a:rPr>
              <a:t>Target Information Asset</a:t>
            </a:r>
          </a:p>
        </p:txBody>
      </p:sp>
      <p:cxnSp>
        <p:nvCxnSpPr>
          <p:cNvPr id="7" name="Straight Arrow Connector 6">
            <a:extLst>
              <a:ext uri="{FF2B5EF4-FFF2-40B4-BE49-F238E27FC236}">
                <a16:creationId xmlns:a16="http://schemas.microsoft.com/office/drawing/2014/main" id="{2C814404-2ADF-7CDB-303E-03FCD34C8F65}"/>
              </a:ext>
            </a:extLst>
          </p:cNvPr>
          <p:cNvCxnSpPr>
            <a:cxnSpLocks/>
            <a:stCxn id="4" idx="2"/>
            <a:endCxn id="5" idx="0"/>
          </p:cNvCxnSpPr>
          <p:nvPr/>
        </p:nvCxnSpPr>
        <p:spPr>
          <a:xfrm>
            <a:off x="7650480" y="4281729"/>
            <a:ext cx="32238" cy="5170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13681047-7CDD-6CC4-3FD6-2E4B9E53189F}"/>
              </a:ext>
            </a:extLst>
          </p:cNvPr>
          <p:cNvSpPr/>
          <p:nvPr/>
        </p:nvSpPr>
        <p:spPr>
          <a:xfrm>
            <a:off x="2063826" y="4747588"/>
            <a:ext cx="2479431" cy="588460"/>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Business Process</a:t>
            </a:r>
          </a:p>
        </p:txBody>
      </p:sp>
      <p:sp>
        <p:nvSpPr>
          <p:cNvPr id="14" name="Rounded Rectangle 13">
            <a:extLst>
              <a:ext uri="{FF2B5EF4-FFF2-40B4-BE49-F238E27FC236}">
                <a16:creationId xmlns:a16="http://schemas.microsoft.com/office/drawing/2014/main" id="{DE7A6A3A-3126-C4E5-873C-BF2F77457F2A}"/>
              </a:ext>
            </a:extLst>
          </p:cNvPr>
          <p:cNvSpPr/>
          <p:nvPr/>
        </p:nvSpPr>
        <p:spPr>
          <a:xfrm>
            <a:off x="2037447" y="5803196"/>
            <a:ext cx="2479431" cy="588460"/>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Technology</a:t>
            </a:r>
          </a:p>
        </p:txBody>
      </p:sp>
      <p:sp>
        <p:nvSpPr>
          <p:cNvPr id="15" name="Rounded Rectangle 14">
            <a:extLst>
              <a:ext uri="{FF2B5EF4-FFF2-40B4-BE49-F238E27FC236}">
                <a16:creationId xmlns:a16="http://schemas.microsoft.com/office/drawing/2014/main" id="{ECD4732B-0F92-36B3-84CF-2F14A6BFA8FA}"/>
              </a:ext>
            </a:extLst>
          </p:cNvPr>
          <p:cNvSpPr/>
          <p:nvPr/>
        </p:nvSpPr>
        <p:spPr>
          <a:xfrm>
            <a:off x="2063826" y="3572009"/>
            <a:ext cx="2479431" cy="588460"/>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Role</a:t>
            </a:r>
          </a:p>
        </p:txBody>
      </p:sp>
      <p:sp>
        <p:nvSpPr>
          <p:cNvPr id="16" name="Rounded Rectangle 15">
            <a:extLst>
              <a:ext uri="{FF2B5EF4-FFF2-40B4-BE49-F238E27FC236}">
                <a16:creationId xmlns:a16="http://schemas.microsoft.com/office/drawing/2014/main" id="{E59FB2B9-69C8-A7EA-F0CE-84D02A3CE539}"/>
              </a:ext>
            </a:extLst>
          </p:cNvPr>
          <p:cNvSpPr/>
          <p:nvPr/>
        </p:nvSpPr>
        <p:spPr>
          <a:xfrm>
            <a:off x="2037447" y="2591353"/>
            <a:ext cx="2479431" cy="588460"/>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Outcome</a:t>
            </a:r>
          </a:p>
        </p:txBody>
      </p:sp>
      <p:cxnSp>
        <p:nvCxnSpPr>
          <p:cNvPr id="18" name="Straight Connector 17">
            <a:extLst>
              <a:ext uri="{FF2B5EF4-FFF2-40B4-BE49-F238E27FC236}">
                <a16:creationId xmlns:a16="http://schemas.microsoft.com/office/drawing/2014/main" id="{63958399-DA3F-DE67-96BC-CB3A72BF8B4C}"/>
              </a:ext>
            </a:extLst>
          </p:cNvPr>
          <p:cNvCxnSpPr>
            <a:cxnSpLocks/>
            <a:stCxn id="16" idx="3"/>
          </p:cNvCxnSpPr>
          <p:nvPr/>
        </p:nvCxnSpPr>
        <p:spPr>
          <a:xfrm>
            <a:off x="4516878" y="2885583"/>
            <a:ext cx="192612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95354CB7-1735-5146-9182-D8471E9D3D42}"/>
              </a:ext>
            </a:extLst>
          </p:cNvPr>
          <p:cNvCxnSpPr>
            <a:cxnSpLocks/>
            <a:stCxn id="15" idx="3"/>
          </p:cNvCxnSpPr>
          <p:nvPr/>
        </p:nvCxnSpPr>
        <p:spPr>
          <a:xfrm>
            <a:off x="4543257" y="3866239"/>
            <a:ext cx="1899746"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4E0968F5-58E5-6868-AD88-4844B598F4F5}"/>
              </a:ext>
            </a:extLst>
          </p:cNvPr>
          <p:cNvCxnSpPr>
            <a:cxnSpLocks/>
            <a:stCxn id="13" idx="3"/>
          </p:cNvCxnSpPr>
          <p:nvPr/>
        </p:nvCxnSpPr>
        <p:spPr>
          <a:xfrm>
            <a:off x="4543257" y="5041818"/>
            <a:ext cx="1899746"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44E53EE-F9BF-3005-B2D7-85FB1FE2FBBA}"/>
              </a:ext>
            </a:extLst>
          </p:cNvPr>
          <p:cNvCxnSpPr>
            <a:cxnSpLocks/>
            <a:stCxn id="14" idx="3"/>
          </p:cNvCxnSpPr>
          <p:nvPr/>
        </p:nvCxnSpPr>
        <p:spPr>
          <a:xfrm>
            <a:off x="4516878" y="6097426"/>
            <a:ext cx="1926125" cy="0"/>
          </a:xfrm>
          <a:prstGeom prst="line">
            <a:avLst/>
          </a:prstGeom>
          <a:ln w="19050"/>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40FDD1B8-AAD1-7CC9-550C-377155D3E30C}"/>
              </a:ext>
            </a:extLst>
          </p:cNvPr>
          <p:cNvSpPr/>
          <p:nvPr/>
        </p:nvSpPr>
        <p:spPr>
          <a:xfrm>
            <a:off x="1379095" y="1956816"/>
            <a:ext cx="8334531" cy="4773168"/>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Capability</a:t>
            </a:r>
          </a:p>
        </p:txBody>
      </p:sp>
      <p:sp>
        <p:nvSpPr>
          <p:cNvPr id="29" name="TextBox 28">
            <a:extLst>
              <a:ext uri="{FF2B5EF4-FFF2-40B4-BE49-F238E27FC236}">
                <a16:creationId xmlns:a16="http://schemas.microsoft.com/office/drawing/2014/main" id="{EAADC488-327E-9AC5-035A-4FC812F07766}"/>
              </a:ext>
            </a:extLst>
          </p:cNvPr>
          <p:cNvSpPr txBox="1"/>
          <p:nvPr/>
        </p:nvSpPr>
        <p:spPr>
          <a:xfrm>
            <a:off x="4546860" y="4798736"/>
            <a:ext cx="734496" cy="246221"/>
          </a:xfrm>
          <a:prstGeom prst="rect">
            <a:avLst/>
          </a:prstGeom>
          <a:noFill/>
        </p:spPr>
        <p:txBody>
          <a:bodyPr wrap="none" rtlCol="0">
            <a:spAutoFit/>
          </a:bodyPr>
          <a:lstStyle/>
          <a:p>
            <a:r>
              <a:rPr lang="en-US" sz="1000" dirty="0"/>
              <a:t>Accesses</a:t>
            </a:r>
          </a:p>
        </p:txBody>
      </p:sp>
      <p:sp>
        <p:nvSpPr>
          <p:cNvPr id="30" name="TextBox 29">
            <a:extLst>
              <a:ext uri="{FF2B5EF4-FFF2-40B4-BE49-F238E27FC236}">
                <a16:creationId xmlns:a16="http://schemas.microsoft.com/office/drawing/2014/main" id="{EBA28653-FD6D-AC62-7069-4CB06A179345}"/>
              </a:ext>
            </a:extLst>
          </p:cNvPr>
          <p:cNvSpPr txBox="1"/>
          <p:nvPr/>
        </p:nvSpPr>
        <p:spPr>
          <a:xfrm>
            <a:off x="4519378" y="5865536"/>
            <a:ext cx="734496" cy="246221"/>
          </a:xfrm>
          <a:prstGeom prst="rect">
            <a:avLst/>
          </a:prstGeom>
          <a:noFill/>
        </p:spPr>
        <p:txBody>
          <a:bodyPr wrap="none" rtlCol="0">
            <a:spAutoFit/>
          </a:bodyPr>
          <a:lstStyle/>
          <a:p>
            <a:r>
              <a:rPr lang="en-US" sz="1000" dirty="0"/>
              <a:t>Accesses</a:t>
            </a:r>
          </a:p>
        </p:txBody>
      </p:sp>
      <p:sp>
        <p:nvSpPr>
          <p:cNvPr id="31" name="TextBox 30">
            <a:extLst>
              <a:ext uri="{FF2B5EF4-FFF2-40B4-BE49-F238E27FC236}">
                <a16:creationId xmlns:a16="http://schemas.microsoft.com/office/drawing/2014/main" id="{8305BE9C-0543-45CF-0B64-AC082D9E04ED}"/>
              </a:ext>
            </a:extLst>
          </p:cNvPr>
          <p:cNvSpPr txBox="1"/>
          <p:nvPr/>
        </p:nvSpPr>
        <p:spPr>
          <a:xfrm>
            <a:off x="4536866" y="3634500"/>
            <a:ext cx="1741182" cy="246221"/>
          </a:xfrm>
          <a:prstGeom prst="rect">
            <a:avLst/>
          </a:prstGeom>
          <a:noFill/>
        </p:spPr>
        <p:txBody>
          <a:bodyPr wrap="none" rtlCol="0">
            <a:spAutoFit/>
          </a:bodyPr>
          <a:lstStyle/>
          <a:p>
            <a:r>
              <a:rPr lang="en-US" sz="1000" dirty="0"/>
              <a:t>Supply/Consume/Manage</a:t>
            </a:r>
          </a:p>
        </p:txBody>
      </p:sp>
      <p:sp>
        <p:nvSpPr>
          <p:cNvPr id="32" name="TextBox 31">
            <a:extLst>
              <a:ext uri="{FF2B5EF4-FFF2-40B4-BE49-F238E27FC236}">
                <a16:creationId xmlns:a16="http://schemas.microsoft.com/office/drawing/2014/main" id="{11F1B255-BEDA-09E6-4264-DD6D71ED591B}"/>
              </a:ext>
            </a:extLst>
          </p:cNvPr>
          <p:cNvSpPr txBox="1"/>
          <p:nvPr/>
        </p:nvSpPr>
        <p:spPr>
          <a:xfrm>
            <a:off x="4546858" y="2663601"/>
            <a:ext cx="569387" cy="246221"/>
          </a:xfrm>
          <a:prstGeom prst="rect">
            <a:avLst/>
          </a:prstGeom>
          <a:noFill/>
        </p:spPr>
        <p:txBody>
          <a:bodyPr wrap="none" rtlCol="0">
            <a:spAutoFit/>
          </a:bodyPr>
          <a:lstStyle/>
          <a:p>
            <a:r>
              <a:rPr lang="en-US" sz="1000" dirty="0"/>
              <a:t>Drives</a:t>
            </a:r>
          </a:p>
        </p:txBody>
      </p:sp>
    </p:spTree>
    <p:extLst>
      <p:ext uri="{BB962C8B-B14F-4D97-AF65-F5344CB8AC3E}">
        <p14:creationId xmlns:p14="http://schemas.microsoft.com/office/powerpoint/2010/main" val="2520338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6B6EB-7A90-F80D-793E-A8E44820048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051204E-823F-647C-C22C-8A497D5ABE29}"/>
              </a:ext>
            </a:extLst>
          </p:cNvPr>
          <p:cNvSpPr/>
          <p:nvPr/>
        </p:nvSpPr>
        <p:spPr>
          <a:xfrm>
            <a:off x="4626278" y="2376911"/>
            <a:ext cx="2461846" cy="1844509"/>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600" b="1" dirty="0">
                <a:solidFill>
                  <a:schemeClr val="tx1"/>
                </a:solidFill>
              </a:rPr>
              <a:t>Target (To-Be)</a:t>
            </a:r>
          </a:p>
        </p:txBody>
      </p:sp>
      <p:sp>
        <p:nvSpPr>
          <p:cNvPr id="2" name="Title 1">
            <a:extLst>
              <a:ext uri="{FF2B5EF4-FFF2-40B4-BE49-F238E27FC236}">
                <a16:creationId xmlns:a16="http://schemas.microsoft.com/office/drawing/2014/main" id="{30659948-A54E-6953-B23E-B1D085894300}"/>
              </a:ext>
            </a:extLst>
          </p:cNvPr>
          <p:cNvSpPr>
            <a:spLocks noGrp="1"/>
          </p:cNvSpPr>
          <p:nvPr>
            <p:ph type="title"/>
          </p:nvPr>
        </p:nvSpPr>
        <p:spPr>
          <a:xfrm>
            <a:off x="1069848" y="298938"/>
            <a:ext cx="11122152" cy="1609344"/>
          </a:xfrm>
        </p:spPr>
        <p:txBody>
          <a:bodyPr/>
          <a:lstStyle/>
          <a:p>
            <a:r>
              <a:rPr lang="en-US" dirty="0"/>
              <a:t>IA Metamodel in Action</a:t>
            </a:r>
          </a:p>
        </p:txBody>
      </p:sp>
      <p:sp>
        <p:nvSpPr>
          <p:cNvPr id="4" name="Rounded Rectangle 3">
            <a:extLst>
              <a:ext uri="{FF2B5EF4-FFF2-40B4-BE49-F238E27FC236}">
                <a16:creationId xmlns:a16="http://schemas.microsoft.com/office/drawing/2014/main" id="{39347919-539C-E397-50CE-0D1CC712B9F9}"/>
              </a:ext>
            </a:extLst>
          </p:cNvPr>
          <p:cNvSpPr/>
          <p:nvPr/>
        </p:nvSpPr>
        <p:spPr>
          <a:xfrm>
            <a:off x="5013138" y="2843960"/>
            <a:ext cx="1617785" cy="1142999"/>
          </a:xfrm>
          <a:prstGeom prst="roundRect">
            <a:avLst/>
          </a:prstGeom>
          <a:solidFill>
            <a:schemeClr val="accent1">
              <a:lumMod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i="1" dirty="0">
                <a:solidFill>
                  <a:schemeClr val="bg1"/>
                </a:solidFill>
              </a:rPr>
              <a:t>Target Information Asset</a:t>
            </a:r>
          </a:p>
        </p:txBody>
      </p:sp>
      <p:sp>
        <p:nvSpPr>
          <p:cNvPr id="5" name="Rounded Rectangle 4">
            <a:extLst>
              <a:ext uri="{FF2B5EF4-FFF2-40B4-BE49-F238E27FC236}">
                <a16:creationId xmlns:a16="http://schemas.microsoft.com/office/drawing/2014/main" id="{0E7D3E8E-1A52-C37F-C2FA-A31C6EC00E7B}"/>
              </a:ext>
            </a:extLst>
          </p:cNvPr>
          <p:cNvSpPr/>
          <p:nvPr/>
        </p:nvSpPr>
        <p:spPr>
          <a:xfrm>
            <a:off x="5013138" y="4363974"/>
            <a:ext cx="1617785" cy="1142999"/>
          </a:xfrm>
          <a:prstGeom prst="roundRect">
            <a:avLst/>
          </a:prstGeom>
          <a:solidFill>
            <a:schemeClr val="accent1">
              <a:lumMod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Baseline Information Asset</a:t>
            </a:r>
          </a:p>
        </p:txBody>
      </p:sp>
      <p:sp>
        <p:nvSpPr>
          <p:cNvPr id="7" name="Rectangle 6">
            <a:extLst>
              <a:ext uri="{FF2B5EF4-FFF2-40B4-BE49-F238E27FC236}">
                <a16:creationId xmlns:a16="http://schemas.microsoft.com/office/drawing/2014/main" id="{4892821D-390A-E4F4-D6A6-A54C20B07792}"/>
              </a:ext>
            </a:extLst>
          </p:cNvPr>
          <p:cNvSpPr/>
          <p:nvPr/>
        </p:nvSpPr>
        <p:spPr>
          <a:xfrm>
            <a:off x="4626278" y="4315206"/>
            <a:ext cx="2461846" cy="1569486"/>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600" b="1" dirty="0">
                <a:solidFill>
                  <a:schemeClr val="tx1"/>
                </a:solidFill>
              </a:rPr>
              <a:t>Baseline (As-Is)</a:t>
            </a:r>
          </a:p>
        </p:txBody>
      </p:sp>
      <p:cxnSp>
        <p:nvCxnSpPr>
          <p:cNvPr id="11" name="Straight Arrow Connector 10">
            <a:extLst>
              <a:ext uri="{FF2B5EF4-FFF2-40B4-BE49-F238E27FC236}">
                <a16:creationId xmlns:a16="http://schemas.microsoft.com/office/drawing/2014/main" id="{71646D99-B05E-E608-8BA5-A0170310BBDD}"/>
              </a:ext>
            </a:extLst>
          </p:cNvPr>
          <p:cNvCxnSpPr>
            <a:cxnSpLocks/>
            <a:stCxn id="4" idx="2"/>
            <a:endCxn id="5" idx="0"/>
          </p:cNvCxnSpPr>
          <p:nvPr/>
        </p:nvCxnSpPr>
        <p:spPr>
          <a:xfrm>
            <a:off x="5822031" y="3986959"/>
            <a:ext cx="0" cy="3770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6BE80EA4-4A08-8B1D-96DB-F483E7A9ED4C}"/>
              </a:ext>
            </a:extLst>
          </p:cNvPr>
          <p:cNvSpPr/>
          <p:nvPr/>
        </p:nvSpPr>
        <p:spPr>
          <a:xfrm>
            <a:off x="8382762" y="1872055"/>
            <a:ext cx="2514600" cy="14031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Used to define the data needed by the SMA to meet their desired outcomes. </a:t>
            </a:r>
          </a:p>
        </p:txBody>
      </p:sp>
      <p:cxnSp>
        <p:nvCxnSpPr>
          <p:cNvPr id="15" name="Straight Connector 14">
            <a:extLst>
              <a:ext uri="{FF2B5EF4-FFF2-40B4-BE49-F238E27FC236}">
                <a16:creationId xmlns:a16="http://schemas.microsoft.com/office/drawing/2014/main" id="{452550FC-6CAC-971B-123C-15349908F1F6}"/>
              </a:ext>
            </a:extLst>
          </p:cNvPr>
          <p:cNvCxnSpPr>
            <a:cxnSpLocks/>
          </p:cNvCxnSpPr>
          <p:nvPr/>
        </p:nvCxnSpPr>
        <p:spPr>
          <a:xfrm flipV="1">
            <a:off x="7088124" y="2593080"/>
            <a:ext cx="1294638" cy="1"/>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609B94D3-6026-9861-E767-37598CD7D06A}"/>
              </a:ext>
            </a:extLst>
          </p:cNvPr>
          <p:cNvSpPr/>
          <p:nvPr/>
        </p:nvSpPr>
        <p:spPr>
          <a:xfrm>
            <a:off x="817040" y="4124002"/>
            <a:ext cx="2514600" cy="195189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Used to describe the baseline data that is currently used by the SMA. </a:t>
            </a:r>
          </a:p>
        </p:txBody>
      </p:sp>
      <p:cxnSp>
        <p:nvCxnSpPr>
          <p:cNvPr id="18" name="Straight Connector 17">
            <a:extLst>
              <a:ext uri="{FF2B5EF4-FFF2-40B4-BE49-F238E27FC236}">
                <a16:creationId xmlns:a16="http://schemas.microsoft.com/office/drawing/2014/main" id="{219C82DC-54BA-69BB-36E5-2C047DB545CF}"/>
              </a:ext>
            </a:extLst>
          </p:cNvPr>
          <p:cNvCxnSpPr>
            <a:cxnSpLocks/>
            <a:stCxn id="17" idx="3"/>
            <a:endCxn id="7" idx="1"/>
          </p:cNvCxnSpPr>
          <p:nvPr/>
        </p:nvCxnSpPr>
        <p:spPr>
          <a:xfrm>
            <a:off x="3331640" y="5099949"/>
            <a:ext cx="1294638"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9BE89F84-F7BA-1D7B-0977-0AA946934D8D}"/>
              </a:ext>
            </a:extLst>
          </p:cNvPr>
          <p:cNvSpPr/>
          <p:nvPr/>
        </p:nvSpPr>
        <p:spPr>
          <a:xfrm>
            <a:off x="8360075" y="3443649"/>
            <a:ext cx="2514600" cy="14031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Comparison used to identify gaps in data and drive requirements. </a:t>
            </a:r>
          </a:p>
        </p:txBody>
      </p:sp>
      <p:cxnSp>
        <p:nvCxnSpPr>
          <p:cNvPr id="26" name="Straight Connector 25">
            <a:extLst>
              <a:ext uri="{FF2B5EF4-FFF2-40B4-BE49-F238E27FC236}">
                <a16:creationId xmlns:a16="http://schemas.microsoft.com/office/drawing/2014/main" id="{45031A70-701F-0533-455E-521EFAA86C66}"/>
              </a:ext>
            </a:extLst>
          </p:cNvPr>
          <p:cNvCxnSpPr>
            <a:cxnSpLocks/>
            <a:endCxn id="25" idx="1"/>
          </p:cNvCxnSpPr>
          <p:nvPr/>
        </p:nvCxnSpPr>
        <p:spPr>
          <a:xfrm>
            <a:off x="5807759" y="4145218"/>
            <a:ext cx="2552316"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466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BBEFE-2C0C-E751-A7DA-1EE3274A7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0D7C02-84F0-FB0B-D5EF-909C5E0A85ED}"/>
              </a:ext>
            </a:extLst>
          </p:cNvPr>
          <p:cNvSpPr>
            <a:spLocks noGrp="1"/>
          </p:cNvSpPr>
          <p:nvPr>
            <p:ph type="title"/>
          </p:nvPr>
        </p:nvSpPr>
        <p:spPr>
          <a:xfrm>
            <a:off x="1066800" y="177944"/>
            <a:ext cx="10058400" cy="1609344"/>
          </a:xfrm>
        </p:spPr>
        <p:txBody>
          <a:bodyPr/>
          <a:lstStyle/>
          <a:p>
            <a:r>
              <a:rPr lang="en-US" dirty="0"/>
              <a:t>IA Metamodel - Baseline</a:t>
            </a:r>
          </a:p>
        </p:txBody>
      </p:sp>
      <p:sp>
        <p:nvSpPr>
          <p:cNvPr id="3" name="Rounded Rectangle 2">
            <a:extLst>
              <a:ext uri="{FF2B5EF4-FFF2-40B4-BE49-F238E27FC236}">
                <a16:creationId xmlns:a16="http://schemas.microsoft.com/office/drawing/2014/main" id="{5C5B3E28-74F8-30AC-54D4-3EA71325FEAF}"/>
              </a:ext>
            </a:extLst>
          </p:cNvPr>
          <p:cNvSpPr/>
          <p:nvPr/>
        </p:nvSpPr>
        <p:spPr>
          <a:xfrm>
            <a:off x="6443003" y="2304288"/>
            <a:ext cx="2479431" cy="4256884"/>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Baseline Information Asset</a:t>
            </a:r>
          </a:p>
        </p:txBody>
      </p:sp>
      <p:sp>
        <p:nvSpPr>
          <p:cNvPr id="13" name="Rounded Rectangle 12">
            <a:extLst>
              <a:ext uri="{FF2B5EF4-FFF2-40B4-BE49-F238E27FC236}">
                <a16:creationId xmlns:a16="http://schemas.microsoft.com/office/drawing/2014/main" id="{E63915BD-0B28-0A45-E039-5ED0BF1AFF1C}"/>
              </a:ext>
            </a:extLst>
          </p:cNvPr>
          <p:cNvSpPr/>
          <p:nvPr/>
        </p:nvSpPr>
        <p:spPr>
          <a:xfrm>
            <a:off x="2063826" y="4747588"/>
            <a:ext cx="2479431" cy="588460"/>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Baseline Business Process</a:t>
            </a:r>
          </a:p>
        </p:txBody>
      </p:sp>
      <p:sp>
        <p:nvSpPr>
          <p:cNvPr id="14" name="Rounded Rectangle 13">
            <a:extLst>
              <a:ext uri="{FF2B5EF4-FFF2-40B4-BE49-F238E27FC236}">
                <a16:creationId xmlns:a16="http://schemas.microsoft.com/office/drawing/2014/main" id="{9A536EBC-9F17-781F-49CA-7E7137B78411}"/>
              </a:ext>
            </a:extLst>
          </p:cNvPr>
          <p:cNvSpPr/>
          <p:nvPr/>
        </p:nvSpPr>
        <p:spPr>
          <a:xfrm>
            <a:off x="2037447" y="5803196"/>
            <a:ext cx="2479431" cy="588460"/>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Baseline Application</a:t>
            </a:r>
          </a:p>
        </p:txBody>
      </p:sp>
      <p:sp>
        <p:nvSpPr>
          <p:cNvPr id="15" name="Rounded Rectangle 14">
            <a:extLst>
              <a:ext uri="{FF2B5EF4-FFF2-40B4-BE49-F238E27FC236}">
                <a16:creationId xmlns:a16="http://schemas.microsoft.com/office/drawing/2014/main" id="{C31261B0-6608-EA16-06DC-AAE1D1A3D4C8}"/>
              </a:ext>
            </a:extLst>
          </p:cNvPr>
          <p:cNvSpPr/>
          <p:nvPr/>
        </p:nvSpPr>
        <p:spPr>
          <a:xfrm>
            <a:off x="2063826" y="3572009"/>
            <a:ext cx="2479431" cy="588460"/>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Baseline Data Role</a:t>
            </a:r>
          </a:p>
        </p:txBody>
      </p:sp>
      <p:sp>
        <p:nvSpPr>
          <p:cNvPr id="16" name="Rounded Rectangle 15">
            <a:extLst>
              <a:ext uri="{FF2B5EF4-FFF2-40B4-BE49-F238E27FC236}">
                <a16:creationId xmlns:a16="http://schemas.microsoft.com/office/drawing/2014/main" id="{6AD6EDBF-50DE-884D-2C57-7CCDFF1C58B4}"/>
              </a:ext>
            </a:extLst>
          </p:cNvPr>
          <p:cNvSpPr/>
          <p:nvPr/>
        </p:nvSpPr>
        <p:spPr>
          <a:xfrm>
            <a:off x="2037447" y="2591353"/>
            <a:ext cx="2479431" cy="588460"/>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Desired Outcome</a:t>
            </a:r>
          </a:p>
        </p:txBody>
      </p:sp>
      <p:cxnSp>
        <p:nvCxnSpPr>
          <p:cNvPr id="18" name="Straight Connector 17">
            <a:extLst>
              <a:ext uri="{FF2B5EF4-FFF2-40B4-BE49-F238E27FC236}">
                <a16:creationId xmlns:a16="http://schemas.microsoft.com/office/drawing/2014/main" id="{F78FFE9C-98BC-6D96-F490-947D377EF23D}"/>
              </a:ext>
            </a:extLst>
          </p:cNvPr>
          <p:cNvCxnSpPr>
            <a:cxnSpLocks/>
            <a:stCxn id="16" idx="3"/>
          </p:cNvCxnSpPr>
          <p:nvPr/>
        </p:nvCxnSpPr>
        <p:spPr>
          <a:xfrm>
            <a:off x="4516878" y="2885583"/>
            <a:ext cx="192612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64E9FB2-6B48-2F21-BABC-862A01F0BF65}"/>
              </a:ext>
            </a:extLst>
          </p:cNvPr>
          <p:cNvCxnSpPr>
            <a:cxnSpLocks/>
            <a:stCxn id="15" idx="3"/>
          </p:cNvCxnSpPr>
          <p:nvPr/>
        </p:nvCxnSpPr>
        <p:spPr>
          <a:xfrm>
            <a:off x="4543257" y="3866239"/>
            <a:ext cx="1899746"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71DE5658-A5C8-F804-8972-6BFC88F242E8}"/>
              </a:ext>
            </a:extLst>
          </p:cNvPr>
          <p:cNvCxnSpPr>
            <a:cxnSpLocks/>
            <a:stCxn id="13" idx="3"/>
          </p:cNvCxnSpPr>
          <p:nvPr/>
        </p:nvCxnSpPr>
        <p:spPr>
          <a:xfrm>
            <a:off x="4543257" y="5041818"/>
            <a:ext cx="1899746"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F6DD703-E04D-3F4D-F979-0857B77F4FBD}"/>
              </a:ext>
            </a:extLst>
          </p:cNvPr>
          <p:cNvCxnSpPr>
            <a:cxnSpLocks/>
            <a:stCxn id="14" idx="3"/>
          </p:cNvCxnSpPr>
          <p:nvPr/>
        </p:nvCxnSpPr>
        <p:spPr>
          <a:xfrm>
            <a:off x="4516878" y="6097426"/>
            <a:ext cx="1926125" cy="0"/>
          </a:xfrm>
          <a:prstGeom prst="line">
            <a:avLst/>
          </a:prstGeom>
          <a:ln w="19050"/>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E3936522-531B-034D-BED3-0AB15677610D}"/>
              </a:ext>
            </a:extLst>
          </p:cNvPr>
          <p:cNvSpPr/>
          <p:nvPr/>
        </p:nvSpPr>
        <p:spPr>
          <a:xfrm>
            <a:off x="1379095" y="1956816"/>
            <a:ext cx="8334531" cy="4773168"/>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Capability</a:t>
            </a:r>
          </a:p>
        </p:txBody>
      </p:sp>
      <p:sp>
        <p:nvSpPr>
          <p:cNvPr id="29" name="TextBox 28">
            <a:extLst>
              <a:ext uri="{FF2B5EF4-FFF2-40B4-BE49-F238E27FC236}">
                <a16:creationId xmlns:a16="http://schemas.microsoft.com/office/drawing/2014/main" id="{1C823C48-20DD-2659-9DC8-2E77F5641A3B}"/>
              </a:ext>
            </a:extLst>
          </p:cNvPr>
          <p:cNvSpPr txBox="1"/>
          <p:nvPr/>
        </p:nvSpPr>
        <p:spPr>
          <a:xfrm>
            <a:off x="4546860" y="4798736"/>
            <a:ext cx="734496" cy="246221"/>
          </a:xfrm>
          <a:prstGeom prst="rect">
            <a:avLst/>
          </a:prstGeom>
          <a:noFill/>
        </p:spPr>
        <p:txBody>
          <a:bodyPr wrap="none" rtlCol="0">
            <a:spAutoFit/>
          </a:bodyPr>
          <a:lstStyle/>
          <a:p>
            <a:r>
              <a:rPr lang="en-US" sz="1000" dirty="0"/>
              <a:t>Accesses</a:t>
            </a:r>
          </a:p>
        </p:txBody>
      </p:sp>
      <p:sp>
        <p:nvSpPr>
          <p:cNvPr id="30" name="TextBox 29">
            <a:extLst>
              <a:ext uri="{FF2B5EF4-FFF2-40B4-BE49-F238E27FC236}">
                <a16:creationId xmlns:a16="http://schemas.microsoft.com/office/drawing/2014/main" id="{DA16E812-5D95-5A13-DD8D-401B49AA4C9A}"/>
              </a:ext>
            </a:extLst>
          </p:cNvPr>
          <p:cNvSpPr txBox="1"/>
          <p:nvPr/>
        </p:nvSpPr>
        <p:spPr>
          <a:xfrm>
            <a:off x="4519378" y="5865536"/>
            <a:ext cx="734496" cy="246221"/>
          </a:xfrm>
          <a:prstGeom prst="rect">
            <a:avLst/>
          </a:prstGeom>
          <a:noFill/>
        </p:spPr>
        <p:txBody>
          <a:bodyPr wrap="none" rtlCol="0">
            <a:spAutoFit/>
          </a:bodyPr>
          <a:lstStyle/>
          <a:p>
            <a:r>
              <a:rPr lang="en-US" sz="1000" dirty="0"/>
              <a:t>Accesses</a:t>
            </a:r>
          </a:p>
        </p:txBody>
      </p:sp>
      <p:sp>
        <p:nvSpPr>
          <p:cNvPr id="31" name="TextBox 30">
            <a:extLst>
              <a:ext uri="{FF2B5EF4-FFF2-40B4-BE49-F238E27FC236}">
                <a16:creationId xmlns:a16="http://schemas.microsoft.com/office/drawing/2014/main" id="{1292454A-D092-A3F7-3641-06FF22B1906B}"/>
              </a:ext>
            </a:extLst>
          </p:cNvPr>
          <p:cNvSpPr txBox="1"/>
          <p:nvPr/>
        </p:nvSpPr>
        <p:spPr>
          <a:xfrm>
            <a:off x="4536866" y="3634500"/>
            <a:ext cx="1741182" cy="246221"/>
          </a:xfrm>
          <a:prstGeom prst="rect">
            <a:avLst/>
          </a:prstGeom>
          <a:noFill/>
        </p:spPr>
        <p:txBody>
          <a:bodyPr wrap="none" rtlCol="0">
            <a:spAutoFit/>
          </a:bodyPr>
          <a:lstStyle/>
          <a:p>
            <a:r>
              <a:rPr lang="en-US" sz="1000" dirty="0"/>
              <a:t>Supply/Consume/Manage</a:t>
            </a:r>
          </a:p>
        </p:txBody>
      </p:sp>
      <p:sp>
        <p:nvSpPr>
          <p:cNvPr id="32" name="TextBox 31">
            <a:extLst>
              <a:ext uri="{FF2B5EF4-FFF2-40B4-BE49-F238E27FC236}">
                <a16:creationId xmlns:a16="http://schemas.microsoft.com/office/drawing/2014/main" id="{1B273C0C-9076-BB5C-7F6B-C1E69A72FE37}"/>
              </a:ext>
            </a:extLst>
          </p:cNvPr>
          <p:cNvSpPr txBox="1"/>
          <p:nvPr/>
        </p:nvSpPr>
        <p:spPr>
          <a:xfrm>
            <a:off x="4546858" y="2663601"/>
            <a:ext cx="569387" cy="246221"/>
          </a:xfrm>
          <a:prstGeom prst="rect">
            <a:avLst/>
          </a:prstGeom>
          <a:noFill/>
        </p:spPr>
        <p:txBody>
          <a:bodyPr wrap="none" rtlCol="0">
            <a:spAutoFit/>
          </a:bodyPr>
          <a:lstStyle/>
          <a:p>
            <a:r>
              <a:rPr lang="en-US" sz="1000" dirty="0"/>
              <a:t>Drives</a:t>
            </a:r>
          </a:p>
        </p:txBody>
      </p:sp>
    </p:spTree>
    <p:extLst>
      <p:ext uri="{BB962C8B-B14F-4D97-AF65-F5344CB8AC3E}">
        <p14:creationId xmlns:p14="http://schemas.microsoft.com/office/powerpoint/2010/main" val="803621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6A79-2A30-30CC-4E58-F97B0153E2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7BCA3A-D47C-5AC2-0554-3715499AA92A}"/>
              </a:ext>
            </a:extLst>
          </p:cNvPr>
          <p:cNvSpPr>
            <a:spLocks noGrp="1"/>
          </p:cNvSpPr>
          <p:nvPr>
            <p:ph type="title"/>
          </p:nvPr>
        </p:nvSpPr>
        <p:spPr>
          <a:xfrm>
            <a:off x="1066800" y="177944"/>
            <a:ext cx="10058400" cy="1609344"/>
          </a:xfrm>
        </p:spPr>
        <p:txBody>
          <a:bodyPr/>
          <a:lstStyle/>
          <a:p>
            <a:r>
              <a:rPr lang="en-US" dirty="0"/>
              <a:t>IA Metamodel - Target</a:t>
            </a:r>
          </a:p>
        </p:txBody>
      </p:sp>
      <p:sp>
        <p:nvSpPr>
          <p:cNvPr id="3" name="Rounded Rectangle 2">
            <a:extLst>
              <a:ext uri="{FF2B5EF4-FFF2-40B4-BE49-F238E27FC236}">
                <a16:creationId xmlns:a16="http://schemas.microsoft.com/office/drawing/2014/main" id="{4DD6145B-CA24-425A-D5BD-008D9E97EBBC}"/>
              </a:ext>
            </a:extLst>
          </p:cNvPr>
          <p:cNvSpPr/>
          <p:nvPr/>
        </p:nvSpPr>
        <p:spPr>
          <a:xfrm>
            <a:off x="6443003" y="2304288"/>
            <a:ext cx="2479431" cy="4256884"/>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Target Information Asset</a:t>
            </a:r>
          </a:p>
        </p:txBody>
      </p:sp>
      <p:sp>
        <p:nvSpPr>
          <p:cNvPr id="13" name="Rounded Rectangle 12">
            <a:extLst>
              <a:ext uri="{FF2B5EF4-FFF2-40B4-BE49-F238E27FC236}">
                <a16:creationId xmlns:a16="http://schemas.microsoft.com/office/drawing/2014/main" id="{7946C44D-312A-9228-A832-7BEC20C550B8}"/>
              </a:ext>
            </a:extLst>
          </p:cNvPr>
          <p:cNvSpPr/>
          <p:nvPr/>
        </p:nvSpPr>
        <p:spPr>
          <a:xfrm>
            <a:off x="2063826" y="4747588"/>
            <a:ext cx="2479431" cy="588460"/>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Target Business Process</a:t>
            </a:r>
          </a:p>
        </p:txBody>
      </p:sp>
      <p:sp>
        <p:nvSpPr>
          <p:cNvPr id="14" name="Rounded Rectangle 13">
            <a:extLst>
              <a:ext uri="{FF2B5EF4-FFF2-40B4-BE49-F238E27FC236}">
                <a16:creationId xmlns:a16="http://schemas.microsoft.com/office/drawing/2014/main" id="{2DF96CFA-460F-8417-2140-EFBB03CE3D51}"/>
              </a:ext>
            </a:extLst>
          </p:cNvPr>
          <p:cNvSpPr/>
          <p:nvPr/>
        </p:nvSpPr>
        <p:spPr>
          <a:xfrm>
            <a:off x="2037447" y="5803196"/>
            <a:ext cx="2479431" cy="588460"/>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Target Application,</a:t>
            </a:r>
          </a:p>
        </p:txBody>
      </p:sp>
      <p:sp>
        <p:nvSpPr>
          <p:cNvPr id="15" name="Rounded Rectangle 14">
            <a:extLst>
              <a:ext uri="{FF2B5EF4-FFF2-40B4-BE49-F238E27FC236}">
                <a16:creationId xmlns:a16="http://schemas.microsoft.com/office/drawing/2014/main" id="{63647827-7C4F-B77E-4DA0-2B1369C1AF00}"/>
              </a:ext>
            </a:extLst>
          </p:cNvPr>
          <p:cNvSpPr/>
          <p:nvPr/>
        </p:nvSpPr>
        <p:spPr>
          <a:xfrm>
            <a:off x="2063826" y="3572009"/>
            <a:ext cx="2479431" cy="588460"/>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Target Data Role</a:t>
            </a:r>
          </a:p>
        </p:txBody>
      </p:sp>
      <p:sp>
        <p:nvSpPr>
          <p:cNvPr id="16" name="Rounded Rectangle 15">
            <a:extLst>
              <a:ext uri="{FF2B5EF4-FFF2-40B4-BE49-F238E27FC236}">
                <a16:creationId xmlns:a16="http://schemas.microsoft.com/office/drawing/2014/main" id="{E3A1B02A-4FD2-896F-1F34-B0900B41CB5F}"/>
              </a:ext>
            </a:extLst>
          </p:cNvPr>
          <p:cNvSpPr/>
          <p:nvPr/>
        </p:nvSpPr>
        <p:spPr>
          <a:xfrm>
            <a:off x="2037447" y="2591353"/>
            <a:ext cx="2479431" cy="588460"/>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Desired Outcome</a:t>
            </a:r>
          </a:p>
        </p:txBody>
      </p:sp>
      <p:cxnSp>
        <p:nvCxnSpPr>
          <p:cNvPr id="18" name="Straight Connector 17">
            <a:extLst>
              <a:ext uri="{FF2B5EF4-FFF2-40B4-BE49-F238E27FC236}">
                <a16:creationId xmlns:a16="http://schemas.microsoft.com/office/drawing/2014/main" id="{1DAD095E-556B-3FA1-B0AC-220701C8E2CD}"/>
              </a:ext>
            </a:extLst>
          </p:cNvPr>
          <p:cNvCxnSpPr>
            <a:cxnSpLocks/>
            <a:stCxn id="16" idx="3"/>
          </p:cNvCxnSpPr>
          <p:nvPr/>
        </p:nvCxnSpPr>
        <p:spPr>
          <a:xfrm>
            <a:off x="4516878" y="2885583"/>
            <a:ext cx="192612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3595B46A-5957-0A8F-3E39-C4E204252696}"/>
              </a:ext>
            </a:extLst>
          </p:cNvPr>
          <p:cNvCxnSpPr>
            <a:cxnSpLocks/>
            <a:stCxn id="15" idx="3"/>
          </p:cNvCxnSpPr>
          <p:nvPr/>
        </p:nvCxnSpPr>
        <p:spPr>
          <a:xfrm>
            <a:off x="4543257" y="3866239"/>
            <a:ext cx="1899746"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8CF85FDA-DBC4-B0B2-8459-EDC123A119CA}"/>
              </a:ext>
            </a:extLst>
          </p:cNvPr>
          <p:cNvCxnSpPr>
            <a:cxnSpLocks/>
            <a:stCxn id="13" idx="3"/>
          </p:cNvCxnSpPr>
          <p:nvPr/>
        </p:nvCxnSpPr>
        <p:spPr>
          <a:xfrm>
            <a:off x="4543257" y="5041818"/>
            <a:ext cx="1899746"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AE27FC3-974A-F67C-CCCF-50532CB39211}"/>
              </a:ext>
            </a:extLst>
          </p:cNvPr>
          <p:cNvCxnSpPr>
            <a:cxnSpLocks/>
            <a:stCxn id="14" idx="3"/>
          </p:cNvCxnSpPr>
          <p:nvPr/>
        </p:nvCxnSpPr>
        <p:spPr>
          <a:xfrm>
            <a:off x="4516878" y="6097426"/>
            <a:ext cx="1926125" cy="0"/>
          </a:xfrm>
          <a:prstGeom prst="line">
            <a:avLst/>
          </a:prstGeom>
          <a:ln w="19050"/>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3C47B25C-3DFF-DF87-DD1C-65DD17F182A1}"/>
              </a:ext>
            </a:extLst>
          </p:cNvPr>
          <p:cNvSpPr/>
          <p:nvPr/>
        </p:nvSpPr>
        <p:spPr>
          <a:xfrm>
            <a:off x="1379095" y="1956816"/>
            <a:ext cx="8334531" cy="4773168"/>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Capability</a:t>
            </a:r>
          </a:p>
        </p:txBody>
      </p:sp>
      <p:sp>
        <p:nvSpPr>
          <p:cNvPr id="29" name="TextBox 28">
            <a:extLst>
              <a:ext uri="{FF2B5EF4-FFF2-40B4-BE49-F238E27FC236}">
                <a16:creationId xmlns:a16="http://schemas.microsoft.com/office/drawing/2014/main" id="{58C352EA-3358-3D00-5CD5-C4D063E31C3B}"/>
              </a:ext>
            </a:extLst>
          </p:cNvPr>
          <p:cNvSpPr txBox="1"/>
          <p:nvPr/>
        </p:nvSpPr>
        <p:spPr>
          <a:xfrm>
            <a:off x="4546860" y="4798736"/>
            <a:ext cx="734496" cy="246221"/>
          </a:xfrm>
          <a:prstGeom prst="rect">
            <a:avLst/>
          </a:prstGeom>
          <a:noFill/>
        </p:spPr>
        <p:txBody>
          <a:bodyPr wrap="none" rtlCol="0">
            <a:spAutoFit/>
          </a:bodyPr>
          <a:lstStyle/>
          <a:p>
            <a:r>
              <a:rPr lang="en-US" sz="1000" dirty="0"/>
              <a:t>Accesses</a:t>
            </a:r>
          </a:p>
        </p:txBody>
      </p:sp>
      <p:sp>
        <p:nvSpPr>
          <p:cNvPr id="30" name="TextBox 29">
            <a:extLst>
              <a:ext uri="{FF2B5EF4-FFF2-40B4-BE49-F238E27FC236}">
                <a16:creationId xmlns:a16="http://schemas.microsoft.com/office/drawing/2014/main" id="{C04484B9-8DF9-CB84-C1C8-A08FA39B7DF6}"/>
              </a:ext>
            </a:extLst>
          </p:cNvPr>
          <p:cNvSpPr txBox="1"/>
          <p:nvPr/>
        </p:nvSpPr>
        <p:spPr>
          <a:xfrm>
            <a:off x="4519378" y="5865536"/>
            <a:ext cx="734496" cy="246221"/>
          </a:xfrm>
          <a:prstGeom prst="rect">
            <a:avLst/>
          </a:prstGeom>
          <a:noFill/>
        </p:spPr>
        <p:txBody>
          <a:bodyPr wrap="none" rtlCol="0">
            <a:spAutoFit/>
          </a:bodyPr>
          <a:lstStyle/>
          <a:p>
            <a:r>
              <a:rPr lang="en-US" sz="1000" dirty="0"/>
              <a:t>Accesses</a:t>
            </a:r>
          </a:p>
        </p:txBody>
      </p:sp>
      <p:sp>
        <p:nvSpPr>
          <p:cNvPr id="31" name="TextBox 30">
            <a:extLst>
              <a:ext uri="{FF2B5EF4-FFF2-40B4-BE49-F238E27FC236}">
                <a16:creationId xmlns:a16="http://schemas.microsoft.com/office/drawing/2014/main" id="{2EDD9858-2783-739F-91FD-496976026A84}"/>
              </a:ext>
            </a:extLst>
          </p:cNvPr>
          <p:cNvSpPr txBox="1"/>
          <p:nvPr/>
        </p:nvSpPr>
        <p:spPr>
          <a:xfrm>
            <a:off x="4536866" y="3634500"/>
            <a:ext cx="1741182" cy="246221"/>
          </a:xfrm>
          <a:prstGeom prst="rect">
            <a:avLst/>
          </a:prstGeom>
          <a:noFill/>
        </p:spPr>
        <p:txBody>
          <a:bodyPr wrap="none" rtlCol="0">
            <a:spAutoFit/>
          </a:bodyPr>
          <a:lstStyle/>
          <a:p>
            <a:r>
              <a:rPr lang="en-US" sz="1000" dirty="0"/>
              <a:t>Supply/Consume/Manage</a:t>
            </a:r>
          </a:p>
        </p:txBody>
      </p:sp>
      <p:sp>
        <p:nvSpPr>
          <p:cNvPr id="32" name="TextBox 31">
            <a:extLst>
              <a:ext uri="{FF2B5EF4-FFF2-40B4-BE49-F238E27FC236}">
                <a16:creationId xmlns:a16="http://schemas.microsoft.com/office/drawing/2014/main" id="{5F57BB01-7E27-A7F0-6512-4446F77AB92C}"/>
              </a:ext>
            </a:extLst>
          </p:cNvPr>
          <p:cNvSpPr txBox="1"/>
          <p:nvPr/>
        </p:nvSpPr>
        <p:spPr>
          <a:xfrm>
            <a:off x="4546858" y="2663601"/>
            <a:ext cx="569387" cy="246221"/>
          </a:xfrm>
          <a:prstGeom prst="rect">
            <a:avLst/>
          </a:prstGeom>
          <a:noFill/>
        </p:spPr>
        <p:txBody>
          <a:bodyPr wrap="none" rtlCol="0">
            <a:spAutoFit/>
          </a:bodyPr>
          <a:lstStyle/>
          <a:p>
            <a:r>
              <a:rPr lang="en-US" sz="1000" dirty="0"/>
              <a:t>Drives</a:t>
            </a:r>
          </a:p>
        </p:txBody>
      </p:sp>
    </p:spTree>
    <p:extLst>
      <p:ext uri="{BB962C8B-B14F-4D97-AF65-F5344CB8AC3E}">
        <p14:creationId xmlns:p14="http://schemas.microsoft.com/office/powerpoint/2010/main" val="2816058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762F887-1F56-7105-46BB-9D5AA5D7D4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3258" y="1622795"/>
            <a:ext cx="8085483" cy="523520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70B34E4-F41D-ADD7-B584-87D5637E6E6F}"/>
              </a:ext>
            </a:extLst>
          </p:cNvPr>
          <p:cNvSpPr txBox="1">
            <a:spLocks/>
          </p:cNvSpPr>
          <p:nvPr/>
        </p:nvSpPr>
        <p:spPr>
          <a:xfrm>
            <a:off x="1069848" y="484632"/>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TOGAF Artifacts</a:t>
            </a:r>
          </a:p>
        </p:txBody>
      </p:sp>
    </p:spTree>
    <p:extLst>
      <p:ext uri="{BB962C8B-B14F-4D97-AF65-F5344CB8AC3E}">
        <p14:creationId xmlns:p14="http://schemas.microsoft.com/office/powerpoint/2010/main" val="2592384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2CC0D-C4F2-7004-0B60-EF803F66B1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AE0BA7-B7A3-F801-5943-5D0AB30DFD72}"/>
              </a:ext>
            </a:extLst>
          </p:cNvPr>
          <p:cNvSpPr>
            <a:spLocks noGrp="1"/>
          </p:cNvSpPr>
          <p:nvPr>
            <p:ph type="title"/>
          </p:nvPr>
        </p:nvSpPr>
        <p:spPr/>
        <p:txBody>
          <a:bodyPr/>
          <a:lstStyle/>
          <a:p>
            <a:r>
              <a:rPr lang="en-US" dirty="0"/>
              <a:t>MITA 4.0 Artifacts</a:t>
            </a:r>
          </a:p>
        </p:txBody>
      </p:sp>
      <p:sp>
        <p:nvSpPr>
          <p:cNvPr id="3" name="Rectangle 2">
            <a:extLst>
              <a:ext uri="{FF2B5EF4-FFF2-40B4-BE49-F238E27FC236}">
                <a16:creationId xmlns:a16="http://schemas.microsoft.com/office/drawing/2014/main" id="{183E2ED5-F861-66B2-B69E-D6A6E3E05914}"/>
              </a:ext>
            </a:extLst>
          </p:cNvPr>
          <p:cNvSpPr/>
          <p:nvPr/>
        </p:nvSpPr>
        <p:spPr>
          <a:xfrm>
            <a:off x="598311" y="2082678"/>
            <a:ext cx="3381022" cy="373502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t>Catalogs</a:t>
            </a:r>
          </a:p>
        </p:txBody>
      </p:sp>
      <p:sp>
        <p:nvSpPr>
          <p:cNvPr id="8" name="Rectangle 7">
            <a:extLst>
              <a:ext uri="{FF2B5EF4-FFF2-40B4-BE49-F238E27FC236}">
                <a16:creationId xmlns:a16="http://schemas.microsoft.com/office/drawing/2014/main" id="{A966DCC2-BAC1-5016-1C5C-624C00360296}"/>
              </a:ext>
            </a:extLst>
          </p:cNvPr>
          <p:cNvSpPr/>
          <p:nvPr/>
        </p:nvSpPr>
        <p:spPr>
          <a:xfrm>
            <a:off x="4120690" y="2065746"/>
            <a:ext cx="3890477" cy="375858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t>Matrices</a:t>
            </a:r>
          </a:p>
        </p:txBody>
      </p:sp>
      <p:sp>
        <p:nvSpPr>
          <p:cNvPr id="14" name="Rectangle 13">
            <a:extLst>
              <a:ext uri="{FF2B5EF4-FFF2-40B4-BE49-F238E27FC236}">
                <a16:creationId xmlns:a16="http://schemas.microsoft.com/office/drawing/2014/main" id="{7FD96AD4-67DC-2C1A-2C30-16114202646F}"/>
              </a:ext>
            </a:extLst>
          </p:cNvPr>
          <p:cNvSpPr/>
          <p:nvPr/>
        </p:nvSpPr>
        <p:spPr>
          <a:xfrm>
            <a:off x="8154079" y="2074212"/>
            <a:ext cx="3346909" cy="375858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t>Diagram</a:t>
            </a:r>
          </a:p>
        </p:txBody>
      </p:sp>
      <p:sp>
        <p:nvSpPr>
          <p:cNvPr id="19" name="Rectangle 18">
            <a:extLst>
              <a:ext uri="{FF2B5EF4-FFF2-40B4-BE49-F238E27FC236}">
                <a16:creationId xmlns:a16="http://schemas.microsoft.com/office/drawing/2014/main" id="{E2BDA83F-5832-188A-9291-85173E53BE33}"/>
              </a:ext>
            </a:extLst>
          </p:cNvPr>
          <p:cNvSpPr/>
          <p:nvPr/>
        </p:nvSpPr>
        <p:spPr>
          <a:xfrm>
            <a:off x="404446" y="1669774"/>
            <a:ext cx="11377246" cy="4324626"/>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Integration Architecture Artifacts</a:t>
            </a:r>
          </a:p>
        </p:txBody>
      </p:sp>
      <p:sp>
        <p:nvSpPr>
          <p:cNvPr id="20" name="Rectangle 19">
            <a:extLst>
              <a:ext uri="{FF2B5EF4-FFF2-40B4-BE49-F238E27FC236}">
                <a16:creationId xmlns:a16="http://schemas.microsoft.com/office/drawing/2014/main" id="{4C3F9907-2735-99DC-C7CE-F86475A06438}"/>
              </a:ext>
            </a:extLst>
          </p:cNvPr>
          <p:cNvSpPr/>
          <p:nvPr/>
        </p:nvSpPr>
        <p:spPr>
          <a:xfrm>
            <a:off x="4120690" y="6122922"/>
            <a:ext cx="2924878" cy="40123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*Required Standalone Artifact</a:t>
            </a:r>
          </a:p>
        </p:txBody>
      </p:sp>
      <p:sp>
        <p:nvSpPr>
          <p:cNvPr id="21" name="Rectangle 20">
            <a:extLst>
              <a:ext uri="{FF2B5EF4-FFF2-40B4-BE49-F238E27FC236}">
                <a16:creationId xmlns:a16="http://schemas.microsoft.com/office/drawing/2014/main" id="{49C76443-2FBA-8D58-2319-DC9FF925E48C}"/>
              </a:ext>
            </a:extLst>
          </p:cNvPr>
          <p:cNvSpPr/>
          <p:nvPr/>
        </p:nvSpPr>
        <p:spPr>
          <a:xfrm>
            <a:off x="7730916" y="6122922"/>
            <a:ext cx="3058048" cy="401233"/>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Recommended Artifact</a:t>
            </a:r>
          </a:p>
        </p:txBody>
      </p:sp>
      <p:sp>
        <p:nvSpPr>
          <p:cNvPr id="24" name="Rectangle 23">
            <a:extLst>
              <a:ext uri="{FF2B5EF4-FFF2-40B4-BE49-F238E27FC236}">
                <a16:creationId xmlns:a16="http://schemas.microsoft.com/office/drawing/2014/main" id="{307584F8-39A1-26A3-8CBD-C32B0A965AED}"/>
              </a:ext>
            </a:extLst>
          </p:cNvPr>
          <p:cNvSpPr/>
          <p:nvPr/>
        </p:nvSpPr>
        <p:spPr>
          <a:xfrm>
            <a:off x="598311" y="6136824"/>
            <a:ext cx="3001385" cy="387332"/>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**Required &amp; Included in COO</a:t>
            </a:r>
          </a:p>
        </p:txBody>
      </p:sp>
      <p:sp>
        <p:nvSpPr>
          <p:cNvPr id="25" name="Rectangle 24">
            <a:extLst>
              <a:ext uri="{FF2B5EF4-FFF2-40B4-BE49-F238E27FC236}">
                <a16:creationId xmlns:a16="http://schemas.microsoft.com/office/drawing/2014/main" id="{FB6DD8C6-F696-1942-1208-648A0FAE442D}"/>
              </a:ext>
            </a:extLst>
          </p:cNvPr>
          <p:cNvSpPr/>
          <p:nvPr/>
        </p:nvSpPr>
        <p:spPr>
          <a:xfrm>
            <a:off x="743123" y="2556623"/>
            <a:ext cx="3134610" cy="364744"/>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Role Catalog**</a:t>
            </a:r>
          </a:p>
        </p:txBody>
      </p:sp>
      <p:sp>
        <p:nvSpPr>
          <p:cNvPr id="26" name="Rectangle 25">
            <a:extLst>
              <a:ext uri="{FF2B5EF4-FFF2-40B4-BE49-F238E27FC236}">
                <a16:creationId xmlns:a16="http://schemas.microsoft.com/office/drawing/2014/main" id="{8FFED424-A2E0-E5B1-A153-3C5E88418621}"/>
              </a:ext>
            </a:extLst>
          </p:cNvPr>
          <p:cNvSpPr/>
          <p:nvPr/>
        </p:nvSpPr>
        <p:spPr>
          <a:xfrm>
            <a:off x="743123" y="2995027"/>
            <a:ext cx="3134610" cy="364744"/>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Capability Catalog**</a:t>
            </a:r>
          </a:p>
        </p:txBody>
      </p:sp>
      <p:sp>
        <p:nvSpPr>
          <p:cNvPr id="27" name="Rectangle 26">
            <a:extLst>
              <a:ext uri="{FF2B5EF4-FFF2-40B4-BE49-F238E27FC236}">
                <a16:creationId xmlns:a16="http://schemas.microsoft.com/office/drawing/2014/main" id="{D489A83A-3448-EF45-3537-2D50DD38ECF9}"/>
              </a:ext>
            </a:extLst>
          </p:cNvPr>
          <p:cNvSpPr/>
          <p:nvPr/>
        </p:nvSpPr>
        <p:spPr>
          <a:xfrm>
            <a:off x="4312765" y="2556623"/>
            <a:ext cx="3382811" cy="364744"/>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Capability/Organization Matrix**</a:t>
            </a:r>
          </a:p>
        </p:txBody>
      </p:sp>
      <p:sp>
        <p:nvSpPr>
          <p:cNvPr id="28" name="Rectangle 27">
            <a:extLst>
              <a:ext uri="{FF2B5EF4-FFF2-40B4-BE49-F238E27FC236}">
                <a16:creationId xmlns:a16="http://schemas.microsoft.com/office/drawing/2014/main" id="{94DB4BF2-2CB3-52DA-E5CB-5F3AC4A34F88}"/>
              </a:ext>
            </a:extLst>
          </p:cNvPr>
          <p:cNvSpPr/>
          <p:nvPr/>
        </p:nvSpPr>
        <p:spPr>
          <a:xfrm>
            <a:off x="743123" y="3429000"/>
            <a:ext cx="3134610" cy="36474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Requirements Catalog*</a:t>
            </a:r>
          </a:p>
        </p:txBody>
      </p:sp>
    </p:spTree>
    <p:extLst>
      <p:ext uri="{BB962C8B-B14F-4D97-AF65-F5344CB8AC3E}">
        <p14:creationId xmlns:p14="http://schemas.microsoft.com/office/powerpoint/2010/main" val="2821881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41D48-E325-7085-47E7-6961720FB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82BE0-4CA1-8B50-C773-859182BDDF5C}"/>
              </a:ext>
            </a:extLst>
          </p:cNvPr>
          <p:cNvSpPr>
            <a:spLocks noGrp="1"/>
          </p:cNvSpPr>
          <p:nvPr>
            <p:ph type="title"/>
          </p:nvPr>
        </p:nvSpPr>
        <p:spPr/>
        <p:txBody>
          <a:bodyPr/>
          <a:lstStyle/>
          <a:p>
            <a:r>
              <a:rPr lang="en-US" dirty="0"/>
              <a:t>MITA 4.0 Artifacts</a:t>
            </a:r>
          </a:p>
        </p:txBody>
      </p:sp>
      <p:sp>
        <p:nvSpPr>
          <p:cNvPr id="3" name="Rectangle 2">
            <a:extLst>
              <a:ext uri="{FF2B5EF4-FFF2-40B4-BE49-F238E27FC236}">
                <a16:creationId xmlns:a16="http://schemas.microsoft.com/office/drawing/2014/main" id="{59281AD2-3908-CA45-9F58-5ED3778D119B}"/>
              </a:ext>
            </a:extLst>
          </p:cNvPr>
          <p:cNvSpPr/>
          <p:nvPr/>
        </p:nvSpPr>
        <p:spPr>
          <a:xfrm>
            <a:off x="598311" y="2082678"/>
            <a:ext cx="3381022" cy="373502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t>Catalogs</a:t>
            </a:r>
          </a:p>
        </p:txBody>
      </p:sp>
      <p:sp>
        <p:nvSpPr>
          <p:cNvPr id="8" name="Rectangle 7">
            <a:extLst>
              <a:ext uri="{FF2B5EF4-FFF2-40B4-BE49-F238E27FC236}">
                <a16:creationId xmlns:a16="http://schemas.microsoft.com/office/drawing/2014/main" id="{03F4BF47-8A20-8995-B9B0-F76D30548582}"/>
              </a:ext>
            </a:extLst>
          </p:cNvPr>
          <p:cNvSpPr/>
          <p:nvPr/>
        </p:nvSpPr>
        <p:spPr>
          <a:xfrm>
            <a:off x="4120690" y="2065746"/>
            <a:ext cx="3890477" cy="375858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t>Matrices</a:t>
            </a:r>
          </a:p>
        </p:txBody>
      </p:sp>
      <p:sp>
        <p:nvSpPr>
          <p:cNvPr id="14" name="Rectangle 13">
            <a:extLst>
              <a:ext uri="{FF2B5EF4-FFF2-40B4-BE49-F238E27FC236}">
                <a16:creationId xmlns:a16="http://schemas.microsoft.com/office/drawing/2014/main" id="{0BAE489D-2906-E7D2-8A7F-E967B8CD05A3}"/>
              </a:ext>
            </a:extLst>
          </p:cNvPr>
          <p:cNvSpPr/>
          <p:nvPr/>
        </p:nvSpPr>
        <p:spPr>
          <a:xfrm>
            <a:off x="8154079" y="2074212"/>
            <a:ext cx="3346909" cy="375858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t>Diagram</a:t>
            </a:r>
          </a:p>
        </p:txBody>
      </p:sp>
      <p:sp>
        <p:nvSpPr>
          <p:cNvPr id="19" name="Rectangle 18">
            <a:extLst>
              <a:ext uri="{FF2B5EF4-FFF2-40B4-BE49-F238E27FC236}">
                <a16:creationId xmlns:a16="http://schemas.microsoft.com/office/drawing/2014/main" id="{46BECB1E-12D1-4EB3-89A2-906B48229F6F}"/>
              </a:ext>
            </a:extLst>
          </p:cNvPr>
          <p:cNvSpPr/>
          <p:nvPr/>
        </p:nvSpPr>
        <p:spPr>
          <a:xfrm>
            <a:off x="404446" y="1669774"/>
            <a:ext cx="11377246" cy="4324626"/>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Business Architecture Artifacts</a:t>
            </a:r>
          </a:p>
        </p:txBody>
      </p:sp>
      <p:sp>
        <p:nvSpPr>
          <p:cNvPr id="20" name="Rectangle 19">
            <a:extLst>
              <a:ext uri="{FF2B5EF4-FFF2-40B4-BE49-F238E27FC236}">
                <a16:creationId xmlns:a16="http://schemas.microsoft.com/office/drawing/2014/main" id="{0776D224-7276-4136-F7C4-604FBAE98D59}"/>
              </a:ext>
            </a:extLst>
          </p:cNvPr>
          <p:cNvSpPr/>
          <p:nvPr/>
        </p:nvSpPr>
        <p:spPr>
          <a:xfrm>
            <a:off x="4120690" y="6122922"/>
            <a:ext cx="2924878" cy="40123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*Required Standalone Artifact</a:t>
            </a:r>
          </a:p>
        </p:txBody>
      </p:sp>
      <p:sp>
        <p:nvSpPr>
          <p:cNvPr id="21" name="Rectangle 20">
            <a:extLst>
              <a:ext uri="{FF2B5EF4-FFF2-40B4-BE49-F238E27FC236}">
                <a16:creationId xmlns:a16="http://schemas.microsoft.com/office/drawing/2014/main" id="{1C7937A8-4229-462A-D5F7-14B5691D2057}"/>
              </a:ext>
            </a:extLst>
          </p:cNvPr>
          <p:cNvSpPr/>
          <p:nvPr/>
        </p:nvSpPr>
        <p:spPr>
          <a:xfrm>
            <a:off x="7730916" y="6122922"/>
            <a:ext cx="3058048" cy="401233"/>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Recommended Artifact</a:t>
            </a:r>
          </a:p>
        </p:txBody>
      </p:sp>
      <p:sp>
        <p:nvSpPr>
          <p:cNvPr id="24" name="Rectangle 23">
            <a:extLst>
              <a:ext uri="{FF2B5EF4-FFF2-40B4-BE49-F238E27FC236}">
                <a16:creationId xmlns:a16="http://schemas.microsoft.com/office/drawing/2014/main" id="{04697BE0-6CAC-BC12-64A5-E7D355169D02}"/>
              </a:ext>
            </a:extLst>
          </p:cNvPr>
          <p:cNvSpPr/>
          <p:nvPr/>
        </p:nvSpPr>
        <p:spPr>
          <a:xfrm>
            <a:off x="598311" y="6136824"/>
            <a:ext cx="3001385" cy="387332"/>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**Required &amp; Included in COO</a:t>
            </a:r>
          </a:p>
        </p:txBody>
      </p:sp>
    </p:spTree>
    <p:extLst>
      <p:ext uri="{BB962C8B-B14F-4D97-AF65-F5344CB8AC3E}">
        <p14:creationId xmlns:p14="http://schemas.microsoft.com/office/powerpoint/2010/main" val="3879621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652A0-E059-3DA1-632C-35072CA5F477}"/>
              </a:ext>
            </a:extLst>
          </p:cNvPr>
          <p:cNvSpPr>
            <a:spLocks noGrp="1"/>
          </p:cNvSpPr>
          <p:nvPr>
            <p:ph type="title"/>
          </p:nvPr>
        </p:nvSpPr>
        <p:spPr/>
        <p:txBody>
          <a:bodyPr/>
          <a:lstStyle/>
          <a:p>
            <a:r>
              <a:rPr lang="en-US" dirty="0"/>
              <a:t>MITA 4.0 Artifacts</a:t>
            </a:r>
          </a:p>
        </p:txBody>
      </p:sp>
      <p:sp>
        <p:nvSpPr>
          <p:cNvPr id="3" name="Rectangle 2">
            <a:extLst>
              <a:ext uri="{FF2B5EF4-FFF2-40B4-BE49-F238E27FC236}">
                <a16:creationId xmlns:a16="http://schemas.microsoft.com/office/drawing/2014/main" id="{390BDF1B-9BF6-58DB-FA97-C210AD456228}"/>
              </a:ext>
            </a:extLst>
          </p:cNvPr>
          <p:cNvSpPr/>
          <p:nvPr/>
        </p:nvSpPr>
        <p:spPr>
          <a:xfrm>
            <a:off x="598311" y="2082678"/>
            <a:ext cx="3381022" cy="373502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t>Catalogs</a:t>
            </a:r>
          </a:p>
        </p:txBody>
      </p:sp>
      <p:sp>
        <p:nvSpPr>
          <p:cNvPr id="4" name="Rectangle 3">
            <a:extLst>
              <a:ext uri="{FF2B5EF4-FFF2-40B4-BE49-F238E27FC236}">
                <a16:creationId xmlns:a16="http://schemas.microsoft.com/office/drawing/2014/main" id="{CF99CA55-BD70-1E92-61CB-D43CB8AD3B1D}"/>
              </a:ext>
            </a:extLst>
          </p:cNvPr>
          <p:cNvSpPr/>
          <p:nvPr/>
        </p:nvSpPr>
        <p:spPr>
          <a:xfrm>
            <a:off x="743123" y="2556623"/>
            <a:ext cx="3134610" cy="364744"/>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Data Asset Catalog**</a:t>
            </a:r>
          </a:p>
        </p:txBody>
      </p:sp>
      <p:sp>
        <p:nvSpPr>
          <p:cNvPr id="5" name="Rectangle 4">
            <a:extLst>
              <a:ext uri="{FF2B5EF4-FFF2-40B4-BE49-F238E27FC236}">
                <a16:creationId xmlns:a16="http://schemas.microsoft.com/office/drawing/2014/main" id="{EBF8F742-801B-CFAB-C3D2-AF44CE34FD1E}"/>
              </a:ext>
            </a:extLst>
          </p:cNvPr>
          <p:cNvSpPr/>
          <p:nvPr/>
        </p:nvSpPr>
        <p:spPr>
          <a:xfrm>
            <a:off x="713100" y="3433062"/>
            <a:ext cx="3134610" cy="36474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Physical Data Dictionary Catalog*</a:t>
            </a:r>
          </a:p>
        </p:txBody>
      </p:sp>
      <p:sp>
        <p:nvSpPr>
          <p:cNvPr id="6" name="Rectangle 5">
            <a:extLst>
              <a:ext uri="{FF2B5EF4-FFF2-40B4-BE49-F238E27FC236}">
                <a16:creationId xmlns:a16="http://schemas.microsoft.com/office/drawing/2014/main" id="{72444BF0-E299-FCC9-D861-B334B6E3DF57}"/>
              </a:ext>
            </a:extLst>
          </p:cNvPr>
          <p:cNvSpPr/>
          <p:nvPr/>
        </p:nvSpPr>
        <p:spPr>
          <a:xfrm>
            <a:off x="701811" y="4327562"/>
            <a:ext cx="3134610" cy="364744"/>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Business Glossary</a:t>
            </a:r>
          </a:p>
        </p:txBody>
      </p:sp>
      <p:sp>
        <p:nvSpPr>
          <p:cNvPr id="7" name="Rectangle 6">
            <a:extLst>
              <a:ext uri="{FF2B5EF4-FFF2-40B4-BE49-F238E27FC236}">
                <a16:creationId xmlns:a16="http://schemas.microsoft.com/office/drawing/2014/main" id="{F8F3AF6F-DA6F-EC38-6702-D4B2BAF32265}"/>
              </a:ext>
            </a:extLst>
          </p:cNvPr>
          <p:cNvSpPr/>
          <p:nvPr/>
        </p:nvSpPr>
        <p:spPr>
          <a:xfrm>
            <a:off x="701811" y="4763935"/>
            <a:ext cx="3134610" cy="364744"/>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Data Rule Catalog</a:t>
            </a:r>
          </a:p>
        </p:txBody>
      </p:sp>
      <p:sp>
        <p:nvSpPr>
          <p:cNvPr id="8" name="Rectangle 7">
            <a:extLst>
              <a:ext uri="{FF2B5EF4-FFF2-40B4-BE49-F238E27FC236}">
                <a16:creationId xmlns:a16="http://schemas.microsoft.com/office/drawing/2014/main" id="{9CC798E1-F303-9CFA-551C-6DC99C973765}"/>
              </a:ext>
            </a:extLst>
          </p:cNvPr>
          <p:cNvSpPr/>
          <p:nvPr/>
        </p:nvSpPr>
        <p:spPr>
          <a:xfrm>
            <a:off x="4120690" y="2065746"/>
            <a:ext cx="3890477" cy="375858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t>Matrices</a:t>
            </a:r>
          </a:p>
        </p:txBody>
      </p:sp>
      <p:sp>
        <p:nvSpPr>
          <p:cNvPr id="9" name="Rectangle 8">
            <a:extLst>
              <a:ext uri="{FF2B5EF4-FFF2-40B4-BE49-F238E27FC236}">
                <a16:creationId xmlns:a16="http://schemas.microsoft.com/office/drawing/2014/main" id="{52BA7AA2-E0CB-78B1-359A-E4FDC4AE7B9E}"/>
              </a:ext>
            </a:extLst>
          </p:cNvPr>
          <p:cNvSpPr/>
          <p:nvPr/>
        </p:nvSpPr>
        <p:spPr>
          <a:xfrm>
            <a:off x="4222290" y="2556623"/>
            <a:ext cx="3606935" cy="364744"/>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Data to Business Process Matrix**</a:t>
            </a:r>
          </a:p>
        </p:txBody>
      </p:sp>
      <p:sp>
        <p:nvSpPr>
          <p:cNvPr id="10" name="Rectangle 9">
            <a:extLst>
              <a:ext uri="{FF2B5EF4-FFF2-40B4-BE49-F238E27FC236}">
                <a16:creationId xmlns:a16="http://schemas.microsoft.com/office/drawing/2014/main" id="{1F22A6B5-7714-D305-74C8-E97361A52E57}"/>
              </a:ext>
            </a:extLst>
          </p:cNvPr>
          <p:cNvSpPr/>
          <p:nvPr/>
        </p:nvSpPr>
        <p:spPr>
          <a:xfrm>
            <a:off x="4222290" y="2971492"/>
            <a:ext cx="3606935" cy="364744"/>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Data to Application Matrix**</a:t>
            </a:r>
          </a:p>
        </p:txBody>
      </p:sp>
      <p:sp>
        <p:nvSpPr>
          <p:cNvPr id="11" name="Rectangle 10">
            <a:extLst>
              <a:ext uri="{FF2B5EF4-FFF2-40B4-BE49-F238E27FC236}">
                <a16:creationId xmlns:a16="http://schemas.microsoft.com/office/drawing/2014/main" id="{81E55729-F085-8E9B-BADF-DDB91D9C534B}"/>
              </a:ext>
            </a:extLst>
          </p:cNvPr>
          <p:cNvSpPr/>
          <p:nvPr/>
        </p:nvSpPr>
        <p:spPr>
          <a:xfrm>
            <a:off x="4222290" y="3386361"/>
            <a:ext cx="3606935" cy="36474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Data Transformation Matrix*</a:t>
            </a:r>
          </a:p>
        </p:txBody>
      </p:sp>
      <p:sp>
        <p:nvSpPr>
          <p:cNvPr id="12" name="Rectangle 11">
            <a:extLst>
              <a:ext uri="{FF2B5EF4-FFF2-40B4-BE49-F238E27FC236}">
                <a16:creationId xmlns:a16="http://schemas.microsoft.com/office/drawing/2014/main" id="{FAE6CCFD-6CEF-95D6-A081-68A182C591DB}"/>
              </a:ext>
            </a:extLst>
          </p:cNvPr>
          <p:cNvSpPr/>
          <p:nvPr/>
        </p:nvSpPr>
        <p:spPr>
          <a:xfrm>
            <a:off x="4222290" y="3801230"/>
            <a:ext cx="3606935" cy="36474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Reference Data Crosswalk*</a:t>
            </a:r>
          </a:p>
        </p:txBody>
      </p:sp>
      <p:sp>
        <p:nvSpPr>
          <p:cNvPr id="13" name="Rectangle 12">
            <a:extLst>
              <a:ext uri="{FF2B5EF4-FFF2-40B4-BE49-F238E27FC236}">
                <a16:creationId xmlns:a16="http://schemas.microsoft.com/office/drawing/2014/main" id="{4B9CAB36-417A-9AB3-2599-0CB597D64921}"/>
              </a:ext>
            </a:extLst>
          </p:cNvPr>
          <p:cNvSpPr/>
          <p:nvPr/>
        </p:nvSpPr>
        <p:spPr>
          <a:xfrm>
            <a:off x="713100" y="3879945"/>
            <a:ext cx="3134610" cy="36474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Reference Data Catalog*</a:t>
            </a:r>
          </a:p>
        </p:txBody>
      </p:sp>
      <p:sp>
        <p:nvSpPr>
          <p:cNvPr id="14" name="Rectangle 13">
            <a:extLst>
              <a:ext uri="{FF2B5EF4-FFF2-40B4-BE49-F238E27FC236}">
                <a16:creationId xmlns:a16="http://schemas.microsoft.com/office/drawing/2014/main" id="{D4AB1ED5-E41E-D18D-0F34-71FC06F8DCAD}"/>
              </a:ext>
            </a:extLst>
          </p:cNvPr>
          <p:cNvSpPr/>
          <p:nvPr/>
        </p:nvSpPr>
        <p:spPr>
          <a:xfrm>
            <a:off x="8154079" y="2074212"/>
            <a:ext cx="3346909" cy="375858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t>Diagram</a:t>
            </a:r>
          </a:p>
        </p:txBody>
      </p:sp>
      <p:sp>
        <p:nvSpPr>
          <p:cNvPr id="15" name="Rectangle 14">
            <a:extLst>
              <a:ext uri="{FF2B5EF4-FFF2-40B4-BE49-F238E27FC236}">
                <a16:creationId xmlns:a16="http://schemas.microsoft.com/office/drawing/2014/main" id="{E93D73BF-0CA1-1734-E7BC-1A430A52565D}"/>
              </a:ext>
            </a:extLst>
          </p:cNvPr>
          <p:cNvSpPr/>
          <p:nvPr/>
        </p:nvSpPr>
        <p:spPr>
          <a:xfrm>
            <a:off x="8276041" y="2556623"/>
            <a:ext cx="3102983" cy="364744"/>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Conceptual Data Model Diagram**</a:t>
            </a:r>
          </a:p>
        </p:txBody>
      </p:sp>
      <p:sp>
        <p:nvSpPr>
          <p:cNvPr id="16" name="Rectangle 15">
            <a:extLst>
              <a:ext uri="{FF2B5EF4-FFF2-40B4-BE49-F238E27FC236}">
                <a16:creationId xmlns:a16="http://schemas.microsoft.com/office/drawing/2014/main" id="{A14F934B-BC8D-CF3A-A6C8-4E050722412F}"/>
              </a:ext>
            </a:extLst>
          </p:cNvPr>
          <p:cNvSpPr/>
          <p:nvPr/>
        </p:nvSpPr>
        <p:spPr>
          <a:xfrm>
            <a:off x="8276041" y="3022100"/>
            <a:ext cx="3102983" cy="364744"/>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Logical Data Model Diagram</a:t>
            </a:r>
          </a:p>
        </p:txBody>
      </p:sp>
      <p:sp>
        <p:nvSpPr>
          <p:cNvPr id="17" name="Rectangle 16">
            <a:extLst>
              <a:ext uri="{FF2B5EF4-FFF2-40B4-BE49-F238E27FC236}">
                <a16:creationId xmlns:a16="http://schemas.microsoft.com/office/drawing/2014/main" id="{2C92467F-C104-8182-6BCC-18CF647A0E44}"/>
              </a:ext>
            </a:extLst>
          </p:cNvPr>
          <p:cNvSpPr/>
          <p:nvPr/>
        </p:nvSpPr>
        <p:spPr>
          <a:xfrm>
            <a:off x="8276040" y="3487577"/>
            <a:ext cx="3102983" cy="364744"/>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Physical Data Model Diagram</a:t>
            </a:r>
          </a:p>
        </p:txBody>
      </p:sp>
      <p:sp>
        <p:nvSpPr>
          <p:cNvPr id="18" name="Rectangle 17">
            <a:extLst>
              <a:ext uri="{FF2B5EF4-FFF2-40B4-BE49-F238E27FC236}">
                <a16:creationId xmlns:a16="http://schemas.microsoft.com/office/drawing/2014/main" id="{2BEB3850-4D6E-2F64-1687-44899A876267}"/>
              </a:ext>
            </a:extLst>
          </p:cNvPr>
          <p:cNvSpPr/>
          <p:nvPr/>
        </p:nvSpPr>
        <p:spPr>
          <a:xfrm>
            <a:off x="8276039" y="3937371"/>
            <a:ext cx="3102983" cy="364744"/>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Data Lineage Diagram</a:t>
            </a:r>
          </a:p>
        </p:txBody>
      </p:sp>
      <p:sp>
        <p:nvSpPr>
          <p:cNvPr id="19" name="Rectangle 18">
            <a:extLst>
              <a:ext uri="{FF2B5EF4-FFF2-40B4-BE49-F238E27FC236}">
                <a16:creationId xmlns:a16="http://schemas.microsoft.com/office/drawing/2014/main" id="{7CA4BDC4-81FB-FBF1-F726-5D0D98389094}"/>
              </a:ext>
            </a:extLst>
          </p:cNvPr>
          <p:cNvSpPr/>
          <p:nvPr/>
        </p:nvSpPr>
        <p:spPr>
          <a:xfrm>
            <a:off x="404446" y="1669774"/>
            <a:ext cx="11377246" cy="4324626"/>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Information Architecture Artifacts</a:t>
            </a:r>
          </a:p>
        </p:txBody>
      </p:sp>
      <p:sp>
        <p:nvSpPr>
          <p:cNvPr id="20" name="Rectangle 19">
            <a:extLst>
              <a:ext uri="{FF2B5EF4-FFF2-40B4-BE49-F238E27FC236}">
                <a16:creationId xmlns:a16="http://schemas.microsoft.com/office/drawing/2014/main" id="{71DAD3DD-3DA9-2C46-4ED4-56D5960C3C29}"/>
              </a:ext>
            </a:extLst>
          </p:cNvPr>
          <p:cNvSpPr/>
          <p:nvPr/>
        </p:nvSpPr>
        <p:spPr>
          <a:xfrm>
            <a:off x="4120690" y="6122922"/>
            <a:ext cx="2924878" cy="40123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*Required Standalone Artifact</a:t>
            </a:r>
          </a:p>
        </p:txBody>
      </p:sp>
      <p:sp>
        <p:nvSpPr>
          <p:cNvPr id="21" name="Rectangle 20">
            <a:extLst>
              <a:ext uri="{FF2B5EF4-FFF2-40B4-BE49-F238E27FC236}">
                <a16:creationId xmlns:a16="http://schemas.microsoft.com/office/drawing/2014/main" id="{DB2E7054-1EAB-6714-ED8B-32A29CC39129}"/>
              </a:ext>
            </a:extLst>
          </p:cNvPr>
          <p:cNvSpPr/>
          <p:nvPr/>
        </p:nvSpPr>
        <p:spPr>
          <a:xfrm>
            <a:off x="7730916" y="6122922"/>
            <a:ext cx="3058048" cy="401233"/>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Recommended Artifact</a:t>
            </a:r>
          </a:p>
        </p:txBody>
      </p:sp>
      <p:sp>
        <p:nvSpPr>
          <p:cNvPr id="22" name="Rectangle 21">
            <a:extLst>
              <a:ext uri="{FF2B5EF4-FFF2-40B4-BE49-F238E27FC236}">
                <a16:creationId xmlns:a16="http://schemas.microsoft.com/office/drawing/2014/main" id="{A929CD12-E7DB-3A68-4B0C-8E81C131FF0B}"/>
              </a:ext>
            </a:extLst>
          </p:cNvPr>
          <p:cNvSpPr/>
          <p:nvPr/>
        </p:nvSpPr>
        <p:spPr>
          <a:xfrm>
            <a:off x="728622" y="2976067"/>
            <a:ext cx="3134610" cy="36474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Logical Data Dictionary Catalog*</a:t>
            </a:r>
          </a:p>
        </p:txBody>
      </p:sp>
      <p:sp>
        <p:nvSpPr>
          <p:cNvPr id="23" name="Rectangle 22">
            <a:extLst>
              <a:ext uri="{FF2B5EF4-FFF2-40B4-BE49-F238E27FC236}">
                <a16:creationId xmlns:a16="http://schemas.microsoft.com/office/drawing/2014/main" id="{0D3D520A-1A04-EF98-24A5-323964FE8CF2}"/>
              </a:ext>
            </a:extLst>
          </p:cNvPr>
          <p:cNvSpPr/>
          <p:nvPr/>
        </p:nvSpPr>
        <p:spPr>
          <a:xfrm>
            <a:off x="701811" y="5219875"/>
            <a:ext cx="3134610" cy="364744"/>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Report Catalog</a:t>
            </a:r>
          </a:p>
        </p:txBody>
      </p:sp>
      <p:sp>
        <p:nvSpPr>
          <p:cNvPr id="24" name="Rectangle 23">
            <a:extLst>
              <a:ext uri="{FF2B5EF4-FFF2-40B4-BE49-F238E27FC236}">
                <a16:creationId xmlns:a16="http://schemas.microsoft.com/office/drawing/2014/main" id="{FF9AD09D-7300-FC69-4EF1-3152FBF7414D}"/>
              </a:ext>
            </a:extLst>
          </p:cNvPr>
          <p:cNvSpPr/>
          <p:nvPr/>
        </p:nvSpPr>
        <p:spPr>
          <a:xfrm>
            <a:off x="598311" y="6136824"/>
            <a:ext cx="3001385" cy="387332"/>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**Required &amp; Included in COO</a:t>
            </a:r>
          </a:p>
        </p:txBody>
      </p:sp>
    </p:spTree>
    <p:extLst>
      <p:ext uri="{BB962C8B-B14F-4D97-AF65-F5344CB8AC3E}">
        <p14:creationId xmlns:p14="http://schemas.microsoft.com/office/powerpoint/2010/main" val="2932079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1A6C6-36D4-ED0A-D0C1-92D60FC82A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57A92F-47E9-B3FF-A192-27F185B90F14}"/>
              </a:ext>
            </a:extLst>
          </p:cNvPr>
          <p:cNvSpPr>
            <a:spLocks noGrp="1"/>
          </p:cNvSpPr>
          <p:nvPr>
            <p:ph type="title"/>
          </p:nvPr>
        </p:nvSpPr>
        <p:spPr/>
        <p:txBody>
          <a:bodyPr/>
          <a:lstStyle/>
          <a:p>
            <a:r>
              <a:rPr lang="en-US" dirty="0"/>
              <a:t>MITA 4.0 Artifacts</a:t>
            </a:r>
          </a:p>
        </p:txBody>
      </p:sp>
      <p:sp>
        <p:nvSpPr>
          <p:cNvPr id="3" name="Rectangle 2">
            <a:extLst>
              <a:ext uri="{FF2B5EF4-FFF2-40B4-BE49-F238E27FC236}">
                <a16:creationId xmlns:a16="http://schemas.microsoft.com/office/drawing/2014/main" id="{D625E122-446D-56F4-5E23-79239C9F1C08}"/>
              </a:ext>
            </a:extLst>
          </p:cNvPr>
          <p:cNvSpPr/>
          <p:nvPr/>
        </p:nvSpPr>
        <p:spPr>
          <a:xfrm>
            <a:off x="598311" y="2082678"/>
            <a:ext cx="3381022" cy="373502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t>Catalogs</a:t>
            </a:r>
          </a:p>
        </p:txBody>
      </p:sp>
      <p:sp>
        <p:nvSpPr>
          <p:cNvPr id="8" name="Rectangle 7">
            <a:extLst>
              <a:ext uri="{FF2B5EF4-FFF2-40B4-BE49-F238E27FC236}">
                <a16:creationId xmlns:a16="http://schemas.microsoft.com/office/drawing/2014/main" id="{38F196EF-E686-80F9-91D4-3537B19DC143}"/>
              </a:ext>
            </a:extLst>
          </p:cNvPr>
          <p:cNvSpPr/>
          <p:nvPr/>
        </p:nvSpPr>
        <p:spPr>
          <a:xfrm>
            <a:off x="4120690" y="2065746"/>
            <a:ext cx="3890477" cy="375858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t>Matrices</a:t>
            </a:r>
          </a:p>
        </p:txBody>
      </p:sp>
      <p:sp>
        <p:nvSpPr>
          <p:cNvPr id="14" name="Rectangle 13">
            <a:extLst>
              <a:ext uri="{FF2B5EF4-FFF2-40B4-BE49-F238E27FC236}">
                <a16:creationId xmlns:a16="http://schemas.microsoft.com/office/drawing/2014/main" id="{D7C18186-B86E-9777-B826-98FA49844AD8}"/>
              </a:ext>
            </a:extLst>
          </p:cNvPr>
          <p:cNvSpPr/>
          <p:nvPr/>
        </p:nvSpPr>
        <p:spPr>
          <a:xfrm>
            <a:off x="8154079" y="2074212"/>
            <a:ext cx="3346909" cy="375858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t>Diagram</a:t>
            </a:r>
          </a:p>
        </p:txBody>
      </p:sp>
      <p:sp>
        <p:nvSpPr>
          <p:cNvPr id="19" name="Rectangle 18">
            <a:extLst>
              <a:ext uri="{FF2B5EF4-FFF2-40B4-BE49-F238E27FC236}">
                <a16:creationId xmlns:a16="http://schemas.microsoft.com/office/drawing/2014/main" id="{2B08F118-31B7-C0A0-BDA5-BCBD8D9C8EC1}"/>
              </a:ext>
            </a:extLst>
          </p:cNvPr>
          <p:cNvSpPr/>
          <p:nvPr/>
        </p:nvSpPr>
        <p:spPr>
          <a:xfrm>
            <a:off x="404446" y="1669774"/>
            <a:ext cx="11377246" cy="4324626"/>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Technical Architecture Artifacts</a:t>
            </a:r>
          </a:p>
        </p:txBody>
      </p:sp>
      <p:sp>
        <p:nvSpPr>
          <p:cNvPr id="20" name="Rectangle 19">
            <a:extLst>
              <a:ext uri="{FF2B5EF4-FFF2-40B4-BE49-F238E27FC236}">
                <a16:creationId xmlns:a16="http://schemas.microsoft.com/office/drawing/2014/main" id="{CFB385A0-733C-6519-2E82-2702F9448AB3}"/>
              </a:ext>
            </a:extLst>
          </p:cNvPr>
          <p:cNvSpPr/>
          <p:nvPr/>
        </p:nvSpPr>
        <p:spPr>
          <a:xfrm>
            <a:off x="4120690" y="6122922"/>
            <a:ext cx="2924878" cy="40123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*Required Standalone Artifact</a:t>
            </a:r>
          </a:p>
        </p:txBody>
      </p:sp>
      <p:sp>
        <p:nvSpPr>
          <p:cNvPr id="21" name="Rectangle 20">
            <a:extLst>
              <a:ext uri="{FF2B5EF4-FFF2-40B4-BE49-F238E27FC236}">
                <a16:creationId xmlns:a16="http://schemas.microsoft.com/office/drawing/2014/main" id="{5C608E10-4B7F-8B71-3F65-7C65F7F78A19}"/>
              </a:ext>
            </a:extLst>
          </p:cNvPr>
          <p:cNvSpPr/>
          <p:nvPr/>
        </p:nvSpPr>
        <p:spPr>
          <a:xfrm>
            <a:off x="7730916" y="6122922"/>
            <a:ext cx="3058048" cy="401233"/>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Recommended Artifact</a:t>
            </a:r>
          </a:p>
        </p:txBody>
      </p:sp>
      <p:sp>
        <p:nvSpPr>
          <p:cNvPr id="24" name="Rectangle 23">
            <a:extLst>
              <a:ext uri="{FF2B5EF4-FFF2-40B4-BE49-F238E27FC236}">
                <a16:creationId xmlns:a16="http://schemas.microsoft.com/office/drawing/2014/main" id="{AC920C0B-E0AA-76DA-315D-8BB158AF6656}"/>
              </a:ext>
            </a:extLst>
          </p:cNvPr>
          <p:cNvSpPr/>
          <p:nvPr/>
        </p:nvSpPr>
        <p:spPr>
          <a:xfrm>
            <a:off x="598311" y="6136824"/>
            <a:ext cx="3001385" cy="387332"/>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**Required &amp; Included in COO</a:t>
            </a:r>
          </a:p>
        </p:txBody>
      </p:sp>
    </p:spTree>
    <p:extLst>
      <p:ext uri="{BB962C8B-B14F-4D97-AF65-F5344CB8AC3E}">
        <p14:creationId xmlns:p14="http://schemas.microsoft.com/office/powerpoint/2010/main" val="2398786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FFBC9-D61C-41EA-D3C8-DA452B80536A}"/>
              </a:ext>
            </a:extLst>
          </p:cNvPr>
          <p:cNvSpPr>
            <a:spLocks noGrp="1"/>
          </p:cNvSpPr>
          <p:nvPr>
            <p:ph type="title"/>
          </p:nvPr>
        </p:nvSpPr>
        <p:spPr/>
        <p:txBody>
          <a:bodyPr/>
          <a:lstStyle/>
          <a:p>
            <a:r>
              <a:rPr lang="en-US" dirty="0"/>
              <a:t>Concept of Operations</a:t>
            </a:r>
          </a:p>
        </p:txBody>
      </p:sp>
      <p:sp>
        <p:nvSpPr>
          <p:cNvPr id="3" name="Content Placeholder 2">
            <a:extLst>
              <a:ext uri="{FF2B5EF4-FFF2-40B4-BE49-F238E27FC236}">
                <a16:creationId xmlns:a16="http://schemas.microsoft.com/office/drawing/2014/main" id="{ABCD15BD-2C9F-A625-2516-BDDA93417F6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61903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BBF02-2DD7-6199-B0C8-40C6637F34D4}"/>
              </a:ext>
            </a:extLst>
          </p:cNvPr>
          <p:cNvSpPr>
            <a:spLocks noGrp="1"/>
          </p:cNvSpPr>
          <p:nvPr>
            <p:ph type="title"/>
          </p:nvPr>
        </p:nvSpPr>
        <p:spPr/>
        <p:txBody>
          <a:bodyPr/>
          <a:lstStyle/>
          <a:p>
            <a:r>
              <a:rPr lang="en-US" dirty="0"/>
              <a:t>What is a View?</a:t>
            </a:r>
          </a:p>
        </p:txBody>
      </p:sp>
      <p:sp>
        <p:nvSpPr>
          <p:cNvPr id="3" name="Content Placeholder 2">
            <a:extLst>
              <a:ext uri="{FF2B5EF4-FFF2-40B4-BE49-F238E27FC236}">
                <a16:creationId xmlns:a16="http://schemas.microsoft.com/office/drawing/2014/main" id="{E667A5CC-B3AE-1DD3-C2C0-0A9F87EB8184}"/>
              </a:ext>
            </a:extLst>
          </p:cNvPr>
          <p:cNvSpPr>
            <a:spLocks noGrp="1"/>
          </p:cNvSpPr>
          <p:nvPr>
            <p:ph idx="1"/>
          </p:nvPr>
        </p:nvSpPr>
        <p:spPr/>
        <p:txBody>
          <a:bodyPr>
            <a:normAutofit/>
          </a:bodyPr>
          <a:lstStyle/>
          <a:p>
            <a:r>
              <a:rPr lang="en-US" b="1" dirty="0"/>
              <a:t>Architecture View</a:t>
            </a:r>
          </a:p>
          <a:p>
            <a:pPr lvl="1"/>
            <a:r>
              <a:rPr lang="en-US" dirty="0"/>
              <a:t>Representations of the overall architecture that is meaningful to one or more stakeholders within the SMA. </a:t>
            </a:r>
          </a:p>
        </p:txBody>
      </p:sp>
    </p:spTree>
    <p:extLst>
      <p:ext uri="{BB962C8B-B14F-4D97-AF65-F5344CB8AC3E}">
        <p14:creationId xmlns:p14="http://schemas.microsoft.com/office/powerpoint/2010/main" val="978917700"/>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A750C-CCF3-AE35-907D-61438DCCFD48}"/>
              </a:ext>
            </a:extLst>
          </p:cNvPr>
          <p:cNvSpPr>
            <a:spLocks noGrp="1"/>
          </p:cNvSpPr>
          <p:nvPr>
            <p:ph type="title"/>
          </p:nvPr>
        </p:nvSpPr>
        <p:spPr/>
        <p:txBody>
          <a:bodyPr/>
          <a:lstStyle/>
          <a:p>
            <a:r>
              <a:rPr lang="en-US" dirty="0"/>
              <a:t>What are the different types of Views?</a:t>
            </a:r>
          </a:p>
        </p:txBody>
      </p:sp>
      <p:sp>
        <p:nvSpPr>
          <p:cNvPr id="3" name="Content Placeholder 2">
            <a:extLst>
              <a:ext uri="{FF2B5EF4-FFF2-40B4-BE49-F238E27FC236}">
                <a16:creationId xmlns:a16="http://schemas.microsoft.com/office/drawing/2014/main" id="{449E879D-4EE9-A771-1FC8-342B08D2EF02}"/>
              </a:ext>
            </a:extLst>
          </p:cNvPr>
          <p:cNvSpPr>
            <a:spLocks noGrp="1"/>
          </p:cNvSpPr>
          <p:nvPr>
            <p:ph idx="1"/>
          </p:nvPr>
        </p:nvSpPr>
        <p:spPr/>
        <p:txBody>
          <a:bodyPr vert="horz" lIns="91440" tIns="45720" rIns="91440" bIns="45720" rtlCol="0" anchor="t">
            <a:normAutofit/>
          </a:bodyPr>
          <a:lstStyle/>
          <a:p>
            <a:r>
              <a:rPr lang="en-US" dirty="0"/>
              <a:t>Catalog Views</a:t>
            </a:r>
            <a:br>
              <a:rPr lang="en-US" dirty="0"/>
            </a:br>
            <a:r>
              <a:rPr lang="en-US" sz="1400" dirty="0">
                <a:solidFill>
                  <a:srgbClr val="333333"/>
                </a:solidFill>
                <a:latin typeface="Rockwell"/>
                <a:cs typeface="Segoe UI"/>
              </a:rPr>
              <a:t>Structured lists that present key architectural elements within a system. These elements can include business functions, applications, data entities, roles, technologies, or any other components relevant to the architecture. Catalog views help stakeholders understand the scope and content of the architecture, supporting activities such as gap analysis, impact assessment, and governance.</a:t>
            </a:r>
            <a:endParaRPr lang="en-US" sz="1400" dirty="0">
              <a:latin typeface="Rockwell"/>
            </a:endParaRPr>
          </a:p>
          <a:p>
            <a:r>
              <a:rPr lang="en-US" dirty="0"/>
              <a:t>Matrice Views</a:t>
            </a:r>
            <a:br>
              <a:rPr lang="en-US" dirty="0"/>
            </a:br>
            <a:r>
              <a:rPr lang="en-US" sz="1400" dirty="0">
                <a:solidFill>
                  <a:srgbClr val="333333"/>
                </a:solidFill>
                <a:latin typeface="Rockwell"/>
                <a:cs typeface="Segoe UI"/>
              </a:rPr>
              <a:t>A tabular format illustrating relationships or mappings between different architectural elements. For example, a matrix can show how business processes relate to applications, which roles access specific data, or how requirements are addressed by different components. These views are valuable for identifying dependencies, overlaps, or gaps, and for supporting decision-making regarding integration, compliance, and optimization.</a:t>
            </a:r>
            <a:endParaRPr lang="en-US" sz="1400" dirty="0">
              <a:latin typeface="Rockwell"/>
            </a:endParaRPr>
          </a:p>
          <a:p>
            <a:r>
              <a:rPr lang="en-US" dirty="0"/>
              <a:t>Diagram Views</a:t>
            </a:r>
            <a:br>
              <a:rPr lang="en-US" dirty="0"/>
            </a:br>
            <a:r>
              <a:rPr lang="en-US" sz="1400" dirty="0">
                <a:solidFill>
                  <a:srgbClr val="333333"/>
                </a:solidFill>
                <a:latin typeface="Rockwell"/>
                <a:cs typeface="Segoe UI"/>
              </a:rPr>
              <a:t>Graphical representations that visually depict the structure, relationships, and interactions among various architectural elements. Diagrams can take many forms, such as flowcharts, network diagrams, entity-relationship diagrams, or component diagrams. These views are especially useful for communicating complex concepts in an accessible and intuitive manner, facilitating shared understanding among technical and non-technical stakeholders.</a:t>
            </a:r>
            <a:endParaRPr lang="en-US" sz="1400" dirty="0">
              <a:latin typeface="Rockwell"/>
            </a:endParaRPr>
          </a:p>
        </p:txBody>
      </p:sp>
    </p:spTree>
    <p:extLst>
      <p:ext uri="{BB962C8B-B14F-4D97-AF65-F5344CB8AC3E}">
        <p14:creationId xmlns:p14="http://schemas.microsoft.com/office/powerpoint/2010/main" val="3152133978"/>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3438B-D4BF-625D-1827-AEB32E7A0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A832F-831B-FDBF-4B01-AD133FE003D5}"/>
              </a:ext>
            </a:extLst>
          </p:cNvPr>
          <p:cNvSpPr>
            <a:spLocks noGrp="1"/>
          </p:cNvSpPr>
          <p:nvPr>
            <p:ph type="title"/>
          </p:nvPr>
        </p:nvSpPr>
        <p:spPr/>
        <p:txBody>
          <a:bodyPr/>
          <a:lstStyle/>
          <a:p>
            <a:r>
              <a:rPr lang="en-US" dirty="0"/>
              <a:t>What is a Viewpoint?</a:t>
            </a:r>
          </a:p>
        </p:txBody>
      </p:sp>
      <p:sp>
        <p:nvSpPr>
          <p:cNvPr id="3" name="Content Placeholder 2">
            <a:extLst>
              <a:ext uri="{FF2B5EF4-FFF2-40B4-BE49-F238E27FC236}">
                <a16:creationId xmlns:a16="http://schemas.microsoft.com/office/drawing/2014/main" id="{87D53B4E-88FD-D09B-DE18-57534A151E68}"/>
              </a:ext>
            </a:extLst>
          </p:cNvPr>
          <p:cNvSpPr>
            <a:spLocks noGrp="1"/>
          </p:cNvSpPr>
          <p:nvPr>
            <p:ph idx="1"/>
          </p:nvPr>
        </p:nvSpPr>
        <p:spPr/>
        <p:txBody>
          <a:bodyPr>
            <a:normAutofit/>
          </a:bodyPr>
          <a:lstStyle/>
          <a:p>
            <a:r>
              <a:rPr lang="en-US" b="1" dirty="0"/>
              <a:t>Architecture Viewpoint</a:t>
            </a:r>
          </a:p>
          <a:p>
            <a:pPr lvl="1"/>
            <a:r>
              <a:rPr lang="en-US" dirty="0"/>
              <a:t>Defines the perspective from which a view is taken</a:t>
            </a:r>
          </a:p>
          <a:p>
            <a:pPr lvl="1"/>
            <a:r>
              <a:rPr lang="en-US" dirty="0"/>
              <a:t>Defines how to construct and use a view, information that should appear in the view, the modeling techniques for expressing and analyzing the information, rationale for these choices</a:t>
            </a:r>
          </a:p>
          <a:p>
            <a:r>
              <a:rPr lang="en-US" b="1" dirty="0"/>
              <a:t>View vs. Viewpoint</a:t>
            </a:r>
          </a:p>
          <a:p>
            <a:pPr lvl="1"/>
            <a:r>
              <a:rPr lang="en-US" dirty="0"/>
              <a:t>View is what you see. A viewpoint is where you are looking from, the vantage point or perspective that determines what you see</a:t>
            </a:r>
          </a:p>
          <a:p>
            <a:pPr lvl="1"/>
            <a:r>
              <a:rPr lang="en-US" dirty="0"/>
              <a:t>Viewpoints are generic, a view is always specific to the architecture. </a:t>
            </a:r>
          </a:p>
          <a:p>
            <a:pPr lvl="1"/>
            <a:r>
              <a:rPr lang="en-US" dirty="0"/>
              <a:t>Every view has an associated viewpoint that describes it</a:t>
            </a:r>
          </a:p>
        </p:txBody>
      </p:sp>
    </p:spTree>
    <p:extLst>
      <p:ext uri="{BB962C8B-B14F-4D97-AF65-F5344CB8AC3E}">
        <p14:creationId xmlns:p14="http://schemas.microsoft.com/office/powerpoint/2010/main" val="1782349391"/>
      </p:ext>
    </p:extLst>
  </p:cSld>
  <p:clrMapOvr>
    <a:masterClrMapping/>
  </p:clrMapOvr>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36DFC-A5CD-D87F-3FC0-31508F995219}"/>
              </a:ext>
            </a:extLst>
          </p:cNvPr>
          <p:cNvSpPr>
            <a:spLocks noGrp="1"/>
          </p:cNvSpPr>
          <p:nvPr>
            <p:ph type="title"/>
          </p:nvPr>
        </p:nvSpPr>
        <p:spPr/>
        <p:txBody>
          <a:bodyPr/>
          <a:lstStyle/>
          <a:p>
            <a:r>
              <a:rPr lang="en-US" dirty="0"/>
              <a:t>What is in a Viewpoint?</a:t>
            </a:r>
          </a:p>
        </p:txBody>
      </p:sp>
      <p:sp>
        <p:nvSpPr>
          <p:cNvPr id="3" name="Content Placeholder 2">
            <a:extLst>
              <a:ext uri="{FF2B5EF4-FFF2-40B4-BE49-F238E27FC236}">
                <a16:creationId xmlns:a16="http://schemas.microsoft.com/office/drawing/2014/main" id="{7DAC3BDE-4079-058E-2C8B-B6E56A188252}"/>
              </a:ext>
            </a:extLst>
          </p:cNvPr>
          <p:cNvSpPr>
            <a:spLocks noGrp="1"/>
          </p:cNvSpPr>
          <p:nvPr>
            <p:ph idx="1"/>
          </p:nvPr>
        </p:nvSpPr>
        <p:spPr/>
        <p:txBody>
          <a:bodyPr vert="horz" lIns="91440" tIns="45720" rIns="91440" bIns="45720" rtlCol="0" anchor="t">
            <a:normAutofit/>
          </a:bodyPr>
          <a:lstStyle/>
          <a:p>
            <a:r>
              <a:rPr lang="en-US" dirty="0"/>
              <a:t>Each architecture viewpoint will include the following components:</a:t>
            </a:r>
          </a:p>
          <a:p>
            <a:pPr lvl="1"/>
            <a:r>
              <a:rPr lang="en-US" dirty="0"/>
              <a:t>Description – High-level summary that describes the viewpoint.</a:t>
            </a:r>
          </a:p>
          <a:p>
            <a:pPr lvl="1"/>
            <a:r>
              <a:rPr lang="en-US" dirty="0"/>
              <a:t>Roles– Identifies the key stakeholders that the view is designed to support. </a:t>
            </a:r>
          </a:p>
          <a:p>
            <a:pPr lvl="1"/>
            <a:r>
              <a:rPr lang="en-US" dirty="0"/>
              <a:t>Concerns – Identifies the key concerns that the view seeks to address. </a:t>
            </a:r>
          </a:p>
          <a:p>
            <a:pPr lvl="1"/>
            <a:r>
              <a:rPr lang="en-US" dirty="0"/>
              <a:t>Elements – Identifies the architectural elements that are included in the view. </a:t>
            </a:r>
          </a:p>
          <a:p>
            <a:pPr lvl="1"/>
            <a:r>
              <a:rPr lang="en-US" dirty="0"/>
              <a:t>Type – Catalog, Diagram or Matrix</a:t>
            </a:r>
          </a:p>
          <a:p>
            <a:pPr lvl="1"/>
            <a:r>
              <a:rPr lang="en-US" dirty="0"/>
              <a:t>Modeling Technique – Identifies the key modeling technique that is used to create the view.</a:t>
            </a:r>
          </a:p>
        </p:txBody>
      </p:sp>
    </p:spTree>
    <p:extLst>
      <p:ext uri="{BB962C8B-B14F-4D97-AF65-F5344CB8AC3E}">
        <p14:creationId xmlns:p14="http://schemas.microsoft.com/office/powerpoint/2010/main" val="4208343296"/>
      </p:ext>
    </p:extLst>
  </p:cSld>
  <p:clrMapOvr>
    <a:masterClrMapping/>
  </p:clrMapOvr>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7D34-682E-9E07-B204-5EE27315BB6D}"/>
              </a:ext>
            </a:extLst>
          </p:cNvPr>
          <p:cNvSpPr>
            <a:spLocks noGrp="1"/>
          </p:cNvSpPr>
          <p:nvPr>
            <p:ph type="title"/>
          </p:nvPr>
        </p:nvSpPr>
        <p:spPr/>
        <p:txBody>
          <a:bodyPr/>
          <a:lstStyle/>
          <a:p>
            <a:r>
              <a:rPr lang="en-US" dirty="0"/>
              <a:t>Catalogs</a:t>
            </a:r>
          </a:p>
        </p:txBody>
      </p:sp>
      <p:sp>
        <p:nvSpPr>
          <p:cNvPr id="3" name="Text Placeholder 2">
            <a:extLst>
              <a:ext uri="{FF2B5EF4-FFF2-40B4-BE49-F238E27FC236}">
                <a16:creationId xmlns:a16="http://schemas.microsoft.com/office/drawing/2014/main" id="{E6A1ACC5-26E1-AA1D-37E1-764F7630D20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647695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AD30A-043C-ED6F-1B44-28D6F7143F63}"/>
              </a:ext>
            </a:extLst>
          </p:cNvPr>
          <p:cNvSpPr>
            <a:spLocks noGrp="1"/>
          </p:cNvSpPr>
          <p:nvPr>
            <p:ph type="title"/>
          </p:nvPr>
        </p:nvSpPr>
        <p:spPr/>
        <p:txBody>
          <a:bodyPr/>
          <a:lstStyle/>
          <a:p>
            <a:r>
              <a:rPr lang="en-US" dirty="0"/>
              <a:t>Data ASSET Catalog</a:t>
            </a:r>
          </a:p>
        </p:txBody>
      </p:sp>
      <p:graphicFrame>
        <p:nvGraphicFramePr>
          <p:cNvPr id="4" name="Content Placeholder 3">
            <a:extLst>
              <a:ext uri="{FF2B5EF4-FFF2-40B4-BE49-F238E27FC236}">
                <a16:creationId xmlns:a16="http://schemas.microsoft.com/office/drawing/2014/main" id="{6DF826BD-D2FE-9863-ACD4-8C0B76633447}"/>
              </a:ext>
            </a:extLst>
          </p:cNvPr>
          <p:cNvGraphicFramePr>
            <a:graphicFrameLocks noGrp="1"/>
          </p:cNvGraphicFramePr>
          <p:nvPr>
            <p:ph idx="1"/>
            <p:extLst>
              <p:ext uri="{D42A27DB-BD31-4B8C-83A1-F6EECF244321}">
                <p14:modId xmlns:p14="http://schemas.microsoft.com/office/powerpoint/2010/main" val="2099640684"/>
              </p:ext>
            </p:extLst>
          </p:nvPr>
        </p:nvGraphicFramePr>
        <p:xfrm>
          <a:off x="1069975" y="2120900"/>
          <a:ext cx="10058400" cy="4531360"/>
        </p:xfrm>
        <a:graphic>
          <a:graphicData uri="http://schemas.openxmlformats.org/drawingml/2006/table">
            <a:tbl>
              <a:tblPr firstRow="1" bandRow="1">
                <a:tableStyleId>{5C22544A-7EE6-4342-B048-85BDC9FD1C3A}</a:tableStyleId>
              </a:tblPr>
              <a:tblGrid>
                <a:gridCol w="2198158">
                  <a:extLst>
                    <a:ext uri="{9D8B030D-6E8A-4147-A177-3AD203B41FA5}">
                      <a16:colId xmlns:a16="http://schemas.microsoft.com/office/drawing/2014/main" val="2004020530"/>
                    </a:ext>
                  </a:extLst>
                </a:gridCol>
                <a:gridCol w="7860242">
                  <a:extLst>
                    <a:ext uri="{9D8B030D-6E8A-4147-A177-3AD203B41FA5}">
                      <a16:colId xmlns:a16="http://schemas.microsoft.com/office/drawing/2014/main" val="625058839"/>
                    </a:ext>
                  </a:extLst>
                </a:gridCol>
              </a:tblGrid>
              <a:tr h="370840">
                <a:tc>
                  <a:txBody>
                    <a:bodyPr/>
                    <a:lstStyle/>
                    <a:p>
                      <a:r>
                        <a:rPr lang="en-US" sz="1400" dirty="0"/>
                        <a:t>Component</a:t>
                      </a:r>
                    </a:p>
                  </a:txBody>
                  <a:tcPr/>
                </a:tc>
                <a:tc>
                  <a:txBody>
                    <a:bodyPr/>
                    <a:lstStyle/>
                    <a:p>
                      <a:endParaRPr lang="en-US" sz="1400" dirty="0"/>
                    </a:p>
                  </a:txBody>
                  <a:tcPr/>
                </a:tc>
                <a:extLst>
                  <a:ext uri="{0D108BD9-81ED-4DB2-BD59-A6C34878D82A}">
                    <a16:rowId xmlns:a16="http://schemas.microsoft.com/office/drawing/2014/main" val="3956094974"/>
                  </a:ext>
                </a:extLst>
              </a:tr>
              <a:tr h="370840">
                <a:tc>
                  <a:txBody>
                    <a:bodyPr/>
                    <a:lstStyle/>
                    <a:p>
                      <a:r>
                        <a:rPr lang="en-US" sz="1400" dirty="0"/>
                        <a:t>Description</a:t>
                      </a:r>
                    </a:p>
                  </a:txBody>
                  <a:tcPr/>
                </a:tc>
                <a:tc>
                  <a:txBody>
                    <a:bodyPr/>
                    <a:lstStyle/>
                    <a:p>
                      <a:r>
                        <a:rPr lang="en-US" sz="1400" dirty="0"/>
                        <a:t>A list of  all the data used across the enterprise, including data entities and also the datasets, databases, files, and data repositories where data entities are stored. A data catalog supports the definition and application of information management and data governance policies and also encourages effective data sharing and re-use.</a:t>
                      </a:r>
                    </a:p>
                  </a:txBody>
                  <a:tcPr/>
                </a:tc>
                <a:extLst>
                  <a:ext uri="{0D108BD9-81ED-4DB2-BD59-A6C34878D82A}">
                    <a16:rowId xmlns:a16="http://schemas.microsoft.com/office/drawing/2014/main" val="1305053344"/>
                  </a:ext>
                </a:extLst>
              </a:tr>
              <a:tr h="370840">
                <a:tc>
                  <a:txBody>
                    <a:bodyPr/>
                    <a:lstStyle/>
                    <a:p>
                      <a:r>
                        <a:rPr lang="en-US" sz="1400" dirty="0"/>
                        <a:t>Stakeholders</a:t>
                      </a:r>
                    </a:p>
                  </a:txBody>
                  <a:tcPr/>
                </a:tc>
                <a:tc>
                  <a:txBody>
                    <a:bodyPr/>
                    <a:lstStyle/>
                    <a:p>
                      <a:r>
                        <a:rPr lang="en-US" sz="1400" dirty="0"/>
                        <a:t>Executive, Data Owner, Data Steward, Data Architect, Data Governance Committee</a:t>
                      </a:r>
                    </a:p>
                  </a:txBody>
                  <a:tcPr/>
                </a:tc>
                <a:extLst>
                  <a:ext uri="{0D108BD9-81ED-4DB2-BD59-A6C34878D82A}">
                    <a16:rowId xmlns:a16="http://schemas.microsoft.com/office/drawing/2014/main" val="4270249404"/>
                  </a:ext>
                </a:extLst>
              </a:tr>
              <a:tr h="370840">
                <a:tc>
                  <a:txBody>
                    <a:bodyPr/>
                    <a:lstStyle/>
                    <a:p>
                      <a:r>
                        <a:rPr lang="en-US" sz="1400" dirty="0"/>
                        <a:t>Concerns</a:t>
                      </a:r>
                    </a:p>
                  </a:txBody>
                  <a:tcPr/>
                </a:tc>
                <a:tc>
                  <a:txBody>
                    <a:bodyPr/>
                    <a:lstStyle/>
                    <a:p>
                      <a:r>
                        <a:rPr lang="en-US" sz="1400" dirty="0"/>
                        <a:t>Data ownership, data sensitivity, data classification, data usage, data privacy, data quality, regulatory compliance, discoverability</a:t>
                      </a:r>
                    </a:p>
                  </a:txBody>
                  <a:tcPr/>
                </a:tc>
                <a:extLst>
                  <a:ext uri="{0D108BD9-81ED-4DB2-BD59-A6C34878D82A}">
                    <a16:rowId xmlns:a16="http://schemas.microsoft.com/office/drawing/2014/main" val="4232995999"/>
                  </a:ext>
                </a:extLst>
              </a:tr>
              <a:tr h="370840">
                <a:tc>
                  <a:txBody>
                    <a:bodyPr/>
                    <a:lstStyle/>
                    <a:p>
                      <a:r>
                        <a:rPr lang="en-US" sz="1400" dirty="0"/>
                        <a:t>Elements</a:t>
                      </a:r>
                    </a:p>
                  </a:txBody>
                  <a:tcPr/>
                </a:tc>
                <a:tc>
                  <a:txBody>
                    <a:bodyPr/>
                    <a:lstStyle/>
                    <a:p>
                      <a:r>
                        <a:rPr lang="en-US" sz="1400" dirty="0"/>
                        <a:t>Data Asset</a:t>
                      </a:r>
                    </a:p>
                  </a:txBody>
                  <a:tcPr/>
                </a:tc>
                <a:extLst>
                  <a:ext uri="{0D108BD9-81ED-4DB2-BD59-A6C34878D82A}">
                    <a16:rowId xmlns:a16="http://schemas.microsoft.com/office/drawing/2014/main" val="2927961338"/>
                  </a:ext>
                </a:extLst>
              </a:tr>
              <a:tr h="370840">
                <a:tc>
                  <a:txBody>
                    <a:bodyPr/>
                    <a:lstStyle/>
                    <a:p>
                      <a:r>
                        <a:rPr lang="en-US" sz="1400" dirty="0"/>
                        <a:t>Type</a:t>
                      </a:r>
                    </a:p>
                  </a:txBody>
                  <a:tcPr/>
                </a:tc>
                <a:tc>
                  <a:txBody>
                    <a:bodyPr/>
                    <a:lstStyle/>
                    <a:p>
                      <a:r>
                        <a:rPr lang="en-US" sz="1400" dirty="0"/>
                        <a:t>Catalog</a:t>
                      </a:r>
                    </a:p>
                  </a:txBody>
                  <a:tcPr/>
                </a:tc>
                <a:extLst>
                  <a:ext uri="{0D108BD9-81ED-4DB2-BD59-A6C34878D82A}">
                    <a16:rowId xmlns:a16="http://schemas.microsoft.com/office/drawing/2014/main" val="1478371435"/>
                  </a:ext>
                </a:extLst>
              </a:tr>
              <a:tr h="433168">
                <a:tc>
                  <a:txBody>
                    <a:bodyPr/>
                    <a:lstStyle/>
                    <a:p>
                      <a:r>
                        <a:rPr lang="en-US" sz="1400" dirty="0"/>
                        <a:t>Modeling Technique</a:t>
                      </a:r>
                    </a:p>
                  </a:txBody>
                  <a:tcPr/>
                </a:tc>
                <a:tc>
                  <a:txBody>
                    <a:bodyPr/>
                    <a:lstStyle/>
                    <a:p>
                      <a:r>
                        <a:rPr lang="en-US" sz="1400" dirty="0"/>
                        <a:t>Table that contains the following fields:</a:t>
                      </a:r>
                    </a:p>
                    <a:p>
                      <a:pPr marL="171450" indent="-171450">
                        <a:buFont typeface="Arial" panose="020B0604020202020204" pitchFamily="34" charset="0"/>
                        <a:buChar char="•"/>
                      </a:pPr>
                      <a:r>
                        <a:rPr lang="en-US" sz="1400" dirty="0"/>
                        <a:t>Data Asset Name</a:t>
                      </a:r>
                    </a:p>
                    <a:p>
                      <a:pPr marL="171450" indent="-171450">
                        <a:buFont typeface="Arial" panose="020B0604020202020204" pitchFamily="34" charset="0"/>
                        <a:buChar char="•"/>
                      </a:pPr>
                      <a:r>
                        <a:rPr lang="en-US" sz="1400" dirty="0"/>
                        <a:t>Data Asset Description</a:t>
                      </a:r>
                    </a:p>
                    <a:p>
                      <a:pPr marL="171450" indent="-171450">
                        <a:buFont typeface="Arial" panose="020B0604020202020204" pitchFamily="34" charset="0"/>
                        <a:buChar char="•"/>
                      </a:pPr>
                      <a:r>
                        <a:rPr lang="en-US" sz="1400" dirty="0"/>
                        <a:t>Data Asset Type: Data At Rest, Data in Motion</a:t>
                      </a:r>
                    </a:p>
                    <a:p>
                      <a:pPr marL="171450" indent="-171450">
                        <a:buFont typeface="Arial" panose="020B0604020202020204" pitchFamily="34" charset="0"/>
                        <a:buChar char="•"/>
                      </a:pPr>
                      <a:r>
                        <a:rPr lang="en-US" sz="1400" dirty="0"/>
                        <a:t>MITA 4.0 Data Domain</a:t>
                      </a:r>
                    </a:p>
                    <a:p>
                      <a:pPr marL="171450" indent="-171450">
                        <a:buFont typeface="Arial" panose="020B0604020202020204" pitchFamily="34" charset="0"/>
                        <a:buChar char="•"/>
                      </a:pPr>
                      <a:r>
                        <a:rPr lang="en-US" sz="1400" dirty="0"/>
                        <a:t>Baseline Data Standard</a:t>
                      </a:r>
                    </a:p>
                    <a:p>
                      <a:pPr marL="171450" indent="-171450">
                        <a:buFont typeface="Arial" panose="020B0604020202020204" pitchFamily="34" charset="0"/>
                        <a:buChar char="•"/>
                      </a:pPr>
                      <a:r>
                        <a:rPr lang="en-US" sz="1400" dirty="0"/>
                        <a:t>Target Data Standard</a:t>
                      </a:r>
                    </a:p>
                  </a:txBody>
                  <a:tcPr/>
                </a:tc>
                <a:extLst>
                  <a:ext uri="{0D108BD9-81ED-4DB2-BD59-A6C34878D82A}">
                    <a16:rowId xmlns:a16="http://schemas.microsoft.com/office/drawing/2014/main" val="163306598"/>
                  </a:ext>
                </a:extLst>
              </a:tr>
            </a:tbl>
          </a:graphicData>
        </a:graphic>
      </p:graphicFrame>
    </p:spTree>
    <p:extLst>
      <p:ext uri="{BB962C8B-B14F-4D97-AF65-F5344CB8AC3E}">
        <p14:creationId xmlns:p14="http://schemas.microsoft.com/office/powerpoint/2010/main" val="2569191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C420A-23C4-5FCA-11CC-F5A766F224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E9547F-420D-0CFE-C2BE-366033C64BE7}"/>
              </a:ext>
            </a:extLst>
          </p:cNvPr>
          <p:cNvSpPr>
            <a:spLocks noGrp="1"/>
          </p:cNvSpPr>
          <p:nvPr>
            <p:ph type="title"/>
          </p:nvPr>
        </p:nvSpPr>
        <p:spPr/>
        <p:txBody>
          <a:bodyPr/>
          <a:lstStyle/>
          <a:p>
            <a:r>
              <a:rPr lang="en-US" dirty="0"/>
              <a:t>Data Dictionary Catalog</a:t>
            </a:r>
          </a:p>
        </p:txBody>
      </p:sp>
      <p:graphicFrame>
        <p:nvGraphicFramePr>
          <p:cNvPr id="4" name="Content Placeholder 3">
            <a:extLst>
              <a:ext uri="{FF2B5EF4-FFF2-40B4-BE49-F238E27FC236}">
                <a16:creationId xmlns:a16="http://schemas.microsoft.com/office/drawing/2014/main" id="{B908900C-AF25-6C9C-CA94-08165396696C}"/>
              </a:ext>
            </a:extLst>
          </p:cNvPr>
          <p:cNvGraphicFramePr>
            <a:graphicFrameLocks noGrp="1"/>
          </p:cNvGraphicFramePr>
          <p:nvPr>
            <p:ph idx="1"/>
            <p:extLst>
              <p:ext uri="{D42A27DB-BD31-4B8C-83A1-F6EECF244321}">
                <p14:modId xmlns:p14="http://schemas.microsoft.com/office/powerpoint/2010/main" val="2335699104"/>
              </p:ext>
            </p:extLst>
          </p:nvPr>
        </p:nvGraphicFramePr>
        <p:xfrm>
          <a:off x="1069975" y="2120900"/>
          <a:ext cx="10058400" cy="3952240"/>
        </p:xfrm>
        <a:graphic>
          <a:graphicData uri="http://schemas.openxmlformats.org/drawingml/2006/table">
            <a:tbl>
              <a:tblPr firstRow="1" bandRow="1">
                <a:tableStyleId>{5C22544A-7EE6-4342-B048-85BDC9FD1C3A}</a:tableStyleId>
              </a:tblPr>
              <a:tblGrid>
                <a:gridCol w="2198158">
                  <a:extLst>
                    <a:ext uri="{9D8B030D-6E8A-4147-A177-3AD203B41FA5}">
                      <a16:colId xmlns:a16="http://schemas.microsoft.com/office/drawing/2014/main" val="2004020530"/>
                    </a:ext>
                  </a:extLst>
                </a:gridCol>
                <a:gridCol w="7860242">
                  <a:extLst>
                    <a:ext uri="{9D8B030D-6E8A-4147-A177-3AD203B41FA5}">
                      <a16:colId xmlns:a16="http://schemas.microsoft.com/office/drawing/2014/main" val="625058839"/>
                    </a:ext>
                  </a:extLst>
                </a:gridCol>
              </a:tblGrid>
              <a:tr h="370840">
                <a:tc>
                  <a:txBody>
                    <a:bodyPr/>
                    <a:lstStyle/>
                    <a:p>
                      <a:r>
                        <a:rPr lang="en-US" sz="1200" dirty="0"/>
                        <a:t>Component</a:t>
                      </a:r>
                    </a:p>
                  </a:txBody>
                  <a:tcPr/>
                </a:tc>
                <a:tc>
                  <a:txBody>
                    <a:bodyPr/>
                    <a:lstStyle/>
                    <a:p>
                      <a:endParaRPr lang="en-US" sz="1200" dirty="0"/>
                    </a:p>
                  </a:txBody>
                  <a:tcPr/>
                </a:tc>
                <a:extLst>
                  <a:ext uri="{0D108BD9-81ED-4DB2-BD59-A6C34878D82A}">
                    <a16:rowId xmlns:a16="http://schemas.microsoft.com/office/drawing/2014/main" val="3956094974"/>
                  </a:ext>
                </a:extLst>
              </a:tr>
              <a:tr h="370840">
                <a:tc>
                  <a:txBody>
                    <a:bodyPr/>
                    <a:lstStyle/>
                    <a:p>
                      <a:r>
                        <a:rPr lang="en-US" sz="1200" dirty="0"/>
                        <a:t>Description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 repository that defines and describes the structure, attributes, and semantics of data assets within the organization. The Data Dictionary Catalog provides standardized definitions, data types, allowable values, and relationships for each data element, supporting consistency, interoperability, and data quality.</a:t>
                      </a:r>
                    </a:p>
                  </a:txBody>
                  <a:tcPr/>
                </a:tc>
                <a:extLst>
                  <a:ext uri="{0D108BD9-81ED-4DB2-BD59-A6C34878D82A}">
                    <a16:rowId xmlns:a16="http://schemas.microsoft.com/office/drawing/2014/main" val="1305053344"/>
                  </a:ext>
                </a:extLst>
              </a:tr>
              <a:tr h="370840">
                <a:tc>
                  <a:txBody>
                    <a:bodyPr/>
                    <a:lstStyle/>
                    <a:p>
                      <a:r>
                        <a:rPr lang="en-US" sz="1200" dirty="0"/>
                        <a:t>Stakeholders</a:t>
                      </a:r>
                    </a:p>
                  </a:txBody>
                  <a:tcPr/>
                </a:tc>
                <a:tc>
                  <a:txBody>
                    <a:bodyPr/>
                    <a:lstStyle/>
                    <a:p>
                      <a:r>
                        <a:rPr lang="en-US" sz="1200" dirty="0"/>
                        <a:t>Data Architect, Data Steward, Database Administrator, Data Analyst, Application Developer, Business Analyst</a:t>
                      </a:r>
                    </a:p>
                  </a:txBody>
                  <a:tcPr/>
                </a:tc>
                <a:extLst>
                  <a:ext uri="{0D108BD9-81ED-4DB2-BD59-A6C34878D82A}">
                    <a16:rowId xmlns:a16="http://schemas.microsoft.com/office/drawing/2014/main" val="4270249404"/>
                  </a:ext>
                </a:extLst>
              </a:tr>
              <a:tr h="370840">
                <a:tc>
                  <a:txBody>
                    <a:bodyPr/>
                    <a:lstStyle/>
                    <a:p>
                      <a:r>
                        <a:rPr lang="en-US" sz="1200" dirty="0"/>
                        <a:t>Concerns</a:t>
                      </a:r>
                    </a:p>
                  </a:txBody>
                  <a:tcPr/>
                </a:tc>
                <a:tc>
                  <a:txBody>
                    <a:bodyPr/>
                    <a:lstStyle/>
                    <a:p>
                      <a:r>
                        <a:rPr lang="en-US" sz="1200" dirty="0"/>
                        <a:t>Data consistency, naming conventions, data definitions, metadata management, data quality, system integration, semantic clarity, compliance</a:t>
                      </a:r>
                    </a:p>
                  </a:txBody>
                  <a:tcPr/>
                </a:tc>
                <a:extLst>
                  <a:ext uri="{0D108BD9-81ED-4DB2-BD59-A6C34878D82A}">
                    <a16:rowId xmlns:a16="http://schemas.microsoft.com/office/drawing/2014/main" val="4232995999"/>
                  </a:ext>
                </a:extLst>
              </a:tr>
              <a:tr h="370840">
                <a:tc>
                  <a:txBody>
                    <a:bodyPr/>
                    <a:lstStyle/>
                    <a:p>
                      <a:r>
                        <a:rPr lang="en-US" sz="1200" dirty="0"/>
                        <a:t>Elements</a:t>
                      </a:r>
                    </a:p>
                  </a:txBody>
                  <a:tcPr/>
                </a:tc>
                <a:tc>
                  <a:txBody>
                    <a:bodyPr/>
                    <a:lstStyle/>
                    <a:p>
                      <a:r>
                        <a:rPr lang="en-US" sz="1200" dirty="0"/>
                        <a:t>Data Element (Field/Attribute)</a:t>
                      </a:r>
                    </a:p>
                  </a:txBody>
                  <a:tcPr/>
                </a:tc>
                <a:extLst>
                  <a:ext uri="{0D108BD9-81ED-4DB2-BD59-A6C34878D82A}">
                    <a16:rowId xmlns:a16="http://schemas.microsoft.com/office/drawing/2014/main" val="2927961338"/>
                  </a:ext>
                </a:extLst>
              </a:tr>
              <a:tr h="370840">
                <a:tc>
                  <a:txBody>
                    <a:bodyPr/>
                    <a:lstStyle/>
                    <a:p>
                      <a:r>
                        <a:rPr lang="en-US" sz="1200" dirty="0"/>
                        <a:t>Type</a:t>
                      </a:r>
                    </a:p>
                  </a:txBody>
                  <a:tcPr/>
                </a:tc>
                <a:tc>
                  <a:txBody>
                    <a:bodyPr/>
                    <a:lstStyle/>
                    <a:p>
                      <a:r>
                        <a:rPr lang="en-US" sz="1200" dirty="0"/>
                        <a:t>Catalog</a:t>
                      </a:r>
                    </a:p>
                  </a:txBody>
                  <a:tcPr/>
                </a:tc>
                <a:extLst>
                  <a:ext uri="{0D108BD9-81ED-4DB2-BD59-A6C34878D82A}">
                    <a16:rowId xmlns:a16="http://schemas.microsoft.com/office/drawing/2014/main" val="1478371435"/>
                  </a:ext>
                </a:extLst>
              </a:tr>
              <a:tr h="370840">
                <a:tc>
                  <a:txBody>
                    <a:bodyPr/>
                    <a:lstStyle/>
                    <a:p>
                      <a:r>
                        <a:rPr lang="en-US" sz="1200" dirty="0"/>
                        <a:t>Modeling Technique</a:t>
                      </a:r>
                    </a:p>
                  </a:txBody>
                  <a:tcPr/>
                </a:tc>
                <a:tc>
                  <a:txBody>
                    <a:bodyPr/>
                    <a:lstStyle/>
                    <a:p>
                      <a:r>
                        <a:rPr lang="en-US" sz="1200" dirty="0"/>
                        <a:t>Table for each data asset that contains the following:</a:t>
                      </a:r>
                    </a:p>
                    <a:p>
                      <a:pPr marL="171450" indent="-171450">
                        <a:buFont typeface="Arial" panose="020B0604020202020204" pitchFamily="34" charset="0"/>
                        <a:buChar char="•"/>
                      </a:pPr>
                      <a:r>
                        <a:rPr lang="en-US" sz="1200" dirty="0"/>
                        <a:t>Data Asset Name</a:t>
                      </a:r>
                    </a:p>
                    <a:p>
                      <a:pPr marL="171450" indent="-171450">
                        <a:buFont typeface="Arial" panose="020B0604020202020204" pitchFamily="34" charset="0"/>
                        <a:buChar char="•"/>
                      </a:pPr>
                      <a:r>
                        <a:rPr lang="en-US" sz="1200" dirty="0"/>
                        <a:t>Data Entity</a:t>
                      </a:r>
                    </a:p>
                    <a:p>
                      <a:pPr marL="171450" indent="-171450">
                        <a:buFont typeface="Arial" panose="020B0604020202020204" pitchFamily="34" charset="0"/>
                        <a:buChar char="•"/>
                      </a:pPr>
                      <a:r>
                        <a:rPr lang="en-US" sz="1200" dirty="0"/>
                        <a:t>Data Field</a:t>
                      </a:r>
                    </a:p>
                    <a:p>
                      <a:pPr marL="171450" indent="-171450">
                        <a:buFont typeface="Arial" panose="020B0604020202020204" pitchFamily="34" charset="0"/>
                        <a:buChar char="•"/>
                      </a:pPr>
                      <a:r>
                        <a:rPr lang="en-US" sz="1200" dirty="0"/>
                        <a:t>Data Field Type</a:t>
                      </a:r>
                    </a:p>
                    <a:p>
                      <a:pPr marL="171450" indent="-171450">
                        <a:buFont typeface="Arial" panose="020B0604020202020204" pitchFamily="34" charset="0"/>
                        <a:buChar char="•"/>
                      </a:pPr>
                      <a:r>
                        <a:rPr lang="en-US" sz="1200" dirty="0"/>
                        <a:t>Data Field Description</a:t>
                      </a:r>
                    </a:p>
                    <a:p>
                      <a:pPr marL="171450" indent="-171450">
                        <a:buFont typeface="Arial" panose="020B0604020202020204" pitchFamily="34" charset="0"/>
                        <a:buChar char="•"/>
                      </a:pPr>
                      <a:r>
                        <a:rPr lang="en-US" sz="1200" dirty="0"/>
                        <a:t>Code Set Name (If applicable)</a:t>
                      </a:r>
                    </a:p>
                  </a:txBody>
                  <a:tcPr/>
                </a:tc>
                <a:extLst>
                  <a:ext uri="{0D108BD9-81ED-4DB2-BD59-A6C34878D82A}">
                    <a16:rowId xmlns:a16="http://schemas.microsoft.com/office/drawing/2014/main" val="163306598"/>
                  </a:ext>
                </a:extLst>
              </a:tr>
            </a:tbl>
          </a:graphicData>
        </a:graphic>
      </p:graphicFrame>
    </p:spTree>
    <p:extLst>
      <p:ext uri="{BB962C8B-B14F-4D97-AF65-F5344CB8AC3E}">
        <p14:creationId xmlns:p14="http://schemas.microsoft.com/office/powerpoint/2010/main" val="32843888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B9059-E8B3-7789-24ED-A3C790C74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85D474-3E14-17F2-7730-F1DD37F52A50}"/>
              </a:ext>
            </a:extLst>
          </p:cNvPr>
          <p:cNvSpPr>
            <a:spLocks noGrp="1"/>
          </p:cNvSpPr>
          <p:nvPr>
            <p:ph type="title"/>
          </p:nvPr>
        </p:nvSpPr>
        <p:spPr/>
        <p:txBody>
          <a:bodyPr/>
          <a:lstStyle/>
          <a:p>
            <a:r>
              <a:rPr lang="en-US" dirty="0"/>
              <a:t>Logical Data Dictionary Catalog</a:t>
            </a:r>
          </a:p>
        </p:txBody>
      </p:sp>
      <p:graphicFrame>
        <p:nvGraphicFramePr>
          <p:cNvPr id="4" name="Content Placeholder 3">
            <a:extLst>
              <a:ext uri="{FF2B5EF4-FFF2-40B4-BE49-F238E27FC236}">
                <a16:creationId xmlns:a16="http://schemas.microsoft.com/office/drawing/2014/main" id="{2612FA13-1933-999A-DFE0-A6A622265769}"/>
              </a:ext>
            </a:extLst>
          </p:cNvPr>
          <p:cNvGraphicFramePr>
            <a:graphicFrameLocks noGrp="1"/>
          </p:cNvGraphicFramePr>
          <p:nvPr>
            <p:ph idx="1"/>
            <p:extLst>
              <p:ext uri="{D42A27DB-BD31-4B8C-83A1-F6EECF244321}">
                <p14:modId xmlns:p14="http://schemas.microsoft.com/office/powerpoint/2010/main" val="805381365"/>
              </p:ext>
            </p:extLst>
          </p:nvPr>
        </p:nvGraphicFramePr>
        <p:xfrm>
          <a:off x="1069975" y="2120900"/>
          <a:ext cx="10058400" cy="4048760"/>
        </p:xfrm>
        <a:graphic>
          <a:graphicData uri="http://schemas.openxmlformats.org/drawingml/2006/table">
            <a:tbl>
              <a:tblPr firstRow="1" bandRow="1">
                <a:tableStyleId>{5C22544A-7EE6-4342-B048-85BDC9FD1C3A}</a:tableStyleId>
              </a:tblPr>
              <a:tblGrid>
                <a:gridCol w="2198158">
                  <a:extLst>
                    <a:ext uri="{9D8B030D-6E8A-4147-A177-3AD203B41FA5}">
                      <a16:colId xmlns:a16="http://schemas.microsoft.com/office/drawing/2014/main" val="2004020530"/>
                    </a:ext>
                  </a:extLst>
                </a:gridCol>
                <a:gridCol w="7860242">
                  <a:extLst>
                    <a:ext uri="{9D8B030D-6E8A-4147-A177-3AD203B41FA5}">
                      <a16:colId xmlns:a16="http://schemas.microsoft.com/office/drawing/2014/main" val="625058839"/>
                    </a:ext>
                  </a:extLst>
                </a:gridCol>
              </a:tblGrid>
              <a:tr h="370840">
                <a:tc>
                  <a:txBody>
                    <a:bodyPr/>
                    <a:lstStyle/>
                    <a:p>
                      <a:r>
                        <a:rPr lang="en-US" sz="1200" dirty="0">
                          <a:latin typeface="Rockwell"/>
                        </a:rPr>
                        <a:t>Component</a:t>
                      </a:r>
                    </a:p>
                  </a:txBody>
                  <a:tcPr/>
                </a:tc>
                <a:tc>
                  <a:txBody>
                    <a:bodyPr/>
                    <a:lstStyle/>
                    <a:p>
                      <a:endParaRPr lang="en-US" sz="1200" dirty="0">
                        <a:latin typeface="Rockwell"/>
                      </a:endParaRPr>
                    </a:p>
                  </a:txBody>
                  <a:tcPr/>
                </a:tc>
                <a:extLst>
                  <a:ext uri="{0D108BD9-81ED-4DB2-BD59-A6C34878D82A}">
                    <a16:rowId xmlns:a16="http://schemas.microsoft.com/office/drawing/2014/main" val="3956094974"/>
                  </a:ext>
                </a:extLst>
              </a:tr>
              <a:tr h="370840">
                <a:tc>
                  <a:txBody>
                    <a:bodyPr/>
                    <a:lstStyle/>
                    <a:p>
                      <a:r>
                        <a:rPr lang="en-US" sz="1200" dirty="0">
                          <a:latin typeface="Rockwell"/>
                        </a:rPr>
                        <a:t>Description</a:t>
                      </a:r>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u="none" strike="noStrike" noProof="0" dirty="0">
                          <a:latin typeface="Rockwell"/>
                        </a:rPr>
                        <a:t>A Logical Data Dictionary Catalog provides detailed definitions and descriptions of data elements within a logical data model. It includes data types, allowable values, relationships, and business meanings, supporting data consistency and clarity across applications and systems.</a:t>
                      </a:r>
                    </a:p>
                  </a:txBody>
                  <a:tcPr/>
                </a:tc>
                <a:extLst>
                  <a:ext uri="{0D108BD9-81ED-4DB2-BD59-A6C34878D82A}">
                    <a16:rowId xmlns:a16="http://schemas.microsoft.com/office/drawing/2014/main" val="1305053344"/>
                  </a:ext>
                </a:extLst>
              </a:tr>
              <a:tr h="370840">
                <a:tc>
                  <a:txBody>
                    <a:bodyPr/>
                    <a:lstStyle/>
                    <a:p>
                      <a:r>
                        <a:rPr lang="en-US" sz="1200" dirty="0">
                          <a:latin typeface="Rockwell"/>
                        </a:rPr>
                        <a:t>Stakeholders</a:t>
                      </a:r>
                    </a:p>
                  </a:txBody>
                  <a:tcPr/>
                </a:tc>
                <a:tc>
                  <a:txBody>
                    <a:bodyPr/>
                    <a:lstStyle/>
                    <a:p>
                      <a:r>
                        <a:rPr lang="en-US" sz="1200" dirty="0">
                          <a:latin typeface="Rockwell"/>
                        </a:rPr>
                        <a:t>Data Architect, Data Steward, Database Administrator, Data Analyst, Application Developer, Business Analyst</a:t>
                      </a:r>
                    </a:p>
                  </a:txBody>
                  <a:tcPr/>
                </a:tc>
                <a:extLst>
                  <a:ext uri="{0D108BD9-81ED-4DB2-BD59-A6C34878D82A}">
                    <a16:rowId xmlns:a16="http://schemas.microsoft.com/office/drawing/2014/main" val="4270249404"/>
                  </a:ext>
                </a:extLst>
              </a:tr>
              <a:tr h="370840">
                <a:tc>
                  <a:txBody>
                    <a:bodyPr/>
                    <a:lstStyle/>
                    <a:p>
                      <a:r>
                        <a:rPr lang="en-US" sz="1200" dirty="0">
                          <a:latin typeface="Rockwell"/>
                        </a:rPr>
                        <a:t>Concerns</a:t>
                      </a:r>
                    </a:p>
                  </a:txBody>
                  <a:tcPr/>
                </a:tc>
                <a:tc>
                  <a:txBody>
                    <a:bodyPr/>
                    <a:lstStyle/>
                    <a:p>
                      <a:pPr lvl="0">
                        <a:buNone/>
                      </a:pPr>
                      <a:r>
                        <a:rPr lang="en-US" sz="1200" b="0" i="0" u="none" strike="noStrike" noProof="0" dirty="0">
                          <a:latin typeface="Rockwell"/>
                        </a:rPr>
                        <a:t>Data consistency, semantic clarity, metadata management, naming conventions, data quality, compliance</a:t>
                      </a:r>
                    </a:p>
                  </a:txBody>
                  <a:tcPr/>
                </a:tc>
                <a:extLst>
                  <a:ext uri="{0D108BD9-81ED-4DB2-BD59-A6C34878D82A}">
                    <a16:rowId xmlns:a16="http://schemas.microsoft.com/office/drawing/2014/main" val="4232995999"/>
                  </a:ext>
                </a:extLst>
              </a:tr>
              <a:tr h="370840">
                <a:tc>
                  <a:txBody>
                    <a:bodyPr/>
                    <a:lstStyle/>
                    <a:p>
                      <a:r>
                        <a:rPr lang="en-US" sz="1200" dirty="0">
                          <a:latin typeface="Rockwell"/>
                        </a:rPr>
                        <a:t>Elements</a:t>
                      </a:r>
                    </a:p>
                  </a:txBody>
                  <a:tcPr/>
                </a:tc>
                <a:tc>
                  <a:txBody>
                    <a:bodyPr/>
                    <a:lstStyle/>
                    <a:p>
                      <a:pPr lvl="0">
                        <a:buNone/>
                      </a:pPr>
                      <a:r>
                        <a:rPr lang="en-US" sz="1200" b="0" i="0" u="none" strike="noStrike" noProof="0" dirty="0">
                          <a:latin typeface="Rockwell"/>
                        </a:rPr>
                        <a:t>Data Element (Field/Attribute), Data Type, Allowed Values, Description, Relationships</a:t>
                      </a:r>
                      <a:endParaRPr lang="en-US" sz="1200" dirty="0">
                        <a:latin typeface="Rockwell"/>
                      </a:endParaRPr>
                    </a:p>
                  </a:txBody>
                  <a:tcPr/>
                </a:tc>
                <a:extLst>
                  <a:ext uri="{0D108BD9-81ED-4DB2-BD59-A6C34878D82A}">
                    <a16:rowId xmlns:a16="http://schemas.microsoft.com/office/drawing/2014/main" val="2927961338"/>
                  </a:ext>
                </a:extLst>
              </a:tr>
              <a:tr h="370840">
                <a:tc>
                  <a:txBody>
                    <a:bodyPr/>
                    <a:lstStyle/>
                    <a:p>
                      <a:r>
                        <a:rPr lang="en-US" sz="1200" dirty="0">
                          <a:latin typeface="Rockwell"/>
                        </a:rPr>
                        <a:t>Type</a:t>
                      </a:r>
                    </a:p>
                  </a:txBody>
                  <a:tcPr/>
                </a:tc>
                <a:tc>
                  <a:txBody>
                    <a:bodyPr/>
                    <a:lstStyle/>
                    <a:p>
                      <a:r>
                        <a:rPr lang="en-US" sz="1200" dirty="0">
                          <a:latin typeface="Rockwell"/>
                        </a:rPr>
                        <a:t>Catalog</a:t>
                      </a:r>
                    </a:p>
                  </a:txBody>
                  <a:tcPr/>
                </a:tc>
                <a:extLst>
                  <a:ext uri="{0D108BD9-81ED-4DB2-BD59-A6C34878D82A}">
                    <a16:rowId xmlns:a16="http://schemas.microsoft.com/office/drawing/2014/main" val="1478371435"/>
                  </a:ext>
                </a:extLst>
              </a:tr>
              <a:tr h="370840">
                <a:tc>
                  <a:txBody>
                    <a:bodyPr/>
                    <a:lstStyle/>
                    <a:p>
                      <a:r>
                        <a:rPr lang="en-US" sz="1200" dirty="0">
                          <a:latin typeface="Rockwell"/>
                        </a:rPr>
                        <a:t>Modeling Technique</a:t>
                      </a:r>
                    </a:p>
                  </a:txBody>
                  <a:tcPr/>
                </a:tc>
                <a:tc>
                  <a:txBody>
                    <a:bodyPr/>
                    <a:lstStyle/>
                    <a:p>
                      <a:pPr lvl="0">
                        <a:buNone/>
                      </a:pPr>
                      <a:r>
                        <a:rPr lang="en-US" sz="1200" dirty="0">
                          <a:latin typeface="Rockwell"/>
                        </a:rPr>
                        <a:t>Table for each data asset that contains the following:</a:t>
                      </a:r>
                    </a:p>
                    <a:p>
                      <a:pPr marL="171450" lvl="0" indent="-171450">
                        <a:buFont typeface="Arial" panose="020B0604020202020204" pitchFamily="34" charset="0"/>
                        <a:buChar char="•"/>
                      </a:pPr>
                      <a:r>
                        <a:rPr lang="en-US" sz="1200" dirty="0">
                          <a:latin typeface="Rockwell"/>
                        </a:rPr>
                        <a:t>Data Element Name</a:t>
                      </a:r>
                    </a:p>
                    <a:p>
                      <a:pPr marL="171450" lvl="0" indent="-171450">
                        <a:buFont typeface="Arial" panose="020B0604020202020204" pitchFamily="34" charset="0"/>
                        <a:buChar char="•"/>
                      </a:pPr>
                      <a:r>
                        <a:rPr lang="en-US" sz="1200" dirty="0">
                          <a:latin typeface="Rockwell"/>
                        </a:rPr>
                        <a:t>Data Entity</a:t>
                      </a:r>
                    </a:p>
                    <a:p>
                      <a:pPr marL="171450" lvl="0" indent="-171450">
                        <a:buFont typeface="Arial" panose="020B0604020202020204" pitchFamily="34" charset="0"/>
                        <a:buChar char="•"/>
                      </a:pPr>
                      <a:r>
                        <a:rPr lang="en-US" sz="1200" dirty="0">
                          <a:latin typeface="Rockwell"/>
                        </a:rPr>
                        <a:t>Data Field</a:t>
                      </a:r>
                    </a:p>
                    <a:p>
                      <a:pPr marL="171450" lvl="0" indent="-171450">
                        <a:buFont typeface="Arial" panose="020B0604020202020204" pitchFamily="34" charset="0"/>
                        <a:buChar char="•"/>
                      </a:pPr>
                      <a:r>
                        <a:rPr lang="en-US" sz="1200" dirty="0">
                          <a:latin typeface="Rockwell"/>
                        </a:rPr>
                        <a:t>Data Field Type</a:t>
                      </a:r>
                    </a:p>
                    <a:p>
                      <a:pPr marL="171450" lvl="0" indent="-171450">
                        <a:buFont typeface="Arial" panose="020B0604020202020204" pitchFamily="34" charset="0"/>
                        <a:buChar char="•"/>
                      </a:pPr>
                      <a:r>
                        <a:rPr lang="en-US" sz="1200" dirty="0">
                          <a:latin typeface="Rockwell"/>
                        </a:rPr>
                        <a:t>Data Field Description</a:t>
                      </a:r>
                    </a:p>
                    <a:p>
                      <a:pPr marL="171450" lvl="0" indent="-171450">
                        <a:buFont typeface="Arial" panose="020B0604020202020204" pitchFamily="34" charset="0"/>
                        <a:buChar char="•"/>
                      </a:pPr>
                      <a:r>
                        <a:rPr lang="en-US" sz="1200" dirty="0">
                          <a:latin typeface="Rockwell"/>
                        </a:rPr>
                        <a:t>Allowed Values</a:t>
                      </a:r>
                    </a:p>
                    <a:p>
                      <a:pPr marL="171450" lvl="0" indent="-171450">
                        <a:buFont typeface="Arial" panose="020B0604020202020204" pitchFamily="34" charset="0"/>
                        <a:buChar char="•"/>
                      </a:pPr>
                      <a:r>
                        <a:rPr lang="en-US" sz="1200" dirty="0">
                          <a:latin typeface="Rockwell"/>
                        </a:rPr>
                        <a:t>Relationships and Dependencies</a:t>
                      </a:r>
                    </a:p>
                  </a:txBody>
                  <a:tcPr/>
                </a:tc>
                <a:extLst>
                  <a:ext uri="{0D108BD9-81ED-4DB2-BD59-A6C34878D82A}">
                    <a16:rowId xmlns:a16="http://schemas.microsoft.com/office/drawing/2014/main" val="163306598"/>
                  </a:ext>
                </a:extLst>
              </a:tr>
            </a:tbl>
          </a:graphicData>
        </a:graphic>
      </p:graphicFrame>
    </p:spTree>
    <p:extLst>
      <p:ext uri="{BB962C8B-B14F-4D97-AF65-F5344CB8AC3E}">
        <p14:creationId xmlns:p14="http://schemas.microsoft.com/office/powerpoint/2010/main" val="19345592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51910-7030-E25E-64A1-1151E1AB77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9B7A41-D1B6-E7E0-29C6-192BCF4474AC}"/>
              </a:ext>
            </a:extLst>
          </p:cNvPr>
          <p:cNvSpPr>
            <a:spLocks noGrp="1"/>
          </p:cNvSpPr>
          <p:nvPr>
            <p:ph type="title"/>
          </p:nvPr>
        </p:nvSpPr>
        <p:spPr/>
        <p:txBody>
          <a:bodyPr/>
          <a:lstStyle/>
          <a:p>
            <a:r>
              <a:rPr lang="en-US" dirty="0"/>
              <a:t>Physical Data Dictionary Catalog</a:t>
            </a:r>
          </a:p>
        </p:txBody>
      </p:sp>
      <p:graphicFrame>
        <p:nvGraphicFramePr>
          <p:cNvPr id="4" name="Content Placeholder 3">
            <a:extLst>
              <a:ext uri="{FF2B5EF4-FFF2-40B4-BE49-F238E27FC236}">
                <a16:creationId xmlns:a16="http://schemas.microsoft.com/office/drawing/2014/main" id="{4A96E8B4-5612-8292-003A-701979E95860}"/>
              </a:ext>
            </a:extLst>
          </p:cNvPr>
          <p:cNvGraphicFramePr>
            <a:graphicFrameLocks noGrp="1"/>
          </p:cNvGraphicFramePr>
          <p:nvPr>
            <p:ph idx="1"/>
            <p:extLst>
              <p:ext uri="{D42A27DB-BD31-4B8C-83A1-F6EECF244321}">
                <p14:modId xmlns:p14="http://schemas.microsoft.com/office/powerpoint/2010/main" val="1983874015"/>
              </p:ext>
            </p:extLst>
          </p:nvPr>
        </p:nvGraphicFramePr>
        <p:xfrm>
          <a:off x="1069975" y="2120900"/>
          <a:ext cx="10058400" cy="4826000"/>
        </p:xfrm>
        <a:graphic>
          <a:graphicData uri="http://schemas.openxmlformats.org/drawingml/2006/table">
            <a:tbl>
              <a:tblPr firstRow="1" bandRow="1">
                <a:tableStyleId>{5C22544A-7EE6-4342-B048-85BDC9FD1C3A}</a:tableStyleId>
              </a:tblPr>
              <a:tblGrid>
                <a:gridCol w="2198158">
                  <a:extLst>
                    <a:ext uri="{9D8B030D-6E8A-4147-A177-3AD203B41FA5}">
                      <a16:colId xmlns:a16="http://schemas.microsoft.com/office/drawing/2014/main" val="2004020530"/>
                    </a:ext>
                  </a:extLst>
                </a:gridCol>
                <a:gridCol w="7860242">
                  <a:extLst>
                    <a:ext uri="{9D8B030D-6E8A-4147-A177-3AD203B41FA5}">
                      <a16:colId xmlns:a16="http://schemas.microsoft.com/office/drawing/2014/main" val="625058839"/>
                    </a:ext>
                  </a:extLst>
                </a:gridCol>
              </a:tblGrid>
              <a:tr h="370840">
                <a:tc>
                  <a:txBody>
                    <a:bodyPr/>
                    <a:lstStyle/>
                    <a:p>
                      <a:r>
                        <a:rPr lang="en-US" sz="1400" dirty="0">
                          <a:latin typeface="Rockwell"/>
                        </a:rPr>
                        <a:t>Component</a:t>
                      </a:r>
                    </a:p>
                  </a:txBody>
                  <a:tcPr/>
                </a:tc>
                <a:tc>
                  <a:txBody>
                    <a:bodyPr/>
                    <a:lstStyle/>
                    <a:p>
                      <a:endParaRPr lang="en-US" sz="1400" dirty="0">
                        <a:latin typeface="Rockwell"/>
                      </a:endParaRPr>
                    </a:p>
                  </a:txBody>
                  <a:tcPr/>
                </a:tc>
                <a:extLst>
                  <a:ext uri="{0D108BD9-81ED-4DB2-BD59-A6C34878D82A}">
                    <a16:rowId xmlns:a16="http://schemas.microsoft.com/office/drawing/2014/main" val="3956094974"/>
                  </a:ext>
                </a:extLst>
              </a:tr>
              <a:tr h="370840">
                <a:tc>
                  <a:txBody>
                    <a:bodyPr/>
                    <a:lstStyle/>
                    <a:p>
                      <a:r>
                        <a:rPr lang="en-US" sz="1400" dirty="0">
                          <a:latin typeface="Rockwell"/>
                        </a:rPr>
                        <a:t>Description</a:t>
                      </a:r>
                    </a:p>
                  </a:txBody>
                  <a:tcPr/>
                </a:tc>
                <a:tc>
                  <a:txBody>
                    <a:bodyPr/>
                    <a:lstStyle/>
                    <a:p>
                      <a:pPr marL="0" marR="0" lvl="0" indent="0" algn="l">
                        <a:lnSpc>
                          <a:spcPct val="100000"/>
                        </a:lnSpc>
                        <a:spcBef>
                          <a:spcPts val="0"/>
                        </a:spcBef>
                        <a:spcAft>
                          <a:spcPts val="0"/>
                        </a:spcAft>
                        <a:buNone/>
                      </a:pPr>
                      <a:r>
                        <a:rPr lang="en-US" sz="1400" b="0" i="0" u="none" strike="noStrike" noProof="0" dirty="0">
                          <a:latin typeface="Rockwell"/>
                        </a:rPr>
                        <a:t>A Physical Data Dictionary Catalog provides detailed definitions and descriptions of data elements within a physical data model. It includes technical specifications like data types, field sizes, indexes, and constraints, supporting system implementation and database management.</a:t>
                      </a:r>
                    </a:p>
                  </a:txBody>
                  <a:tcPr/>
                </a:tc>
                <a:extLst>
                  <a:ext uri="{0D108BD9-81ED-4DB2-BD59-A6C34878D82A}">
                    <a16:rowId xmlns:a16="http://schemas.microsoft.com/office/drawing/2014/main" val="1305053344"/>
                  </a:ext>
                </a:extLst>
              </a:tr>
              <a:tr h="370840">
                <a:tc>
                  <a:txBody>
                    <a:bodyPr/>
                    <a:lstStyle/>
                    <a:p>
                      <a:r>
                        <a:rPr lang="en-US" sz="1400" dirty="0">
                          <a:latin typeface="Rockwell"/>
                        </a:rPr>
                        <a:t>Stakeholders</a:t>
                      </a:r>
                    </a:p>
                  </a:txBody>
                  <a:tcPr/>
                </a:tc>
                <a:tc>
                  <a:txBody>
                    <a:bodyPr/>
                    <a:lstStyle/>
                    <a:p>
                      <a:pPr lvl="0">
                        <a:buNone/>
                      </a:pPr>
                      <a:r>
                        <a:rPr lang="en-US" sz="1400" b="0" i="0" u="none" strike="noStrike" noProof="0" dirty="0">
                          <a:latin typeface="Rockwell"/>
                        </a:rPr>
                        <a:t>Database Administrator, Data Architect, Application Developer, System Integrator, Data Steward</a:t>
                      </a:r>
                      <a:endParaRPr lang="en-US" sz="1400" dirty="0">
                        <a:latin typeface="Rockwell"/>
                      </a:endParaRPr>
                    </a:p>
                  </a:txBody>
                  <a:tcPr/>
                </a:tc>
                <a:extLst>
                  <a:ext uri="{0D108BD9-81ED-4DB2-BD59-A6C34878D82A}">
                    <a16:rowId xmlns:a16="http://schemas.microsoft.com/office/drawing/2014/main" val="4270249404"/>
                  </a:ext>
                </a:extLst>
              </a:tr>
              <a:tr h="370840">
                <a:tc>
                  <a:txBody>
                    <a:bodyPr/>
                    <a:lstStyle/>
                    <a:p>
                      <a:r>
                        <a:rPr lang="en-US" sz="1400" dirty="0">
                          <a:latin typeface="Rockwell"/>
                        </a:rPr>
                        <a:t>Concerns</a:t>
                      </a:r>
                    </a:p>
                  </a:txBody>
                  <a:tcPr/>
                </a:tc>
                <a:tc>
                  <a:txBody>
                    <a:bodyPr/>
                    <a:lstStyle/>
                    <a:p>
                      <a:pPr lvl="0">
                        <a:buNone/>
                      </a:pPr>
                      <a:r>
                        <a:rPr lang="en-US" sz="1400" b="0" i="0" u="none" strike="noStrike" noProof="0" dirty="0">
                          <a:latin typeface="Rockwell"/>
                        </a:rPr>
                        <a:t>Data type specifications, indexing, performance optimization, storage requirements, data integrity, implementation constraints</a:t>
                      </a:r>
                    </a:p>
                  </a:txBody>
                  <a:tcPr/>
                </a:tc>
                <a:extLst>
                  <a:ext uri="{0D108BD9-81ED-4DB2-BD59-A6C34878D82A}">
                    <a16:rowId xmlns:a16="http://schemas.microsoft.com/office/drawing/2014/main" val="4232995999"/>
                  </a:ext>
                </a:extLst>
              </a:tr>
              <a:tr h="370840">
                <a:tc>
                  <a:txBody>
                    <a:bodyPr/>
                    <a:lstStyle/>
                    <a:p>
                      <a:r>
                        <a:rPr lang="en-US" sz="1400" dirty="0">
                          <a:latin typeface="Rockwell"/>
                        </a:rPr>
                        <a:t>Elements</a:t>
                      </a:r>
                    </a:p>
                  </a:txBody>
                  <a:tcPr/>
                </a:tc>
                <a:tc>
                  <a:txBody>
                    <a:bodyPr/>
                    <a:lstStyle/>
                    <a:p>
                      <a:pPr lvl="0">
                        <a:buNone/>
                      </a:pPr>
                      <a:r>
                        <a:rPr lang="en-US" sz="1400" b="0" i="0" u="none" strike="noStrike" noProof="0" dirty="0">
                          <a:latin typeface="Rockwell"/>
                        </a:rPr>
                        <a:t>Data Field (Column), Data Type, Field Size, Index, Constraint (e.g., Primary Key, Foreign Key), Default Values</a:t>
                      </a:r>
                      <a:endParaRPr lang="en-US" sz="1400" dirty="0">
                        <a:latin typeface="Rockwell"/>
                      </a:endParaRPr>
                    </a:p>
                  </a:txBody>
                  <a:tcPr/>
                </a:tc>
                <a:extLst>
                  <a:ext uri="{0D108BD9-81ED-4DB2-BD59-A6C34878D82A}">
                    <a16:rowId xmlns:a16="http://schemas.microsoft.com/office/drawing/2014/main" val="2927961338"/>
                  </a:ext>
                </a:extLst>
              </a:tr>
              <a:tr h="370840">
                <a:tc>
                  <a:txBody>
                    <a:bodyPr/>
                    <a:lstStyle/>
                    <a:p>
                      <a:r>
                        <a:rPr lang="en-US" sz="1400" dirty="0">
                          <a:latin typeface="Rockwell"/>
                        </a:rPr>
                        <a:t>Type</a:t>
                      </a:r>
                    </a:p>
                  </a:txBody>
                  <a:tcPr/>
                </a:tc>
                <a:tc>
                  <a:txBody>
                    <a:bodyPr/>
                    <a:lstStyle/>
                    <a:p>
                      <a:r>
                        <a:rPr lang="en-US" sz="1400" dirty="0">
                          <a:latin typeface="Rockwell"/>
                        </a:rPr>
                        <a:t>Catalog</a:t>
                      </a:r>
                    </a:p>
                  </a:txBody>
                  <a:tcPr/>
                </a:tc>
                <a:extLst>
                  <a:ext uri="{0D108BD9-81ED-4DB2-BD59-A6C34878D82A}">
                    <a16:rowId xmlns:a16="http://schemas.microsoft.com/office/drawing/2014/main" val="1478371435"/>
                  </a:ext>
                </a:extLst>
              </a:tr>
              <a:tr h="370840">
                <a:tc>
                  <a:txBody>
                    <a:bodyPr/>
                    <a:lstStyle/>
                    <a:p>
                      <a:r>
                        <a:rPr lang="en-US" sz="1400" dirty="0">
                          <a:latin typeface="Rockwell"/>
                        </a:rPr>
                        <a:t>Modeling Technique</a:t>
                      </a:r>
                    </a:p>
                  </a:txBody>
                  <a:tcPr/>
                </a:tc>
                <a:tc>
                  <a:txBody>
                    <a:bodyPr/>
                    <a:lstStyle/>
                    <a:p>
                      <a:pPr lvl="0">
                        <a:buNone/>
                      </a:pPr>
                      <a:r>
                        <a:rPr lang="en-US" sz="1400" dirty="0">
                          <a:latin typeface="Rockwell"/>
                        </a:rPr>
                        <a:t>Table for each data asset that contains the following:</a:t>
                      </a:r>
                    </a:p>
                    <a:p>
                      <a:pPr marL="171450" lvl="0" indent="-171450">
                        <a:buFont typeface="Arial" panose="020B0604020202020204" pitchFamily="34" charset="0"/>
                        <a:buChar char="•"/>
                      </a:pPr>
                      <a:r>
                        <a:rPr lang="en-US" sz="1400" dirty="0">
                          <a:latin typeface="Rockwell"/>
                        </a:rPr>
                        <a:t>Data Element Name</a:t>
                      </a:r>
                    </a:p>
                    <a:p>
                      <a:pPr marL="171450" lvl="0" indent="-171450">
                        <a:buFont typeface="Arial" panose="020B0604020202020204" pitchFamily="34" charset="0"/>
                        <a:buChar char="•"/>
                      </a:pPr>
                      <a:r>
                        <a:rPr lang="en-US" sz="1400" dirty="0">
                          <a:latin typeface="Rockwell"/>
                        </a:rPr>
                        <a:t>Data Field</a:t>
                      </a:r>
                    </a:p>
                    <a:p>
                      <a:pPr marL="171450" lvl="0" indent="-171450">
                        <a:buFont typeface="Arial" panose="020B0604020202020204" pitchFamily="34" charset="0"/>
                        <a:buChar char="•"/>
                      </a:pPr>
                      <a:r>
                        <a:rPr lang="en-US" sz="1400" dirty="0">
                          <a:latin typeface="Rockwell"/>
                        </a:rPr>
                        <a:t>Data Field Type</a:t>
                      </a:r>
                    </a:p>
                    <a:p>
                      <a:pPr marL="171450" lvl="0" indent="-171450">
                        <a:buFont typeface="Arial" panose="020B0604020202020204" pitchFamily="34" charset="0"/>
                        <a:buChar char="•"/>
                      </a:pPr>
                      <a:r>
                        <a:rPr lang="en-US" sz="1400" dirty="0">
                          <a:latin typeface="Rockwell"/>
                        </a:rPr>
                        <a:t>Data Field Size and Precision</a:t>
                      </a:r>
                    </a:p>
                    <a:p>
                      <a:pPr marL="171450" lvl="0" indent="-171450">
                        <a:buFont typeface="Arial" panose="020B0604020202020204" pitchFamily="34" charset="0"/>
                        <a:buChar char="•"/>
                      </a:pPr>
                      <a:r>
                        <a:rPr lang="en-US" sz="1400" dirty="0">
                          <a:latin typeface="Rockwell"/>
                        </a:rPr>
                        <a:t>Indexing Options</a:t>
                      </a:r>
                    </a:p>
                    <a:p>
                      <a:pPr marL="171450" lvl="0" indent="-171450">
                        <a:buFont typeface="Arial" panose="020B0604020202020204" pitchFamily="34" charset="0"/>
                        <a:buChar char="•"/>
                      </a:pPr>
                      <a:r>
                        <a:rPr lang="en-US" sz="1400" dirty="0">
                          <a:latin typeface="Rockwell"/>
                        </a:rPr>
                        <a:t>Constraints and Default Values</a:t>
                      </a:r>
                    </a:p>
                  </a:txBody>
                  <a:tcPr/>
                </a:tc>
                <a:extLst>
                  <a:ext uri="{0D108BD9-81ED-4DB2-BD59-A6C34878D82A}">
                    <a16:rowId xmlns:a16="http://schemas.microsoft.com/office/drawing/2014/main" val="163306598"/>
                  </a:ext>
                </a:extLst>
              </a:tr>
            </a:tbl>
          </a:graphicData>
        </a:graphic>
      </p:graphicFrame>
    </p:spTree>
    <p:extLst>
      <p:ext uri="{BB962C8B-B14F-4D97-AF65-F5344CB8AC3E}">
        <p14:creationId xmlns:p14="http://schemas.microsoft.com/office/powerpoint/2010/main" val="16348511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A56E0-A44A-07F8-0E0D-79771151F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298981-C575-6F18-79D0-A1863FD995B1}"/>
              </a:ext>
            </a:extLst>
          </p:cNvPr>
          <p:cNvSpPr>
            <a:spLocks noGrp="1"/>
          </p:cNvSpPr>
          <p:nvPr>
            <p:ph type="title"/>
          </p:nvPr>
        </p:nvSpPr>
        <p:spPr/>
        <p:txBody>
          <a:bodyPr/>
          <a:lstStyle/>
          <a:p>
            <a:r>
              <a:rPr lang="en-US" dirty="0"/>
              <a:t>Reference Data Catalog</a:t>
            </a:r>
          </a:p>
        </p:txBody>
      </p:sp>
      <p:graphicFrame>
        <p:nvGraphicFramePr>
          <p:cNvPr id="4" name="Content Placeholder 3">
            <a:extLst>
              <a:ext uri="{FF2B5EF4-FFF2-40B4-BE49-F238E27FC236}">
                <a16:creationId xmlns:a16="http://schemas.microsoft.com/office/drawing/2014/main" id="{B9BB59BE-569B-E7E7-98FC-B1422C552A2C}"/>
              </a:ext>
            </a:extLst>
          </p:cNvPr>
          <p:cNvGraphicFramePr>
            <a:graphicFrameLocks noGrp="1"/>
          </p:cNvGraphicFramePr>
          <p:nvPr>
            <p:ph idx="1"/>
            <p:extLst>
              <p:ext uri="{D42A27DB-BD31-4B8C-83A1-F6EECF244321}">
                <p14:modId xmlns:p14="http://schemas.microsoft.com/office/powerpoint/2010/main" val="1512714832"/>
              </p:ext>
            </p:extLst>
          </p:nvPr>
        </p:nvGraphicFramePr>
        <p:xfrm>
          <a:off x="1069975" y="2120900"/>
          <a:ext cx="10058400" cy="4104640"/>
        </p:xfrm>
        <a:graphic>
          <a:graphicData uri="http://schemas.openxmlformats.org/drawingml/2006/table">
            <a:tbl>
              <a:tblPr firstRow="1" bandRow="1">
                <a:tableStyleId>{5C22544A-7EE6-4342-B048-85BDC9FD1C3A}</a:tableStyleId>
              </a:tblPr>
              <a:tblGrid>
                <a:gridCol w="2198158">
                  <a:extLst>
                    <a:ext uri="{9D8B030D-6E8A-4147-A177-3AD203B41FA5}">
                      <a16:colId xmlns:a16="http://schemas.microsoft.com/office/drawing/2014/main" val="2004020530"/>
                    </a:ext>
                  </a:extLst>
                </a:gridCol>
                <a:gridCol w="7860242">
                  <a:extLst>
                    <a:ext uri="{9D8B030D-6E8A-4147-A177-3AD203B41FA5}">
                      <a16:colId xmlns:a16="http://schemas.microsoft.com/office/drawing/2014/main" val="625058839"/>
                    </a:ext>
                  </a:extLst>
                </a:gridCol>
              </a:tblGrid>
              <a:tr h="370840">
                <a:tc>
                  <a:txBody>
                    <a:bodyPr/>
                    <a:lstStyle/>
                    <a:p>
                      <a:r>
                        <a:rPr lang="en-US" sz="1400" dirty="0">
                          <a:latin typeface="Rockwell"/>
                        </a:rPr>
                        <a:t>Component</a:t>
                      </a:r>
                    </a:p>
                  </a:txBody>
                  <a:tcPr/>
                </a:tc>
                <a:tc>
                  <a:txBody>
                    <a:bodyPr/>
                    <a:lstStyle/>
                    <a:p>
                      <a:endParaRPr lang="en-US" sz="1400" dirty="0">
                        <a:latin typeface="Rockwell"/>
                      </a:endParaRPr>
                    </a:p>
                  </a:txBody>
                  <a:tcPr/>
                </a:tc>
                <a:extLst>
                  <a:ext uri="{0D108BD9-81ED-4DB2-BD59-A6C34878D82A}">
                    <a16:rowId xmlns:a16="http://schemas.microsoft.com/office/drawing/2014/main" val="3956094974"/>
                  </a:ext>
                </a:extLst>
              </a:tr>
              <a:tr h="370840">
                <a:tc>
                  <a:txBody>
                    <a:bodyPr/>
                    <a:lstStyle/>
                    <a:p>
                      <a:r>
                        <a:rPr lang="en-US" sz="1400" dirty="0">
                          <a:latin typeface="Rockwell"/>
                        </a:rPr>
                        <a:t>Description</a:t>
                      </a:r>
                    </a:p>
                  </a:txBody>
                  <a:tcPr/>
                </a:tc>
                <a:tc>
                  <a:txBody>
                    <a:bodyPr/>
                    <a:lstStyle/>
                    <a:p>
                      <a:pPr marL="0" marR="0" lvl="0" indent="0" algn="l">
                        <a:lnSpc>
                          <a:spcPct val="100000"/>
                        </a:lnSpc>
                        <a:spcBef>
                          <a:spcPts val="0"/>
                        </a:spcBef>
                        <a:spcAft>
                          <a:spcPts val="0"/>
                        </a:spcAft>
                        <a:buNone/>
                      </a:pPr>
                      <a:r>
                        <a:rPr lang="en-US" sz="1400" b="0" i="0" u="none" strike="noStrike" noProof="0" dirty="0">
                          <a:latin typeface="Rockwell"/>
                        </a:rPr>
                        <a:t>A Reference Data Catalog contains standardized sets of data used across multiple systems and applications. It includes non-volatile, predefined data such as codes, classifications, and enumerations, ensuring consistency and interoperability across the organization.</a:t>
                      </a:r>
                    </a:p>
                  </a:txBody>
                  <a:tcPr/>
                </a:tc>
                <a:extLst>
                  <a:ext uri="{0D108BD9-81ED-4DB2-BD59-A6C34878D82A}">
                    <a16:rowId xmlns:a16="http://schemas.microsoft.com/office/drawing/2014/main" val="1305053344"/>
                  </a:ext>
                </a:extLst>
              </a:tr>
              <a:tr h="370840">
                <a:tc>
                  <a:txBody>
                    <a:bodyPr/>
                    <a:lstStyle/>
                    <a:p>
                      <a:r>
                        <a:rPr lang="en-US" sz="1400" dirty="0">
                          <a:latin typeface="Rockwell"/>
                        </a:rPr>
                        <a:t>Stakeholders</a:t>
                      </a:r>
                    </a:p>
                  </a:txBody>
                  <a:tcPr/>
                </a:tc>
                <a:tc>
                  <a:txBody>
                    <a:bodyPr/>
                    <a:lstStyle/>
                    <a:p>
                      <a:pPr lvl="0">
                        <a:buNone/>
                      </a:pPr>
                      <a:r>
                        <a:rPr lang="en-US" sz="1400" b="0" i="0" u="none" strike="noStrike" noProof="0" dirty="0">
                          <a:latin typeface="Rockwell"/>
                        </a:rPr>
                        <a:t>Data Steward, Business Analyst, Application Developer, Data Architect, System Integrator</a:t>
                      </a:r>
                      <a:endParaRPr lang="en-US" sz="1400" dirty="0">
                        <a:latin typeface="Rockwell"/>
                      </a:endParaRPr>
                    </a:p>
                  </a:txBody>
                  <a:tcPr/>
                </a:tc>
                <a:extLst>
                  <a:ext uri="{0D108BD9-81ED-4DB2-BD59-A6C34878D82A}">
                    <a16:rowId xmlns:a16="http://schemas.microsoft.com/office/drawing/2014/main" val="4270249404"/>
                  </a:ext>
                </a:extLst>
              </a:tr>
              <a:tr h="370840">
                <a:tc>
                  <a:txBody>
                    <a:bodyPr/>
                    <a:lstStyle/>
                    <a:p>
                      <a:r>
                        <a:rPr lang="en-US" sz="1400" dirty="0">
                          <a:latin typeface="Rockwell"/>
                        </a:rPr>
                        <a:t>Concerns</a:t>
                      </a:r>
                    </a:p>
                  </a:txBody>
                  <a:tcPr/>
                </a:tc>
                <a:tc>
                  <a:txBody>
                    <a:bodyPr/>
                    <a:lstStyle/>
                    <a:p>
                      <a:pPr lvl="0">
                        <a:buNone/>
                      </a:pPr>
                      <a:r>
                        <a:rPr lang="en-US" sz="1400" b="0" i="0" u="none" strike="noStrike" noProof="0" dirty="0">
                          <a:latin typeface="Rockwell"/>
                        </a:rPr>
                        <a:t>Consistency of reference data, standardization, version control, data governance, integration across systems</a:t>
                      </a:r>
                    </a:p>
                  </a:txBody>
                  <a:tcPr/>
                </a:tc>
                <a:extLst>
                  <a:ext uri="{0D108BD9-81ED-4DB2-BD59-A6C34878D82A}">
                    <a16:rowId xmlns:a16="http://schemas.microsoft.com/office/drawing/2014/main" val="4232995999"/>
                  </a:ext>
                </a:extLst>
              </a:tr>
              <a:tr h="370840">
                <a:tc>
                  <a:txBody>
                    <a:bodyPr/>
                    <a:lstStyle/>
                    <a:p>
                      <a:r>
                        <a:rPr lang="en-US" sz="1400" dirty="0">
                          <a:latin typeface="Rockwell"/>
                        </a:rPr>
                        <a:t>Elements</a:t>
                      </a:r>
                    </a:p>
                  </a:txBody>
                  <a:tcPr/>
                </a:tc>
                <a:tc>
                  <a:txBody>
                    <a:bodyPr/>
                    <a:lstStyle/>
                    <a:p>
                      <a:pPr lvl="0">
                        <a:buNone/>
                      </a:pPr>
                      <a:r>
                        <a:rPr lang="en-US" sz="1400" b="0" i="0" u="none" strike="noStrike" noProof="0" dirty="0">
                          <a:latin typeface="Rockwell"/>
                        </a:rPr>
                        <a:t>Reference Data Set, Code, Description, Valid Values, Version</a:t>
                      </a:r>
                      <a:endParaRPr lang="en-US" sz="1400" dirty="0">
                        <a:latin typeface="Rockwell"/>
                      </a:endParaRPr>
                    </a:p>
                  </a:txBody>
                  <a:tcPr/>
                </a:tc>
                <a:extLst>
                  <a:ext uri="{0D108BD9-81ED-4DB2-BD59-A6C34878D82A}">
                    <a16:rowId xmlns:a16="http://schemas.microsoft.com/office/drawing/2014/main" val="2927961338"/>
                  </a:ext>
                </a:extLst>
              </a:tr>
              <a:tr h="370840">
                <a:tc>
                  <a:txBody>
                    <a:bodyPr/>
                    <a:lstStyle/>
                    <a:p>
                      <a:r>
                        <a:rPr lang="en-US" sz="1400" dirty="0">
                          <a:latin typeface="Rockwell"/>
                        </a:rPr>
                        <a:t>Type</a:t>
                      </a:r>
                    </a:p>
                  </a:txBody>
                  <a:tcPr/>
                </a:tc>
                <a:tc>
                  <a:txBody>
                    <a:bodyPr/>
                    <a:lstStyle/>
                    <a:p>
                      <a:r>
                        <a:rPr lang="en-US" sz="1400" dirty="0">
                          <a:latin typeface="Rockwell"/>
                        </a:rPr>
                        <a:t>Catalog</a:t>
                      </a:r>
                    </a:p>
                  </a:txBody>
                  <a:tcPr/>
                </a:tc>
                <a:extLst>
                  <a:ext uri="{0D108BD9-81ED-4DB2-BD59-A6C34878D82A}">
                    <a16:rowId xmlns:a16="http://schemas.microsoft.com/office/drawing/2014/main" val="1478371435"/>
                  </a:ext>
                </a:extLst>
              </a:tr>
              <a:tr h="370840">
                <a:tc>
                  <a:txBody>
                    <a:bodyPr/>
                    <a:lstStyle/>
                    <a:p>
                      <a:r>
                        <a:rPr lang="en-US" sz="1400" dirty="0">
                          <a:latin typeface="Rockwell"/>
                        </a:rPr>
                        <a:t>Modeling Technique</a:t>
                      </a:r>
                    </a:p>
                  </a:txBody>
                  <a:tcPr/>
                </a:tc>
                <a:tc>
                  <a:txBody>
                    <a:bodyPr/>
                    <a:lstStyle/>
                    <a:p>
                      <a:pPr lvl="0">
                        <a:buNone/>
                      </a:pPr>
                      <a:r>
                        <a:rPr lang="en-US" sz="1400" dirty="0">
                          <a:latin typeface="Rockwell"/>
                        </a:rPr>
                        <a:t>Table for each data asset that contains the following:</a:t>
                      </a:r>
                    </a:p>
                    <a:p>
                      <a:pPr marL="171450" lvl="0" indent="-171450">
                        <a:buFont typeface="Arial" panose="020B0604020202020204" pitchFamily="34" charset="0"/>
                        <a:buChar char="•"/>
                      </a:pPr>
                      <a:r>
                        <a:rPr lang="en-US" sz="1400" dirty="0">
                          <a:latin typeface="Rockwell"/>
                        </a:rPr>
                        <a:t>Reference Data Set Name</a:t>
                      </a:r>
                    </a:p>
                    <a:p>
                      <a:pPr marL="171450" lvl="0" indent="-171450">
                        <a:buFont typeface="Arial" panose="020B0604020202020204" pitchFamily="34" charset="0"/>
                        <a:buChar char="•"/>
                      </a:pPr>
                      <a:r>
                        <a:rPr lang="en-US" sz="1400" dirty="0">
                          <a:latin typeface="Rockwell"/>
                        </a:rPr>
                        <a:t>Code (unique identifier)</a:t>
                      </a:r>
                    </a:p>
                    <a:p>
                      <a:pPr marL="171450" lvl="0" indent="-171450">
                        <a:buFont typeface="Arial" panose="020B0604020202020204" pitchFamily="34" charset="0"/>
                        <a:buChar char="•"/>
                      </a:pPr>
                      <a:r>
                        <a:rPr lang="en-US" sz="1400" dirty="0">
                          <a:latin typeface="Rockwell"/>
                        </a:rPr>
                        <a:t>Description</a:t>
                      </a:r>
                    </a:p>
                    <a:p>
                      <a:pPr marL="171450" lvl="0" indent="-171450">
                        <a:buFont typeface="Arial" panose="020B0604020202020204" pitchFamily="34" charset="0"/>
                        <a:buChar char="•"/>
                      </a:pPr>
                      <a:r>
                        <a:rPr lang="en-US" sz="1400" dirty="0">
                          <a:latin typeface="Rockwell"/>
                        </a:rPr>
                        <a:t>Valid Values</a:t>
                      </a:r>
                    </a:p>
                    <a:p>
                      <a:pPr marL="171450" lvl="0" indent="-171450">
                        <a:buFont typeface="Arial" panose="020B0604020202020204" pitchFamily="34" charset="0"/>
                        <a:buChar char="•"/>
                      </a:pPr>
                      <a:r>
                        <a:rPr lang="en-US" sz="1400" dirty="0">
                          <a:latin typeface="Rockwell"/>
                        </a:rPr>
                        <a:t>Version Information</a:t>
                      </a:r>
                    </a:p>
                  </a:txBody>
                  <a:tcPr/>
                </a:tc>
                <a:extLst>
                  <a:ext uri="{0D108BD9-81ED-4DB2-BD59-A6C34878D82A}">
                    <a16:rowId xmlns:a16="http://schemas.microsoft.com/office/drawing/2014/main" val="163306598"/>
                  </a:ext>
                </a:extLst>
              </a:tr>
            </a:tbl>
          </a:graphicData>
        </a:graphic>
      </p:graphicFrame>
    </p:spTree>
    <p:extLst>
      <p:ext uri="{BB962C8B-B14F-4D97-AF65-F5344CB8AC3E}">
        <p14:creationId xmlns:p14="http://schemas.microsoft.com/office/powerpoint/2010/main" val="5261595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63CF6-A2BB-3685-4D40-E56C3A853A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812BCA-02D7-3CA6-87D9-F2E96B71F3CE}"/>
              </a:ext>
            </a:extLst>
          </p:cNvPr>
          <p:cNvSpPr>
            <a:spLocks noGrp="1"/>
          </p:cNvSpPr>
          <p:nvPr>
            <p:ph type="title"/>
          </p:nvPr>
        </p:nvSpPr>
        <p:spPr/>
        <p:txBody>
          <a:bodyPr/>
          <a:lstStyle/>
          <a:p>
            <a:r>
              <a:rPr lang="en-US" dirty="0"/>
              <a:t>Business Glossary Catalog</a:t>
            </a:r>
          </a:p>
        </p:txBody>
      </p:sp>
      <p:graphicFrame>
        <p:nvGraphicFramePr>
          <p:cNvPr id="4" name="Content Placeholder 3">
            <a:extLst>
              <a:ext uri="{FF2B5EF4-FFF2-40B4-BE49-F238E27FC236}">
                <a16:creationId xmlns:a16="http://schemas.microsoft.com/office/drawing/2014/main" id="{5E80256C-17DF-BE2B-8C7A-8EAD27A21120}"/>
              </a:ext>
            </a:extLst>
          </p:cNvPr>
          <p:cNvGraphicFramePr>
            <a:graphicFrameLocks noGrp="1"/>
          </p:cNvGraphicFramePr>
          <p:nvPr>
            <p:ph idx="1"/>
            <p:extLst>
              <p:ext uri="{D42A27DB-BD31-4B8C-83A1-F6EECF244321}">
                <p14:modId xmlns:p14="http://schemas.microsoft.com/office/powerpoint/2010/main" val="1868504772"/>
              </p:ext>
            </p:extLst>
          </p:nvPr>
        </p:nvGraphicFramePr>
        <p:xfrm>
          <a:off x="1069975" y="2120900"/>
          <a:ext cx="10058400" cy="4465320"/>
        </p:xfrm>
        <a:graphic>
          <a:graphicData uri="http://schemas.openxmlformats.org/drawingml/2006/table">
            <a:tbl>
              <a:tblPr firstRow="1" bandRow="1">
                <a:tableStyleId>{5C22544A-7EE6-4342-B048-85BDC9FD1C3A}</a:tableStyleId>
              </a:tblPr>
              <a:tblGrid>
                <a:gridCol w="2198158">
                  <a:extLst>
                    <a:ext uri="{9D8B030D-6E8A-4147-A177-3AD203B41FA5}">
                      <a16:colId xmlns:a16="http://schemas.microsoft.com/office/drawing/2014/main" val="2004020530"/>
                    </a:ext>
                  </a:extLst>
                </a:gridCol>
                <a:gridCol w="7860242">
                  <a:extLst>
                    <a:ext uri="{9D8B030D-6E8A-4147-A177-3AD203B41FA5}">
                      <a16:colId xmlns:a16="http://schemas.microsoft.com/office/drawing/2014/main" val="625058839"/>
                    </a:ext>
                  </a:extLst>
                </a:gridCol>
              </a:tblGrid>
              <a:tr h="370840">
                <a:tc>
                  <a:txBody>
                    <a:bodyPr/>
                    <a:lstStyle/>
                    <a:p>
                      <a:r>
                        <a:rPr lang="en-US" sz="1400" dirty="0"/>
                        <a:t>Component</a:t>
                      </a:r>
                    </a:p>
                  </a:txBody>
                  <a:tcPr/>
                </a:tc>
                <a:tc>
                  <a:txBody>
                    <a:bodyPr/>
                    <a:lstStyle/>
                    <a:p>
                      <a:r>
                        <a:rPr lang="en-US" sz="1400" dirty="0"/>
                        <a:t>Description</a:t>
                      </a:r>
                    </a:p>
                  </a:txBody>
                  <a:tcPr/>
                </a:tc>
                <a:extLst>
                  <a:ext uri="{0D108BD9-81ED-4DB2-BD59-A6C34878D82A}">
                    <a16:rowId xmlns:a16="http://schemas.microsoft.com/office/drawing/2014/main" val="3956094974"/>
                  </a:ext>
                </a:extLst>
              </a:tr>
              <a:tr h="370840">
                <a:tc>
                  <a:txBody>
                    <a:bodyPr/>
                    <a:lstStyle/>
                    <a:p>
                      <a:r>
                        <a:rPr lang="en-US" sz="1400" dirty="0"/>
                        <a:t>Description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 curated collection of business terms and their definitions, used to ensure a common and consistent understanding of vocabulary across the organization. The Business Glossary Catalog clarifies meaning, reduces ambiguity, and aligns business and technical stakeholders on terminology and data usage.</a:t>
                      </a:r>
                    </a:p>
                  </a:txBody>
                  <a:tcPr/>
                </a:tc>
                <a:extLst>
                  <a:ext uri="{0D108BD9-81ED-4DB2-BD59-A6C34878D82A}">
                    <a16:rowId xmlns:a16="http://schemas.microsoft.com/office/drawing/2014/main" val="1305053344"/>
                  </a:ext>
                </a:extLst>
              </a:tr>
              <a:tr h="370840">
                <a:tc>
                  <a:txBody>
                    <a:bodyPr/>
                    <a:lstStyle/>
                    <a:p>
                      <a:r>
                        <a:rPr lang="en-US" sz="1400" dirty="0"/>
                        <a:t>Stakeholders</a:t>
                      </a:r>
                    </a:p>
                  </a:txBody>
                  <a:tcPr/>
                </a:tc>
                <a:tc>
                  <a:txBody>
                    <a:bodyPr/>
                    <a:lstStyle/>
                    <a:p>
                      <a:r>
                        <a:rPr lang="en-US" sz="1400" dirty="0"/>
                        <a:t>Business Analyst, Data Steward, Data Governance Committee, Data Owner, Compliance Officer, Subject Matter Expert, Project Manager</a:t>
                      </a:r>
                    </a:p>
                  </a:txBody>
                  <a:tcPr/>
                </a:tc>
                <a:extLst>
                  <a:ext uri="{0D108BD9-81ED-4DB2-BD59-A6C34878D82A}">
                    <a16:rowId xmlns:a16="http://schemas.microsoft.com/office/drawing/2014/main" val="4270249404"/>
                  </a:ext>
                </a:extLst>
              </a:tr>
              <a:tr h="370840">
                <a:tc>
                  <a:txBody>
                    <a:bodyPr/>
                    <a:lstStyle/>
                    <a:p>
                      <a:r>
                        <a:rPr lang="en-US" sz="1400" dirty="0"/>
                        <a:t>Concerns</a:t>
                      </a:r>
                    </a:p>
                  </a:txBody>
                  <a:tcPr/>
                </a:tc>
                <a:tc>
                  <a:txBody>
                    <a:bodyPr/>
                    <a:lstStyle/>
                    <a:p>
                      <a:r>
                        <a:rPr lang="en-US" sz="1400" dirty="0"/>
                        <a:t>Terminology consistency, semantic clarity, business-IT alignment, regulatory compliance, communication, standardization, data governance</a:t>
                      </a:r>
                    </a:p>
                  </a:txBody>
                  <a:tcPr/>
                </a:tc>
                <a:extLst>
                  <a:ext uri="{0D108BD9-81ED-4DB2-BD59-A6C34878D82A}">
                    <a16:rowId xmlns:a16="http://schemas.microsoft.com/office/drawing/2014/main" val="4232995999"/>
                  </a:ext>
                </a:extLst>
              </a:tr>
              <a:tr h="370840">
                <a:tc>
                  <a:txBody>
                    <a:bodyPr/>
                    <a:lstStyle/>
                    <a:p>
                      <a:r>
                        <a:rPr lang="en-US" sz="1400" dirty="0"/>
                        <a:t>Elements</a:t>
                      </a:r>
                    </a:p>
                  </a:txBody>
                  <a:tcPr/>
                </a:tc>
                <a:tc>
                  <a:txBody>
                    <a:bodyPr/>
                    <a:lstStyle/>
                    <a:p>
                      <a:r>
                        <a:rPr lang="en-US" sz="1400" dirty="0"/>
                        <a:t>Business Term</a:t>
                      </a:r>
                    </a:p>
                  </a:txBody>
                  <a:tcPr/>
                </a:tc>
                <a:extLst>
                  <a:ext uri="{0D108BD9-81ED-4DB2-BD59-A6C34878D82A}">
                    <a16:rowId xmlns:a16="http://schemas.microsoft.com/office/drawing/2014/main" val="2927961338"/>
                  </a:ext>
                </a:extLst>
              </a:tr>
              <a:tr h="370840">
                <a:tc>
                  <a:txBody>
                    <a:bodyPr/>
                    <a:lstStyle/>
                    <a:p>
                      <a:r>
                        <a:rPr lang="en-US" sz="1400" dirty="0"/>
                        <a:t>Type</a:t>
                      </a:r>
                    </a:p>
                  </a:txBody>
                  <a:tcPr/>
                </a:tc>
                <a:tc>
                  <a:txBody>
                    <a:bodyPr/>
                    <a:lstStyle/>
                    <a:p>
                      <a:r>
                        <a:rPr lang="en-US" sz="1400" dirty="0"/>
                        <a:t>Catalog</a:t>
                      </a:r>
                    </a:p>
                  </a:txBody>
                  <a:tcPr/>
                </a:tc>
                <a:extLst>
                  <a:ext uri="{0D108BD9-81ED-4DB2-BD59-A6C34878D82A}">
                    <a16:rowId xmlns:a16="http://schemas.microsoft.com/office/drawing/2014/main" val="1478371435"/>
                  </a:ext>
                </a:extLst>
              </a:tr>
              <a:tr h="370840">
                <a:tc>
                  <a:txBody>
                    <a:bodyPr/>
                    <a:lstStyle/>
                    <a:p>
                      <a:r>
                        <a:rPr lang="en-US" sz="1400" dirty="0"/>
                        <a:t>Modeling Technique</a:t>
                      </a:r>
                    </a:p>
                  </a:txBody>
                  <a:tcPr/>
                </a:tc>
                <a:tc>
                  <a:txBody>
                    <a:bodyPr/>
                    <a:lstStyle/>
                    <a:p>
                      <a:r>
                        <a:rPr lang="en-US" sz="1400" dirty="0"/>
                        <a:t>Table that contains</a:t>
                      </a:r>
                    </a:p>
                    <a:p>
                      <a:pPr marL="171450" indent="-171450">
                        <a:buFont typeface="Arial" panose="020B0604020202020204" pitchFamily="34" charset="0"/>
                        <a:buChar char="•"/>
                      </a:pPr>
                      <a:r>
                        <a:rPr lang="en-US" sz="1400" dirty="0"/>
                        <a:t>Acronym (If applicable)</a:t>
                      </a:r>
                    </a:p>
                    <a:p>
                      <a:pPr marL="171450" indent="-171450">
                        <a:buFont typeface="Arial" panose="020B0604020202020204" pitchFamily="34" charset="0"/>
                        <a:buChar char="•"/>
                      </a:pPr>
                      <a:r>
                        <a:rPr lang="en-US" sz="1400" dirty="0"/>
                        <a:t>Term</a:t>
                      </a:r>
                    </a:p>
                    <a:p>
                      <a:pPr marL="171450" indent="-171450">
                        <a:buFont typeface="Arial" panose="020B0604020202020204" pitchFamily="34" charset="0"/>
                        <a:buChar char="•"/>
                      </a:pPr>
                      <a:r>
                        <a:rPr lang="en-US" sz="1400" dirty="0"/>
                        <a:t>Term Definition</a:t>
                      </a:r>
                    </a:p>
                    <a:p>
                      <a:pPr marL="171450" indent="-171450">
                        <a:buFont typeface="Arial" panose="020B0604020202020204" pitchFamily="34" charset="0"/>
                        <a:buChar char="•"/>
                      </a:pPr>
                      <a:r>
                        <a:rPr lang="en-US" sz="1400" dirty="0"/>
                        <a:t>Synonyms/Aliases</a:t>
                      </a:r>
                    </a:p>
                    <a:p>
                      <a:pPr marL="171450" indent="-171450">
                        <a:buFont typeface="Arial" panose="020B0604020202020204" pitchFamily="34" charset="0"/>
                        <a:buChar char="•"/>
                      </a:pPr>
                      <a:r>
                        <a:rPr lang="en-US" sz="1400" dirty="0"/>
                        <a:t>MITA 4.0 Data Domain</a:t>
                      </a:r>
                    </a:p>
                  </a:txBody>
                  <a:tcPr/>
                </a:tc>
                <a:extLst>
                  <a:ext uri="{0D108BD9-81ED-4DB2-BD59-A6C34878D82A}">
                    <a16:rowId xmlns:a16="http://schemas.microsoft.com/office/drawing/2014/main" val="163306598"/>
                  </a:ext>
                </a:extLst>
              </a:tr>
            </a:tbl>
          </a:graphicData>
        </a:graphic>
      </p:graphicFrame>
    </p:spTree>
    <p:extLst>
      <p:ext uri="{BB962C8B-B14F-4D97-AF65-F5344CB8AC3E}">
        <p14:creationId xmlns:p14="http://schemas.microsoft.com/office/powerpoint/2010/main" val="41830201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C5501-BACC-4B72-7D4A-36A8B36DC5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71511A-3E78-9979-8A3C-51DB9DBE9571}"/>
              </a:ext>
            </a:extLst>
          </p:cNvPr>
          <p:cNvSpPr>
            <a:spLocks noGrp="1"/>
          </p:cNvSpPr>
          <p:nvPr>
            <p:ph type="title"/>
          </p:nvPr>
        </p:nvSpPr>
        <p:spPr/>
        <p:txBody>
          <a:bodyPr/>
          <a:lstStyle/>
          <a:p>
            <a:r>
              <a:rPr lang="en-US" dirty="0"/>
              <a:t>Data Rule Catalog</a:t>
            </a:r>
          </a:p>
        </p:txBody>
      </p:sp>
      <p:graphicFrame>
        <p:nvGraphicFramePr>
          <p:cNvPr id="4" name="Content Placeholder 3">
            <a:extLst>
              <a:ext uri="{FF2B5EF4-FFF2-40B4-BE49-F238E27FC236}">
                <a16:creationId xmlns:a16="http://schemas.microsoft.com/office/drawing/2014/main" id="{0F95F77A-5188-E5CA-F89C-E0346CA9F884}"/>
              </a:ext>
            </a:extLst>
          </p:cNvPr>
          <p:cNvGraphicFramePr>
            <a:graphicFrameLocks noGrp="1"/>
          </p:cNvGraphicFramePr>
          <p:nvPr>
            <p:ph idx="1"/>
            <p:extLst>
              <p:ext uri="{D42A27DB-BD31-4B8C-83A1-F6EECF244321}">
                <p14:modId xmlns:p14="http://schemas.microsoft.com/office/powerpoint/2010/main" val="3007597633"/>
              </p:ext>
            </p:extLst>
          </p:nvPr>
        </p:nvGraphicFramePr>
        <p:xfrm>
          <a:off x="1069975" y="2120900"/>
          <a:ext cx="10058400" cy="4221480"/>
        </p:xfrm>
        <a:graphic>
          <a:graphicData uri="http://schemas.openxmlformats.org/drawingml/2006/table">
            <a:tbl>
              <a:tblPr firstRow="1" bandRow="1">
                <a:tableStyleId>{5C22544A-7EE6-4342-B048-85BDC9FD1C3A}</a:tableStyleId>
              </a:tblPr>
              <a:tblGrid>
                <a:gridCol w="2198158">
                  <a:extLst>
                    <a:ext uri="{9D8B030D-6E8A-4147-A177-3AD203B41FA5}">
                      <a16:colId xmlns:a16="http://schemas.microsoft.com/office/drawing/2014/main" val="2004020530"/>
                    </a:ext>
                  </a:extLst>
                </a:gridCol>
                <a:gridCol w="7860242">
                  <a:extLst>
                    <a:ext uri="{9D8B030D-6E8A-4147-A177-3AD203B41FA5}">
                      <a16:colId xmlns:a16="http://schemas.microsoft.com/office/drawing/2014/main" val="625058839"/>
                    </a:ext>
                  </a:extLst>
                </a:gridCol>
              </a:tblGrid>
              <a:tr h="370840">
                <a:tc>
                  <a:txBody>
                    <a:bodyPr/>
                    <a:lstStyle/>
                    <a:p>
                      <a:r>
                        <a:rPr lang="en-US" sz="1200" dirty="0"/>
                        <a:t>Component</a:t>
                      </a:r>
                    </a:p>
                  </a:txBody>
                  <a:tcPr/>
                </a:tc>
                <a:tc>
                  <a:txBody>
                    <a:bodyPr/>
                    <a:lstStyle/>
                    <a:p>
                      <a:r>
                        <a:rPr lang="en-US" sz="1200" dirty="0"/>
                        <a:t>Description</a:t>
                      </a:r>
                    </a:p>
                  </a:txBody>
                  <a:tcPr/>
                </a:tc>
                <a:extLst>
                  <a:ext uri="{0D108BD9-81ED-4DB2-BD59-A6C34878D82A}">
                    <a16:rowId xmlns:a16="http://schemas.microsoft.com/office/drawing/2014/main" val="3956094974"/>
                  </a:ext>
                </a:extLst>
              </a:tr>
              <a:tr h="370840">
                <a:tc>
                  <a:txBody>
                    <a:bodyPr/>
                    <a:lstStyle/>
                    <a:p>
                      <a:r>
                        <a:rPr lang="en-US" sz="1200" dirty="0"/>
                        <a:t>Description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 centralized repository of data rules that define the policies, standards, and constraints governing the creation, management, and usage of data within the organization. The Data Rule Catalog helps ensure data quality, compliance, and consistency by documenting validation, transformation, privacy, and business rules.</a:t>
                      </a:r>
                    </a:p>
                  </a:txBody>
                  <a:tcPr/>
                </a:tc>
                <a:extLst>
                  <a:ext uri="{0D108BD9-81ED-4DB2-BD59-A6C34878D82A}">
                    <a16:rowId xmlns:a16="http://schemas.microsoft.com/office/drawing/2014/main" val="1305053344"/>
                  </a:ext>
                </a:extLst>
              </a:tr>
              <a:tr h="370840">
                <a:tc>
                  <a:txBody>
                    <a:bodyPr/>
                    <a:lstStyle/>
                    <a:p>
                      <a:r>
                        <a:rPr lang="en-US" sz="1200" dirty="0"/>
                        <a:t>Stakeholders</a:t>
                      </a:r>
                    </a:p>
                  </a:txBody>
                  <a:tcPr/>
                </a:tc>
                <a:tc>
                  <a:txBody>
                    <a:bodyPr/>
                    <a:lstStyle/>
                    <a:p>
                      <a:r>
                        <a:rPr lang="en-US" sz="1200" dirty="0"/>
                        <a:t>Data Steward, Data Owner, Data Governance Committee, Compliance Officer, Data Architect, Business Analyst, Quality Assurance</a:t>
                      </a:r>
                    </a:p>
                  </a:txBody>
                  <a:tcPr/>
                </a:tc>
                <a:extLst>
                  <a:ext uri="{0D108BD9-81ED-4DB2-BD59-A6C34878D82A}">
                    <a16:rowId xmlns:a16="http://schemas.microsoft.com/office/drawing/2014/main" val="4270249404"/>
                  </a:ext>
                </a:extLst>
              </a:tr>
              <a:tr h="370840">
                <a:tc>
                  <a:txBody>
                    <a:bodyPr/>
                    <a:lstStyle/>
                    <a:p>
                      <a:r>
                        <a:rPr lang="en-US" sz="1200" dirty="0"/>
                        <a:t>Concerns</a:t>
                      </a:r>
                    </a:p>
                  </a:txBody>
                  <a:tcPr/>
                </a:tc>
                <a:tc>
                  <a:txBody>
                    <a:bodyPr/>
                    <a:lstStyle/>
                    <a:p>
                      <a:r>
                        <a:rPr lang="en-US" sz="1200" dirty="0"/>
                        <a:t>Data quality, data validation, data integrity, regulatory compliance, data privacy, standardization, business process alignment, enforceability</a:t>
                      </a:r>
                    </a:p>
                  </a:txBody>
                  <a:tcPr/>
                </a:tc>
                <a:extLst>
                  <a:ext uri="{0D108BD9-81ED-4DB2-BD59-A6C34878D82A}">
                    <a16:rowId xmlns:a16="http://schemas.microsoft.com/office/drawing/2014/main" val="4232995999"/>
                  </a:ext>
                </a:extLst>
              </a:tr>
              <a:tr h="370840">
                <a:tc>
                  <a:txBody>
                    <a:bodyPr/>
                    <a:lstStyle/>
                    <a:p>
                      <a:r>
                        <a:rPr lang="en-US" sz="1200" dirty="0"/>
                        <a:t>Elements</a:t>
                      </a:r>
                    </a:p>
                  </a:txBody>
                  <a:tcPr/>
                </a:tc>
                <a:tc>
                  <a:txBody>
                    <a:bodyPr/>
                    <a:lstStyle/>
                    <a:p>
                      <a:r>
                        <a:rPr lang="en-US" sz="1200" dirty="0"/>
                        <a:t>Data Rule (Validation Rule, Business Rule, Transformation Rule)</a:t>
                      </a:r>
                    </a:p>
                  </a:txBody>
                  <a:tcPr/>
                </a:tc>
                <a:extLst>
                  <a:ext uri="{0D108BD9-81ED-4DB2-BD59-A6C34878D82A}">
                    <a16:rowId xmlns:a16="http://schemas.microsoft.com/office/drawing/2014/main" val="2927961338"/>
                  </a:ext>
                </a:extLst>
              </a:tr>
              <a:tr h="370840">
                <a:tc>
                  <a:txBody>
                    <a:bodyPr/>
                    <a:lstStyle/>
                    <a:p>
                      <a:r>
                        <a:rPr lang="en-US" sz="1200" dirty="0"/>
                        <a:t>Type</a:t>
                      </a:r>
                    </a:p>
                  </a:txBody>
                  <a:tcPr/>
                </a:tc>
                <a:tc>
                  <a:txBody>
                    <a:bodyPr/>
                    <a:lstStyle/>
                    <a:p>
                      <a:r>
                        <a:rPr lang="en-US" sz="1200" dirty="0"/>
                        <a:t>Catalog</a:t>
                      </a:r>
                    </a:p>
                  </a:txBody>
                  <a:tcPr/>
                </a:tc>
                <a:extLst>
                  <a:ext uri="{0D108BD9-81ED-4DB2-BD59-A6C34878D82A}">
                    <a16:rowId xmlns:a16="http://schemas.microsoft.com/office/drawing/2014/main" val="1478371435"/>
                  </a:ext>
                </a:extLst>
              </a:tr>
              <a:tr h="370840">
                <a:tc>
                  <a:txBody>
                    <a:bodyPr/>
                    <a:lstStyle/>
                    <a:p>
                      <a:r>
                        <a:rPr lang="en-US" sz="1200" dirty="0"/>
                        <a:t>Modeling Technique</a:t>
                      </a:r>
                    </a:p>
                  </a:txBody>
                  <a:tcPr/>
                </a:tc>
                <a:tc>
                  <a:txBody>
                    <a:bodyPr/>
                    <a:lstStyle/>
                    <a:p>
                      <a:r>
                        <a:rPr lang="en-US" sz="1200" dirty="0"/>
                        <a:t>Table that contains the following fields:</a:t>
                      </a:r>
                    </a:p>
                    <a:p>
                      <a:r>
                        <a:rPr lang="en-US" sz="1200" dirty="0"/>
                        <a:t>• Rule Name</a:t>
                      </a:r>
                    </a:p>
                    <a:p>
                      <a:r>
                        <a:rPr lang="en-US" sz="1200" dirty="0"/>
                        <a:t>• Rule Description</a:t>
                      </a:r>
                    </a:p>
                    <a:p>
                      <a:r>
                        <a:rPr lang="en-US" sz="1200" dirty="0"/>
                        <a:t>• Rule Type (e.g., validation, business, transformation)</a:t>
                      </a:r>
                    </a:p>
                    <a:p>
                      <a:r>
                        <a:rPr lang="en-US" sz="1200" dirty="0"/>
                        <a:t>• Applicable Data Element/Asset</a:t>
                      </a:r>
                    </a:p>
                    <a:p>
                      <a:r>
                        <a:rPr lang="en-US" sz="1200" dirty="0"/>
                        <a:t>• Business Rationale</a:t>
                      </a:r>
                    </a:p>
                    <a:p>
                      <a:r>
                        <a:rPr lang="en-US" sz="1200" dirty="0"/>
                        <a:t>• Enforcement Mechanism</a:t>
                      </a:r>
                    </a:p>
                    <a:p>
                      <a:r>
                        <a:rPr lang="en-US" sz="1200" dirty="0"/>
                        <a:t>• Compliance Requirement</a:t>
                      </a:r>
                    </a:p>
                  </a:txBody>
                  <a:tcPr/>
                </a:tc>
                <a:extLst>
                  <a:ext uri="{0D108BD9-81ED-4DB2-BD59-A6C34878D82A}">
                    <a16:rowId xmlns:a16="http://schemas.microsoft.com/office/drawing/2014/main" val="163306598"/>
                  </a:ext>
                </a:extLst>
              </a:tr>
            </a:tbl>
          </a:graphicData>
        </a:graphic>
      </p:graphicFrame>
    </p:spTree>
    <p:extLst>
      <p:ext uri="{BB962C8B-B14F-4D97-AF65-F5344CB8AC3E}">
        <p14:creationId xmlns:p14="http://schemas.microsoft.com/office/powerpoint/2010/main" val="9231165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717EC-528D-9B34-245E-4B422224E6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8D9FE1-BAA1-4AE5-1A4F-C267412E2729}"/>
              </a:ext>
            </a:extLst>
          </p:cNvPr>
          <p:cNvSpPr>
            <a:spLocks noGrp="1"/>
          </p:cNvSpPr>
          <p:nvPr>
            <p:ph type="title"/>
          </p:nvPr>
        </p:nvSpPr>
        <p:spPr/>
        <p:txBody>
          <a:bodyPr/>
          <a:lstStyle/>
          <a:p>
            <a:r>
              <a:rPr lang="en-US" dirty="0"/>
              <a:t>Report Catalog</a:t>
            </a:r>
          </a:p>
        </p:txBody>
      </p:sp>
      <p:graphicFrame>
        <p:nvGraphicFramePr>
          <p:cNvPr id="4" name="Content Placeholder 3">
            <a:extLst>
              <a:ext uri="{FF2B5EF4-FFF2-40B4-BE49-F238E27FC236}">
                <a16:creationId xmlns:a16="http://schemas.microsoft.com/office/drawing/2014/main" id="{D791AB85-F5FB-CE81-6741-FCF2AF512FA0}"/>
              </a:ext>
            </a:extLst>
          </p:cNvPr>
          <p:cNvGraphicFramePr>
            <a:graphicFrameLocks noGrp="1"/>
          </p:cNvGraphicFramePr>
          <p:nvPr>
            <p:ph idx="1"/>
            <p:extLst>
              <p:ext uri="{D42A27DB-BD31-4B8C-83A1-F6EECF244321}">
                <p14:modId xmlns:p14="http://schemas.microsoft.com/office/powerpoint/2010/main" val="358572967"/>
              </p:ext>
            </p:extLst>
          </p:nvPr>
        </p:nvGraphicFramePr>
        <p:xfrm>
          <a:off x="1069975" y="2120900"/>
          <a:ext cx="10058400" cy="4531360"/>
        </p:xfrm>
        <a:graphic>
          <a:graphicData uri="http://schemas.openxmlformats.org/drawingml/2006/table">
            <a:tbl>
              <a:tblPr firstRow="1" bandRow="1">
                <a:tableStyleId>{5C22544A-7EE6-4342-B048-85BDC9FD1C3A}</a:tableStyleId>
              </a:tblPr>
              <a:tblGrid>
                <a:gridCol w="2198158">
                  <a:extLst>
                    <a:ext uri="{9D8B030D-6E8A-4147-A177-3AD203B41FA5}">
                      <a16:colId xmlns:a16="http://schemas.microsoft.com/office/drawing/2014/main" val="2004020530"/>
                    </a:ext>
                  </a:extLst>
                </a:gridCol>
                <a:gridCol w="7860242">
                  <a:extLst>
                    <a:ext uri="{9D8B030D-6E8A-4147-A177-3AD203B41FA5}">
                      <a16:colId xmlns:a16="http://schemas.microsoft.com/office/drawing/2014/main" val="625058839"/>
                    </a:ext>
                  </a:extLst>
                </a:gridCol>
              </a:tblGrid>
              <a:tr h="370840">
                <a:tc>
                  <a:txBody>
                    <a:bodyPr/>
                    <a:lstStyle/>
                    <a:p>
                      <a:r>
                        <a:rPr lang="en-US" sz="1400" dirty="0">
                          <a:latin typeface="Rockwell"/>
                        </a:rPr>
                        <a:t>Component</a:t>
                      </a:r>
                    </a:p>
                  </a:txBody>
                  <a:tcPr/>
                </a:tc>
                <a:tc>
                  <a:txBody>
                    <a:bodyPr/>
                    <a:lstStyle/>
                    <a:p>
                      <a:r>
                        <a:rPr lang="en-US" sz="1400" dirty="0">
                          <a:latin typeface="Rockwell"/>
                        </a:rPr>
                        <a:t>Description</a:t>
                      </a:r>
                    </a:p>
                  </a:txBody>
                  <a:tcPr/>
                </a:tc>
                <a:extLst>
                  <a:ext uri="{0D108BD9-81ED-4DB2-BD59-A6C34878D82A}">
                    <a16:rowId xmlns:a16="http://schemas.microsoft.com/office/drawing/2014/main" val="3956094974"/>
                  </a:ext>
                </a:extLst>
              </a:tr>
              <a:tr h="370840">
                <a:tc>
                  <a:txBody>
                    <a:bodyPr/>
                    <a:lstStyle/>
                    <a:p>
                      <a:r>
                        <a:rPr lang="en-US" sz="1400" dirty="0">
                          <a:latin typeface="Rockwell"/>
                        </a:rPr>
                        <a:t>Description</a:t>
                      </a:r>
                    </a:p>
                  </a:txBody>
                  <a:tcPr/>
                </a:tc>
                <a:tc>
                  <a:txBody>
                    <a:bodyPr/>
                    <a:lstStyle/>
                    <a:p>
                      <a:pPr marL="0" marR="0" lvl="0" indent="0" algn="l">
                        <a:lnSpc>
                          <a:spcPct val="100000"/>
                        </a:lnSpc>
                        <a:spcBef>
                          <a:spcPts val="0"/>
                        </a:spcBef>
                        <a:spcAft>
                          <a:spcPts val="0"/>
                        </a:spcAft>
                        <a:buNone/>
                      </a:pPr>
                      <a:r>
                        <a:rPr lang="en-US" sz="1400" b="0" i="0" u="none" strike="noStrike" noProof="0" dirty="0">
                          <a:latin typeface="Rockwell"/>
                        </a:rPr>
                        <a:t>A Report Catalog is a comprehensive repository of all reports generated and used within an organization. It documents the purpose, content, structure, and distribution of reports, facilitating efficient report management and access.</a:t>
                      </a:r>
                    </a:p>
                  </a:txBody>
                  <a:tcPr/>
                </a:tc>
                <a:extLst>
                  <a:ext uri="{0D108BD9-81ED-4DB2-BD59-A6C34878D82A}">
                    <a16:rowId xmlns:a16="http://schemas.microsoft.com/office/drawing/2014/main" val="1305053344"/>
                  </a:ext>
                </a:extLst>
              </a:tr>
              <a:tr h="370840">
                <a:tc>
                  <a:txBody>
                    <a:bodyPr/>
                    <a:lstStyle/>
                    <a:p>
                      <a:r>
                        <a:rPr lang="en-US" sz="1400" dirty="0">
                          <a:latin typeface="Rockwell"/>
                        </a:rPr>
                        <a:t>Stakeholders</a:t>
                      </a:r>
                    </a:p>
                  </a:txBody>
                  <a:tcPr/>
                </a:tc>
                <a:tc>
                  <a:txBody>
                    <a:bodyPr/>
                    <a:lstStyle/>
                    <a:p>
                      <a:pPr lvl="0">
                        <a:buNone/>
                      </a:pPr>
                      <a:r>
                        <a:rPr lang="en-US" sz="1400" b="0" i="0" u="none" strike="noStrike" noProof="0" dirty="0">
                          <a:latin typeface="Rockwell"/>
                        </a:rPr>
                        <a:t>Business Analyst, Report Developer, Data Analyst, Business User, Data Steward, IT Support</a:t>
                      </a:r>
                      <a:endParaRPr lang="en-US" sz="1400" dirty="0">
                        <a:latin typeface="Rockwell"/>
                      </a:endParaRPr>
                    </a:p>
                  </a:txBody>
                  <a:tcPr/>
                </a:tc>
                <a:extLst>
                  <a:ext uri="{0D108BD9-81ED-4DB2-BD59-A6C34878D82A}">
                    <a16:rowId xmlns:a16="http://schemas.microsoft.com/office/drawing/2014/main" val="4270249404"/>
                  </a:ext>
                </a:extLst>
              </a:tr>
              <a:tr h="370840">
                <a:tc>
                  <a:txBody>
                    <a:bodyPr/>
                    <a:lstStyle/>
                    <a:p>
                      <a:r>
                        <a:rPr lang="en-US" sz="1400" dirty="0">
                          <a:latin typeface="Rockwell"/>
                        </a:rPr>
                        <a:t>Concerns</a:t>
                      </a:r>
                    </a:p>
                  </a:txBody>
                  <a:tcPr/>
                </a:tc>
                <a:tc>
                  <a:txBody>
                    <a:bodyPr/>
                    <a:lstStyle/>
                    <a:p>
                      <a:pPr lvl="0">
                        <a:buNone/>
                      </a:pPr>
                      <a:r>
                        <a:rPr lang="en-US" sz="1400" b="0" i="0" u="none" strike="noStrike" noProof="0" dirty="0">
                          <a:latin typeface="Rockwell"/>
                        </a:rPr>
                        <a:t>Report accessibility, accuracy, consistency, distribution, security, version control, alignment with business needs</a:t>
                      </a:r>
                      <a:endParaRPr lang="en-US" sz="1400" dirty="0">
                        <a:latin typeface="Rockwell"/>
                      </a:endParaRPr>
                    </a:p>
                  </a:txBody>
                  <a:tcPr/>
                </a:tc>
                <a:extLst>
                  <a:ext uri="{0D108BD9-81ED-4DB2-BD59-A6C34878D82A}">
                    <a16:rowId xmlns:a16="http://schemas.microsoft.com/office/drawing/2014/main" val="4232995999"/>
                  </a:ext>
                </a:extLst>
              </a:tr>
              <a:tr h="370840">
                <a:tc>
                  <a:txBody>
                    <a:bodyPr/>
                    <a:lstStyle/>
                    <a:p>
                      <a:r>
                        <a:rPr lang="en-US" sz="1400" dirty="0">
                          <a:latin typeface="Rockwell"/>
                        </a:rPr>
                        <a:t>Elements</a:t>
                      </a:r>
                    </a:p>
                  </a:txBody>
                  <a:tcPr/>
                </a:tc>
                <a:tc>
                  <a:txBody>
                    <a:bodyPr/>
                    <a:lstStyle/>
                    <a:p>
                      <a:pPr lvl="0">
                        <a:buNone/>
                      </a:pPr>
                      <a:r>
                        <a:rPr lang="en-US" sz="1400" b="0" i="0" u="none" strike="noStrike" noProof="0" dirty="0">
                          <a:latin typeface="Rockwell"/>
                        </a:rPr>
                        <a:t>Report Name, Description, Data Sources, Frequency, Format, Audience, Owner</a:t>
                      </a:r>
                      <a:endParaRPr lang="en-US" sz="1400" dirty="0">
                        <a:latin typeface="Rockwell"/>
                      </a:endParaRPr>
                    </a:p>
                  </a:txBody>
                  <a:tcPr/>
                </a:tc>
                <a:extLst>
                  <a:ext uri="{0D108BD9-81ED-4DB2-BD59-A6C34878D82A}">
                    <a16:rowId xmlns:a16="http://schemas.microsoft.com/office/drawing/2014/main" val="2927961338"/>
                  </a:ext>
                </a:extLst>
              </a:tr>
              <a:tr h="370840">
                <a:tc>
                  <a:txBody>
                    <a:bodyPr/>
                    <a:lstStyle/>
                    <a:p>
                      <a:r>
                        <a:rPr lang="en-US" sz="1400" dirty="0">
                          <a:latin typeface="Rockwell"/>
                        </a:rPr>
                        <a:t>Type</a:t>
                      </a:r>
                    </a:p>
                  </a:txBody>
                  <a:tcPr/>
                </a:tc>
                <a:tc>
                  <a:txBody>
                    <a:bodyPr/>
                    <a:lstStyle/>
                    <a:p>
                      <a:r>
                        <a:rPr lang="en-US" sz="1400" dirty="0">
                          <a:latin typeface="Rockwell"/>
                        </a:rPr>
                        <a:t>Catalog</a:t>
                      </a:r>
                    </a:p>
                  </a:txBody>
                  <a:tcPr/>
                </a:tc>
                <a:extLst>
                  <a:ext uri="{0D108BD9-81ED-4DB2-BD59-A6C34878D82A}">
                    <a16:rowId xmlns:a16="http://schemas.microsoft.com/office/drawing/2014/main" val="1478371435"/>
                  </a:ext>
                </a:extLst>
              </a:tr>
              <a:tr h="370840">
                <a:tc>
                  <a:txBody>
                    <a:bodyPr/>
                    <a:lstStyle/>
                    <a:p>
                      <a:r>
                        <a:rPr lang="en-US" sz="1400" dirty="0">
                          <a:latin typeface="Rockwell"/>
                        </a:rPr>
                        <a:t>Modeling Technique</a:t>
                      </a:r>
                    </a:p>
                  </a:txBody>
                  <a:tcPr/>
                </a:tc>
                <a:tc>
                  <a:txBody>
                    <a:bodyPr/>
                    <a:lstStyle/>
                    <a:p>
                      <a:r>
                        <a:rPr lang="en-US" sz="1400" dirty="0">
                          <a:latin typeface="Rockwell"/>
                        </a:rPr>
                        <a:t>Table that contains the following fields:</a:t>
                      </a:r>
                    </a:p>
                    <a:p>
                      <a:r>
                        <a:rPr lang="en-US" sz="1400" dirty="0">
                          <a:latin typeface="Rockwell"/>
                        </a:rPr>
                        <a:t>• Report Name</a:t>
                      </a:r>
                    </a:p>
                    <a:p>
                      <a:r>
                        <a:rPr lang="en-US" sz="1400" dirty="0">
                          <a:latin typeface="Rockwell"/>
                        </a:rPr>
                        <a:t>• Report Description</a:t>
                      </a:r>
                    </a:p>
                    <a:p>
                      <a:r>
                        <a:rPr lang="en-US" sz="1400" dirty="0">
                          <a:latin typeface="Rockwell"/>
                        </a:rPr>
                        <a:t>• Data Sources</a:t>
                      </a:r>
                    </a:p>
                    <a:p>
                      <a:r>
                        <a:rPr lang="en-US" sz="1400" dirty="0">
                          <a:latin typeface="Rockwell"/>
                        </a:rPr>
                        <a:t>• Frequency</a:t>
                      </a:r>
                    </a:p>
                    <a:p>
                      <a:r>
                        <a:rPr lang="en-US" sz="1400" dirty="0">
                          <a:latin typeface="Rockwell"/>
                        </a:rPr>
                        <a:t>• Format</a:t>
                      </a:r>
                    </a:p>
                    <a:p>
                      <a:r>
                        <a:rPr lang="en-US" sz="1400" dirty="0">
                          <a:latin typeface="Rockwell"/>
                        </a:rPr>
                        <a:t>• Audience</a:t>
                      </a:r>
                    </a:p>
                    <a:p>
                      <a:r>
                        <a:rPr lang="en-US" sz="1400" dirty="0">
                          <a:latin typeface="Rockwell"/>
                        </a:rPr>
                        <a:t>• Owner</a:t>
                      </a:r>
                    </a:p>
                  </a:txBody>
                  <a:tcPr/>
                </a:tc>
                <a:extLst>
                  <a:ext uri="{0D108BD9-81ED-4DB2-BD59-A6C34878D82A}">
                    <a16:rowId xmlns:a16="http://schemas.microsoft.com/office/drawing/2014/main" val="163306598"/>
                  </a:ext>
                </a:extLst>
              </a:tr>
            </a:tbl>
          </a:graphicData>
        </a:graphic>
      </p:graphicFrame>
    </p:spTree>
    <p:extLst>
      <p:ext uri="{BB962C8B-B14F-4D97-AF65-F5344CB8AC3E}">
        <p14:creationId xmlns:p14="http://schemas.microsoft.com/office/powerpoint/2010/main" val="40226950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9536C-A56B-3C6E-A6E1-07CBF79DB4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E8D3A7-2F11-6DE2-CD43-74D515EF6DD3}"/>
              </a:ext>
            </a:extLst>
          </p:cNvPr>
          <p:cNvSpPr>
            <a:spLocks noGrp="1"/>
          </p:cNvSpPr>
          <p:nvPr>
            <p:ph type="title"/>
          </p:nvPr>
        </p:nvSpPr>
        <p:spPr/>
        <p:txBody>
          <a:bodyPr/>
          <a:lstStyle/>
          <a:p>
            <a:r>
              <a:rPr lang="en-US" dirty="0"/>
              <a:t>Matrices</a:t>
            </a:r>
          </a:p>
        </p:txBody>
      </p:sp>
      <p:sp>
        <p:nvSpPr>
          <p:cNvPr id="3" name="Text Placeholder 2">
            <a:extLst>
              <a:ext uri="{FF2B5EF4-FFF2-40B4-BE49-F238E27FC236}">
                <a16:creationId xmlns:a16="http://schemas.microsoft.com/office/drawing/2014/main" id="{48E1F17D-8A51-69CC-3573-86974CD4680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063447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60F4C-3B0A-07C4-5F4D-8071073DC0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BD85FF-B376-7AAC-32B2-D939CCD51A25}"/>
              </a:ext>
            </a:extLst>
          </p:cNvPr>
          <p:cNvSpPr>
            <a:spLocks noGrp="1"/>
          </p:cNvSpPr>
          <p:nvPr>
            <p:ph type="title"/>
          </p:nvPr>
        </p:nvSpPr>
        <p:spPr/>
        <p:txBody>
          <a:bodyPr/>
          <a:lstStyle/>
          <a:p>
            <a:r>
              <a:rPr lang="en-US" dirty="0"/>
              <a:t>Data to Business Process Matrix </a:t>
            </a:r>
          </a:p>
        </p:txBody>
      </p:sp>
      <p:graphicFrame>
        <p:nvGraphicFramePr>
          <p:cNvPr id="4" name="Content Placeholder 3">
            <a:extLst>
              <a:ext uri="{FF2B5EF4-FFF2-40B4-BE49-F238E27FC236}">
                <a16:creationId xmlns:a16="http://schemas.microsoft.com/office/drawing/2014/main" id="{AB638719-C0E3-4239-8E84-57B694AA3F03}"/>
              </a:ext>
            </a:extLst>
          </p:cNvPr>
          <p:cNvGraphicFramePr>
            <a:graphicFrameLocks noGrp="1"/>
          </p:cNvGraphicFramePr>
          <p:nvPr>
            <p:ph idx="1"/>
            <p:extLst>
              <p:ext uri="{D42A27DB-BD31-4B8C-83A1-F6EECF244321}">
                <p14:modId xmlns:p14="http://schemas.microsoft.com/office/powerpoint/2010/main" val="4081024880"/>
              </p:ext>
            </p:extLst>
          </p:nvPr>
        </p:nvGraphicFramePr>
        <p:xfrm>
          <a:off x="1069975" y="2120900"/>
          <a:ext cx="10058400" cy="3664557"/>
        </p:xfrm>
        <a:graphic>
          <a:graphicData uri="http://schemas.openxmlformats.org/drawingml/2006/table">
            <a:tbl>
              <a:tblPr firstRow="1" bandRow="1">
                <a:tableStyleId>{5C22544A-7EE6-4342-B048-85BDC9FD1C3A}</a:tableStyleId>
              </a:tblPr>
              <a:tblGrid>
                <a:gridCol w="2198158">
                  <a:extLst>
                    <a:ext uri="{9D8B030D-6E8A-4147-A177-3AD203B41FA5}">
                      <a16:colId xmlns:a16="http://schemas.microsoft.com/office/drawing/2014/main" val="2004020530"/>
                    </a:ext>
                  </a:extLst>
                </a:gridCol>
                <a:gridCol w="7860242">
                  <a:extLst>
                    <a:ext uri="{9D8B030D-6E8A-4147-A177-3AD203B41FA5}">
                      <a16:colId xmlns:a16="http://schemas.microsoft.com/office/drawing/2014/main" val="625058839"/>
                    </a:ext>
                  </a:extLst>
                </a:gridCol>
              </a:tblGrid>
              <a:tr h="423517">
                <a:tc>
                  <a:txBody>
                    <a:bodyPr/>
                    <a:lstStyle/>
                    <a:p>
                      <a:r>
                        <a:rPr lang="en-US" sz="1400" dirty="0"/>
                        <a:t>Component</a:t>
                      </a:r>
                    </a:p>
                  </a:txBody>
                  <a:tcPr/>
                </a:tc>
                <a:tc>
                  <a:txBody>
                    <a:bodyPr/>
                    <a:lstStyle/>
                    <a:p>
                      <a:endParaRPr lang="en-US" sz="1400" dirty="0"/>
                    </a:p>
                  </a:txBody>
                  <a:tcPr/>
                </a:tc>
                <a:extLst>
                  <a:ext uri="{0D108BD9-81ED-4DB2-BD59-A6C34878D82A}">
                    <a16:rowId xmlns:a16="http://schemas.microsoft.com/office/drawing/2014/main" val="3956094974"/>
                  </a:ext>
                </a:extLst>
              </a:tr>
              <a:tr h="370840">
                <a:tc>
                  <a:txBody>
                    <a:bodyPr/>
                    <a:lstStyle/>
                    <a:p>
                      <a:r>
                        <a:rPr lang="en-US" sz="1400" dirty="0"/>
                        <a:t>Description</a:t>
                      </a:r>
                    </a:p>
                  </a:txBody>
                  <a:tcPr/>
                </a:tc>
                <a:tc>
                  <a:txBody>
                    <a:bodyPr/>
                    <a:lstStyle/>
                    <a:p>
                      <a:r>
                        <a:rPr lang="en-US" sz="1400" dirty="0"/>
                        <a:t>A matrix that maps data entities or data sets to the business processes that create, use, or modify them. This matrix helps organizations understand how data supports key business operations, identify critical data, and assess the impact of process or data changes.</a:t>
                      </a:r>
                    </a:p>
                  </a:txBody>
                  <a:tcPr/>
                </a:tc>
                <a:extLst>
                  <a:ext uri="{0D108BD9-81ED-4DB2-BD59-A6C34878D82A}">
                    <a16:rowId xmlns:a16="http://schemas.microsoft.com/office/drawing/2014/main" val="1305053344"/>
                  </a:ext>
                </a:extLst>
              </a:tr>
              <a:tr h="370840">
                <a:tc>
                  <a:txBody>
                    <a:bodyPr/>
                    <a:lstStyle/>
                    <a:p>
                      <a:r>
                        <a:rPr lang="en-US" sz="1400" dirty="0"/>
                        <a:t>Stakeholders</a:t>
                      </a:r>
                    </a:p>
                  </a:txBody>
                  <a:tcPr/>
                </a:tc>
                <a:tc>
                  <a:txBody>
                    <a:bodyPr/>
                    <a:lstStyle/>
                    <a:p>
                      <a:r>
                        <a:rPr lang="en-US" sz="1400" dirty="0"/>
                        <a:t>Business Process Owner, Data Steward, Business Analyst, Data Architect, Process Manager, Compliance Officer</a:t>
                      </a:r>
                    </a:p>
                  </a:txBody>
                  <a:tcPr/>
                </a:tc>
                <a:extLst>
                  <a:ext uri="{0D108BD9-81ED-4DB2-BD59-A6C34878D82A}">
                    <a16:rowId xmlns:a16="http://schemas.microsoft.com/office/drawing/2014/main" val="4270249404"/>
                  </a:ext>
                </a:extLst>
              </a:tr>
              <a:tr h="370840">
                <a:tc>
                  <a:txBody>
                    <a:bodyPr/>
                    <a:lstStyle/>
                    <a:p>
                      <a:r>
                        <a:rPr lang="en-US" sz="1400" dirty="0"/>
                        <a:t>Concerns</a:t>
                      </a:r>
                    </a:p>
                  </a:txBody>
                  <a:tcPr/>
                </a:tc>
                <a:tc>
                  <a:txBody>
                    <a:bodyPr/>
                    <a:lstStyle/>
                    <a:p>
                      <a:r>
                        <a:rPr lang="en-US" sz="1400" dirty="0"/>
                        <a:t>Data ownership, process-data alignment, regulatory compliance, data usage, process optimization, risk management, data quality, impact analysis</a:t>
                      </a:r>
                    </a:p>
                  </a:txBody>
                  <a:tcPr/>
                </a:tc>
                <a:extLst>
                  <a:ext uri="{0D108BD9-81ED-4DB2-BD59-A6C34878D82A}">
                    <a16:rowId xmlns:a16="http://schemas.microsoft.com/office/drawing/2014/main" val="4232995999"/>
                  </a:ext>
                </a:extLst>
              </a:tr>
              <a:tr h="370840">
                <a:tc>
                  <a:txBody>
                    <a:bodyPr/>
                    <a:lstStyle/>
                    <a:p>
                      <a:r>
                        <a:rPr lang="en-US" sz="1400" dirty="0"/>
                        <a:t>Elements</a:t>
                      </a:r>
                    </a:p>
                  </a:txBody>
                  <a:tcPr/>
                </a:tc>
                <a:tc>
                  <a:txBody>
                    <a:bodyPr/>
                    <a:lstStyle/>
                    <a:p>
                      <a:r>
                        <a:rPr lang="en-US" sz="1400" dirty="0"/>
                        <a:t>Data Entity (or Data Set), Business Process</a:t>
                      </a:r>
                    </a:p>
                  </a:txBody>
                  <a:tcPr/>
                </a:tc>
                <a:extLst>
                  <a:ext uri="{0D108BD9-81ED-4DB2-BD59-A6C34878D82A}">
                    <a16:rowId xmlns:a16="http://schemas.microsoft.com/office/drawing/2014/main" val="2927961338"/>
                  </a:ext>
                </a:extLst>
              </a:tr>
              <a:tr h="370840">
                <a:tc>
                  <a:txBody>
                    <a:bodyPr/>
                    <a:lstStyle/>
                    <a:p>
                      <a:r>
                        <a:rPr lang="en-US" sz="1400" dirty="0"/>
                        <a:t>Type</a:t>
                      </a:r>
                    </a:p>
                  </a:txBody>
                  <a:tcPr/>
                </a:tc>
                <a:tc>
                  <a:txBody>
                    <a:bodyPr/>
                    <a:lstStyle/>
                    <a:p>
                      <a:r>
                        <a:rPr lang="en-US" sz="1400" dirty="0"/>
                        <a:t>Matrices</a:t>
                      </a:r>
                    </a:p>
                  </a:txBody>
                  <a:tcPr/>
                </a:tc>
                <a:extLst>
                  <a:ext uri="{0D108BD9-81ED-4DB2-BD59-A6C34878D82A}">
                    <a16:rowId xmlns:a16="http://schemas.microsoft.com/office/drawing/2014/main" val="1478371435"/>
                  </a:ext>
                </a:extLst>
              </a:tr>
              <a:tr h="370840">
                <a:tc>
                  <a:txBody>
                    <a:bodyPr/>
                    <a:lstStyle/>
                    <a:p>
                      <a:r>
                        <a:rPr lang="en-US" sz="1400" dirty="0"/>
                        <a:t>Modeling Technique</a:t>
                      </a:r>
                    </a:p>
                  </a:txBody>
                  <a:tcPr/>
                </a:tc>
                <a:tc>
                  <a:txBody>
                    <a:bodyPr/>
                    <a:lstStyle/>
                    <a:p>
                      <a:r>
                        <a:rPr lang="en-US" sz="1400" dirty="0"/>
                        <a:t>Two-dimensional matrix with Data Entities as rows and Business Processes as columns (or vice versa). Matrix cells indicate the relationship (e.g., “Created”, “Used”, “Modified”, “Archived”) between data and process. Cells may be annotated with CRUD or similar codes.</a:t>
                      </a:r>
                    </a:p>
                  </a:txBody>
                  <a:tcPr/>
                </a:tc>
                <a:extLst>
                  <a:ext uri="{0D108BD9-81ED-4DB2-BD59-A6C34878D82A}">
                    <a16:rowId xmlns:a16="http://schemas.microsoft.com/office/drawing/2014/main" val="163306598"/>
                  </a:ext>
                </a:extLst>
              </a:tr>
            </a:tbl>
          </a:graphicData>
        </a:graphic>
      </p:graphicFrame>
    </p:spTree>
    <p:extLst>
      <p:ext uri="{BB962C8B-B14F-4D97-AF65-F5344CB8AC3E}">
        <p14:creationId xmlns:p14="http://schemas.microsoft.com/office/powerpoint/2010/main" val="16717230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2DB51-3197-9FF6-8C44-3A4D2B151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B20746-E6AB-1A13-1498-01733206C51A}"/>
              </a:ext>
            </a:extLst>
          </p:cNvPr>
          <p:cNvSpPr>
            <a:spLocks noGrp="1"/>
          </p:cNvSpPr>
          <p:nvPr>
            <p:ph type="title"/>
          </p:nvPr>
        </p:nvSpPr>
        <p:spPr/>
        <p:txBody>
          <a:bodyPr/>
          <a:lstStyle/>
          <a:p>
            <a:r>
              <a:rPr lang="en-US" dirty="0"/>
              <a:t>Data to Application Matrix </a:t>
            </a:r>
          </a:p>
        </p:txBody>
      </p:sp>
      <p:graphicFrame>
        <p:nvGraphicFramePr>
          <p:cNvPr id="4" name="Content Placeholder 3">
            <a:extLst>
              <a:ext uri="{FF2B5EF4-FFF2-40B4-BE49-F238E27FC236}">
                <a16:creationId xmlns:a16="http://schemas.microsoft.com/office/drawing/2014/main" id="{26E4097E-6798-7FB3-1301-943C311F1DAF}"/>
              </a:ext>
            </a:extLst>
          </p:cNvPr>
          <p:cNvGraphicFramePr>
            <a:graphicFrameLocks noGrp="1"/>
          </p:cNvGraphicFramePr>
          <p:nvPr>
            <p:ph idx="1"/>
            <p:extLst>
              <p:ext uri="{D42A27DB-BD31-4B8C-83A1-F6EECF244321}">
                <p14:modId xmlns:p14="http://schemas.microsoft.com/office/powerpoint/2010/main" val="2959582763"/>
              </p:ext>
            </p:extLst>
          </p:nvPr>
        </p:nvGraphicFramePr>
        <p:xfrm>
          <a:off x="1069975" y="2120900"/>
          <a:ext cx="10058400" cy="3611880"/>
        </p:xfrm>
        <a:graphic>
          <a:graphicData uri="http://schemas.openxmlformats.org/drawingml/2006/table">
            <a:tbl>
              <a:tblPr firstRow="1" bandRow="1">
                <a:tableStyleId>{5C22544A-7EE6-4342-B048-85BDC9FD1C3A}</a:tableStyleId>
              </a:tblPr>
              <a:tblGrid>
                <a:gridCol w="2198158">
                  <a:extLst>
                    <a:ext uri="{9D8B030D-6E8A-4147-A177-3AD203B41FA5}">
                      <a16:colId xmlns:a16="http://schemas.microsoft.com/office/drawing/2014/main" val="2004020530"/>
                    </a:ext>
                  </a:extLst>
                </a:gridCol>
                <a:gridCol w="7860242">
                  <a:extLst>
                    <a:ext uri="{9D8B030D-6E8A-4147-A177-3AD203B41FA5}">
                      <a16:colId xmlns:a16="http://schemas.microsoft.com/office/drawing/2014/main" val="625058839"/>
                    </a:ext>
                  </a:extLst>
                </a:gridCol>
              </a:tblGrid>
              <a:tr h="370840">
                <a:tc>
                  <a:txBody>
                    <a:bodyPr/>
                    <a:lstStyle/>
                    <a:p>
                      <a:r>
                        <a:rPr lang="en-US" sz="1400" dirty="0"/>
                        <a:t>Component</a:t>
                      </a:r>
                    </a:p>
                  </a:txBody>
                  <a:tcPr/>
                </a:tc>
                <a:tc>
                  <a:txBody>
                    <a:bodyPr/>
                    <a:lstStyle/>
                    <a:p>
                      <a:endParaRPr lang="en-US" sz="1400" dirty="0"/>
                    </a:p>
                  </a:txBody>
                  <a:tcPr/>
                </a:tc>
                <a:extLst>
                  <a:ext uri="{0D108BD9-81ED-4DB2-BD59-A6C34878D82A}">
                    <a16:rowId xmlns:a16="http://schemas.microsoft.com/office/drawing/2014/main" val="3956094974"/>
                  </a:ext>
                </a:extLst>
              </a:tr>
              <a:tr h="370840">
                <a:tc>
                  <a:txBody>
                    <a:bodyPr/>
                    <a:lstStyle/>
                    <a:p>
                      <a:r>
                        <a:rPr lang="en-US" sz="1400" dirty="0"/>
                        <a:t>Description</a:t>
                      </a:r>
                    </a:p>
                  </a:txBody>
                  <a:tcPr/>
                </a:tc>
                <a:tc>
                  <a:txBody>
                    <a:bodyPr/>
                    <a:lstStyle/>
                    <a:p>
                      <a:r>
                        <a:rPr lang="en-US" sz="1400" dirty="0"/>
                        <a:t>A matrix that maps data entities or data sets to the applications that create, use, update, or delete them. This matrix helps identify data ownership, integration points, data redundancy, and supports impact analysis for changes in data or applications.</a:t>
                      </a:r>
                    </a:p>
                  </a:txBody>
                  <a:tcPr/>
                </a:tc>
                <a:extLst>
                  <a:ext uri="{0D108BD9-81ED-4DB2-BD59-A6C34878D82A}">
                    <a16:rowId xmlns:a16="http://schemas.microsoft.com/office/drawing/2014/main" val="1305053344"/>
                  </a:ext>
                </a:extLst>
              </a:tr>
              <a:tr h="370840">
                <a:tc>
                  <a:txBody>
                    <a:bodyPr/>
                    <a:lstStyle/>
                    <a:p>
                      <a:r>
                        <a:rPr lang="en-US" sz="1400" dirty="0"/>
                        <a:t>Stakeholders</a:t>
                      </a:r>
                    </a:p>
                  </a:txBody>
                  <a:tcPr/>
                </a:tc>
                <a:tc>
                  <a:txBody>
                    <a:bodyPr/>
                    <a:lstStyle/>
                    <a:p>
                      <a:r>
                        <a:rPr lang="en-US" sz="1400" dirty="0"/>
                        <a:t>Data Architect, Application Owner, Solution Architect, Data Steward, Business Analyst, System Integrator</a:t>
                      </a:r>
                    </a:p>
                  </a:txBody>
                  <a:tcPr/>
                </a:tc>
                <a:extLst>
                  <a:ext uri="{0D108BD9-81ED-4DB2-BD59-A6C34878D82A}">
                    <a16:rowId xmlns:a16="http://schemas.microsoft.com/office/drawing/2014/main" val="4270249404"/>
                  </a:ext>
                </a:extLst>
              </a:tr>
              <a:tr h="370840">
                <a:tc>
                  <a:txBody>
                    <a:bodyPr/>
                    <a:lstStyle/>
                    <a:p>
                      <a:r>
                        <a:rPr lang="en-US" sz="1400" dirty="0"/>
                        <a:t>Concerns</a:t>
                      </a:r>
                    </a:p>
                  </a:txBody>
                  <a:tcPr/>
                </a:tc>
                <a:tc>
                  <a:txBody>
                    <a:bodyPr/>
                    <a:lstStyle/>
                    <a:p>
                      <a:r>
                        <a:rPr lang="en-US" sz="1400" dirty="0"/>
                        <a:t>Data redundancy, data integration, ownership, system dependencies, data flow, change impact, data lifecycle management, compliance</a:t>
                      </a:r>
                    </a:p>
                  </a:txBody>
                  <a:tcPr/>
                </a:tc>
                <a:extLst>
                  <a:ext uri="{0D108BD9-81ED-4DB2-BD59-A6C34878D82A}">
                    <a16:rowId xmlns:a16="http://schemas.microsoft.com/office/drawing/2014/main" val="4232995999"/>
                  </a:ext>
                </a:extLst>
              </a:tr>
              <a:tr h="370840">
                <a:tc>
                  <a:txBody>
                    <a:bodyPr/>
                    <a:lstStyle/>
                    <a:p>
                      <a:r>
                        <a:rPr lang="en-US" sz="1400" dirty="0"/>
                        <a:t>Elements</a:t>
                      </a:r>
                    </a:p>
                  </a:txBody>
                  <a:tcPr/>
                </a:tc>
                <a:tc>
                  <a:txBody>
                    <a:bodyPr/>
                    <a:lstStyle/>
                    <a:p>
                      <a:r>
                        <a:rPr lang="en-US" sz="1400" dirty="0"/>
                        <a:t>Data Entity (or Data Set), Application</a:t>
                      </a:r>
                    </a:p>
                  </a:txBody>
                  <a:tcPr/>
                </a:tc>
                <a:extLst>
                  <a:ext uri="{0D108BD9-81ED-4DB2-BD59-A6C34878D82A}">
                    <a16:rowId xmlns:a16="http://schemas.microsoft.com/office/drawing/2014/main" val="2927961338"/>
                  </a:ext>
                </a:extLst>
              </a:tr>
              <a:tr h="370840">
                <a:tc>
                  <a:txBody>
                    <a:bodyPr/>
                    <a:lstStyle/>
                    <a:p>
                      <a:r>
                        <a:rPr lang="en-US" sz="1400" dirty="0"/>
                        <a:t>Type</a:t>
                      </a:r>
                    </a:p>
                  </a:txBody>
                  <a:tcPr/>
                </a:tc>
                <a:tc>
                  <a:txBody>
                    <a:bodyPr/>
                    <a:lstStyle/>
                    <a:p>
                      <a:r>
                        <a:rPr lang="en-US" sz="1400" dirty="0"/>
                        <a:t>Matrices</a:t>
                      </a:r>
                    </a:p>
                  </a:txBody>
                  <a:tcPr/>
                </a:tc>
                <a:extLst>
                  <a:ext uri="{0D108BD9-81ED-4DB2-BD59-A6C34878D82A}">
                    <a16:rowId xmlns:a16="http://schemas.microsoft.com/office/drawing/2014/main" val="1478371435"/>
                  </a:ext>
                </a:extLst>
              </a:tr>
              <a:tr h="370840">
                <a:tc>
                  <a:txBody>
                    <a:bodyPr/>
                    <a:lstStyle/>
                    <a:p>
                      <a:r>
                        <a:rPr lang="en-US" sz="1400" dirty="0"/>
                        <a:t>Modeling Technique</a:t>
                      </a:r>
                    </a:p>
                  </a:txBody>
                  <a:tcPr/>
                </a:tc>
                <a:tc>
                  <a:txBody>
                    <a:bodyPr/>
                    <a:lstStyle/>
                    <a:p>
                      <a:r>
                        <a:rPr lang="en-US" sz="1400" dirty="0"/>
                        <a:t>Two-dimensional matrix with Data Entities as rows and Applications as columns (or vice versa). Matrix cells indicate relationships such as “Create”, “Read”, “Update”, “Delete” (CRUD) or other relevant interactions.</a:t>
                      </a:r>
                    </a:p>
                  </a:txBody>
                  <a:tcPr/>
                </a:tc>
                <a:extLst>
                  <a:ext uri="{0D108BD9-81ED-4DB2-BD59-A6C34878D82A}">
                    <a16:rowId xmlns:a16="http://schemas.microsoft.com/office/drawing/2014/main" val="163306598"/>
                  </a:ext>
                </a:extLst>
              </a:tr>
            </a:tbl>
          </a:graphicData>
        </a:graphic>
      </p:graphicFrame>
    </p:spTree>
    <p:extLst>
      <p:ext uri="{BB962C8B-B14F-4D97-AF65-F5344CB8AC3E}">
        <p14:creationId xmlns:p14="http://schemas.microsoft.com/office/powerpoint/2010/main" val="40184482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1B83D-7E5D-E2E3-0530-DFA7807287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9AC2EB-DA38-412C-DD1E-F843B5BA6B60}"/>
              </a:ext>
            </a:extLst>
          </p:cNvPr>
          <p:cNvSpPr>
            <a:spLocks noGrp="1"/>
          </p:cNvSpPr>
          <p:nvPr>
            <p:ph type="title"/>
          </p:nvPr>
        </p:nvSpPr>
        <p:spPr/>
        <p:txBody>
          <a:bodyPr/>
          <a:lstStyle/>
          <a:p>
            <a:r>
              <a:rPr lang="en-US" dirty="0"/>
              <a:t>Data Mapping Specification</a:t>
            </a:r>
          </a:p>
        </p:txBody>
      </p:sp>
      <p:graphicFrame>
        <p:nvGraphicFramePr>
          <p:cNvPr id="4" name="Content Placeholder 3">
            <a:extLst>
              <a:ext uri="{FF2B5EF4-FFF2-40B4-BE49-F238E27FC236}">
                <a16:creationId xmlns:a16="http://schemas.microsoft.com/office/drawing/2014/main" id="{3572883F-283F-9C4E-FA5E-E140B9AF01A4}"/>
              </a:ext>
            </a:extLst>
          </p:cNvPr>
          <p:cNvGraphicFramePr>
            <a:graphicFrameLocks noGrp="1"/>
          </p:cNvGraphicFramePr>
          <p:nvPr>
            <p:ph idx="1"/>
            <p:extLst>
              <p:ext uri="{D42A27DB-BD31-4B8C-83A1-F6EECF244321}">
                <p14:modId xmlns:p14="http://schemas.microsoft.com/office/powerpoint/2010/main" val="3684542295"/>
              </p:ext>
            </p:extLst>
          </p:nvPr>
        </p:nvGraphicFramePr>
        <p:xfrm>
          <a:off x="1069975" y="2120900"/>
          <a:ext cx="10058400" cy="3759200"/>
        </p:xfrm>
        <a:graphic>
          <a:graphicData uri="http://schemas.openxmlformats.org/drawingml/2006/table">
            <a:tbl>
              <a:tblPr firstRow="1" bandRow="1">
                <a:tableStyleId>{5C22544A-7EE6-4342-B048-85BDC9FD1C3A}</a:tableStyleId>
              </a:tblPr>
              <a:tblGrid>
                <a:gridCol w="2198158">
                  <a:extLst>
                    <a:ext uri="{9D8B030D-6E8A-4147-A177-3AD203B41FA5}">
                      <a16:colId xmlns:a16="http://schemas.microsoft.com/office/drawing/2014/main" val="2004020530"/>
                    </a:ext>
                  </a:extLst>
                </a:gridCol>
                <a:gridCol w="7860242">
                  <a:extLst>
                    <a:ext uri="{9D8B030D-6E8A-4147-A177-3AD203B41FA5}">
                      <a16:colId xmlns:a16="http://schemas.microsoft.com/office/drawing/2014/main" val="625058839"/>
                    </a:ext>
                  </a:extLst>
                </a:gridCol>
              </a:tblGrid>
              <a:tr h="370840">
                <a:tc>
                  <a:txBody>
                    <a:bodyPr/>
                    <a:lstStyle/>
                    <a:p>
                      <a:r>
                        <a:rPr lang="en-US" sz="1400" dirty="0"/>
                        <a:t>Component</a:t>
                      </a:r>
                    </a:p>
                  </a:txBody>
                  <a:tcPr/>
                </a:tc>
                <a:tc>
                  <a:txBody>
                    <a:bodyPr/>
                    <a:lstStyle/>
                    <a:p>
                      <a:endParaRPr lang="en-US" sz="1400" dirty="0"/>
                    </a:p>
                  </a:txBody>
                  <a:tcPr/>
                </a:tc>
                <a:extLst>
                  <a:ext uri="{0D108BD9-81ED-4DB2-BD59-A6C34878D82A}">
                    <a16:rowId xmlns:a16="http://schemas.microsoft.com/office/drawing/2014/main" val="3956094974"/>
                  </a:ext>
                </a:extLst>
              </a:tr>
              <a:tr h="370840">
                <a:tc>
                  <a:txBody>
                    <a:bodyPr/>
                    <a:lstStyle/>
                    <a:p>
                      <a:r>
                        <a:rPr lang="en-US" sz="1400" dirty="0"/>
                        <a:t>Description</a:t>
                      </a:r>
                    </a:p>
                  </a:txBody>
                  <a:tcPr/>
                </a:tc>
                <a:tc>
                  <a:txBody>
                    <a:bodyPr/>
                    <a:lstStyle/>
                    <a:p>
                      <a:r>
                        <a:rPr lang="en-US" sz="1400" dirty="0"/>
                        <a:t>A detailed specification that defines how data elements from a source system are mapped to corresponding elements in a target system. It documents field-to-field relationships, data transformation rules, and logic for integration, migration, or interface projects.</a:t>
                      </a:r>
                    </a:p>
                  </a:txBody>
                  <a:tcPr/>
                </a:tc>
                <a:extLst>
                  <a:ext uri="{0D108BD9-81ED-4DB2-BD59-A6C34878D82A}">
                    <a16:rowId xmlns:a16="http://schemas.microsoft.com/office/drawing/2014/main" val="1305053344"/>
                  </a:ext>
                </a:extLst>
              </a:tr>
              <a:tr h="370840">
                <a:tc>
                  <a:txBody>
                    <a:bodyPr/>
                    <a:lstStyle/>
                    <a:p>
                      <a:r>
                        <a:rPr lang="en-US" sz="1400" dirty="0"/>
                        <a:t>Stakeholders</a:t>
                      </a:r>
                    </a:p>
                  </a:txBody>
                  <a:tcPr/>
                </a:tc>
                <a:tc>
                  <a:txBody>
                    <a:bodyPr/>
                    <a:lstStyle/>
                    <a:p>
                      <a:r>
                        <a:rPr lang="en-US" sz="1400" dirty="0"/>
                        <a:t>Data Architect, Data Engineer, Solution Architect, Integration Developer, Business Analyst, Data Steward, QA Analyst</a:t>
                      </a:r>
                    </a:p>
                  </a:txBody>
                  <a:tcPr/>
                </a:tc>
                <a:extLst>
                  <a:ext uri="{0D108BD9-81ED-4DB2-BD59-A6C34878D82A}">
                    <a16:rowId xmlns:a16="http://schemas.microsoft.com/office/drawing/2014/main" val="4270249404"/>
                  </a:ext>
                </a:extLst>
              </a:tr>
              <a:tr h="370840">
                <a:tc>
                  <a:txBody>
                    <a:bodyPr/>
                    <a:lstStyle/>
                    <a:p>
                      <a:r>
                        <a:rPr lang="en-US" sz="1400" dirty="0"/>
                        <a:t>Concerns</a:t>
                      </a:r>
                    </a:p>
                  </a:txBody>
                  <a:tcPr/>
                </a:tc>
                <a:tc>
                  <a:txBody>
                    <a:bodyPr/>
                    <a:lstStyle/>
                    <a:p>
                      <a:r>
                        <a:rPr lang="en-US" sz="1400" dirty="0"/>
                        <a:t>Data accuracy, transformation logic, data integrity, system compatibility, migration risk, traceability, regulatory compliance, documentation quality</a:t>
                      </a:r>
                    </a:p>
                  </a:txBody>
                  <a:tcPr/>
                </a:tc>
                <a:extLst>
                  <a:ext uri="{0D108BD9-81ED-4DB2-BD59-A6C34878D82A}">
                    <a16:rowId xmlns:a16="http://schemas.microsoft.com/office/drawing/2014/main" val="4232995999"/>
                  </a:ext>
                </a:extLst>
              </a:tr>
              <a:tr h="370840">
                <a:tc>
                  <a:txBody>
                    <a:bodyPr/>
                    <a:lstStyle/>
                    <a:p>
                      <a:r>
                        <a:rPr lang="en-US" sz="1400" dirty="0"/>
                        <a:t>Elements</a:t>
                      </a:r>
                    </a:p>
                  </a:txBody>
                  <a:tcPr/>
                </a:tc>
                <a:tc>
                  <a:txBody>
                    <a:bodyPr/>
                    <a:lstStyle/>
                    <a:p>
                      <a:r>
                        <a:rPr lang="en-US" sz="1400" dirty="0"/>
                        <a:t>Source Data Element, Target Data Element, Transformation Rule, Data Type, Default Value, Business Rule</a:t>
                      </a:r>
                    </a:p>
                  </a:txBody>
                  <a:tcPr/>
                </a:tc>
                <a:extLst>
                  <a:ext uri="{0D108BD9-81ED-4DB2-BD59-A6C34878D82A}">
                    <a16:rowId xmlns:a16="http://schemas.microsoft.com/office/drawing/2014/main" val="2927961338"/>
                  </a:ext>
                </a:extLst>
              </a:tr>
              <a:tr h="370840">
                <a:tc>
                  <a:txBody>
                    <a:bodyPr/>
                    <a:lstStyle/>
                    <a:p>
                      <a:r>
                        <a:rPr lang="en-US" sz="1400" dirty="0"/>
                        <a:t>Type</a:t>
                      </a:r>
                    </a:p>
                  </a:txBody>
                  <a:tcPr/>
                </a:tc>
                <a:tc>
                  <a:txBody>
                    <a:bodyPr/>
                    <a:lstStyle/>
                    <a:p>
                      <a:r>
                        <a:rPr lang="en-US" sz="1400" dirty="0"/>
                        <a:t>Matrices</a:t>
                      </a:r>
                    </a:p>
                  </a:txBody>
                  <a:tcPr/>
                </a:tc>
                <a:extLst>
                  <a:ext uri="{0D108BD9-81ED-4DB2-BD59-A6C34878D82A}">
                    <a16:rowId xmlns:a16="http://schemas.microsoft.com/office/drawing/2014/main" val="1478371435"/>
                  </a:ext>
                </a:extLst>
              </a:tr>
              <a:tr h="370840">
                <a:tc>
                  <a:txBody>
                    <a:bodyPr/>
                    <a:lstStyle/>
                    <a:p>
                      <a:r>
                        <a:rPr lang="en-US" sz="1400" dirty="0"/>
                        <a:t>Modeling Technique</a:t>
                      </a:r>
                    </a:p>
                  </a:txBody>
                  <a:tcPr/>
                </a:tc>
                <a:tc>
                  <a:txBody>
                    <a:bodyPr/>
                    <a:lstStyle/>
                    <a:p>
                      <a:r>
                        <a:rPr lang="en-US" sz="1400" dirty="0"/>
                        <a:t>Tabular specification listing Source Fields (with metadata) and their corresponding Target Fields, including columns for Transformation Logic, Data Type Conversions, Default Values, Validation Rules, and Comments. Often implemented in spreadsheets or mapping tools.</a:t>
                      </a:r>
                    </a:p>
                  </a:txBody>
                  <a:tcPr/>
                </a:tc>
                <a:extLst>
                  <a:ext uri="{0D108BD9-81ED-4DB2-BD59-A6C34878D82A}">
                    <a16:rowId xmlns:a16="http://schemas.microsoft.com/office/drawing/2014/main" val="163306598"/>
                  </a:ext>
                </a:extLst>
              </a:tr>
            </a:tbl>
          </a:graphicData>
        </a:graphic>
      </p:graphicFrame>
    </p:spTree>
    <p:extLst>
      <p:ext uri="{BB962C8B-B14F-4D97-AF65-F5344CB8AC3E}">
        <p14:creationId xmlns:p14="http://schemas.microsoft.com/office/powerpoint/2010/main" val="22275686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5133D-0ED4-9442-C83B-864DEBC1E0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7B92C-93F4-D88F-6C64-985D31300995}"/>
              </a:ext>
            </a:extLst>
          </p:cNvPr>
          <p:cNvSpPr>
            <a:spLocks noGrp="1"/>
          </p:cNvSpPr>
          <p:nvPr>
            <p:ph type="title"/>
          </p:nvPr>
        </p:nvSpPr>
        <p:spPr/>
        <p:txBody>
          <a:bodyPr/>
          <a:lstStyle/>
          <a:p>
            <a:r>
              <a:rPr lang="en-US" dirty="0"/>
              <a:t>Data Transformation Matrix</a:t>
            </a:r>
          </a:p>
        </p:txBody>
      </p:sp>
      <p:graphicFrame>
        <p:nvGraphicFramePr>
          <p:cNvPr id="4" name="Content Placeholder 3">
            <a:extLst>
              <a:ext uri="{FF2B5EF4-FFF2-40B4-BE49-F238E27FC236}">
                <a16:creationId xmlns:a16="http://schemas.microsoft.com/office/drawing/2014/main" id="{3EE901CE-14D8-4A83-C410-0E504F075982}"/>
              </a:ext>
            </a:extLst>
          </p:cNvPr>
          <p:cNvGraphicFramePr>
            <a:graphicFrameLocks noGrp="1"/>
          </p:cNvGraphicFramePr>
          <p:nvPr>
            <p:ph idx="1"/>
            <p:extLst>
              <p:ext uri="{D42A27DB-BD31-4B8C-83A1-F6EECF244321}">
                <p14:modId xmlns:p14="http://schemas.microsoft.com/office/powerpoint/2010/main" val="3721172682"/>
              </p:ext>
            </p:extLst>
          </p:nvPr>
        </p:nvGraphicFramePr>
        <p:xfrm>
          <a:off x="1069975" y="2120900"/>
          <a:ext cx="10058400" cy="4465320"/>
        </p:xfrm>
        <a:graphic>
          <a:graphicData uri="http://schemas.openxmlformats.org/drawingml/2006/table">
            <a:tbl>
              <a:tblPr firstRow="1" bandRow="1">
                <a:tableStyleId>{5C22544A-7EE6-4342-B048-85BDC9FD1C3A}</a:tableStyleId>
              </a:tblPr>
              <a:tblGrid>
                <a:gridCol w="2198158">
                  <a:extLst>
                    <a:ext uri="{9D8B030D-6E8A-4147-A177-3AD203B41FA5}">
                      <a16:colId xmlns:a16="http://schemas.microsoft.com/office/drawing/2014/main" val="2004020530"/>
                    </a:ext>
                  </a:extLst>
                </a:gridCol>
                <a:gridCol w="7860242">
                  <a:extLst>
                    <a:ext uri="{9D8B030D-6E8A-4147-A177-3AD203B41FA5}">
                      <a16:colId xmlns:a16="http://schemas.microsoft.com/office/drawing/2014/main" val="625058839"/>
                    </a:ext>
                  </a:extLst>
                </a:gridCol>
              </a:tblGrid>
              <a:tr h="370840">
                <a:tc>
                  <a:txBody>
                    <a:bodyPr/>
                    <a:lstStyle/>
                    <a:p>
                      <a:r>
                        <a:rPr lang="en-US" sz="1400" dirty="0">
                          <a:latin typeface="Rockwell"/>
                        </a:rPr>
                        <a:t>Component</a:t>
                      </a:r>
                    </a:p>
                  </a:txBody>
                  <a:tcPr/>
                </a:tc>
                <a:tc>
                  <a:txBody>
                    <a:bodyPr/>
                    <a:lstStyle/>
                    <a:p>
                      <a:endParaRPr lang="en-US" sz="1400" dirty="0">
                        <a:latin typeface="Rockwell"/>
                      </a:endParaRPr>
                    </a:p>
                  </a:txBody>
                  <a:tcPr/>
                </a:tc>
                <a:extLst>
                  <a:ext uri="{0D108BD9-81ED-4DB2-BD59-A6C34878D82A}">
                    <a16:rowId xmlns:a16="http://schemas.microsoft.com/office/drawing/2014/main" val="3956094974"/>
                  </a:ext>
                </a:extLst>
              </a:tr>
              <a:tr h="370840">
                <a:tc>
                  <a:txBody>
                    <a:bodyPr/>
                    <a:lstStyle/>
                    <a:p>
                      <a:r>
                        <a:rPr lang="en-US" sz="1400" dirty="0">
                          <a:latin typeface="Rockwell"/>
                        </a:rPr>
                        <a:t>Description</a:t>
                      </a:r>
                    </a:p>
                  </a:txBody>
                  <a:tcPr/>
                </a:tc>
                <a:tc>
                  <a:txBody>
                    <a:bodyPr/>
                    <a:lstStyle/>
                    <a:p>
                      <a:pPr lvl="0">
                        <a:buNone/>
                      </a:pPr>
                      <a:r>
                        <a:rPr lang="en-US" sz="1400" b="0" i="0" u="none" strike="noStrike" noProof="0" dirty="0">
                          <a:latin typeface="Rockwell"/>
                        </a:rPr>
                        <a:t>A Data Transformation Matrix details the processes and rules for converting data from one form to another, often during data migration or integration projects. It ensures data consistency, quality, and alignment with business requirements.</a:t>
                      </a:r>
                    </a:p>
                  </a:txBody>
                  <a:tcPr/>
                </a:tc>
                <a:extLst>
                  <a:ext uri="{0D108BD9-81ED-4DB2-BD59-A6C34878D82A}">
                    <a16:rowId xmlns:a16="http://schemas.microsoft.com/office/drawing/2014/main" val="1305053344"/>
                  </a:ext>
                </a:extLst>
              </a:tr>
              <a:tr h="370840">
                <a:tc>
                  <a:txBody>
                    <a:bodyPr/>
                    <a:lstStyle/>
                    <a:p>
                      <a:r>
                        <a:rPr lang="en-US" sz="1400" dirty="0">
                          <a:latin typeface="Rockwell"/>
                        </a:rPr>
                        <a:t>Stakeholders</a:t>
                      </a:r>
                    </a:p>
                  </a:txBody>
                  <a:tcPr/>
                </a:tc>
                <a:tc>
                  <a:txBody>
                    <a:bodyPr/>
                    <a:lstStyle/>
                    <a:p>
                      <a:pPr lvl="0">
                        <a:buNone/>
                      </a:pPr>
                      <a:r>
                        <a:rPr lang="en-US" sz="1400" b="0" i="0" u="none" strike="noStrike" noProof="0" dirty="0">
                          <a:latin typeface="Rockwell"/>
                        </a:rPr>
                        <a:t>Data Architect, ETL Developer, Data Analyst, Business Analyst, Database Administrator, System Integrator</a:t>
                      </a:r>
                      <a:endParaRPr lang="en-US" sz="1400" dirty="0">
                        <a:latin typeface="Rockwell"/>
                      </a:endParaRPr>
                    </a:p>
                  </a:txBody>
                  <a:tcPr/>
                </a:tc>
                <a:extLst>
                  <a:ext uri="{0D108BD9-81ED-4DB2-BD59-A6C34878D82A}">
                    <a16:rowId xmlns:a16="http://schemas.microsoft.com/office/drawing/2014/main" val="4270249404"/>
                  </a:ext>
                </a:extLst>
              </a:tr>
              <a:tr h="370840">
                <a:tc>
                  <a:txBody>
                    <a:bodyPr/>
                    <a:lstStyle/>
                    <a:p>
                      <a:r>
                        <a:rPr lang="en-US" sz="1400" dirty="0">
                          <a:latin typeface="Rockwell"/>
                        </a:rPr>
                        <a:t>Concerns</a:t>
                      </a:r>
                    </a:p>
                  </a:txBody>
                  <a:tcPr/>
                </a:tc>
                <a:tc>
                  <a:txBody>
                    <a:bodyPr/>
                    <a:lstStyle/>
                    <a:p>
                      <a:pPr lvl="0">
                        <a:buNone/>
                      </a:pPr>
                      <a:r>
                        <a:rPr lang="en-US" sz="1400" b="0" i="0" u="none" strike="noStrike" noProof="0" dirty="0">
                          <a:latin typeface="Rockwell"/>
                        </a:rPr>
                        <a:t>Data accuracy, transformation rules, data lineage, consistency, performance, error handling, compliance</a:t>
                      </a:r>
                    </a:p>
                  </a:txBody>
                  <a:tcPr/>
                </a:tc>
                <a:extLst>
                  <a:ext uri="{0D108BD9-81ED-4DB2-BD59-A6C34878D82A}">
                    <a16:rowId xmlns:a16="http://schemas.microsoft.com/office/drawing/2014/main" val="4232995999"/>
                  </a:ext>
                </a:extLst>
              </a:tr>
              <a:tr h="370840">
                <a:tc>
                  <a:txBody>
                    <a:bodyPr/>
                    <a:lstStyle/>
                    <a:p>
                      <a:r>
                        <a:rPr lang="en-US" sz="1400" dirty="0">
                          <a:latin typeface="Rockwell"/>
                        </a:rPr>
                        <a:t>Elements</a:t>
                      </a:r>
                    </a:p>
                  </a:txBody>
                  <a:tcPr/>
                </a:tc>
                <a:tc>
                  <a:txBody>
                    <a:bodyPr/>
                    <a:lstStyle/>
                    <a:p>
                      <a:pPr lvl="0">
                        <a:buNone/>
                      </a:pPr>
                      <a:r>
                        <a:rPr lang="en-US" sz="1400" b="0" i="0" u="none" strike="noStrike" noProof="0" dirty="0">
                          <a:latin typeface="Rockwell"/>
                        </a:rPr>
                        <a:t>Source Data, Target Data, Transformation Rules, Mapping, Validation Rules, Error Handling</a:t>
                      </a:r>
                      <a:endParaRPr lang="en-US" sz="1400" dirty="0">
                        <a:latin typeface="Rockwell"/>
                      </a:endParaRPr>
                    </a:p>
                  </a:txBody>
                  <a:tcPr/>
                </a:tc>
                <a:extLst>
                  <a:ext uri="{0D108BD9-81ED-4DB2-BD59-A6C34878D82A}">
                    <a16:rowId xmlns:a16="http://schemas.microsoft.com/office/drawing/2014/main" val="2927961338"/>
                  </a:ext>
                </a:extLst>
              </a:tr>
              <a:tr h="370840">
                <a:tc>
                  <a:txBody>
                    <a:bodyPr/>
                    <a:lstStyle/>
                    <a:p>
                      <a:r>
                        <a:rPr lang="en-US" sz="1400" dirty="0">
                          <a:latin typeface="Rockwell"/>
                        </a:rPr>
                        <a:t>Type</a:t>
                      </a:r>
                    </a:p>
                  </a:txBody>
                  <a:tcPr/>
                </a:tc>
                <a:tc>
                  <a:txBody>
                    <a:bodyPr/>
                    <a:lstStyle/>
                    <a:p>
                      <a:r>
                        <a:rPr lang="en-US" sz="1400" dirty="0">
                          <a:latin typeface="Rockwell"/>
                        </a:rPr>
                        <a:t>Matrices</a:t>
                      </a:r>
                    </a:p>
                  </a:txBody>
                  <a:tcPr/>
                </a:tc>
                <a:extLst>
                  <a:ext uri="{0D108BD9-81ED-4DB2-BD59-A6C34878D82A}">
                    <a16:rowId xmlns:a16="http://schemas.microsoft.com/office/drawing/2014/main" val="1478371435"/>
                  </a:ext>
                </a:extLst>
              </a:tr>
              <a:tr h="370840">
                <a:tc>
                  <a:txBody>
                    <a:bodyPr/>
                    <a:lstStyle/>
                    <a:p>
                      <a:r>
                        <a:rPr lang="en-US" sz="1400" dirty="0">
                          <a:latin typeface="Rockwell"/>
                        </a:rPr>
                        <a:t>Modeling Technique</a:t>
                      </a:r>
                    </a:p>
                  </a:txBody>
                  <a:tcPr/>
                </a:tc>
                <a:tc>
                  <a:txBody>
                    <a:bodyPr/>
                    <a:lstStyle/>
                    <a:p>
                      <a:pPr lvl="0" algn="l">
                        <a:lnSpc>
                          <a:spcPct val="100000"/>
                        </a:lnSpc>
                        <a:spcBef>
                          <a:spcPts val="0"/>
                        </a:spcBef>
                        <a:spcAft>
                          <a:spcPts val="0"/>
                        </a:spcAft>
                        <a:buNone/>
                      </a:pPr>
                      <a:r>
                        <a:rPr lang="en-US" sz="1400" b="0" i="0" u="none" strike="noStrike" noProof="0" dirty="0">
                          <a:latin typeface="Rockwell"/>
                        </a:rPr>
                        <a:t>Structured matrix or documentation that defines transformations with attributes, including: </a:t>
                      </a:r>
                      <a:endParaRPr lang="en-US" sz="1400" dirty="0">
                        <a:latin typeface="Rockwell"/>
                      </a:endParaRPr>
                    </a:p>
                    <a:p>
                      <a:pPr marL="171450" lvl="0" indent="-171450" algn="l">
                        <a:lnSpc>
                          <a:spcPct val="100000"/>
                        </a:lnSpc>
                        <a:spcBef>
                          <a:spcPts val="0"/>
                        </a:spcBef>
                        <a:spcAft>
                          <a:spcPts val="0"/>
                        </a:spcAft>
                        <a:buFont typeface="Arial"/>
                        <a:buChar char="•"/>
                      </a:pPr>
                      <a:r>
                        <a:rPr lang="en-US" sz="1400" b="0" i="0" u="none" strike="noStrike" noProof="0" dirty="0">
                          <a:latin typeface="Rockwell"/>
                        </a:rPr>
                        <a:t>Source Data (origin of data); Target Data (destination of transformed data) </a:t>
                      </a:r>
                      <a:endParaRPr lang="en-US" sz="1400" dirty="0">
                        <a:latin typeface="Rockwell"/>
                      </a:endParaRPr>
                    </a:p>
                    <a:p>
                      <a:pPr marL="171450" lvl="0" indent="-171450" algn="l">
                        <a:lnSpc>
                          <a:spcPct val="100000"/>
                        </a:lnSpc>
                        <a:spcBef>
                          <a:spcPts val="0"/>
                        </a:spcBef>
                        <a:spcAft>
                          <a:spcPts val="0"/>
                        </a:spcAft>
                        <a:buFont typeface="Arial"/>
                        <a:buChar char="•"/>
                      </a:pPr>
                      <a:r>
                        <a:rPr lang="en-US" sz="1400" b="0" i="0" u="none" strike="noStrike" noProof="0" dirty="0">
                          <a:latin typeface="Rockwell"/>
                        </a:rPr>
                        <a:t>Transformation Rules (logic and operations applied) </a:t>
                      </a:r>
                      <a:endParaRPr lang="en-US" sz="1400" dirty="0">
                        <a:latin typeface="Rockwell"/>
                      </a:endParaRPr>
                    </a:p>
                    <a:p>
                      <a:pPr marL="171450" lvl="0" indent="-171450" algn="l">
                        <a:lnSpc>
                          <a:spcPct val="100000"/>
                        </a:lnSpc>
                        <a:spcBef>
                          <a:spcPts val="0"/>
                        </a:spcBef>
                        <a:spcAft>
                          <a:spcPts val="0"/>
                        </a:spcAft>
                        <a:buFont typeface="Arial"/>
                        <a:buChar char="•"/>
                      </a:pPr>
                      <a:r>
                        <a:rPr lang="en-US" sz="1400" b="0" i="0" u="none" strike="noStrike" noProof="0" dirty="0">
                          <a:latin typeface="Rockwell"/>
                        </a:rPr>
                        <a:t>Mapping (correspondence between source and target) </a:t>
                      </a:r>
                      <a:endParaRPr lang="en-US" sz="1400" dirty="0">
                        <a:latin typeface="Rockwell"/>
                      </a:endParaRPr>
                    </a:p>
                    <a:p>
                      <a:pPr marL="171450" lvl="0" indent="-171450" algn="l">
                        <a:lnSpc>
                          <a:spcPct val="100000"/>
                        </a:lnSpc>
                        <a:spcBef>
                          <a:spcPts val="0"/>
                        </a:spcBef>
                        <a:spcAft>
                          <a:spcPts val="0"/>
                        </a:spcAft>
                        <a:buFont typeface="Arial"/>
                        <a:buChar char="•"/>
                      </a:pPr>
                      <a:r>
                        <a:rPr lang="en-US" sz="1400" b="0" i="0" u="none" strike="noStrike" noProof="0" dirty="0">
                          <a:latin typeface="Rockwell"/>
                        </a:rPr>
                        <a:t>Validation Rules (criteria for correctness)</a:t>
                      </a:r>
                      <a:endParaRPr lang="en-US" sz="1400" dirty="0">
                        <a:latin typeface="Rockwell"/>
                      </a:endParaRPr>
                    </a:p>
                    <a:p>
                      <a:pPr marL="171450" lvl="0" indent="-171450" algn="l">
                        <a:lnSpc>
                          <a:spcPct val="100000"/>
                        </a:lnSpc>
                        <a:spcBef>
                          <a:spcPts val="0"/>
                        </a:spcBef>
                        <a:spcAft>
                          <a:spcPts val="0"/>
                        </a:spcAft>
                        <a:buFont typeface="Arial"/>
                        <a:buChar char="•"/>
                      </a:pPr>
                      <a:r>
                        <a:rPr lang="en-US" sz="1400" b="0" i="0" u="none" strike="noStrike" noProof="0" dirty="0">
                          <a:latin typeface="Rockwell"/>
                        </a:rPr>
                        <a:t>Error Handling (procedures for managing exceptions)</a:t>
                      </a:r>
                      <a:endParaRPr lang="en-US" sz="1400" dirty="0">
                        <a:latin typeface="Rockwell"/>
                      </a:endParaRPr>
                    </a:p>
                    <a:p>
                      <a:pPr lvl="0">
                        <a:buNone/>
                      </a:pPr>
                      <a:endParaRPr lang="en-US" sz="1400" dirty="0">
                        <a:latin typeface="Rockwell"/>
                      </a:endParaRPr>
                    </a:p>
                  </a:txBody>
                  <a:tcPr/>
                </a:tc>
                <a:extLst>
                  <a:ext uri="{0D108BD9-81ED-4DB2-BD59-A6C34878D82A}">
                    <a16:rowId xmlns:a16="http://schemas.microsoft.com/office/drawing/2014/main" val="163306598"/>
                  </a:ext>
                </a:extLst>
              </a:tr>
            </a:tbl>
          </a:graphicData>
        </a:graphic>
      </p:graphicFrame>
    </p:spTree>
    <p:extLst>
      <p:ext uri="{BB962C8B-B14F-4D97-AF65-F5344CB8AC3E}">
        <p14:creationId xmlns:p14="http://schemas.microsoft.com/office/powerpoint/2010/main" val="37593287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EDABF-CDFE-D176-F607-BC7CF55CCE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995868-D540-FF1A-6104-D6D152DE8B21}"/>
              </a:ext>
            </a:extLst>
          </p:cNvPr>
          <p:cNvSpPr>
            <a:spLocks noGrp="1"/>
          </p:cNvSpPr>
          <p:nvPr>
            <p:ph type="title"/>
          </p:nvPr>
        </p:nvSpPr>
        <p:spPr/>
        <p:txBody>
          <a:bodyPr/>
          <a:lstStyle/>
          <a:p>
            <a:r>
              <a:rPr lang="en-US" dirty="0"/>
              <a:t>Reference Data Crosswalk</a:t>
            </a:r>
          </a:p>
        </p:txBody>
      </p:sp>
      <p:graphicFrame>
        <p:nvGraphicFramePr>
          <p:cNvPr id="4" name="Content Placeholder 3">
            <a:extLst>
              <a:ext uri="{FF2B5EF4-FFF2-40B4-BE49-F238E27FC236}">
                <a16:creationId xmlns:a16="http://schemas.microsoft.com/office/drawing/2014/main" id="{D56A7FE3-E3CA-6B90-AB8F-865282AE5DA8}"/>
              </a:ext>
            </a:extLst>
          </p:cNvPr>
          <p:cNvGraphicFramePr>
            <a:graphicFrameLocks noGrp="1"/>
          </p:cNvGraphicFramePr>
          <p:nvPr>
            <p:ph idx="1"/>
            <p:extLst>
              <p:ext uri="{D42A27DB-BD31-4B8C-83A1-F6EECF244321}">
                <p14:modId xmlns:p14="http://schemas.microsoft.com/office/powerpoint/2010/main" val="1347801940"/>
              </p:ext>
            </p:extLst>
          </p:nvPr>
        </p:nvGraphicFramePr>
        <p:xfrm>
          <a:off x="1069975" y="2120900"/>
          <a:ext cx="10058400" cy="3759200"/>
        </p:xfrm>
        <a:graphic>
          <a:graphicData uri="http://schemas.openxmlformats.org/drawingml/2006/table">
            <a:tbl>
              <a:tblPr firstRow="1" bandRow="1">
                <a:tableStyleId>{5C22544A-7EE6-4342-B048-85BDC9FD1C3A}</a:tableStyleId>
              </a:tblPr>
              <a:tblGrid>
                <a:gridCol w="2198158">
                  <a:extLst>
                    <a:ext uri="{9D8B030D-6E8A-4147-A177-3AD203B41FA5}">
                      <a16:colId xmlns:a16="http://schemas.microsoft.com/office/drawing/2014/main" val="2004020530"/>
                    </a:ext>
                  </a:extLst>
                </a:gridCol>
                <a:gridCol w="7860242">
                  <a:extLst>
                    <a:ext uri="{9D8B030D-6E8A-4147-A177-3AD203B41FA5}">
                      <a16:colId xmlns:a16="http://schemas.microsoft.com/office/drawing/2014/main" val="625058839"/>
                    </a:ext>
                  </a:extLst>
                </a:gridCol>
              </a:tblGrid>
              <a:tr h="370840">
                <a:tc>
                  <a:txBody>
                    <a:bodyPr/>
                    <a:lstStyle/>
                    <a:p>
                      <a:r>
                        <a:rPr lang="en-US" sz="1400" dirty="0"/>
                        <a:t>Component</a:t>
                      </a:r>
                    </a:p>
                  </a:txBody>
                  <a:tcPr/>
                </a:tc>
                <a:tc>
                  <a:txBody>
                    <a:bodyPr/>
                    <a:lstStyle/>
                    <a:p>
                      <a:endParaRPr lang="en-US" sz="1400" dirty="0"/>
                    </a:p>
                  </a:txBody>
                  <a:tcPr/>
                </a:tc>
                <a:extLst>
                  <a:ext uri="{0D108BD9-81ED-4DB2-BD59-A6C34878D82A}">
                    <a16:rowId xmlns:a16="http://schemas.microsoft.com/office/drawing/2014/main" val="3956094974"/>
                  </a:ext>
                </a:extLst>
              </a:tr>
              <a:tr h="370840">
                <a:tc>
                  <a:txBody>
                    <a:bodyPr/>
                    <a:lstStyle/>
                    <a:p>
                      <a:r>
                        <a:rPr lang="en-US" sz="1400" dirty="0"/>
                        <a:t>Description</a:t>
                      </a:r>
                    </a:p>
                  </a:txBody>
                  <a:tcPr/>
                </a:tc>
                <a:tc>
                  <a:txBody>
                    <a:bodyPr/>
                    <a:lstStyle/>
                    <a:p>
                      <a:r>
                        <a:rPr lang="en-US" sz="1400" dirty="0"/>
                        <a:t>A crosswalk provides a mapping between reference data values used in different systems, domains, or standards. It enables interoperability, data integration, and consistency by aligning codes or values such as country codes, statuses, or terminologies across platforms.</a:t>
                      </a:r>
                    </a:p>
                  </a:txBody>
                  <a:tcPr/>
                </a:tc>
                <a:extLst>
                  <a:ext uri="{0D108BD9-81ED-4DB2-BD59-A6C34878D82A}">
                    <a16:rowId xmlns:a16="http://schemas.microsoft.com/office/drawing/2014/main" val="1305053344"/>
                  </a:ext>
                </a:extLst>
              </a:tr>
              <a:tr h="370840">
                <a:tc>
                  <a:txBody>
                    <a:bodyPr/>
                    <a:lstStyle/>
                    <a:p>
                      <a:r>
                        <a:rPr lang="en-US" sz="1400" dirty="0"/>
                        <a:t>Stakeholders</a:t>
                      </a:r>
                    </a:p>
                  </a:txBody>
                  <a:tcPr/>
                </a:tc>
                <a:tc>
                  <a:txBody>
                    <a:bodyPr/>
                    <a:lstStyle/>
                    <a:p>
                      <a:r>
                        <a:rPr lang="en-US" sz="1400" dirty="0"/>
                        <a:t>Data Steward, Data Architect, Integration Developer, Business Analyst, System Owner, Compliance Officer</a:t>
                      </a:r>
                    </a:p>
                  </a:txBody>
                  <a:tcPr/>
                </a:tc>
                <a:extLst>
                  <a:ext uri="{0D108BD9-81ED-4DB2-BD59-A6C34878D82A}">
                    <a16:rowId xmlns:a16="http://schemas.microsoft.com/office/drawing/2014/main" val="4270249404"/>
                  </a:ext>
                </a:extLst>
              </a:tr>
              <a:tr h="370840">
                <a:tc>
                  <a:txBody>
                    <a:bodyPr/>
                    <a:lstStyle/>
                    <a:p>
                      <a:r>
                        <a:rPr lang="en-US" sz="1400" dirty="0"/>
                        <a:t>Concerns</a:t>
                      </a:r>
                    </a:p>
                  </a:txBody>
                  <a:tcPr/>
                </a:tc>
                <a:tc>
                  <a:txBody>
                    <a:bodyPr/>
                    <a:lstStyle/>
                    <a:p>
                      <a:r>
                        <a:rPr lang="en-US" sz="1400" dirty="0"/>
                        <a:t>Data consistency, value alignment, interoperability, integration accuracy, compliance with standards, change management, documentation</a:t>
                      </a:r>
                    </a:p>
                  </a:txBody>
                  <a:tcPr/>
                </a:tc>
                <a:extLst>
                  <a:ext uri="{0D108BD9-81ED-4DB2-BD59-A6C34878D82A}">
                    <a16:rowId xmlns:a16="http://schemas.microsoft.com/office/drawing/2014/main" val="4232995999"/>
                  </a:ext>
                </a:extLst>
              </a:tr>
              <a:tr h="370840">
                <a:tc>
                  <a:txBody>
                    <a:bodyPr/>
                    <a:lstStyle/>
                    <a:p>
                      <a:r>
                        <a:rPr lang="en-US" sz="1400" dirty="0"/>
                        <a:t>Elements</a:t>
                      </a:r>
                    </a:p>
                  </a:txBody>
                  <a:tcPr/>
                </a:tc>
                <a:tc>
                  <a:txBody>
                    <a:bodyPr/>
                    <a:lstStyle/>
                    <a:p>
                      <a:r>
                        <a:rPr lang="en-US" sz="1400" dirty="0"/>
                        <a:t>Source Reference Value, Target Reference Value, Source System, Target System, Mapping Rule, Description</a:t>
                      </a:r>
                    </a:p>
                  </a:txBody>
                  <a:tcPr/>
                </a:tc>
                <a:extLst>
                  <a:ext uri="{0D108BD9-81ED-4DB2-BD59-A6C34878D82A}">
                    <a16:rowId xmlns:a16="http://schemas.microsoft.com/office/drawing/2014/main" val="2927961338"/>
                  </a:ext>
                </a:extLst>
              </a:tr>
              <a:tr h="370840">
                <a:tc>
                  <a:txBody>
                    <a:bodyPr/>
                    <a:lstStyle/>
                    <a:p>
                      <a:r>
                        <a:rPr lang="en-US" sz="1400" dirty="0"/>
                        <a:t>Type</a:t>
                      </a:r>
                    </a:p>
                  </a:txBody>
                  <a:tcPr/>
                </a:tc>
                <a:tc>
                  <a:txBody>
                    <a:bodyPr/>
                    <a:lstStyle/>
                    <a:p>
                      <a:r>
                        <a:rPr lang="en-US" sz="1400" dirty="0"/>
                        <a:t>Matrices</a:t>
                      </a:r>
                    </a:p>
                  </a:txBody>
                  <a:tcPr/>
                </a:tc>
                <a:extLst>
                  <a:ext uri="{0D108BD9-81ED-4DB2-BD59-A6C34878D82A}">
                    <a16:rowId xmlns:a16="http://schemas.microsoft.com/office/drawing/2014/main" val="1478371435"/>
                  </a:ext>
                </a:extLst>
              </a:tr>
              <a:tr h="370840">
                <a:tc>
                  <a:txBody>
                    <a:bodyPr/>
                    <a:lstStyle/>
                    <a:p>
                      <a:r>
                        <a:rPr lang="en-US" sz="1400" dirty="0"/>
                        <a:t>Modeling Technique</a:t>
                      </a:r>
                    </a:p>
                  </a:txBody>
                  <a:tcPr/>
                </a:tc>
                <a:tc>
                  <a:txBody>
                    <a:bodyPr/>
                    <a:lstStyle/>
                    <a:p>
                      <a:r>
                        <a:rPr lang="en-US" sz="1400" dirty="0"/>
                        <a:t>Tabular crosswalk listing Source Values and corresponding Target Values, with additional columns for System/Standard Name, Mapping Rules, Descriptions, and Effective Dates. Can be implemented in spreadsheets, mapping tables, or data governance tools.</a:t>
                      </a:r>
                    </a:p>
                  </a:txBody>
                  <a:tcPr/>
                </a:tc>
                <a:extLst>
                  <a:ext uri="{0D108BD9-81ED-4DB2-BD59-A6C34878D82A}">
                    <a16:rowId xmlns:a16="http://schemas.microsoft.com/office/drawing/2014/main" val="163306598"/>
                  </a:ext>
                </a:extLst>
              </a:tr>
            </a:tbl>
          </a:graphicData>
        </a:graphic>
      </p:graphicFrame>
    </p:spTree>
    <p:extLst>
      <p:ext uri="{BB962C8B-B14F-4D97-AF65-F5344CB8AC3E}">
        <p14:creationId xmlns:p14="http://schemas.microsoft.com/office/powerpoint/2010/main" val="42072896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CAA7E-4493-D2EF-FA8E-1CC6383D01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D95980-6626-E2AB-BF39-E2CB8BE6D9CA}"/>
              </a:ext>
            </a:extLst>
          </p:cNvPr>
          <p:cNvSpPr>
            <a:spLocks noGrp="1"/>
          </p:cNvSpPr>
          <p:nvPr>
            <p:ph type="title"/>
          </p:nvPr>
        </p:nvSpPr>
        <p:spPr/>
        <p:txBody>
          <a:bodyPr/>
          <a:lstStyle/>
          <a:p>
            <a:r>
              <a:rPr lang="en-US" dirty="0"/>
              <a:t>Diagrams</a:t>
            </a:r>
          </a:p>
        </p:txBody>
      </p:sp>
      <p:sp>
        <p:nvSpPr>
          <p:cNvPr id="3" name="Text Placeholder 2">
            <a:extLst>
              <a:ext uri="{FF2B5EF4-FFF2-40B4-BE49-F238E27FC236}">
                <a16:creationId xmlns:a16="http://schemas.microsoft.com/office/drawing/2014/main" id="{8B6ABA7B-2169-8024-B52F-1C79167BAFE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822483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5093D-2139-C7D9-D750-03DA96D73B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28B7EB-4EED-1166-7538-22C4A5ED1BAE}"/>
              </a:ext>
            </a:extLst>
          </p:cNvPr>
          <p:cNvSpPr>
            <a:spLocks noGrp="1"/>
          </p:cNvSpPr>
          <p:nvPr>
            <p:ph type="title"/>
          </p:nvPr>
        </p:nvSpPr>
        <p:spPr/>
        <p:txBody>
          <a:bodyPr/>
          <a:lstStyle/>
          <a:p>
            <a:r>
              <a:rPr lang="en-US" dirty="0"/>
              <a:t>Conceptual Data model Diagram</a:t>
            </a:r>
          </a:p>
        </p:txBody>
      </p:sp>
      <p:graphicFrame>
        <p:nvGraphicFramePr>
          <p:cNvPr id="4" name="Content Placeholder 3">
            <a:extLst>
              <a:ext uri="{FF2B5EF4-FFF2-40B4-BE49-F238E27FC236}">
                <a16:creationId xmlns:a16="http://schemas.microsoft.com/office/drawing/2014/main" id="{8F8BFF99-092C-9810-23BC-9B0AD841AE65}"/>
              </a:ext>
            </a:extLst>
          </p:cNvPr>
          <p:cNvGraphicFramePr>
            <a:graphicFrameLocks noGrp="1"/>
          </p:cNvGraphicFramePr>
          <p:nvPr>
            <p:ph idx="1"/>
            <p:extLst>
              <p:ext uri="{D42A27DB-BD31-4B8C-83A1-F6EECF244321}">
                <p14:modId xmlns:p14="http://schemas.microsoft.com/office/powerpoint/2010/main" val="71532552"/>
              </p:ext>
            </p:extLst>
          </p:nvPr>
        </p:nvGraphicFramePr>
        <p:xfrm>
          <a:off x="1069975" y="2120900"/>
          <a:ext cx="10058400" cy="3972560"/>
        </p:xfrm>
        <a:graphic>
          <a:graphicData uri="http://schemas.openxmlformats.org/drawingml/2006/table">
            <a:tbl>
              <a:tblPr firstRow="1" bandRow="1">
                <a:tableStyleId>{5C22544A-7EE6-4342-B048-85BDC9FD1C3A}</a:tableStyleId>
              </a:tblPr>
              <a:tblGrid>
                <a:gridCol w="2198158">
                  <a:extLst>
                    <a:ext uri="{9D8B030D-6E8A-4147-A177-3AD203B41FA5}">
                      <a16:colId xmlns:a16="http://schemas.microsoft.com/office/drawing/2014/main" val="2004020530"/>
                    </a:ext>
                  </a:extLst>
                </a:gridCol>
                <a:gridCol w="7860242">
                  <a:extLst>
                    <a:ext uri="{9D8B030D-6E8A-4147-A177-3AD203B41FA5}">
                      <a16:colId xmlns:a16="http://schemas.microsoft.com/office/drawing/2014/main" val="625058839"/>
                    </a:ext>
                  </a:extLst>
                </a:gridCol>
              </a:tblGrid>
              <a:tr h="370840">
                <a:tc>
                  <a:txBody>
                    <a:bodyPr/>
                    <a:lstStyle/>
                    <a:p>
                      <a:r>
                        <a:rPr lang="en-US" sz="1400" dirty="0"/>
                        <a:t>Component</a:t>
                      </a:r>
                    </a:p>
                  </a:txBody>
                  <a:tcPr/>
                </a:tc>
                <a:tc>
                  <a:txBody>
                    <a:bodyPr/>
                    <a:lstStyle/>
                    <a:p>
                      <a:endParaRPr lang="en-US" sz="1400" dirty="0"/>
                    </a:p>
                  </a:txBody>
                  <a:tcPr/>
                </a:tc>
                <a:extLst>
                  <a:ext uri="{0D108BD9-81ED-4DB2-BD59-A6C34878D82A}">
                    <a16:rowId xmlns:a16="http://schemas.microsoft.com/office/drawing/2014/main" val="3956094974"/>
                  </a:ext>
                </a:extLst>
              </a:tr>
              <a:tr h="370840">
                <a:tc>
                  <a:txBody>
                    <a:bodyPr/>
                    <a:lstStyle/>
                    <a:p>
                      <a:r>
                        <a:rPr lang="en-US" sz="1400" dirty="0"/>
                        <a:t>Description</a:t>
                      </a:r>
                    </a:p>
                  </a:txBody>
                  <a:tcPr/>
                </a:tc>
                <a:tc>
                  <a:txBody>
                    <a:bodyPr/>
                    <a:lstStyle/>
                    <a:p>
                      <a:r>
                        <a:rPr lang="en-US" sz="1400" dirty="0"/>
                        <a:t>A Conceptual Data Model Diagram provides a high-level, business-oriented view of an organization’s core data entities and their relationships. It focuses on defining what data is important, using business language, and is independent of technology or detailed data structure.</a:t>
                      </a:r>
                    </a:p>
                  </a:txBody>
                  <a:tcPr/>
                </a:tc>
                <a:extLst>
                  <a:ext uri="{0D108BD9-81ED-4DB2-BD59-A6C34878D82A}">
                    <a16:rowId xmlns:a16="http://schemas.microsoft.com/office/drawing/2014/main" val="1305053344"/>
                  </a:ext>
                </a:extLst>
              </a:tr>
              <a:tr h="370840">
                <a:tc>
                  <a:txBody>
                    <a:bodyPr/>
                    <a:lstStyle/>
                    <a:p>
                      <a:r>
                        <a:rPr lang="en-US" sz="1400" dirty="0"/>
                        <a:t>Stakeholders</a:t>
                      </a:r>
                    </a:p>
                  </a:txBody>
                  <a:tcPr/>
                </a:tc>
                <a:tc>
                  <a:txBody>
                    <a:bodyPr/>
                    <a:lstStyle/>
                    <a:p>
                      <a:r>
                        <a:rPr lang="en-US" sz="1400" dirty="0"/>
                        <a:t>Business Analyst, Data Architect, Solution Architect, Business Owner, Project Manager, Data Steward</a:t>
                      </a:r>
                    </a:p>
                  </a:txBody>
                  <a:tcPr/>
                </a:tc>
                <a:extLst>
                  <a:ext uri="{0D108BD9-81ED-4DB2-BD59-A6C34878D82A}">
                    <a16:rowId xmlns:a16="http://schemas.microsoft.com/office/drawing/2014/main" val="4270249404"/>
                  </a:ext>
                </a:extLst>
              </a:tr>
              <a:tr h="370840">
                <a:tc>
                  <a:txBody>
                    <a:bodyPr/>
                    <a:lstStyle/>
                    <a:p>
                      <a:r>
                        <a:rPr lang="en-US" sz="1400" dirty="0"/>
                        <a:t>Concerns</a:t>
                      </a:r>
                    </a:p>
                  </a:txBody>
                  <a:tcPr/>
                </a:tc>
                <a:tc>
                  <a:txBody>
                    <a:bodyPr/>
                    <a:lstStyle/>
                    <a:p>
                      <a:r>
                        <a:rPr lang="en-US" sz="1400" dirty="0"/>
                        <a:t>Business terminology alignment, scope definition, stakeholder consensus, data requirements gathering, integration points, conceptual clarity</a:t>
                      </a:r>
                    </a:p>
                  </a:txBody>
                  <a:tcPr/>
                </a:tc>
                <a:extLst>
                  <a:ext uri="{0D108BD9-81ED-4DB2-BD59-A6C34878D82A}">
                    <a16:rowId xmlns:a16="http://schemas.microsoft.com/office/drawing/2014/main" val="4232995999"/>
                  </a:ext>
                </a:extLst>
              </a:tr>
              <a:tr h="370840">
                <a:tc>
                  <a:txBody>
                    <a:bodyPr/>
                    <a:lstStyle/>
                    <a:p>
                      <a:r>
                        <a:rPr lang="en-US" sz="1400" dirty="0"/>
                        <a:t>Elements</a:t>
                      </a:r>
                    </a:p>
                  </a:txBody>
                  <a:tcPr/>
                </a:tc>
                <a:tc>
                  <a:txBody>
                    <a:bodyPr/>
                    <a:lstStyle/>
                    <a:p>
                      <a:r>
                        <a:rPr lang="en-US" sz="1400" dirty="0"/>
                        <a:t>Entity (business concepts), Relationship (associations between entities); typically, no attributes or only key attributes are shown</a:t>
                      </a:r>
                    </a:p>
                  </a:txBody>
                  <a:tcPr/>
                </a:tc>
                <a:extLst>
                  <a:ext uri="{0D108BD9-81ED-4DB2-BD59-A6C34878D82A}">
                    <a16:rowId xmlns:a16="http://schemas.microsoft.com/office/drawing/2014/main" val="2927961338"/>
                  </a:ext>
                </a:extLst>
              </a:tr>
              <a:tr h="370840">
                <a:tc>
                  <a:txBody>
                    <a:bodyPr/>
                    <a:lstStyle/>
                    <a:p>
                      <a:r>
                        <a:rPr lang="en-US" sz="1400" dirty="0"/>
                        <a:t>Type</a:t>
                      </a:r>
                    </a:p>
                  </a:txBody>
                  <a:tcPr/>
                </a:tc>
                <a:tc>
                  <a:txBody>
                    <a:bodyPr/>
                    <a:lstStyle/>
                    <a:p>
                      <a:r>
                        <a:rPr lang="en-US" sz="1400" dirty="0"/>
                        <a:t>Matrices</a:t>
                      </a:r>
                    </a:p>
                  </a:txBody>
                  <a:tcPr/>
                </a:tc>
                <a:extLst>
                  <a:ext uri="{0D108BD9-81ED-4DB2-BD59-A6C34878D82A}">
                    <a16:rowId xmlns:a16="http://schemas.microsoft.com/office/drawing/2014/main" val="1478371435"/>
                  </a:ext>
                </a:extLst>
              </a:tr>
              <a:tr h="370840">
                <a:tc>
                  <a:txBody>
                    <a:bodyPr/>
                    <a:lstStyle/>
                    <a:p>
                      <a:r>
                        <a:rPr lang="en-US" sz="1400" dirty="0"/>
                        <a:t>Modeling Technique</a:t>
                      </a:r>
                    </a:p>
                  </a:txBody>
                  <a:tcPr/>
                </a:tc>
                <a:tc>
                  <a:txBody>
                    <a:bodyPr/>
                    <a:lstStyle/>
                    <a:p>
                      <a:r>
                        <a:rPr lang="en-US" sz="1400" dirty="0"/>
                        <a:t>High-level Entity-Relationship Diagram (ERD) notation, simple rectangles for entities, labeled lines for relationships, business-oriented names, minimal or no attributes, no technical or implementation details</a:t>
                      </a:r>
                    </a:p>
                  </a:txBody>
                  <a:tcPr/>
                </a:tc>
                <a:extLst>
                  <a:ext uri="{0D108BD9-81ED-4DB2-BD59-A6C34878D82A}">
                    <a16:rowId xmlns:a16="http://schemas.microsoft.com/office/drawing/2014/main" val="163306598"/>
                  </a:ext>
                </a:extLst>
              </a:tr>
            </a:tbl>
          </a:graphicData>
        </a:graphic>
      </p:graphicFrame>
    </p:spTree>
    <p:extLst>
      <p:ext uri="{BB962C8B-B14F-4D97-AF65-F5344CB8AC3E}">
        <p14:creationId xmlns:p14="http://schemas.microsoft.com/office/powerpoint/2010/main" val="8393138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80234-9245-107C-6BFF-F1FC06CAC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784A0B-AF95-3486-0618-BB219CBEEE32}"/>
              </a:ext>
            </a:extLst>
          </p:cNvPr>
          <p:cNvSpPr>
            <a:spLocks noGrp="1"/>
          </p:cNvSpPr>
          <p:nvPr>
            <p:ph type="title"/>
          </p:nvPr>
        </p:nvSpPr>
        <p:spPr/>
        <p:txBody>
          <a:bodyPr/>
          <a:lstStyle/>
          <a:p>
            <a:r>
              <a:rPr lang="en-US" dirty="0"/>
              <a:t>Logical Data model Diagram</a:t>
            </a:r>
          </a:p>
        </p:txBody>
      </p:sp>
      <p:graphicFrame>
        <p:nvGraphicFramePr>
          <p:cNvPr id="4" name="Content Placeholder 3">
            <a:extLst>
              <a:ext uri="{FF2B5EF4-FFF2-40B4-BE49-F238E27FC236}">
                <a16:creationId xmlns:a16="http://schemas.microsoft.com/office/drawing/2014/main" id="{A0825CF4-DA09-981C-3507-2960876DD3D7}"/>
              </a:ext>
            </a:extLst>
          </p:cNvPr>
          <p:cNvGraphicFramePr>
            <a:graphicFrameLocks noGrp="1"/>
          </p:cNvGraphicFramePr>
          <p:nvPr>
            <p:ph idx="1"/>
            <p:extLst>
              <p:ext uri="{D42A27DB-BD31-4B8C-83A1-F6EECF244321}">
                <p14:modId xmlns:p14="http://schemas.microsoft.com/office/powerpoint/2010/main" val="2805380961"/>
              </p:ext>
            </p:extLst>
          </p:nvPr>
        </p:nvGraphicFramePr>
        <p:xfrm>
          <a:off x="1069975" y="2120900"/>
          <a:ext cx="10058400" cy="3972560"/>
        </p:xfrm>
        <a:graphic>
          <a:graphicData uri="http://schemas.openxmlformats.org/drawingml/2006/table">
            <a:tbl>
              <a:tblPr firstRow="1" bandRow="1">
                <a:tableStyleId>{5C22544A-7EE6-4342-B048-85BDC9FD1C3A}</a:tableStyleId>
              </a:tblPr>
              <a:tblGrid>
                <a:gridCol w="2198158">
                  <a:extLst>
                    <a:ext uri="{9D8B030D-6E8A-4147-A177-3AD203B41FA5}">
                      <a16:colId xmlns:a16="http://schemas.microsoft.com/office/drawing/2014/main" val="2004020530"/>
                    </a:ext>
                  </a:extLst>
                </a:gridCol>
                <a:gridCol w="7860242">
                  <a:extLst>
                    <a:ext uri="{9D8B030D-6E8A-4147-A177-3AD203B41FA5}">
                      <a16:colId xmlns:a16="http://schemas.microsoft.com/office/drawing/2014/main" val="625058839"/>
                    </a:ext>
                  </a:extLst>
                </a:gridCol>
              </a:tblGrid>
              <a:tr h="370840">
                <a:tc>
                  <a:txBody>
                    <a:bodyPr/>
                    <a:lstStyle/>
                    <a:p>
                      <a:r>
                        <a:rPr lang="en-US" sz="1400" dirty="0"/>
                        <a:t>Component</a:t>
                      </a:r>
                    </a:p>
                  </a:txBody>
                  <a:tcPr/>
                </a:tc>
                <a:tc>
                  <a:txBody>
                    <a:bodyPr/>
                    <a:lstStyle/>
                    <a:p>
                      <a:endParaRPr lang="en-US" sz="1400" dirty="0"/>
                    </a:p>
                  </a:txBody>
                  <a:tcPr/>
                </a:tc>
                <a:extLst>
                  <a:ext uri="{0D108BD9-81ED-4DB2-BD59-A6C34878D82A}">
                    <a16:rowId xmlns:a16="http://schemas.microsoft.com/office/drawing/2014/main" val="3956094974"/>
                  </a:ext>
                </a:extLst>
              </a:tr>
              <a:tr h="370840">
                <a:tc>
                  <a:txBody>
                    <a:bodyPr/>
                    <a:lstStyle/>
                    <a:p>
                      <a:r>
                        <a:rPr lang="en-US" sz="1400" dirty="0"/>
                        <a:t>Description</a:t>
                      </a:r>
                    </a:p>
                  </a:txBody>
                  <a:tcPr/>
                </a:tc>
                <a:tc>
                  <a:txBody>
                    <a:bodyPr/>
                    <a:lstStyle/>
                    <a:p>
                      <a:r>
                        <a:rPr lang="en-US" sz="1400" dirty="0"/>
                        <a:t>A Logical Data Model Diagram provides a detailed representation of the data requirements and structure for a business domain, independent of any specific technology or physical implementation. It elaborates entities, attributes, and relationships, often including data types and cardinality, but not physical storage details.</a:t>
                      </a:r>
                    </a:p>
                  </a:txBody>
                  <a:tcPr/>
                </a:tc>
                <a:extLst>
                  <a:ext uri="{0D108BD9-81ED-4DB2-BD59-A6C34878D82A}">
                    <a16:rowId xmlns:a16="http://schemas.microsoft.com/office/drawing/2014/main" val="1305053344"/>
                  </a:ext>
                </a:extLst>
              </a:tr>
              <a:tr h="370840">
                <a:tc>
                  <a:txBody>
                    <a:bodyPr/>
                    <a:lstStyle/>
                    <a:p>
                      <a:r>
                        <a:rPr lang="en-US" sz="1400" dirty="0"/>
                        <a:t>Stakeholders</a:t>
                      </a:r>
                    </a:p>
                  </a:txBody>
                  <a:tcPr/>
                </a:tc>
                <a:tc>
                  <a:txBody>
                    <a:bodyPr/>
                    <a:lstStyle/>
                    <a:p>
                      <a:r>
                        <a:rPr lang="en-US" sz="1400" dirty="0"/>
                        <a:t>Data Architect, Business Analyst, Data Modeler, Solution Architect, Data Steward, Application Developer</a:t>
                      </a:r>
                    </a:p>
                  </a:txBody>
                  <a:tcPr/>
                </a:tc>
                <a:extLst>
                  <a:ext uri="{0D108BD9-81ED-4DB2-BD59-A6C34878D82A}">
                    <a16:rowId xmlns:a16="http://schemas.microsoft.com/office/drawing/2014/main" val="4270249404"/>
                  </a:ext>
                </a:extLst>
              </a:tr>
              <a:tr h="370840">
                <a:tc>
                  <a:txBody>
                    <a:bodyPr/>
                    <a:lstStyle/>
                    <a:p>
                      <a:r>
                        <a:rPr lang="en-US" sz="1400" dirty="0"/>
                        <a:t>Concerns</a:t>
                      </a:r>
                    </a:p>
                  </a:txBody>
                  <a:tcPr/>
                </a:tc>
                <a:tc>
                  <a:txBody>
                    <a:bodyPr/>
                    <a:lstStyle/>
                    <a:p>
                      <a:r>
                        <a:rPr lang="en-US" sz="1400" dirty="0"/>
                        <a:t>Data structure accuracy, normalization, business rule enforcement, integration consistency, data quality, requirements traceability, support for future physical design</a:t>
                      </a:r>
                    </a:p>
                  </a:txBody>
                  <a:tcPr/>
                </a:tc>
                <a:extLst>
                  <a:ext uri="{0D108BD9-81ED-4DB2-BD59-A6C34878D82A}">
                    <a16:rowId xmlns:a16="http://schemas.microsoft.com/office/drawing/2014/main" val="4232995999"/>
                  </a:ext>
                </a:extLst>
              </a:tr>
              <a:tr h="370840">
                <a:tc>
                  <a:txBody>
                    <a:bodyPr/>
                    <a:lstStyle/>
                    <a:p>
                      <a:r>
                        <a:rPr lang="en-US" sz="1400" dirty="0"/>
                        <a:t>Elements</a:t>
                      </a:r>
                    </a:p>
                  </a:txBody>
                  <a:tcPr/>
                </a:tc>
                <a:tc>
                  <a:txBody>
                    <a:bodyPr/>
                    <a:lstStyle/>
                    <a:p>
                      <a:r>
                        <a:rPr lang="en-US" sz="1400" dirty="0"/>
                        <a:t>Entity, Attribute (with data types and constraints), Relationship (with cardinality and optionality), Primary and Foreign Keys (logical), Unique Constraints</a:t>
                      </a:r>
                    </a:p>
                  </a:txBody>
                  <a:tcPr/>
                </a:tc>
                <a:extLst>
                  <a:ext uri="{0D108BD9-81ED-4DB2-BD59-A6C34878D82A}">
                    <a16:rowId xmlns:a16="http://schemas.microsoft.com/office/drawing/2014/main" val="2927961338"/>
                  </a:ext>
                </a:extLst>
              </a:tr>
              <a:tr h="370840">
                <a:tc>
                  <a:txBody>
                    <a:bodyPr/>
                    <a:lstStyle/>
                    <a:p>
                      <a:r>
                        <a:rPr lang="en-US" sz="1400" dirty="0"/>
                        <a:t>Type</a:t>
                      </a:r>
                    </a:p>
                  </a:txBody>
                  <a:tcPr/>
                </a:tc>
                <a:tc>
                  <a:txBody>
                    <a:bodyPr/>
                    <a:lstStyle/>
                    <a:p>
                      <a:r>
                        <a:rPr lang="en-US" sz="1400" dirty="0"/>
                        <a:t>Matrices</a:t>
                      </a:r>
                    </a:p>
                  </a:txBody>
                  <a:tcPr/>
                </a:tc>
                <a:extLst>
                  <a:ext uri="{0D108BD9-81ED-4DB2-BD59-A6C34878D82A}">
                    <a16:rowId xmlns:a16="http://schemas.microsoft.com/office/drawing/2014/main" val="1478371435"/>
                  </a:ext>
                </a:extLst>
              </a:tr>
              <a:tr h="370840">
                <a:tc>
                  <a:txBody>
                    <a:bodyPr/>
                    <a:lstStyle/>
                    <a:p>
                      <a:r>
                        <a:rPr lang="en-US" sz="1400" dirty="0"/>
                        <a:t>Modeling Technique</a:t>
                      </a:r>
                    </a:p>
                  </a:txBody>
                  <a:tcPr/>
                </a:tc>
                <a:tc>
                  <a:txBody>
                    <a:bodyPr/>
                    <a:lstStyle/>
                    <a:p>
                      <a:r>
                        <a:rPr lang="en-US" sz="1400" dirty="0"/>
                        <a:t>Entity-Relationship Diagram (ERD) notation, Crow’s Foot or UML Class Diagram notation; entities as rectangles, attributes within or linked to entities, relationships as lines with cardinality symbols, explicit naming conventions.</a:t>
                      </a:r>
                    </a:p>
                  </a:txBody>
                  <a:tcPr/>
                </a:tc>
                <a:extLst>
                  <a:ext uri="{0D108BD9-81ED-4DB2-BD59-A6C34878D82A}">
                    <a16:rowId xmlns:a16="http://schemas.microsoft.com/office/drawing/2014/main" val="163306598"/>
                  </a:ext>
                </a:extLst>
              </a:tr>
            </a:tbl>
          </a:graphicData>
        </a:graphic>
      </p:graphicFrame>
    </p:spTree>
    <p:extLst>
      <p:ext uri="{BB962C8B-B14F-4D97-AF65-F5344CB8AC3E}">
        <p14:creationId xmlns:p14="http://schemas.microsoft.com/office/powerpoint/2010/main" val="42102333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14A9F-BA1E-12E9-4486-419B7F9094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B715A0-AA45-2073-1577-08A8525EC81E}"/>
              </a:ext>
            </a:extLst>
          </p:cNvPr>
          <p:cNvSpPr>
            <a:spLocks noGrp="1"/>
          </p:cNvSpPr>
          <p:nvPr>
            <p:ph type="title"/>
          </p:nvPr>
        </p:nvSpPr>
        <p:spPr/>
        <p:txBody>
          <a:bodyPr/>
          <a:lstStyle/>
          <a:p>
            <a:r>
              <a:rPr lang="en-US" dirty="0"/>
              <a:t>Physical Data model Diagram</a:t>
            </a:r>
          </a:p>
        </p:txBody>
      </p:sp>
      <p:graphicFrame>
        <p:nvGraphicFramePr>
          <p:cNvPr id="4" name="Content Placeholder 3">
            <a:extLst>
              <a:ext uri="{FF2B5EF4-FFF2-40B4-BE49-F238E27FC236}">
                <a16:creationId xmlns:a16="http://schemas.microsoft.com/office/drawing/2014/main" id="{CA12B725-CD59-2442-467E-E7214125438D}"/>
              </a:ext>
            </a:extLst>
          </p:cNvPr>
          <p:cNvGraphicFramePr>
            <a:graphicFrameLocks noGrp="1"/>
          </p:cNvGraphicFramePr>
          <p:nvPr>
            <p:ph idx="1"/>
            <p:extLst>
              <p:ext uri="{D42A27DB-BD31-4B8C-83A1-F6EECF244321}">
                <p14:modId xmlns:p14="http://schemas.microsoft.com/office/powerpoint/2010/main" val="3839313138"/>
              </p:ext>
            </p:extLst>
          </p:nvPr>
        </p:nvGraphicFramePr>
        <p:xfrm>
          <a:off x="1069975" y="2120900"/>
          <a:ext cx="10058400" cy="4185920"/>
        </p:xfrm>
        <a:graphic>
          <a:graphicData uri="http://schemas.openxmlformats.org/drawingml/2006/table">
            <a:tbl>
              <a:tblPr firstRow="1" bandRow="1">
                <a:tableStyleId>{5C22544A-7EE6-4342-B048-85BDC9FD1C3A}</a:tableStyleId>
              </a:tblPr>
              <a:tblGrid>
                <a:gridCol w="2198158">
                  <a:extLst>
                    <a:ext uri="{9D8B030D-6E8A-4147-A177-3AD203B41FA5}">
                      <a16:colId xmlns:a16="http://schemas.microsoft.com/office/drawing/2014/main" val="2004020530"/>
                    </a:ext>
                  </a:extLst>
                </a:gridCol>
                <a:gridCol w="7860242">
                  <a:extLst>
                    <a:ext uri="{9D8B030D-6E8A-4147-A177-3AD203B41FA5}">
                      <a16:colId xmlns:a16="http://schemas.microsoft.com/office/drawing/2014/main" val="625058839"/>
                    </a:ext>
                  </a:extLst>
                </a:gridCol>
              </a:tblGrid>
              <a:tr h="370840">
                <a:tc>
                  <a:txBody>
                    <a:bodyPr/>
                    <a:lstStyle/>
                    <a:p>
                      <a:r>
                        <a:rPr lang="en-US" sz="1400" dirty="0"/>
                        <a:t>Component</a:t>
                      </a:r>
                    </a:p>
                  </a:txBody>
                  <a:tcPr/>
                </a:tc>
                <a:tc>
                  <a:txBody>
                    <a:bodyPr/>
                    <a:lstStyle/>
                    <a:p>
                      <a:endParaRPr lang="en-US" sz="1400" dirty="0"/>
                    </a:p>
                  </a:txBody>
                  <a:tcPr/>
                </a:tc>
                <a:extLst>
                  <a:ext uri="{0D108BD9-81ED-4DB2-BD59-A6C34878D82A}">
                    <a16:rowId xmlns:a16="http://schemas.microsoft.com/office/drawing/2014/main" val="3956094974"/>
                  </a:ext>
                </a:extLst>
              </a:tr>
              <a:tr h="370840">
                <a:tc>
                  <a:txBody>
                    <a:bodyPr/>
                    <a:lstStyle/>
                    <a:p>
                      <a:r>
                        <a:rPr lang="en-US" sz="1400" dirty="0"/>
                        <a:t>Description</a:t>
                      </a:r>
                    </a:p>
                  </a:txBody>
                  <a:tcPr/>
                </a:tc>
                <a:tc>
                  <a:txBody>
                    <a:bodyPr/>
                    <a:lstStyle/>
                    <a:p>
                      <a:r>
                        <a:rPr lang="en-US" sz="1400" dirty="0"/>
                        <a:t>A Physical Data Model Diagram represents the actual implementation of a database, including tables, columns with data types, indexes, constraints, and relationships as they will exist in a specific database management system (DBMS). It provides the blueprint for database creation and optimization, including storage and access methods.</a:t>
                      </a:r>
                    </a:p>
                  </a:txBody>
                  <a:tcPr/>
                </a:tc>
                <a:extLst>
                  <a:ext uri="{0D108BD9-81ED-4DB2-BD59-A6C34878D82A}">
                    <a16:rowId xmlns:a16="http://schemas.microsoft.com/office/drawing/2014/main" val="1305053344"/>
                  </a:ext>
                </a:extLst>
              </a:tr>
              <a:tr h="370840">
                <a:tc>
                  <a:txBody>
                    <a:bodyPr/>
                    <a:lstStyle/>
                    <a:p>
                      <a:r>
                        <a:rPr lang="en-US" sz="1400" dirty="0"/>
                        <a:t>Stakeholders</a:t>
                      </a:r>
                    </a:p>
                  </a:txBody>
                  <a:tcPr/>
                </a:tc>
                <a:tc>
                  <a:txBody>
                    <a:bodyPr/>
                    <a:lstStyle/>
                    <a:p>
                      <a:r>
                        <a:rPr lang="en-US" sz="1400" dirty="0"/>
                        <a:t>Database Administrator (DBA), Data Architect, Application Developer, Data Modeler, System Integrator, Solution Architect</a:t>
                      </a:r>
                    </a:p>
                  </a:txBody>
                  <a:tcPr/>
                </a:tc>
                <a:extLst>
                  <a:ext uri="{0D108BD9-81ED-4DB2-BD59-A6C34878D82A}">
                    <a16:rowId xmlns:a16="http://schemas.microsoft.com/office/drawing/2014/main" val="4270249404"/>
                  </a:ext>
                </a:extLst>
              </a:tr>
              <a:tr h="370840">
                <a:tc>
                  <a:txBody>
                    <a:bodyPr/>
                    <a:lstStyle/>
                    <a:p>
                      <a:r>
                        <a:rPr lang="en-US" sz="1400" dirty="0"/>
                        <a:t>Concerns</a:t>
                      </a:r>
                    </a:p>
                  </a:txBody>
                  <a:tcPr/>
                </a:tc>
                <a:tc>
                  <a:txBody>
                    <a:bodyPr/>
                    <a:lstStyle/>
                    <a:p>
                      <a:r>
                        <a:rPr lang="en-US" sz="1400" dirty="0"/>
                        <a:t>Database performance, storage optimization, indexing, referential integrity, compliance with DBMS standards, physical constraints, security, scalability, backup and recovery</a:t>
                      </a:r>
                    </a:p>
                  </a:txBody>
                  <a:tcPr/>
                </a:tc>
                <a:extLst>
                  <a:ext uri="{0D108BD9-81ED-4DB2-BD59-A6C34878D82A}">
                    <a16:rowId xmlns:a16="http://schemas.microsoft.com/office/drawing/2014/main" val="4232995999"/>
                  </a:ext>
                </a:extLst>
              </a:tr>
              <a:tr h="370840">
                <a:tc>
                  <a:txBody>
                    <a:bodyPr/>
                    <a:lstStyle/>
                    <a:p>
                      <a:r>
                        <a:rPr lang="en-US" sz="1400" dirty="0"/>
                        <a:t>Elements</a:t>
                      </a:r>
                    </a:p>
                  </a:txBody>
                  <a:tcPr/>
                </a:tc>
                <a:tc>
                  <a:txBody>
                    <a:bodyPr/>
                    <a:lstStyle/>
                    <a:p>
                      <a:r>
                        <a:rPr lang="en-US" sz="1400" dirty="0"/>
                        <a:t>Table, Column (with physical data types and lengths), Primary Key, Foreign Key, Index, Constraint (e.g., unique, check), View, Partition, Tablespace</a:t>
                      </a:r>
                    </a:p>
                  </a:txBody>
                  <a:tcPr/>
                </a:tc>
                <a:extLst>
                  <a:ext uri="{0D108BD9-81ED-4DB2-BD59-A6C34878D82A}">
                    <a16:rowId xmlns:a16="http://schemas.microsoft.com/office/drawing/2014/main" val="2927961338"/>
                  </a:ext>
                </a:extLst>
              </a:tr>
              <a:tr h="370840">
                <a:tc>
                  <a:txBody>
                    <a:bodyPr/>
                    <a:lstStyle/>
                    <a:p>
                      <a:r>
                        <a:rPr lang="en-US" sz="1400" dirty="0"/>
                        <a:t>Type</a:t>
                      </a:r>
                    </a:p>
                  </a:txBody>
                  <a:tcPr/>
                </a:tc>
                <a:tc>
                  <a:txBody>
                    <a:bodyPr/>
                    <a:lstStyle/>
                    <a:p>
                      <a:r>
                        <a:rPr lang="en-US" sz="1400" dirty="0"/>
                        <a:t>Matrices</a:t>
                      </a:r>
                    </a:p>
                  </a:txBody>
                  <a:tcPr/>
                </a:tc>
                <a:extLst>
                  <a:ext uri="{0D108BD9-81ED-4DB2-BD59-A6C34878D82A}">
                    <a16:rowId xmlns:a16="http://schemas.microsoft.com/office/drawing/2014/main" val="1478371435"/>
                  </a:ext>
                </a:extLst>
              </a:tr>
              <a:tr h="370840">
                <a:tc>
                  <a:txBody>
                    <a:bodyPr/>
                    <a:lstStyle/>
                    <a:p>
                      <a:r>
                        <a:rPr lang="en-US" sz="1400" dirty="0"/>
                        <a:t>Modeling Technique</a:t>
                      </a:r>
                    </a:p>
                  </a:txBody>
                  <a:tcPr/>
                </a:tc>
                <a:tc>
                  <a:txBody>
                    <a:bodyPr/>
                    <a:lstStyle/>
                    <a:p>
                      <a:r>
                        <a:rPr lang="en-US" sz="1400" dirty="0"/>
                        <a:t>Enhanced Entity-Relationship Diagram (ERD) notation or DBMS-specific modeling tools; tables as rectangles, columns listed within tables, relationships as lines with crow’s foot or other notation, explicit PK/FK indications, physical storage attributes, and DBMS-specific conventions.</a:t>
                      </a:r>
                    </a:p>
                  </a:txBody>
                  <a:tcPr/>
                </a:tc>
                <a:extLst>
                  <a:ext uri="{0D108BD9-81ED-4DB2-BD59-A6C34878D82A}">
                    <a16:rowId xmlns:a16="http://schemas.microsoft.com/office/drawing/2014/main" val="163306598"/>
                  </a:ext>
                </a:extLst>
              </a:tr>
            </a:tbl>
          </a:graphicData>
        </a:graphic>
      </p:graphicFrame>
    </p:spTree>
    <p:extLst>
      <p:ext uri="{BB962C8B-B14F-4D97-AF65-F5344CB8AC3E}">
        <p14:creationId xmlns:p14="http://schemas.microsoft.com/office/powerpoint/2010/main" val="1988504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18800-E562-0BA5-5E02-A52950CCDC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F202CE-FE2D-C7FB-0166-A5A6FE409136}"/>
              </a:ext>
            </a:extLst>
          </p:cNvPr>
          <p:cNvSpPr>
            <a:spLocks noGrp="1"/>
          </p:cNvSpPr>
          <p:nvPr>
            <p:ph type="title"/>
          </p:nvPr>
        </p:nvSpPr>
        <p:spPr/>
        <p:txBody>
          <a:bodyPr/>
          <a:lstStyle/>
          <a:p>
            <a:r>
              <a:rPr lang="en-US" dirty="0"/>
              <a:t>Data Lineage Diagram</a:t>
            </a:r>
          </a:p>
        </p:txBody>
      </p:sp>
      <p:graphicFrame>
        <p:nvGraphicFramePr>
          <p:cNvPr id="4" name="Content Placeholder 3">
            <a:extLst>
              <a:ext uri="{FF2B5EF4-FFF2-40B4-BE49-F238E27FC236}">
                <a16:creationId xmlns:a16="http://schemas.microsoft.com/office/drawing/2014/main" id="{34249ED7-0E45-A46B-C420-07286DC4BFCC}"/>
              </a:ext>
            </a:extLst>
          </p:cNvPr>
          <p:cNvGraphicFramePr>
            <a:graphicFrameLocks noGrp="1"/>
          </p:cNvGraphicFramePr>
          <p:nvPr>
            <p:ph idx="1"/>
            <p:extLst>
              <p:ext uri="{D42A27DB-BD31-4B8C-83A1-F6EECF244321}">
                <p14:modId xmlns:p14="http://schemas.microsoft.com/office/powerpoint/2010/main" val="3090019410"/>
              </p:ext>
            </p:extLst>
          </p:nvPr>
        </p:nvGraphicFramePr>
        <p:xfrm>
          <a:off x="1069975" y="2120900"/>
          <a:ext cx="10058400" cy="4318000"/>
        </p:xfrm>
        <a:graphic>
          <a:graphicData uri="http://schemas.openxmlformats.org/drawingml/2006/table">
            <a:tbl>
              <a:tblPr firstRow="1" bandRow="1">
                <a:tableStyleId>{5C22544A-7EE6-4342-B048-85BDC9FD1C3A}</a:tableStyleId>
              </a:tblPr>
              <a:tblGrid>
                <a:gridCol w="2198158">
                  <a:extLst>
                    <a:ext uri="{9D8B030D-6E8A-4147-A177-3AD203B41FA5}">
                      <a16:colId xmlns:a16="http://schemas.microsoft.com/office/drawing/2014/main" val="2004020530"/>
                    </a:ext>
                  </a:extLst>
                </a:gridCol>
                <a:gridCol w="7860242">
                  <a:extLst>
                    <a:ext uri="{9D8B030D-6E8A-4147-A177-3AD203B41FA5}">
                      <a16:colId xmlns:a16="http://schemas.microsoft.com/office/drawing/2014/main" val="625058839"/>
                    </a:ext>
                  </a:extLst>
                </a:gridCol>
              </a:tblGrid>
              <a:tr h="370840">
                <a:tc>
                  <a:txBody>
                    <a:bodyPr/>
                    <a:lstStyle/>
                    <a:p>
                      <a:r>
                        <a:rPr lang="en-US" dirty="0"/>
                        <a:t>Component</a:t>
                      </a:r>
                    </a:p>
                  </a:txBody>
                  <a:tcPr/>
                </a:tc>
                <a:tc>
                  <a:txBody>
                    <a:bodyPr/>
                    <a:lstStyle/>
                    <a:p>
                      <a:endParaRPr lang="en-US" dirty="0"/>
                    </a:p>
                  </a:txBody>
                  <a:tcPr/>
                </a:tc>
                <a:extLst>
                  <a:ext uri="{0D108BD9-81ED-4DB2-BD59-A6C34878D82A}">
                    <a16:rowId xmlns:a16="http://schemas.microsoft.com/office/drawing/2014/main" val="3956094974"/>
                  </a:ext>
                </a:extLst>
              </a:tr>
              <a:tr h="370840">
                <a:tc>
                  <a:txBody>
                    <a:bodyPr/>
                    <a:lstStyle/>
                    <a:p>
                      <a:r>
                        <a:rPr lang="en-US" sz="1200" dirty="0">
                          <a:latin typeface="Rockwell"/>
                        </a:rPr>
                        <a:t>Description</a:t>
                      </a:r>
                    </a:p>
                  </a:txBody>
                  <a:tcPr/>
                </a:tc>
                <a:tc>
                  <a:txBody>
                    <a:bodyPr/>
                    <a:lstStyle/>
                    <a:p>
                      <a:pPr lvl="0">
                        <a:buNone/>
                      </a:pPr>
                      <a:r>
                        <a:rPr lang="en-US" sz="1200" b="0" i="0" u="none" strike="noStrike" noProof="0" dirty="0">
                          <a:latin typeface="Rockwell"/>
                        </a:rPr>
                        <a:t>A Data Lineage Diagram visually maps the flow and transformation of data from its origin to its final destination, illustrating the data’s journey through various systems, processes, and transformations. It is essential for understanding data dependencies, ensuring data quality, and supporting compliance and governance efforts.</a:t>
                      </a:r>
                    </a:p>
                  </a:txBody>
                  <a:tcPr/>
                </a:tc>
                <a:extLst>
                  <a:ext uri="{0D108BD9-81ED-4DB2-BD59-A6C34878D82A}">
                    <a16:rowId xmlns:a16="http://schemas.microsoft.com/office/drawing/2014/main" val="1305053344"/>
                  </a:ext>
                </a:extLst>
              </a:tr>
              <a:tr h="370840">
                <a:tc>
                  <a:txBody>
                    <a:bodyPr/>
                    <a:lstStyle/>
                    <a:p>
                      <a:r>
                        <a:rPr lang="en-US" sz="1200" dirty="0">
                          <a:latin typeface="Rockwell"/>
                        </a:rPr>
                        <a:t>Stakeholders</a:t>
                      </a:r>
                    </a:p>
                  </a:txBody>
                  <a:tcPr/>
                </a:tc>
                <a:tc>
                  <a:txBody>
                    <a:bodyPr/>
                    <a:lstStyle/>
                    <a:p>
                      <a:pPr lvl="0">
                        <a:buNone/>
                      </a:pPr>
                      <a:r>
                        <a:rPr lang="en-US" sz="1200" b="0" i="0" u="none" strike="noStrike" noProof="0" dirty="0">
                          <a:latin typeface="Rockwell"/>
                        </a:rPr>
                        <a:t>Data Architect, Data Steward, Business Analyst, ETL Developer, Compliance Officer, Database Administrator</a:t>
                      </a:r>
                      <a:endParaRPr lang="en-US" sz="1200" dirty="0">
                        <a:latin typeface="Rockwell"/>
                      </a:endParaRPr>
                    </a:p>
                  </a:txBody>
                  <a:tcPr/>
                </a:tc>
                <a:extLst>
                  <a:ext uri="{0D108BD9-81ED-4DB2-BD59-A6C34878D82A}">
                    <a16:rowId xmlns:a16="http://schemas.microsoft.com/office/drawing/2014/main" val="4270249404"/>
                  </a:ext>
                </a:extLst>
              </a:tr>
              <a:tr h="370840">
                <a:tc>
                  <a:txBody>
                    <a:bodyPr/>
                    <a:lstStyle/>
                    <a:p>
                      <a:r>
                        <a:rPr lang="en-US" sz="1200" dirty="0">
                          <a:latin typeface="Rockwell"/>
                        </a:rPr>
                        <a:t>Concerns</a:t>
                      </a:r>
                    </a:p>
                  </a:txBody>
                  <a:tcPr/>
                </a:tc>
                <a:tc>
                  <a:txBody>
                    <a:bodyPr/>
                    <a:lstStyle/>
                    <a:p>
                      <a:pPr lvl="0" algn="l">
                        <a:lnSpc>
                          <a:spcPct val="100000"/>
                        </a:lnSpc>
                        <a:spcBef>
                          <a:spcPts val="0"/>
                        </a:spcBef>
                        <a:spcAft>
                          <a:spcPts val="0"/>
                        </a:spcAft>
                        <a:buNone/>
                      </a:pPr>
                      <a:r>
                        <a:rPr lang="en-US" sz="1200" b="0" i="0" u="none" strike="noStrike" noProof="0" dirty="0">
                          <a:solidFill>
                            <a:srgbClr val="000000"/>
                          </a:solidFill>
                          <a:latin typeface="Rockwell"/>
                        </a:rPr>
                        <a:t>Data traceability, accuracy, transformation transparency, compliance, data quality, impact analysis, data governance</a:t>
                      </a:r>
                      <a:endParaRPr lang="en-US" sz="1200" dirty="0">
                        <a:latin typeface="Rockwell"/>
                      </a:endParaRPr>
                    </a:p>
                  </a:txBody>
                  <a:tcPr/>
                </a:tc>
                <a:extLst>
                  <a:ext uri="{0D108BD9-81ED-4DB2-BD59-A6C34878D82A}">
                    <a16:rowId xmlns:a16="http://schemas.microsoft.com/office/drawing/2014/main" val="4232995999"/>
                  </a:ext>
                </a:extLst>
              </a:tr>
              <a:tr h="370840">
                <a:tc>
                  <a:txBody>
                    <a:bodyPr/>
                    <a:lstStyle/>
                    <a:p>
                      <a:r>
                        <a:rPr lang="en-US" sz="1200" dirty="0">
                          <a:latin typeface="Rockwell"/>
                        </a:rPr>
                        <a:t>Elements</a:t>
                      </a:r>
                    </a:p>
                  </a:txBody>
                  <a:tcPr/>
                </a:tc>
                <a:tc>
                  <a:txBody>
                    <a:bodyPr/>
                    <a:lstStyle/>
                    <a:p>
                      <a:pPr lvl="0">
                        <a:buNone/>
                      </a:pPr>
                      <a:r>
                        <a:rPr lang="en-US" sz="1200" b="0" i="0" u="none" strike="noStrike" noProof="0" dirty="0">
                          <a:latin typeface="Rockwell"/>
                        </a:rPr>
                        <a:t>Data Sources, Data Targets, Transformation Processes, Data Stores, Data Flows, Metadata</a:t>
                      </a:r>
                      <a:endParaRPr lang="en-US" sz="1200" dirty="0">
                        <a:latin typeface="Rockwell"/>
                      </a:endParaRPr>
                    </a:p>
                  </a:txBody>
                  <a:tcPr/>
                </a:tc>
                <a:extLst>
                  <a:ext uri="{0D108BD9-81ED-4DB2-BD59-A6C34878D82A}">
                    <a16:rowId xmlns:a16="http://schemas.microsoft.com/office/drawing/2014/main" val="2927961338"/>
                  </a:ext>
                </a:extLst>
              </a:tr>
              <a:tr h="370840">
                <a:tc>
                  <a:txBody>
                    <a:bodyPr/>
                    <a:lstStyle/>
                    <a:p>
                      <a:r>
                        <a:rPr lang="en-US" sz="1200" dirty="0">
                          <a:latin typeface="Rockwell"/>
                        </a:rPr>
                        <a:t>Type</a:t>
                      </a:r>
                    </a:p>
                  </a:txBody>
                  <a:tcPr/>
                </a:tc>
                <a:tc>
                  <a:txBody>
                    <a:bodyPr/>
                    <a:lstStyle/>
                    <a:p>
                      <a:r>
                        <a:rPr lang="en-US" sz="1200" dirty="0">
                          <a:latin typeface="Rockwell"/>
                        </a:rPr>
                        <a:t>Matrices</a:t>
                      </a:r>
                    </a:p>
                  </a:txBody>
                  <a:tcPr/>
                </a:tc>
                <a:extLst>
                  <a:ext uri="{0D108BD9-81ED-4DB2-BD59-A6C34878D82A}">
                    <a16:rowId xmlns:a16="http://schemas.microsoft.com/office/drawing/2014/main" val="1478371435"/>
                  </a:ext>
                </a:extLst>
              </a:tr>
              <a:tr h="370840">
                <a:tc>
                  <a:txBody>
                    <a:bodyPr/>
                    <a:lstStyle/>
                    <a:p>
                      <a:r>
                        <a:rPr lang="en-US" sz="1200" dirty="0">
                          <a:latin typeface="Rockwell"/>
                        </a:rPr>
                        <a:t>Modeling Technique</a:t>
                      </a:r>
                    </a:p>
                  </a:txBody>
                  <a:tcPr/>
                </a:tc>
                <a:tc>
                  <a:txBody>
                    <a:bodyPr/>
                    <a:lstStyle/>
                    <a:p>
                      <a:pPr lvl="0" algn="l">
                        <a:lnSpc>
                          <a:spcPct val="100000"/>
                        </a:lnSpc>
                        <a:spcBef>
                          <a:spcPts val="0"/>
                        </a:spcBef>
                        <a:spcAft>
                          <a:spcPts val="0"/>
                        </a:spcAft>
                        <a:buNone/>
                      </a:pPr>
                      <a:r>
                        <a:rPr lang="en-US" sz="1200" b="0" i="0" u="none" strike="noStrike" noProof="0" dirty="0">
                          <a:latin typeface="Rockwell"/>
                        </a:rPr>
                        <a:t>Visual diagrams or flowcharts representing data movement and transformation, including: </a:t>
                      </a:r>
                      <a:endParaRPr lang="en-US" sz="1200" dirty="0">
                        <a:latin typeface="Rockwell"/>
                      </a:endParaRPr>
                    </a:p>
                    <a:p>
                      <a:pPr marL="171450" lvl="0" indent="-171450" algn="l">
                        <a:lnSpc>
                          <a:spcPct val="100000"/>
                        </a:lnSpc>
                        <a:spcBef>
                          <a:spcPts val="0"/>
                        </a:spcBef>
                        <a:spcAft>
                          <a:spcPts val="0"/>
                        </a:spcAft>
                        <a:buFont typeface="Arial"/>
                        <a:buChar char="•"/>
                      </a:pPr>
                      <a:r>
                        <a:rPr lang="en-US" sz="1200" b="0" i="0" u="none" strike="noStrike" noProof="0" dirty="0">
                          <a:latin typeface="Rockwell"/>
                        </a:rPr>
                        <a:t>Data Sources </a:t>
                      </a:r>
                      <a:endParaRPr lang="en-US" sz="1200" dirty="0">
                        <a:latin typeface="Rockwell"/>
                      </a:endParaRPr>
                    </a:p>
                    <a:p>
                      <a:pPr marL="171450" lvl="0" indent="-171450" algn="l">
                        <a:lnSpc>
                          <a:spcPct val="100000"/>
                        </a:lnSpc>
                        <a:spcBef>
                          <a:spcPts val="0"/>
                        </a:spcBef>
                        <a:spcAft>
                          <a:spcPts val="0"/>
                        </a:spcAft>
                        <a:buFont typeface="Arial"/>
                        <a:buChar char="•"/>
                      </a:pPr>
                      <a:r>
                        <a:rPr lang="en-US" sz="1200" b="0" i="0" u="none" strike="noStrike" noProof="0" dirty="0">
                          <a:latin typeface="Rockwell"/>
                        </a:rPr>
                        <a:t>Data Targets </a:t>
                      </a:r>
                      <a:endParaRPr lang="en-US" sz="1200" dirty="0">
                        <a:latin typeface="Rockwell"/>
                      </a:endParaRPr>
                    </a:p>
                    <a:p>
                      <a:pPr marL="171450" lvl="0" indent="-171450" algn="l">
                        <a:lnSpc>
                          <a:spcPct val="100000"/>
                        </a:lnSpc>
                        <a:spcBef>
                          <a:spcPts val="0"/>
                        </a:spcBef>
                        <a:spcAft>
                          <a:spcPts val="0"/>
                        </a:spcAft>
                        <a:buFont typeface="Arial"/>
                        <a:buChar char="•"/>
                      </a:pPr>
                      <a:r>
                        <a:rPr lang="en-US" sz="1200" b="0" i="0" u="none" strike="noStrike" noProof="0" dirty="0">
                          <a:latin typeface="Rockwell"/>
                        </a:rPr>
                        <a:t>Transformation Processes (logic and operations applied to data) </a:t>
                      </a:r>
                      <a:endParaRPr lang="en-US" sz="1200" dirty="0">
                        <a:latin typeface="Rockwell"/>
                      </a:endParaRPr>
                    </a:p>
                    <a:p>
                      <a:pPr marL="171450" lvl="0" indent="-171450" algn="l">
                        <a:lnSpc>
                          <a:spcPct val="100000"/>
                        </a:lnSpc>
                        <a:spcBef>
                          <a:spcPts val="0"/>
                        </a:spcBef>
                        <a:spcAft>
                          <a:spcPts val="0"/>
                        </a:spcAft>
                        <a:buFont typeface="Arial"/>
                        <a:buChar char="•"/>
                      </a:pPr>
                      <a:r>
                        <a:rPr lang="en-US" sz="1200" b="0" i="0" u="none" strike="noStrike" noProof="0">
                          <a:latin typeface="Rockwell"/>
                        </a:rPr>
                        <a:t>Data Stores  </a:t>
                      </a:r>
                      <a:endParaRPr lang="en-US" sz="1200">
                        <a:latin typeface="Rockwell"/>
                      </a:endParaRPr>
                    </a:p>
                    <a:p>
                      <a:pPr marL="171450" lvl="0" indent="-171450" algn="l">
                        <a:lnSpc>
                          <a:spcPct val="100000"/>
                        </a:lnSpc>
                        <a:spcBef>
                          <a:spcPts val="0"/>
                        </a:spcBef>
                        <a:spcAft>
                          <a:spcPts val="0"/>
                        </a:spcAft>
                        <a:buFont typeface="Arial"/>
                        <a:buChar char="•"/>
                      </a:pPr>
                      <a:r>
                        <a:rPr lang="en-US" sz="1200" b="0" i="0" u="none" strike="noStrike" noProof="0" dirty="0">
                          <a:latin typeface="Rockwell"/>
                        </a:rPr>
                        <a:t>Data Flows (arrows indicating movement of data) </a:t>
                      </a:r>
                      <a:endParaRPr lang="en-US" sz="1200" dirty="0">
                        <a:latin typeface="Rockwell"/>
                      </a:endParaRPr>
                    </a:p>
                    <a:p>
                      <a:pPr marL="171450" lvl="0" indent="-171450" algn="l">
                        <a:lnSpc>
                          <a:spcPct val="100000"/>
                        </a:lnSpc>
                        <a:spcBef>
                          <a:spcPts val="0"/>
                        </a:spcBef>
                        <a:spcAft>
                          <a:spcPts val="0"/>
                        </a:spcAft>
                        <a:buFont typeface="Arial"/>
                        <a:buChar char="•"/>
                      </a:pPr>
                      <a:r>
                        <a:rPr lang="en-US" sz="1200" b="0" i="0" u="none" strike="noStrike" noProof="0" dirty="0">
                          <a:latin typeface="Rockwell"/>
                        </a:rPr>
                        <a:t>Metadata (additional information about data, such as format, quality, and lineage details)</a:t>
                      </a:r>
                      <a:endParaRPr lang="en-US" sz="1200" dirty="0">
                        <a:latin typeface="Rockwell"/>
                      </a:endParaRPr>
                    </a:p>
                    <a:p>
                      <a:pPr lvl="0">
                        <a:buNone/>
                      </a:pPr>
                      <a:endParaRPr lang="en-US" sz="1200" dirty="0">
                        <a:latin typeface="Rockwell"/>
                      </a:endParaRPr>
                    </a:p>
                  </a:txBody>
                  <a:tcPr/>
                </a:tc>
                <a:extLst>
                  <a:ext uri="{0D108BD9-81ED-4DB2-BD59-A6C34878D82A}">
                    <a16:rowId xmlns:a16="http://schemas.microsoft.com/office/drawing/2014/main" val="163306598"/>
                  </a:ext>
                </a:extLst>
              </a:tr>
            </a:tbl>
          </a:graphicData>
        </a:graphic>
      </p:graphicFrame>
    </p:spTree>
    <p:extLst>
      <p:ext uri="{BB962C8B-B14F-4D97-AF65-F5344CB8AC3E}">
        <p14:creationId xmlns:p14="http://schemas.microsoft.com/office/powerpoint/2010/main" val="28558889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A83103EE-A717-5809-4160-CE37CC4555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875" y="0"/>
            <a:ext cx="75882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6993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C9499-6A9B-399F-7834-A31219627A65}"/>
              </a:ext>
            </a:extLst>
          </p:cNvPr>
          <p:cNvSpPr>
            <a:spLocks noGrp="1"/>
          </p:cNvSpPr>
          <p:nvPr>
            <p:ph type="title"/>
          </p:nvPr>
        </p:nvSpPr>
        <p:spPr/>
        <p:txBody>
          <a:bodyPr/>
          <a:lstStyle/>
          <a:p>
            <a:r>
              <a:rPr lang="en-US" dirty="0"/>
              <a:t>Defining Information</a:t>
            </a:r>
          </a:p>
        </p:txBody>
      </p:sp>
      <p:sp>
        <p:nvSpPr>
          <p:cNvPr id="3" name="Content Placeholder 2">
            <a:extLst>
              <a:ext uri="{FF2B5EF4-FFF2-40B4-BE49-F238E27FC236}">
                <a16:creationId xmlns:a16="http://schemas.microsoft.com/office/drawing/2014/main" id="{BC7587BB-DA1B-E4C5-7137-87447F8A4EB3}"/>
              </a:ext>
            </a:extLst>
          </p:cNvPr>
          <p:cNvSpPr>
            <a:spLocks noGrp="1"/>
          </p:cNvSpPr>
          <p:nvPr>
            <p:ph idx="1"/>
          </p:nvPr>
        </p:nvSpPr>
        <p:spPr/>
        <p:txBody>
          <a:bodyPr/>
          <a:lstStyle/>
          <a:p>
            <a:r>
              <a:rPr lang="en-US" dirty="0"/>
              <a:t>What is information? </a:t>
            </a:r>
          </a:p>
          <a:p>
            <a:pPr lvl="1"/>
            <a:r>
              <a:rPr lang="en-US" dirty="0"/>
              <a:t>TBD</a:t>
            </a:r>
          </a:p>
          <a:p>
            <a:r>
              <a:rPr lang="en-US" dirty="0"/>
              <a:t>What are the building blocks that are used in the capability architecture for information?</a:t>
            </a:r>
          </a:p>
          <a:p>
            <a:pPr lvl="1"/>
            <a:r>
              <a:rPr lang="en-US" dirty="0"/>
              <a:t>Option 1: Data Entity, Logical Data Component, Physical Data Component</a:t>
            </a:r>
          </a:p>
          <a:p>
            <a:pPr lvl="1"/>
            <a:r>
              <a:rPr lang="en-US" dirty="0"/>
              <a:t>Option 2: Baseline Information Asset, Target Information Asset</a:t>
            </a:r>
          </a:p>
        </p:txBody>
      </p:sp>
    </p:spTree>
    <p:extLst>
      <p:ext uri="{BB962C8B-B14F-4D97-AF65-F5344CB8AC3E}">
        <p14:creationId xmlns:p14="http://schemas.microsoft.com/office/powerpoint/2010/main" val="42366086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0A510-2D05-01D3-FC3A-4DEA78E1908B}"/>
              </a:ext>
            </a:extLst>
          </p:cNvPr>
          <p:cNvSpPr>
            <a:spLocks noGrp="1"/>
          </p:cNvSpPr>
          <p:nvPr>
            <p:ph type="title"/>
          </p:nvPr>
        </p:nvSpPr>
        <p:spPr/>
        <p:txBody>
          <a:bodyPr/>
          <a:lstStyle/>
          <a:p>
            <a:r>
              <a:rPr lang="en-US" dirty="0"/>
              <a:t>Option 1: Use TOGAF Elements</a:t>
            </a:r>
          </a:p>
        </p:txBody>
      </p:sp>
      <p:sp>
        <p:nvSpPr>
          <p:cNvPr id="3" name="Content Placeholder 2">
            <a:extLst>
              <a:ext uri="{FF2B5EF4-FFF2-40B4-BE49-F238E27FC236}">
                <a16:creationId xmlns:a16="http://schemas.microsoft.com/office/drawing/2014/main" id="{7A6E78DC-2662-0134-E2AF-9FF8CD035FA1}"/>
              </a:ext>
            </a:extLst>
          </p:cNvPr>
          <p:cNvSpPr>
            <a:spLocks noGrp="1"/>
          </p:cNvSpPr>
          <p:nvPr>
            <p:ph idx="1"/>
          </p:nvPr>
        </p:nvSpPr>
        <p:spPr/>
        <p:txBody>
          <a:bodyPr/>
          <a:lstStyle/>
          <a:p>
            <a:r>
              <a:rPr lang="en-US" dirty="0"/>
              <a:t>Leverage TOGAF to define the “Information” in the ORBIT model to represent (3) levels of granularity: </a:t>
            </a:r>
          </a:p>
          <a:p>
            <a:pPr lvl="1"/>
            <a:r>
              <a:rPr lang="en-US" b="1" dirty="0"/>
              <a:t>Data Entity </a:t>
            </a:r>
            <a:r>
              <a:rPr lang="en-US" dirty="0"/>
              <a:t>- An encapsulation of data that is recognized by a business domain expert as a discrete concept. Data entities can be tied to applications, repositories, and services and may be structured according to implementation considerations. </a:t>
            </a:r>
          </a:p>
          <a:p>
            <a:pPr lvl="1"/>
            <a:r>
              <a:rPr lang="en-US" b="1" dirty="0"/>
              <a:t>Logical Data Component </a:t>
            </a:r>
            <a:r>
              <a:rPr lang="en-US" dirty="0"/>
              <a:t>– An abstract representation of data that defines the structure and relationships of data elements without specifying how they are physically implemented. It serves as a blueprint for data architecture, helping to ensure that data management aligns with business needs and processes.</a:t>
            </a:r>
          </a:p>
          <a:p>
            <a:pPr lvl="1"/>
            <a:r>
              <a:rPr lang="en-US" b="1" dirty="0"/>
              <a:t>Physical Data Component </a:t>
            </a:r>
            <a:r>
              <a:rPr lang="en-US" dirty="0"/>
              <a:t>- The actual implementation of data storage and management resources within an organization. It includes the specific technologies and systems used to store data, such as databases and data warehouses, ensuring that data is accessible and managed effectively.</a:t>
            </a:r>
          </a:p>
        </p:txBody>
      </p:sp>
    </p:spTree>
    <p:extLst>
      <p:ext uri="{BB962C8B-B14F-4D97-AF65-F5344CB8AC3E}">
        <p14:creationId xmlns:p14="http://schemas.microsoft.com/office/powerpoint/2010/main" val="38419146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2CFE677-E705-F34C-F425-4B08DB29AF6D}"/>
              </a:ext>
            </a:extLst>
          </p:cNvPr>
          <p:cNvSpPr/>
          <p:nvPr/>
        </p:nvSpPr>
        <p:spPr>
          <a:xfrm>
            <a:off x="4626278" y="1600199"/>
            <a:ext cx="2461846" cy="3295591"/>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600" b="1" dirty="0">
                <a:solidFill>
                  <a:schemeClr val="tx1"/>
                </a:solidFill>
              </a:rPr>
              <a:t>Target (To-Be)</a:t>
            </a:r>
          </a:p>
        </p:txBody>
      </p:sp>
      <p:sp>
        <p:nvSpPr>
          <p:cNvPr id="2" name="Title 1">
            <a:extLst>
              <a:ext uri="{FF2B5EF4-FFF2-40B4-BE49-F238E27FC236}">
                <a16:creationId xmlns:a16="http://schemas.microsoft.com/office/drawing/2014/main" id="{247237EE-42E9-E508-5FAC-947E8E3A14A3}"/>
              </a:ext>
            </a:extLst>
          </p:cNvPr>
          <p:cNvSpPr>
            <a:spLocks noGrp="1"/>
          </p:cNvSpPr>
          <p:nvPr>
            <p:ph type="title"/>
          </p:nvPr>
        </p:nvSpPr>
        <p:spPr>
          <a:xfrm>
            <a:off x="1069848" y="298938"/>
            <a:ext cx="11122152" cy="1609344"/>
          </a:xfrm>
        </p:spPr>
        <p:txBody>
          <a:bodyPr/>
          <a:lstStyle/>
          <a:p>
            <a:r>
              <a:rPr lang="en-US" dirty="0"/>
              <a:t>Information Architecture Components Option 1</a:t>
            </a:r>
          </a:p>
        </p:txBody>
      </p:sp>
      <p:sp>
        <p:nvSpPr>
          <p:cNvPr id="3" name="Rounded Rectangle 2">
            <a:extLst>
              <a:ext uri="{FF2B5EF4-FFF2-40B4-BE49-F238E27FC236}">
                <a16:creationId xmlns:a16="http://schemas.microsoft.com/office/drawing/2014/main" id="{CB209F43-EDE5-1CF4-0E34-FC18F0685F60}"/>
              </a:ext>
            </a:extLst>
          </p:cNvPr>
          <p:cNvSpPr/>
          <p:nvPr/>
        </p:nvSpPr>
        <p:spPr>
          <a:xfrm>
            <a:off x="5013139" y="2047084"/>
            <a:ext cx="1617785" cy="1142999"/>
          </a:xfrm>
          <a:prstGeom prst="roundRect">
            <a:avLst/>
          </a:prstGeom>
          <a:solidFill>
            <a:schemeClr val="accent1">
              <a:lumMod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Data Entity</a:t>
            </a:r>
          </a:p>
        </p:txBody>
      </p:sp>
      <p:sp>
        <p:nvSpPr>
          <p:cNvPr id="4" name="Rounded Rectangle 3">
            <a:extLst>
              <a:ext uri="{FF2B5EF4-FFF2-40B4-BE49-F238E27FC236}">
                <a16:creationId xmlns:a16="http://schemas.microsoft.com/office/drawing/2014/main" id="{A5D5B756-4212-008A-97AA-9FFB7671911B}"/>
              </a:ext>
            </a:extLst>
          </p:cNvPr>
          <p:cNvSpPr/>
          <p:nvPr/>
        </p:nvSpPr>
        <p:spPr>
          <a:xfrm>
            <a:off x="5013138" y="3518330"/>
            <a:ext cx="1617785" cy="1142999"/>
          </a:xfrm>
          <a:prstGeom prst="roundRect">
            <a:avLst/>
          </a:prstGeom>
          <a:solidFill>
            <a:schemeClr val="accent1">
              <a:lumMod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Logical Data Component</a:t>
            </a:r>
          </a:p>
        </p:txBody>
      </p:sp>
      <p:sp>
        <p:nvSpPr>
          <p:cNvPr id="5" name="Rounded Rectangle 4">
            <a:extLst>
              <a:ext uri="{FF2B5EF4-FFF2-40B4-BE49-F238E27FC236}">
                <a16:creationId xmlns:a16="http://schemas.microsoft.com/office/drawing/2014/main" id="{B3144412-9BDC-9046-F683-B47180932993}"/>
              </a:ext>
            </a:extLst>
          </p:cNvPr>
          <p:cNvSpPr/>
          <p:nvPr/>
        </p:nvSpPr>
        <p:spPr>
          <a:xfrm>
            <a:off x="5013138" y="5038344"/>
            <a:ext cx="1617785" cy="1142999"/>
          </a:xfrm>
          <a:prstGeom prst="roundRect">
            <a:avLst/>
          </a:prstGeom>
          <a:solidFill>
            <a:schemeClr val="accent1">
              <a:lumMod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Physical Data Component</a:t>
            </a:r>
          </a:p>
        </p:txBody>
      </p:sp>
      <p:sp>
        <p:nvSpPr>
          <p:cNvPr id="7" name="Rectangle 6">
            <a:extLst>
              <a:ext uri="{FF2B5EF4-FFF2-40B4-BE49-F238E27FC236}">
                <a16:creationId xmlns:a16="http://schemas.microsoft.com/office/drawing/2014/main" id="{32E6E32C-A97C-44D0-F232-7A6D58189CF0}"/>
              </a:ext>
            </a:extLst>
          </p:cNvPr>
          <p:cNvSpPr/>
          <p:nvPr/>
        </p:nvSpPr>
        <p:spPr>
          <a:xfrm>
            <a:off x="4626278" y="4989576"/>
            <a:ext cx="2461846" cy="1569486"/>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600" b="1" dirty="0">
                <a:solidFill>
                  <a:schemeClr val="tx1"/>
                </a:solidFill>
              </a:rPr>
              <a:t>Baseline (As-Is)</a:t>
            </a:r>
          </a:p>
        </p:txBody>
      </p:sp>
      <p:cxnSp>
        <p:nvCxnSpPr>
          <p:cNvPr id="9" name="Straight Arrow Connector 8">
            <a:extLst>
              <a:ext uri="{FF2B5EF4-FFF2-40B4-BE49-F238E27FC236}">
                <a16:creationId xmlns:a16="http://schemas.microsoft.com/office/drawing/2014/main" id="{C6C054CC-8833-9766-7ABD-FDABB9E7B309}"/>
              </a:ext>
            </a:extLst>
          </p:cNvPr>
          <p:cNvCxnSpPr>
            <a:stCxn id="3" idx="2"/>
            <a:endCxn id="4" idx="0"/>
          </p:cNvCxnSpPr>
          <p:nvPr/>
        </p:nvCxnSpPr>
        <p:spPr>
          <a:xfrm flipH="1">
            <a:off x="5822031" y="3190083"/>
            <a:ext cx="1" cy="32824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8E05E10-0C64-B3BE-84F1-6DE35DFD2E0B}"/>
              </a:ext>
            </a:extLst>
          </p:cNvPr>
          <p:cNvCxnSpPr>
            <a:cxnSpLocks/>
            <a:stCxn id="4" idx="2"/>
            <a:endCxn id="5" idx="0"/>
          </p:cNvCxnSpPr>
          <p:nvPr/>
        </p:nvCxnSpPr>
        <p:spPr>
          <a:xfrm>
            <a:off x="5822031" y="4661329"/>
            <a:ext cx="0" cy="3770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2F017B5D-47EE-DBC8-A143-DA39E72E51EB}"/>
              </a:ext>
            </a:extLst>
          </p:cNvPr>
          <p:cNvSpPr/>
          <p:nvPr/>
        </p:nvSpPr>
        <p:spPr>
          <a:xfrm>
            <a:off x="8382762" y="2546425"/>
            <a:ext cx="2514600" cy="14031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Used to define the data needed by the SMA to meet their desired outcomes. </a:t>
            </a:r>
          </a:p>
        </p:txBody>
      </p:sp>
      <p:cxnSp>
        <p:nvCxnSpPr>
          <p:cNvPr id="15" name="Straight Connector 14">
            <a:extLst>
              <a:ext uri="{FF2B5EF4-FFF2-40B4-BE49-F238E27FC236}">
                <a16:creationId xmlns:a16="http://schemas.microsoft.com/office/drawing/2014/main" id="{B975B0E7-FF90-A1BD-F2EF-93B45D3498B2}"/>
              </a:ext>
            </a:extLst>
          </p:cNvPr>
          <p:cNvCxnSpPr>
            <a:cxnSpLocks/>
            <a:stCxn id="6" idx="3"/>
            <a:endCxn id="13" idx="1"/>
          </p:cNvCxnSpPr>
          <p:nvPr/>
        </p:nvCxnSpPr>
        <p:spPr>
          <a:xfrm flipV="1">
            <a:off x="7088124" y="3247994"/>
            <a:ext cx="1294638" cy="1"/>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D0D7837-F0AD-DA6F-F088-4B7A5AB01F5E}"/>
              </a:ext>
            </a:extLst>
          </p:cNvPr>
          <p:cNvSpPr/>
          <p:nvPr/>
        </p:nvSpPr>
        <p:spPr>
          <a:xfrm>
            <a:off x="817040" y="4798372"/>
            <a:ext cx="2514600" cy="195189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Used to describe the baseline data that is currently used by the SMA. </a:t>
            </a:r>
          </a:p>
        </p:txBody>
      </p:sp>
      <p:cxnSp>
        <p:nvCxnSpPr>
          <p:cNvPr id="18" name="Straight Connector 17">
            <a:extLst>
              <a:ext uri="{FF2B5EF4-FFF2-40B4-BE49-F238E27FC236}">
                <a16:creationId xmlns:a16="http://schemas.microsoft.com/office/drawing/2014/main" id="{ADDA9EC9-C91F-3B67-1351-F1BADBA072E5}"/>
              </a:ext>
            </a:extLst>
          </p:cNvPr>
          <p:cNvCxnSpPr>
            <a:cxnSpLocks/>
            <a:stCxn id="17" idx="3"/>
            <a:endCxn id="7" idx="1"/>
          </p:cNvCxnSpPr>
          <p:nvPr/>
        </p:nvCxnSpPr>
        <p:spPr>
          <a:xfrm>
            <a:off x="3331640" y="5774319"/>
            <a:ext cx="1294638"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314617CB-1625-6DAB-D7FD-21551AB79361}"/>
              </a:ext>
            </a:extLst>
          </p:cNvPr>
          <p:cNvSpPr/>
          <p:nvPr/>
        </p:nvSpPr>
        <p:spPr>
          <a:xfrm>
            <a:off x="8360075" y="4118019"/>
            <a:ext cx="2514600" cy="14031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Comparison used to identify gaps in data and drive requirements. </a:t>
            </a:r>
          </a:p>
        </p:txBody>
      </p:sp>
      <p:cxnSp>
        <p:nvCxnSpPr>
          <p:cNvPr id="26" name="Straight Connector 25">
            <a:extLst>
              <a:ext uri="{FF2B5EF4-FFF2-40B4-BE49-F238E27FC236}">
                <a16:creationId xmlns:a16="http://schemas.microsoft.com/office/drawing/2014/main" id="{91A1B135-C738-2C5E-2A21-7B16DD8C175A}"/>
              </a:ext>
            </a:extLst>
          </p:cNvPr>
          <p:cNvCxnSpPr>
            <a:cxnSpLocks/>
            <a:endCxn id="25" idx="1"/>
          </p:cNvCxnSpPr>
          <p:nvPr/>
        </p:nvCxnSpPr>
        <p:spPr>
          <a:xfrm>
            <a:off x="5807759" y="4819588"/>
            <a:ext cx="2552316"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91535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4DC52-DB8F-B730-2ECC-59DDC26EFE1F}"/>
              </a:ext>
            </a:extLst>
          </p:cNvPr>
          <p:cNvSpPr>
            <a:spLocks noGrp="1"/>
          </p:cNvSpPr>
          <p:nvPr>
            <p:ph type="title"/>
          </p:nvPr>
        </p:nvSpPr>
        <p:spPr>
          <a:xfrm>
            <a:off x="1066800" y="177944"/>
            <a:ext cx="10058400" cy="1609344"/>
          </a:xfrm>
        </p:spPr>
        <p:txBody>
          <a:bodyPr/>
          <a:lstStyle/>
          <a:p>
            <a:r>
              <a:rPr lang="en-US" dirty="0"/>
              <a:t>IA Metamodel (Option 1)</a:t>
            </a:r>
          </a:p>
        </p:txBody>
      </p:sp>
      <p:sp>
        <p:nvSpPr>
          <p:cNvPr id="3" name="Rounded Rectangle 2">
            <a:extLst>
              <a:ext uri="{FF2B5EF4-FFF2-40B4-BE49-F238E27FC236}">
                <a16:creationId xmlns:a16="http://schemas.microsoft.com/office/drawing/2014/main" id="{77D9D1A4-8F08-757F-644A-040258A9E1BC}"/>
              </a:ext>
            </a:extLst>
          </p:cNvPr>
          <p:cNvSpPr/>
          <p:nvPr/>
        </p:nvSpPr>
        <p:spPr>
          <a:xfrm>
            <a:off x="6443003" y="2304288"/>
            <a:ext cx="2479431" cy="4256884"/>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bg1"/>
                </a:solidFill>
              </a:rPr>
              <a:t>Physical Data Component</a:t>
            </a:r>
          </a:p>
        </p:txBody>
      </p:sp>
      <p:sp>
        <p:nvSpPr>
          <p:cNvPr id="13" name="Rounded Rectangle 12">
            <a:extLst>
              <a:ext uri="{FF2B5EF4-FFF2-40B4-BE49-F238E27FC236}">
                <a16:creationId xmlns:a16="http://schemas.microsoft.com/office/drawing/2014/main" id="{55A13AD0-14BA-0255-5590-1730E0236AAB}"/>
              </a:ext>
            </a:extLst>
          </p:cNvPr>
          <p:cNvSpPr/>
          <p:nvPr/>
        </p:nvSpPr>
        <p:spPr>
          <a:xfrm>
            <a:off x="2063826" y="4747588"/>
            <a:ext cx="2479431" cy="588460"/>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Baseline Business Process</a:t>
            </a:r>
          </a:p>
        </p:txBody>
      </p:sp>
      <p:sp>
        <p:nvSpPr>
          <p:cNvPr id="14" name="Rounded Rectangle 13">
            <a:extLst>
              <a:ext uri="{FF2B5EF4-FFF2-40B4-BE49-F238E27FC236}">
                <a16:creationId xmlns:a16="http://schemas.microsoft.com/office/drawing/2014/main" id="{3D912C19-989E-7E96-5A3E-90E0458E3CE5}"/>
              </a:ext>
            </a:extLst>
          </p:cNvPr>
          <p:cNvSpPr/>
          <p:nvPr/>
        </p:nvSpPr>
        <p:spPr>
          <a:xfrm>
            <a:off x="2037447" y="5803196"/>
            <a:ext cx="2479431" cy="588460"/>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Baseline Application</a:t>
            </a:r>
          </a:p>
        </p:txBody>
      </p:sp>
      <p:sp>
        <p:nvSpPr>
          <p:cNvPr id="15" name="Rounded Rectangle 14">
            <a:extLst>
              <a:ext uri="{FF2B5EF4-FFF2-40B4-BE49-F238E27FC236}">
                <a16:creationId xmlns:a16="http://schemas.microsoft.com/office/drawing/2014/main" id="{8C78FFF2-32FD-28C1-56EE-6BD806AC00D3}"/>
              </a:ext>
            </a:extLst>
          </p:cNvPr>
          <p:cNvSpPr/>
          <p:nvPr/>
        </p:nvSpPr>
        <p:spPr>
          <a:xfrm>
            <a:off x="2063826" y="3572009"/>
            <a:ext cx="2479431" cy="588460"/>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Baseline Data Role</a:t>
            </a:r>
          </a:p>
        </p:txBody>
      </p:sp>
      <p:cxnSp>
        <p:nvCxnSpPr>
          <p:cNvPr id="19" name="Straight Connector 18">
            <a:extLst>
              <a:ext uri="{FF2B5EF4-FFF2-40B4-BE49-F238E27FC236}">
                <a16:creationId xmlns:a16="http://schemas.microsoft.com/office/drawing/2014/main" id="{0ACDCB8D-CDD3-E0F6-5899-2CEC18A6D20F}"/>
              </a:ext>
            </a:extLst>
          </p:cNvPr>
          <p:cNvCxnSpPr>
            <a:cxnSpLocks/>
            <a:stCxn id="15" idx="3"/>
          </p:cNvCxnSpPr>
          <p:nvPr/>
        </p:nvCxnSpPr>
        <p:spPr>
          <a:xfrm>
            <a:off x="4543257" y="3866239"/>
            <a:ext cx="1899746"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E00736E7-68E9-0EF7-FFB0-34085CBDB067}"/>
              </a:ext>
            </a:extLst>
          </p:cNvPr>
          <p:cNvCxnSpPr>
            <a:cxnSpLocks/>
            <a:stCxn id="13" idx="3"/>
          </p:cNvCxnSpPr>
          <p:nvPr/>
        </p:nvCxnSpPr>
        <p:spPr>
          <a:xfrm>
            <a:off x="4543257" y="5041818"/>
            <a:ext cx="1899746"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41B24DAC-7D04-CC3E-CC84-A21AAC90E930}"/>
              </a:ext>
            </a:extLst>
          </p:cNvPr>
          <p:cNvCxnSpPr>
            <a:cxnSpLocks/>
            <a:stCxn id="14" idx="3"/>
          </p:cNvCxnSpPr>
          <p:nvPr/>
        </p:nvCxnSpPr>
        <p:spPr>
          <a:xfrm>
            <a:off x="4516878" y="6097426"/>
            <a:ext cx="1926125" cy="0"/>
          </a:xfrm>
          <a:prstGeom prst="line">
            <a:avLst/>
          </a:prstGeom>
          <a:ln w="19050"/>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93237D1D-53F2-329B-12E2-7FCA25883113}"/>
              </a:ext>
            </a:extLst>
          </p:cNvPr>
          <p:cNvSpPr/>
          <p:nvPr/>
        </p:nvSpPr>
        <p:spPr>
          <a:xfrm>
            <a:off x="1379095" y="1956816"/>
            <a:ext cx="8334531" cy="4773168"/>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Capability</a:t>
            </a:r>
          </a:p>
        </p:txBody>
      </p:sp>
      <p:sp>
        <p:nvSpPr>
          <p:cNvPr id="29" name="TextBox 28">
            <a:extLst>
              <a:ext uri="{FF2B5EF4-FFF2-40B4-BE49-F238E27FC236}">
                <a16:creationId xmlns:a16="http://schemas.microsoft.com/office/drawing/2014/main" id="{718B8FFF-ABB7-4369-7962-50301AB93319}"/>
              </a:ext>
            </a:extLst>
          </p:cNvPr>
          <p:cNvSpPr txBox="1"/>
          <p:nvPr/>
        </p:nvSpPr>
        <p:spPr>
          <a:xfrm>
            <a:off x="4546860" y="4798736"/>
            <a:ext cx="734496" cy="246221"/>
          </a:xfrm>
          <a:prstGeom prst="rect">
            <a:avLst/>
          </a:prstGeom>
          <a:noFill/>
        </p:spPr>
        <p:txBody>
          <a:bodyPr wrap="none" rtlCol="0">
            <a:spAutoFit/>
          </a:bodyPr>
          <a:lstStyle/>
          <a:p>
            <a:r>
              <a:rPr lang="en-US" sz="1000" dirty="0"/>
              <a:t>Accesses</a:t>
            </a:r>
          </a:p>
        </p:txBody>
      </p:sp>
      <p:sp>
        <p:nvSpPr>
          <p:cNvPr id="30" name="TextBox 29">
            <a:extLst>
              <a:ext uri="{FF2B5EF4-FFF2-40B4-BE49-F238E27FC236}">
                <a16:creationId xmlns:a16="http://schemas.microsoft.com/office/drawing/2014/main" id="{C6311CFB-CCE3-FE16-A479-EBA0BAD8BA49}"/>
              </a:ext>
            </a:extLst>
          </p:cNvPr>
          <p:cNvSpPr txBox="1"/>
          <p:nvPr/>
        </p:nvSpPr>
        <p:spPr>
          <a:xfrm>
            <a:off x="4519378" y="5865536"/>
            <a:ext cx="734496" cy="246221"/>
          </a:xfrm>
          <a:prstGeom prst="rect">
            <a:avLst/>
          </a:prstGeom>
          <a:noFill/>
        </p:spPr>
        <p:txBody>
          <a:bodyPr wrap="none" rtlCol="0">
            <a:spAutoFit/>
          </a:bodyPr>
          <a:lstStyle/>
          <a:p>
            <a:r>
              <a:rPr lang="en-US" sz="1000" dirty="0"/>
              <a:t>Accesses</a:t>
            </a:r>
          </a:p>
        </p:txBody>
      </p:sp>
      <p:sp>
        <p:nvSpPr>
          <p:cNvPr id="31" name="TextBox 30">
            <a:extLst>
              <a:ext uri="{FF2B5EF4-FFF2-40B4-BE49-F238E27FC236}">
                <a16:creationId xmlns:a16="http://schemas.microsoft.com/office/drawing/2014/main" id="{923BEAF0-E15D-2A7E-2B87-63D37F28062E}"/>
              </a:ext>
            </a:extLst>
          </p:cNvPr>
          <p:cNvSpPr txBox="1"/>
          <p:nvPr/>
        </p:nvSpPr>
        <p:spPr>
          <a:xfrm>
            <a:off x="4536866" y="3634500"/>
            <a:ext cx="1741182" cy="246221"/>
          </a:xfrm>
          <a:prstGeom prst="rect">
            <a:avLst/>
          </a:prstGeom>
          <a:noFill/>
        </p:spPr>
        <p:txBody>
          <a:bodyPr wrap="none" rtlCol="0">
            <a:spAutoFit/>
          </a:bodyPr>
          <a:lstStyle/>
          <a:p>
            <a:r>
              <a:rPr lang="en-US" sz="1000" dirty="0"/>
              <a:t>Supply/Consume/Manage</a:t>
            </a:r>
          </a:p>
        </p:txBody>
      </p:sp>
    </p:spTree>
    <p:extLst>
      <p:ext uri="{BB962C8B-B14F-4D97-AF65-F5344CB8AC3E}">
        <p14:creationId xmlns:p14="http://schemas.microsoft.com/office/powerpoint/2010/main" val="29605459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A60EB-11B6-F085-BFC5-B83BC0669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861BCD-CA8B-EDB4-E060-CD11A036DAE6}"/>
              </a:ext>
            </a:extLst>
          </p:cNvPr>
          <p:cNvSpPr>
            <a:spLocks noGrp="1"/>
          </p:cNvSpPr>
          <p:nvPr>
            <p:ph type="title"/>
          </p:nvPr>
        </p:nvSpPr>
        <p:spPr>
          <a:xfrm>
            <a:off x="1066800" y="177944"/>
            <a:ext cx="10058400" cy="1609344"/>
          </a:xfrm>
        </p:spPr>
        <p:txBody>
          <a:bodyPr/>
          <a:lstStyle/>
          <a:p>
            <a:r>
              <a:rPr lang="en-US" dirty="0"/>
              <a:t>IA Metamodel (Option 1)</a:t>
            </a:r>
          </a:p>
        </p:txBody>
      </p:sp>
      <p:sp>
        <p:nvSpPr>
          <p:cNvPr id="3" name="Rounded Rectangle 2">
            <a:extLst>
              <a:ext uri="{FF2B5EF4-FFF2-40B4-BE49-F238E27FC236}">
                <a16:creationId xmlns:a16="http://schemas.microsoft.com/office/drawing/2014/main" id="{2F29FC49-77CD-FB7D-C26C-3B23CDF42495}"/>
              </a:ext>
            </a:extLst>
          </p:cNvPr>
          <p:cNvSpPr/>
          <p:nvPr/>
        </p:nvSpPr>
        <p:spPr>
          <a:xfrm>
            <a:off x="5425733" y="2304288"/>
            <a:ext cx="2479431" cy="4256884"/>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Entity</a:t>
            </a:r>
          </a:p>
        </p:txBody>
      </p:sp>
      <p:cxnSp>
        <p:nvCxnSpPr>
          <p:cNvPr id="7" name="Straight Arrow Connector 6">
            <a:extLst>
              <a:ext uri="{FF2B5EF4-FFF2-40B4-BE49-F238E27FC236}">
                <a16:creationId xmlns:a16="http://schemas.microsoft.com/office/drawing/2014/main" id="{659B3078-B063-4CD5-4995-4D88EBA9684B}"/>
              </a:ext>
            </a:extLst>
          </p:cNvPr>
          <p:cNvCxnSpPr>
            <a:cxnSpLocks/>
            <a:stCxn id="3" idx="3"/>
            <a:endCxn id="9" idx="1"/>
          </p:cNvCxnSpPr>
          <p:nvPr/>
        </p:nvCxnSpPr>
        <p:spPr>
          <a:xfrm flipV="1">
            <a:off x="7905164" y="4432679"/>
            <a:ext cx="345831" cy="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0845C5BC-F8F2-F49D-343B-67FF185D0983}"/>
              </a:ext>
            </a:extLst>
          </p:cNvPr>
          <p:cNvSpPr/>
          <p:nvPr/>
        </p:nvSpPr>
        <p:spPr>
          <a:xfrm>
            <a:off x="1046556" y="4747588"/>
            <a:ext cx="2479431" cy="588460"/>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Target Business Process</a:t>
            </a:r>
          </a:p>
        </p:txBody>
      </p:sp>
      <p:sp>
        <p:nvSpPr>
          <p:cNvPr id="14" name="Rounded Rectangle 13">
            <a:extLst>
              <a:ext uri="{FF2B5EF4-FFF2-40B4-BE49-F238E27FC236}">
                <a16:creationId xmlns:a16="http://schemas.microsoft.com/office/drawing/2014/main" id="{02A03F9B-7432-A8BC-5B71-5BEE9B6C620C}"/>
              </a:ext>
            </a:extLst>
          </p:cNvPr>
          <p:cNvSpPr/>
          <p:nvPr/>
        </p:nvSpPr>
        <p:spPr>
          <a:xfrm>
            <a:off x="1020177" y="5803196"/>
            <a:ext cx="2479431" cy="588460"/>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Target Application</a:t>
            </a:r>
          </a:p>
        </p:txBody>
      </p:sp>
      <p:sp>
        <p:nvSpPr>
          <p:cNvPr id="15" name="Rounded Rectangle 14">
            <a:extLst>
              <a:ext uri="{FF2B5EF4-FFF2-40B4-BE49-F238E27FC236}">
                <a16:creationId xmlns:a16="http://schemas.microsoft.com/office/drawing/2014/main" id="{013F67A2-0128-97BA-BC6E-020037756781}"/>
              </a:ext>
            </a:extLst>
          </p:cNvPr>
          <p:cNvSpPr/>
          <p:nvPr/>
        </p:nvSpPr>
        <p:spPr>
          <a:xfrm>
            <a:off x="1046556" y="3572009"/>
            <a:ext cx="2479431" cy="588460"/>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Target Data Role</a:t>
            </a:r>
          </a:p>
        </p:txBody>
      </p:sp>
      <p:sp>
        <p:nvSpPr>
          <p:cNvPr id="16" name="Rounded Rectangle 15">
            <a:extLst>
              <a:ext uri="{FF2B5EF4-FFF2-40B4-BE49-F238E27FC236}">
                <a16:creationId xmlns:a16="http://schemas.microsoft.com/office/drawing/2014/main" id="{7478BA78-4911-ED9F-E99C-869B86C3E6FA}"/>
              </a:ext>
            </a:extLst>
          </p:cNvPr>
          <p:cNvSpPr/>
          <p:nvPr/>
        </p:nvSpPr>
        <p:spPr>
          <a:xfrm>
            <a:off x="1020177" y="2591353"/>
            <a:ext cx="2479431" cy="588460"/>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Desired Outcome</a:t>
            </a:r>
          </a:p>
        </p:txBody>
      </p:sp>
      <p:cxnSp>
        <p:nvCxnSpPr>
          <p:cNvPr id="18" name="Straight Connector 17">
            <a:extLst>
              <a:ext uri="{FF2B5EF4-FFF2-40B4-BE49-F238E27FC236}">
                <a16:creationId xmlns:a16="http://schemas.microsoft.com/office/drawing/2014/main" id="{D091A090-C388-C1F0-F8B2-23C4D8D759D2}"/>
              </a:ext>
            </a:extLst>
          </p:cNvPr>
          <p:cNvCxnSpPr>
            <a:cxnSpLocks/>
            <a:stCxn id="16" idx="3"/>
          </p:cNvCxnSpPr>
          <p:nvPr/>
        </p:nvCxnSpPr>
        <p:spPr>
          <a:xfrm>
            <a:off x="3499608" y="2885583"/>
            <a:ext cx="192612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043E3459-4B74-21EA-7E23-733A08520EE5}"/>
              </a:ext>
            </a:extLst>
          </p:cNvPr>
          <p:cNvCxnSpPr>
            <a:cxnSpLocks/>
            <a:stCxn id="15" idx="3"/>
          </p:cNvCxnSpPr>
          <p:nvPr/>
        </p:nvCxnSpPr>
        <p:spPr>
          <a:xfrm>
            <a:off x="3525987" y="3866239"/>
            <a:ext cx="1899746"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1A778F7D-CDDF-7E41-4C81-253FE2551138}"/>
              </a:ext>
            </a:extLst>
          </p:cNvPr>
          <p:cNvCxnSpPr>
            <a:cxnSpLocks/>
            <a:stCxn id="13" idx="3"/>
          </p:cNvCxnSpPr>
          <p:nvPr/>
        </p:nvCxnSpPr>
        <p:spPr>
          <a:xfrm>
            <a:off x="3525987" y="5041818"/>
            <a:ext cx="1899746"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1DF76A3B-9471-0671-7C2E-37DF36FF8B9E}"/>
              </a:ext>
            </a:extLst>
          </p:cNvPr>
          <p:cNvCxnSpPr>
            <a:cxnSpLocks/>
            <a:stCxn id="14" idx="3"/>
          </p:cNvCxnSpPr>
          <p:nvPr/>
        </p:nvCxnSpPr>
        <p:spPr>
          <a:xfrm>
            <a:off x="3499608" y="6097426"/>
            <a:ext cx="1926125" cy="0"/>
          </a:xfrm>
          <a:prstGeom prst="line">
            <a:avLst/>
          </a:prstGeom>
          <a:ln w="19050"/>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CFD1019D-4CE4-CE87-3B7D-97A3C91975F0}"/>
              </a:ext>
            </a:extLst>
          </p:cNvPr>
          <p:cNvSpPr/>
          <p:nvPr/>
        </p:nvSpPr>
        <p:spPr>
          <a:xfrm>
            <a:off x="630195" y="1787288"/>
            <a:ext cx="10411185" cy="4942696"/>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Capability</a:t>
            </a:r>
          </a:p>
        </p:txBody>
      </p:sp>
      <p:sp>
        <p:nvSpPr>
          <p:cNvPr id="29" name="TextBox 28">
            <a:extLst>
              <a:ext uri="{FF2B5EF4-FFF2-40B4-BE49-F238E27FC236}">
                <a16:creationId xmlns:a16="http://schemas.microsoft.com/office/drawing/2014/main" id="{B8D4E3A8-4071-36D3-CE16-ADEBE382ED44}"/>
              </a:ext>
            </a:extLst>
          </p:cNvPr>
          <p:cNvSpPr txBox="1"/>
          <p:nvPr/>
        </p:nvSpPr>
        <p:spPr>
          <a:xfrm>
            <a:off x="3529590" y="4798736"/>
            <a:ext cx="734496" cy="246221"/>
          </a:xfrm>
          <a:prstGeom prst="rect">
            <a:avLst/>
          </a:prstGeom>
          <a:noFill/>
        </p:spPr>
        <p:txBody>
          <a:bodyPr wrap="none" rtlCol="0">
            <a:spAutoFit/>
          </a:bodyPr>
          <a:lstStyle/>
          <a:p>
            <a:r>
              <a:rPr lang="en-US" sz="1000" dirty="0"/>
              <a:t>Accesses</a:t>
            </a:r>
          </a:p>
        </p:txBody>
      </p:sp>
      <p:sp>
        <p:nvSpPr>
          <p:cNvPr id="30" name="TextBox 29">
            <a:extLst>
              <a:ext uri="{FF2B5EF4-FFF2-40B4-BE49-F238E27FC236}">
                <a16:creationId xmlns:a16="http://schemas.microsoft.com/office/drawing/2014/main" id="{4C8260B8-9221-CC1D-6B01-F4B3FF509CA1}"/>
              </a:ext>
            </a:extLst>
          </p:cNvPr>
          <p:cNvSpPr txBox="1"/>
          <p:nvPr/>
        </p:nvSpPr>
        <p:spPr>
          <a:xfrm>
            <a:off x="3502108" y="5865536"/>
            <a:ext cx="734496" cy="246221"/>
          </a:xfrm>
          <a:prstGeom prst="rect">
            <a:avLst/>
          </a:prstGeom>
          <a:noFill/>
        </p:spPr>
        <p:txBody>
          <a:bodyPr wrap="none" rtlCol="0">
            <a:spAutoFit/>
          </a:bodyPr>
          <a:lstStyle/>
          <a:p>
            <a:r>
              <a:rPr lang="en-US" sz="1000" dirty="0"/>
              <a:t>Accesses</a:t>
            </a:r>
          </a:p>
        </p:txBody>
      </p:sp>
      <p:sp>
        <p:nvSpPr>
          <p:cNvPr id="31" name="TextBox 30">
            <a:extLst>
              <a:ext uri="{FF2B5EF4-FFF2-40B4-BE49-F238E27FC236}">
                <a16:creationId xmlns:a16="http://schemas.microsoft.com/office/drawing/2014/main" id="{69A20E35-378C-65A8-775E-51A38F0FCF58}"/>
              </a:ext>
            </a:extLst>
          </p:cNvPr>
          <p:cNvSpPr txBox="1"/>
          <p:nvPr/>
        </p:nvSpPr>
        <p:spPr>
          <a:xfrm>
            <a:off x="3519596" y="3634500"/>
            <a:ext cx="1741182" cy="246221"/>
          </a:xfrm>
          <a:prstGeom prst="rect">
            <a:avLst/>
          </a:prstGeom>
          <a:noFill/>
        </p:spPr>
        <p:txBody>
          <a:bodyPr wrap="none" rtlCol="0">
            <a:spAutoFit/>
          </a:bodyPr>
          <a:lstStyle/>
          <a:p>
            <a:r>
              <a:rPr lang="en-US" sz="1000" dirty="0"/>
              <a:t>Supply/Consume/Manage</a:t>
            </a:r>
          </a:p>
        </p:txBody>
      </p:sp>
      <p:sp>
        <p:nvSpPr>
          <p:cNvPr id="32" name="TextBox 31">
            <a:extLst>
              <a:ext uri="{FF2B5EF4-FFF2-40B4-BE49-F238E27FC236}">
                <a16:creationId xmlns:a16="http://schemas.microsoft.com/office/drawing/2014/main" id="{46E8883A-7F9F-868F-D41A-FE6124801AAE}"/>
              </a:ext>
            </a:extLst>
          </p:cNvPr>
          <p:cNvSpPr txBox="1"/>
          <p:nvPr/>
        </p:nvSpPr>
        <p:spPr>
          <a:xfrm>
            <a:off x="3529588" y="2663601"/>
            <a:ext cx="569387" cy="246221"/>
          </a:xfrm>
          <a:prstGeom prst="rect">
            <a:avLst/>
          </a:prstGeom>
          <a:noFill/>
        </p:spPr>
        <p:txBody>
          <a:bodyPr wrap="none" rtlCol="0">
            <a:spAutoFit/>
          </a:bodyPr>
          <a:lstStyle/>
          <a:p>
            <a:r>
              <a:rPr lang="en-US" sz="1000" dirty="0"/>
              <a:t>Drives</a:t>
            </a:r>
          </a:p>
        </p:txBody>
      </p:sp>
      <p:sp>
        <p:nvSpPr>
          <p:cNvPr id="9" name="Rounded Rectangle 8">
            <a:extLst>
              <a:ext uri="{FF2B5EF4-FFF2-40B4-BE49-F238E27FC236}">
                <a16:creationId xmlns:a16="http://schemas.microsoft.com/office/drawing/2014/main" id="{A54A8DB5-0799-832F-5C92-521A3B247429}"/>
              </a:ext>
            </a:extLst>
          </p:cNvPr>
          <p:cNvSpPr/>
          <p:nvPr/>
        </p:nvSpPr>
        <p:spPr>
          <a:xfrm>
            <a:off x="8250995" y="2304237"/>
            <a:ext cx="2479431" cy="4256884"/>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Logical Data Component</a:t>
            </a:r>
          </a:p>
        </p:txBody>
      </p:sp>
    </p:spTree>
    <p:extLst>
      <p:ext uri="{BB962C8B-B14F-4D97-AF65-F5344CB8AC3E}">
        <p14:creationId xmlns:p14="http://schemas.microsoft.com/office/powerpoint/2010/main" val="32560156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F80E0-29F9-2D0E-AC18-7361703694E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D1A3119-4420-41F1-A22B-76B99031340A}"/>
              </a:ext>
            </a:extLst>
          </p:cNvPr>
          <p:cNvSpPr/>
          <p:nvPr/>
        </p:nvSpPr>
        <p:spPr>
          <a:xfrm>
            <a:off x="4626278" y="2376911"/>
            <a:ext cx="2461846" cy="1844509"/>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600" b="1" dirty="0">
                <a:solidFill>
                  <a:schemeClr val="tx1"/>
                </a:solidFill>
              </a:rPr>
              <a:t>Target (To-Be)</a:t>
            </a:r>
          </a:p>
        </p:txBody>
      </p:sp>
      <p:sp>
        <p:nvSpPr>
          <p:cNvPr id="2" name="Title 1">
            <a:extLst>
              <a:ext uri="{FF2B5EF4-FFF2-40B4-BE49-F238E27FC236}">
                <a16:creationId xmlns:a16="http://schemas.microsoft.com/office/drawing/2014/main" id="{00A713D8-B3FF-D62A-1D67-30B38DE39309}"/>
              </a:ext>
            </a:extLst>
          </p:cNvPr>
          <p:cNvSpPr>
            <a:spLocks noGrp="1"/>
          </p:cNvSpPr>
          <p:nvPr>
            <p:ph type="title"/>
          </p:nvPr>
        </p:nvSpPr>
        <p:spPr>
          <a:xfrm>
            <a:off x="1069848" y="298938"/>
            <a:ext cx="11122152" cy="1609344"/>
          </a:xfrm>
        </p:spPr>
        <p:txBody>
          <a:bodyPr/>
          <a:lstStyle/>
          <a:p>
            <a:r>
              <a:rPr lang="en-US" dirty="0"/>
              <a:t>IA Metamodel in Action</a:t>
            </a:r>
          </a:p>
        </p:txBody>
      </p:sp>
      <p:sp>
        <p:nvSpPr>
          <p:cNvPr id="4" name="Rounded Rectangle 3">
            <a:extLst>
              <a:ext uri="{FF2B5EF4-FFF2-40B4-BE49-F238E27FC236}">
                <a16:creationId xmlns:a16="http://schemas.microsoft.com/office/drawing/2014/main" id="{1354DCDA-7D4E-8A2F-DA6E-56B7B9960456}"/>
              </a:ext>
            </a:extLst>
          </p:cNvPr>
          <p:cNvSpPr/>
          <p:nvPr/>
        </p:nvSpPr>
        <p:spPr>
          <a:xfrm>
            <a:off x="5013138" y="2843960"/>
            <a:ext cx="1617785" cy="1142999"/>
          </a:xfrm>
          <a:prstGeom prst="roundRect">
            <a:avLst/>
          </a:prstGeom>
          <a:solidFill>
            <a:schemeClr val="accent1">
              <a:lumMod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i="1" dirty="0">
                <a:solidFill>
                  <a:schemeClr val="bg1"/>
                </a:solidFill>
              </a:rPr>
              <a:t>Target processes, data, and technology</a:t>
            </a:r>
          </a:p>
        </p:txBody>
      </p:sp>
      <p:sp>
        <p:nvSpPr>
          <p:cNvPr id="5" name="Rounded Rectangle 4">
            <a:extLst>
              <a:ext uri="{FF2B5EF4-FFF2-40B4-BE49-F238E27FC236}">
                <a16:creationId xmlns:a16="http://schemas.microsoft.com/office/drawing/2014/main" id="{0E112F98-11B9-E3C1-450F-DCBF02CFAFAE}"/>
              </a:ext>
            </a:extLst>
          </p:cNvPr>
          <p:cNvSpPr/>
          <p:nvPr/>
        </p:nvSpPr>
        <p:spPr>
          <a:xfrm>
            <a:off x="5013138" y="4363974"/>
            <a:ext cx="1617785" cy="1142999"/>
          </a:xfrm>
          <a:prstGeom prst="roundRect">
            <a:avLst/>
          </a:prstGeom>
          <a:solidFill>
            <a:schemeClr val="accent1">
              <a:lumMod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t>Baseline </a:t>
            </a:r>
            <a:r>
              <a:rPr lang="en-US" sz="1400" dirty="0">
                <a:solidFill>
                  <a:srgbClr val="FFFFFF"/>
                </a:solidFill>
              </a:rPr>
              <a:t>processes, data, and technology</a:t>
            </a:r>
          </a:p>
        </p:txBody>
      </p:sp>
      <p:sp>
        <p:nvSpPr>
          <p:cNvPr id="7" name="Rectangle 6">
            <a:extLst>
              <a:ext uri="{FF2B5EF4-FFF2-40B4-BE49-F238E27FC236}">
                <a16:creationId xmlns:a16="http://schemas.microsoft.com/office/drawing/2014/main" id="{310B5A3C-7575-CF23-D3A8-690E3231FF25}"/>
              </a:ext>
            </a:extLst>
          </p:cNvPr>
          <p:cNvSpPr/>
          <p:nvPr/>
        </p:nvSpPr>
        <p:spPr>
          <a:xfrm>
            <a:off x="4626278" y="4315206"/>
            <a:ext cx="2461846" cy="1569486"/>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600" b="1" dirty="0">
                <a:solidFill>
                  <a:schemeClr val="tx1"/>
                </a:solidFill>
              </a:rPr>
              <a:t>Baseline (As-Is)</a:t>
            </a:r>
          </a:p>
        </p:txBody>
      </p:sp>
      <p:cxnSp>
        <p:nvCxnSpPr>
          <p:cNvPr id="11" name="Straight Arrow Connector 10">
            <a:extLst>
              <a:ext uri="{FF2B5EF4-FFF2-40B4-BE49-F238E27FC236}">
                <a16:creationId xmlns:a16="http://schemas.microsoft.com/office/drawing/2014/main" id="{6540E4B9-B06F-26E5-5B8A-5214F336F35A}"/>
              </a:ext>
            </a:extLst>
          </p:cNvPr>
          <p:cNvCxnSpPr>
            <a:cxnSpLocks/>
            <a:stCxn id="4" idx="2"/>
            <a:endCxn id="5" idx="0"/>
          </p:cNvCxnSpPr>
          <p:nvPr/>
        </p:nvCxnSpPr>
        <p:spPr>
          <a:xfrm>
            <a:off x="5822031" y="3986959"/>
            <a:ext cx="0" cy="3770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47B6F986-B1CB-285F-F5B6-3717443DB1AF}"/>
              </a:ext>
            </a:extLst>
          </p:cNvPr>
          <p:cNvSpPr/>
          <p:nvPr/>
        </p:nvSpPr>
        <p:spPr>
          <a:xfrm>
            <a:off x="8382762" y="1872055"/>
            <a:ext cx="2514600" cy="1403138"/>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US" sz="1400" dirty="0"/>
              <a:t>Used to define the processes, data, and technology needed by the SMA to meet their desired outcomes. </a:t>
            </a:r>
          </a:p>
        </p:txBody>
      </p:sp>
      <p:cxnSp>
        <p:nvCxnSpPr>
          <p:cNvPr id="15" name="Straight Connector 14">
            <a:extLst>
              <a:ext uri="{FF2B5EF4-FFF2-40B4-BE49-F238E27FC236}">
                <a16:creationId xmlns:a16="http://schemas.microsoft.com/office/drawing/2014/main" id="{13B89434-BF18-845E-AFA7-8C2BB81B2469}"/>
              </a:ext>
            </a:extLst>
          </p:cNvPr>
          <p:cNvCxnSpPr>
            <a:cxnSpLocks/>
          </p:cNvCxnSpPr>
          <p:nvPr/>
        </p:nvCxnSpPr>
        <p:spPr>
          <a:xfrm flipV="1">
            <a:off x="7088124" y="2593080"/>
            <a:ext cx="1294638" cy="1"/>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600FA4E5-CC00-B5D8-DEFC-C1109174DB04}"/>
              </a:ext>
            </a:extLst>
          </p:cNvPr>
          <p:cNvSpPr/>
          <p:nvPr/>
        </p:nvSpPr>
        <p:spPr>
          <a:xfrm>
            <a:off x="817040" y="4124002"/>
            <a:ext cx="2514600" cy="1951893"/>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US" sz="1400" dirty="0"/>
              <a:t>Used to describe the baseline processes, data, and technology that is currently used by the SMA. </a:t>
            </a:r>
          </a:p>
        </p:txBody>
      </p:sp>
      <p:cxnSp>
        <p:nvCxnSpPr>
          <p:cNvPr id="18" name="Straight Connector 17">
            <a:extLst>
              <a:ext uri="{FF2B5EF4-FFF2-40B4-BE49-F238E27FC236}">
                <a16:creationId xmlns:a16="http://schemas.microsoft.com/office/drawing/2014/main" id="{5F90D0E9-D312-D8BE-1559-1E28899CA652}"/>
              </a:ext>
            </a:extLst>
          </p:cNvPr>
          <p:cNvCxnSpPr>
            <a:cxnSpLocks/>
            <a:stCxn id="17" idx="3"/>
            <a:endCxn id="7" idx="1"/>
          </p:cNvCxnSpPr>
          <p:nvPr/>
        </p:nvCxnSpPr>
        <p:spPr>
          <a:xfrm>
            <a:off x="3331640" y="5099949"/>
            <a:ext cx="1294638"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5451815E-EEF2-8111-C8E1-AD59D28F793D}"/>
              </a:ext>
            </a:extLst>
          </p:cNvPr>
          <p:cNvSpPr/>
          <p:nvPr/>
        </p:nvSpPr>
        <p:spPr>
          <a:xfrm>
            <a:off x="8360075" y="3443649"/>
            <a:ext cx="2514600" cy="1403138"/>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US" sz="1400" dirty="0"/>
              <a:t>Comparison used to identify gaps in processes, data, and technology to drive requirements. </a:t>
            </a:r>
          </a:p>
        </p:txBody>
      </p:sp>
      <p:cxnSp>
        <p:nvCxnSpPr>
          <p:cNvPr id="26" name="Straight Connector 25">
            <a:extLst>
              <a:ext uri="{FF2B5EF4-FFF2-40B4-BE49-F238E27FC236}">
                <a16:creationId xmlns:a16="http://schemas.microsoft.com/office/drawing/2014/main" id="{3AD24E50-0811-CBFF-3337-C04E9EE3562B}"/>
              </a:ext>
            </a:extLst>
          </p:cNvPr>
          <p:cNvCxnSpPr>
            <a:cxnSpLocks/>
            <a:endCxn id="25" idx="1"/>
          </p:cNvCxnSpPr>
          <p:nvPr/>
        </p:nvCxnSpPr>
        <p:spPr>
          <a:xfrm>
            <a:off x="5807759" y="4145218"/>
            <a:ext cx="2552316"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72236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Wood Type</Template>
  <TotalTime>13543</TotalTime>
  <Words>3573</Words>
  <Application>Microsoft Office PowerPoint</Application>
  <PresentationFormat>Widescreen</PresentationFormat>
  <Paragraphs>417</Paragraphs>
  <Slides>51</Slides>
  <Notes>1</Notes>
  <HiddenSlides>0</HiddenSlides>
  <MMClips>0</MMClips>
  <ScaleCrop>false</ScaleCrop>
  <HeadingPairs>
    <vt:vector size="4" baseType="variant">
      <vt:variant>
        <vt:lpstr>Theme</vt:lpstr>
      </vt:variant>
      <vt:variant>
        <vt:i4>1</vt:i4>
      </vt:variant>
      <vt:variant>
        <vt:lpstr>Slide Titles</vt:lpstr>
      </vt:variant>
      <vt:variant>
        <vt:i4>51</vt:i4>
      </vt:variant>
    </vt:vector>
  </HeadingPairs>
  <TitlesOfParts>
    <vt:vector size="52" baseType="lpstr">
      <vt:lpstr>Wood Type</vt:lpstr>
      <vt:lpstr>MITA 4.0 Artifacts &amp; Viewpoints</vt:lpstr>
      <vt:lpstr>Topics</vt:lpstr>
      <vt:lpstr>Capability Architecture Overview</vt:lpstr>
      <vt:lpstr>Capability Architecture Overview</vt:lpstr>
      <vt:lpstr>Capability Architecture Overview</vt:lpstr>
      <vt:lpstr>Capability Architecture Overview</vt:lpstr>
      <vt:lpstr>Capability Architecture Overview</vt:lpstr>
      <vt:lpstr>Capability Architecture Overview</vt:lpstr>
      <vt:lpstr>Capability Architecture Components</vt:lpstr>
      <vt:lpstr>Information Asset Overview</vt:lpstr>
      <vt:lpstr>IA Metamodel</vt:lpstr>
      <vt:lpstr>IA Metamodel in Action</vt:lpstr>
      <vt:lpstr>IA Metamodel - Baseline</vt:lpstr>
      <vt:lpstr>IA Metamodel - Target</vt:lpstr>
      <vt:lpstr>PowerPoint Presentation</vt:lpstr>
      <vt:lpstr>MITA 4.0 Artifacts</vt:lpstr>
      <vt:lpstr>MITA 4.0 Artifacts</vt:lpstr>
      <vt:lpstr>MITA 4.0 Artifacts</vt:lpstr>
      <vt:lpstr>MITA 4.0 Artifacts</vt:lpstr>
      <vt:lpstr>Concept of Operations</vt:lpstr>
      <vt:lpstr>What is a View?</vt:lpstr>
      <vt:lpstr>What are the different types of Views?</vt:lpstr>
      <vt:lpstr>What is a Viewpoint?</vt:lpstr>
      <vt:lpstr>What is in a Viewpoint?</vt:lpstr>
      <vt:lpstr>Catalogs</vt:lpstr>
      <vt:lpstr>Data ASSET Catalog</vt:lpstr>
      <vt:lpstr>Data Dictionary Catalog</vt:lpstr>
      <vt:lpstr>Logical Data Dictionary Catalog</vt:lpstr>
      <vt:lpstr>Physical Data Dictionary Catalog</vt:lpstr>
      <vt:lpstr>Reference Data Catalog</vt:lpstr>
      <vt:lpstr>Business Glossary Catalog</vt:lpstr>
      <vt:lpstr>Data Rule Catalog</vt:lpstr>
      <vt:lpstr>Report Catalog</vt:lpstr>
      <vt:lpstr>Matrices</vt:lpstr>
      <vt:lpstr>Data to Business Process Matrix </vt:lpstr>
      <vt:lpstr>Data to Application Matrix </vt:lpstr>
      <vt:lpstr>Data Mapping Specification</vt:lpstr>
      <vt:lpstr>Data Transformation Matrix</vt:lpstr>
      <vt:lpstr>Reference Data Crosswalk</vt:lpstr>
      <vt:lpstr>Diagrams</vt:lpstr>
      <vt:lpstr>Conceptual Data model Diagram</vt:lpstr>
      <vt:lpstr>Logical Data model Diagram</vt:lpstr>
      <vt:lpstr>Physical Data model Diagram</vt:lpstr>
      <vt:lpstr>Data Lineage Diagram</vt:lpstr>
      <vt:lpstr>PowerPoint Presentation</vt:lpstr>
      <vt:lpstr>Defining Information</vt:lpstr>
      <vt:lpstr>Option 1: Use TOGAF Elements</vt:lpstr>
      <vt:lpstr>Information Architecture Components Option 1</vt:lpstr>
      <vt:lpstr>IA Metamodel (Option 1)</vt:lpstr>
      <vt:lpstr>IA Metamodel (Option 1)</vt:lpstr>
      <vt:lpstr>IA Metamodel in Action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Carter, Dwayne@HCAI</dc:creator>
  <cp:lastModifiedBy>Dwayne Carter</cp:lastModifiedBy>
  <cp:revision>205</cp:revision>
  <dcterms:created xsi:type="dcterms:W3CDTF">2025-09-12T02:19:56Z</dcterms:created>
  <dcterms:modified xsi:type="dcterms:W3CDTF">2026-02-17T14:44:18Z</dcterms:modified>
</cp:coreProperties>
</file>